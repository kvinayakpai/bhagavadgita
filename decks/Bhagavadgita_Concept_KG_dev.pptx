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CONCEPT KNOWLEDGE GRAPH FOR THE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भगवद्गीता · सङ्कल्पन-ज्ञानवृत्तम्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माध्वसिद्धान्तानुसारेण निर्मितम्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concepts · 124 relations · 12 tiers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समस्या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७०० श्लोकाः · १८ अध्यायाः · एकं तारतम्य-आधारम्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विश्वरचनां, धर्मम्, अधिभूतिकं च बहुषु सङ्कल्पनेषु निबध्नाति। एकवारं क्रमेण अध्ययनं साधयति, परन्तु सर्वेषां योगानां, दोषाणां, यज्ञानां च परस्परं सम्बन्धं द्रष्टुं संरचनात्मकं दृश्यम् आवश्यकम्।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मूलस्रोतांसि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श्लोके माध्वभाष्ये च आधृतम्।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मूलग्रन्थः — भगवद्गीता (संस्कृत + आङ्ग्ल)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भाष्यम् — बन्नञ्जे गोविन्दाचार्यस्य गीताभाष्यम् (४ खण्डाः)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सन्दर्भः — महाभारत-तात्पर्य-निर्णयः (माध्वम्)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सैद्धान्तिकं दृष्टिकोणम् — सर्वोत्तमो हरिः, जीवभेदः, तारतम्यम्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मॉडलम्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सङ्कल्पनानां द्वादश तारतम्य-स्तराः।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प्रत्येकं स्तरः समानजातीयानि सङ्कल्पनानि सङ्गृह्णाति — तत्त्वानि, योगाः, दोषाः, फलानि, यज्ञाः, प्रतीकाः। सम्बन्धाः (is-a, leads-to, antidote-to, arises-from, opposite-of, includes, predicates-on, transforms-into) श्लोकानुसारं सङ्कल्पनानां योजयन्ति।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solidFill>
            <a:srgbClr val="8B1E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solidFill>
            <a:srgbClr val="A83F1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तत्त्व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solidFill>
            <a:srgbClr val="B870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क्षेत्र-क्षेत्रज्ञ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solidFill>
            <a:srgbClr val="C69E2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38862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गुण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solidFill>
            <a:srgbClr val="7B8D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solidFill>
            <a:srgbClr val="3F7A4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साधना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solidFill>
            <a:srgbClr val="2F6E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अन्तःकरण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solidFill>
            <a:srgbClr val="3A4A7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0" y="449884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धर्म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solidFill>
            <a:srgbClr val="5A3E6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दोष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solidFill>
            <a:srgbClr val="7A1E5A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solidFill>
            <a:srgbClr val="6A2E2E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यज्ञ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solidFill>
            <a:srgbClr val="3E3A32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11149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प्रतीक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दिशा-निर्देशनम्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त्रयो दृष्टयः · एकः आधारः।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— स्तरानुसारं प्रत्येकं सङ्कल्पनम्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— श्लोक-आधारः + माध्व-टीका + सर्वे सम्बन्धाः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— सर्वाणि सङ्कल्पनानि एकस्मिन् पटे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१ · BROWSE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प्रत्येकस्य सङ्कल्पनस्य स्तरानुसारं अनुक्रमणिका।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प्रत्येकः स्तरः स्ववर्णेन, त्रिलिपि-नाम्ना, सङ्क्षिप्त-व्याख्यया, सङ्कल्पन-सङ्ख्यया च आरभते। जीवित-अन्वेषणं सर्वत्र वर्तते।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4114800"/>
            <a:ext cx="182880" cy="182880"/>
          </a:xfrm>
          <a:prstGeom prst="ellipse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023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Ultimate reality — Hari, the sarvottama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4663440"/>
            <a:ext cx="182880" cy="182880"/>
          </a:xfrm>
          <a:prstGeom prst="ellipse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0480" y="462686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— karma, jñāna, bhakti, dhyāna, sannyāsa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5212080"/>
            <a:ext cx="182880" cy="182880"/>
          </a:xfrm>
          <a:prstGeom prst="ellipse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5120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840480" y="517550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Goals &amp; states — mokṣa, paramagati, brāhmī-sthiti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२ · FOCUS — मुख्य-पत्रिका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श्लोके निबद्धम्।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मुख्य-पत्रिका क्रमेण ददाति — स्तरस्य चिह्नं, सक्रिय-लिप्यां सङ्कल्पन-नाम, एक-पङ्क्ति-उपशीर्षकम्, २–३ वाक्य-सिद्धान्त-टिप्पणी, माध्व-विशिष्ट-टिप्पणी (यदा प्रासङ्गिकं), श्लोक-सन्दर्भाश्च।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solidFill>
            <a:srgbClr val="FBF5E6"/>
          </a:solidFill>
          <a:ln w="12700">
            <a:solidFill>
              <a:srgbClr val="D6C5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A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धर्म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स्थितप्रज्ञ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3F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steady wisdom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Indifferent to pleasure and pain, free of attachment, fear, anger; senses fully withdrawn. Closing portrait of Ch 2.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6217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 2.55–72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२ · FOCUS — सम्बन्धाः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प्रत्येकः सम्बन्धः चिह्नितः, अङ्कितः।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श्लोकस्य अधः बहिर्गामिनः अन्तर्गामिनश्च सम्बन्धाः सूचीकृताः — सम्बन्ध-प्रकारेण (is-a, leads-to इत्यादिभिः), सम्बन्ध-नाम्ना, अन्य-अन्ततया च।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8404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384048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इन्द्रियनिग्रह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2519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equanimity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425196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समत्व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6344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leads-to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sense-restraint → steady-wisdom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466344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इन्द्रियनिग्रह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solidFill>
            <a:srgbClr val="E0DAC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F1A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507492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← समदर्शन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दृश्यम् ३ · 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सर्वाणि सङ्कल्पनानि एकस्मिन् पटे।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द्वादश तिर्यक्-पट्ट्यः — परमार्थः शीर्षे, प्रतीकः अधःस्थः। सम्बन्धाः सङ्कल्पनयोः मध्ये वक्रन्ति, प्रकार-अनुसारं वर्णिताः।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868680" cy="2286000"/>
          </a:xfrm>
          <a:prstGeom prst="rect">
            <a:avLst/>
          </a:prstGeom>
          <a:solidFill>
            <a:srgbClr val="8B1E1A"/>
          </a:solidFill>
          <a:ln w="12700">
            <a:solidFill>
              <a:srgbClr val="8B1E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परमार्थ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868680" cy="2286000"/>
          </a:xfrm>
          <a:prstGeom prst="rect">
            <a:avLst/>
          </a:prstGeom>
          <a:solidFill>
            <a:srgbClr val="A83F1A"/>
          </a:solidFill>
          <a:ln w="12700">
            <a:solidFill>
              <a:srgbClr val="A83F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002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तत्त्व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002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560320" y="3840480"/>
            <a:ext cx="868680" cy="2286000"/>
          </a:xfrm>
          <a:prstGeom prst="rect">
            <a:avLst/>
          </a:prstGeom>
          <a:solidFill>
            <a:srgbClr val="B8702A"/>
          </a:solidFill>
          <a:ln w="12700">
            <a:solidFill>
              <a:srgbClr val="B870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क्षेत्र-क्षेत्रज्ञ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0440" y="3840480"/>
            <a:ext cx="868680" cy="2286000"/>
          </a:xfrm>
          <a:prstGeom prst="rect">
            <a:avLst/>
          </a:prstGeom>
          <a:solidFill>
            <a:srgbClr val="C69E2A"/>
          </a:solidFill>
          <a:ln w="12700">
            <a:solidFill>
              <a:srgbClr val="C69E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गुण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204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480560" y="3840480"/>
            <a:ext cx="868680" cy="2286000"/>
          </a:xfrm>
          <a:prstGeom prst="rect">
            <a:avLst/>
          </a:prstGeom>
          <a:solidFill>
            <a:srgbClr val="7B8D2E"/>
          </a:solidFill>
          <a:ln w="12700">
            <a:solidFill>
              <a:srgbClr val="7B8D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योग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05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40680" y="3840480"/>
            <a:ext cx="868680" cy="2286000"/>
          </a:xfrm>
          <a:prstGeom prst="rect">
            <a:avLst/>
          </a:prstGeom>
          <a:solidFill>
            <a:srgbClr val="3F7A4A"/>
          </a:solidFill>
          <a:ln w="12700">
            <a:solidFill>
              <a:srgbClr val="3F7A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साधना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868680" cy="2286000"/>
          </a:xfrm>
          <a:prstGeom prst="rect">
            <a:avLst/>
          </a:prstGeom>
          <a:solidFill>
            <a:srgbClr val="2F6E7A"/>
          </a:solidFill>
          <a:ln w="12700">
            <a:solidFill>
              <a:srgbClr val="2F6E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अन्तःकरण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0"/>
            <a:ext cx="868680" cy="2286000"/>
          </a:xfrm>
          <a:prstGeom prst="rect">
            <a:avLst/>
          </a:prstGeom>
          <a:solidFill>
            <a:srgbClr val="3A4A7A"/>
          </a:solidFill>
          <a:ln w="12700">
            <a:solidFill>
              <a:srgbClr val="3A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धर्म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6092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3840480"/>
            <a:ext cx="868680" cy="2286000"/>
          </a:xfrm>
          <a:prstGeom prst="rect">
            <a:avLst/>
          </a:prstGeom>
          <a:solidFill>
            <a:srgbClr val="5A3E6A"/>
          </a:solidFill>
          <a:ln w="12700">
            <a:solidFill>
              <a:srgbClr val="5A3E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दोष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2104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281160" y="3840480"/>
            <a:ext cx="868680" cy="2286000"/>
          </a:xfrm>
          <a:prstGeom prst="rect">
            <a:avLst/>
          </a:prstGeom>
          <a:solidFill>
            <a:srgbClr val="7A1E5A"/>
          </a:solidFill>
          <a:ln w="12700">
            <a:solidFill>
              <a:srgbClr val="7A1E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8116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फल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8116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0241280" y="3840480"/>
            <a:ext cx="868680" cy="2286000"/>
          </a:xfrm>
          <a:prstGeom prst="rect">
            <a:avLst/>
          </a:prstGeom>
          <a:solidFill>
            <a:srgbClr val="6A2E2E"/>
          </a:solidFill>
          <a:ln w="12700">
            <a:solidFill>
              <a:srgbClr val="6A2E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यज्ञ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24128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1201400" y="3840480"/>
            <a:ext cx="868680" cy="2286000"/>
          </a:xfrm>
          <a:prstGeom prst="rect">
            <a:avLst/>
          </a:prstGeom>
          <a:solidFill>
            <a:srgbClr val="3E3A32"/>
          </a:solidFill>
          <a:ln w="12700">
            <a:solidFill>
              <a:srgbClr val="3E3A3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201400" y="3977640"/>
            <a:ext cx="868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प्रतीक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01400" y="5715000"/>
            <a:ext cx="868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ग्राफः · विशेषाः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स्पृश, अवलोकय, गच्छ।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स्पर्शेन सङ्कल्पन-केन्द्रीकरणम्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सम्बन्ध-वर्णैः प्रकार-निर्णयः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सर्वत्र युगपत् अन्वेषणम्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एक-स्पर्शेन भाषा-परिवर्तनम्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भाषा-अनुकूलनम्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एकं ज्ञानवृत्तम् · त्रिषु लिपिषु।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आङ्ग्लम् (IAST)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देवनागरी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कन्नड लिपिः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श्लोकाः · त्रिषु लिपिषु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प्रत्येकः आधार-श्लोकः देवनागर्याम्, IAST-इत्यां, कन्नड-लिप्यां च।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यस्मात्क्षरमतीतोऽहमक्षरादपि चोत्तमः।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Sanskrit Text" pitchFamily="34" charset="0"/>
                <a:ea typeface="Sanskrit Text" pitchFamily="34" charset="-122"/>
                <a:cs typeface="Sanskrit Text" pitchFamily="34" charset="-120"/>
              </a:rPr>
              <a:t>अतोऽस्मि लोके वेदे च प्रसिद्धः पुरुषोत्तमः॥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yasmāt kṣaram atīto 'ham akṣarād api cottamaḥ |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ato 'smi loke vede ca prasiddhaḥ puruṣottamaḥ ||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51663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ಯಸ್ಮಾತ್ಕ್ಷರಮತೀತೋಽಹಮಕ್ಷರಾದಪಿ ಚೋತ್ತಮಃ।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13"/>
                </a:solidFill>
                <a:latin typeface="Tunga" pitchFamily="34" charset="0"/>
                <a:ea typeface="Tunga" pitchFamily="34" charset="-122"/>
                <a:cs typeface="Tunga" pitchFamily="34" charset="-120"/>
              </a:rPr>
              <a:t>ಅತೋಽಸ್ಮಿ ಲೋಕೇ ವೇದೇ ಚ ಪ್ರಸಿದ್ಧಃ ಪುರುಷೋತ್ತಮಃ॥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BG 15.18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मूल-आधारित-परीक्षणम्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प्रत्येकं सङ्कल्पनं प्रमाणितम्।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प्रत्येकं सङ्कल्पन-स्थानं न्यूनातिन्यूनं एकेन स्पष्ट-गीता-श्लोकेन आधृतम्। यत्र माध्वस्य पठनं विशिष्टम् — ब्रह्म = हरिः, अक्षरः = लक्ष्मीः, मोक्षे तारतम्यम्, जीव-भेदः — तत्र दत्तांश-सञ्चिकायां चिह्नितम्।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B1E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concepts grounded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7B8D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438912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verses in tri-script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512064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A4A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0" y="6263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 relations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सामर्थ्यानि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अयं कृतिः किं करोति।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concept nodes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124 typed relations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tāratamya tiers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anchor verses · tri-script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Madhva-distinctive callouts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scripts: IAST · Devanāgarī · Kannada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माध्व-विशेषाः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यत्र अद्वैतात् पठनं भिन्नम्।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ब्रह्म = विष्णुः/नारायणः, न निर्गुणं तत्त्वम्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अक्षर-पुरुषः = लक्ष्मीः, न निर्व्यक्तिकम्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मोक्षे तारतम्यम् — न अविभक्त-आनन्दः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जीव-भेदः सत्यः, नित्यः, बहुधा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भक्तिः मोक्षस्य साधनं तत्त्वं च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चरम-श्लोकः (गी. १८.६६) मोक्षोपदेशस्य सारः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A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4EAD8"/>
          </a:solidFill>
          <a:ln w="6350">
            <a:solidFill>
              <a:srgbClr val="D6C5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सङ्कल्पन-ग्राफः · माध्वम्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0" y="731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भगवद्गीता · सङ्कल्पन-ज्ञानवृत्तम्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A6C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सामान्य-सत्रम्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1A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कथं प्रचलितव्यम्।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१. BROWSE-इत्यां प्रवेशः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२. सङ्कल्पनम् (यथा स्थितप्रज्ञः) स्पृश्य → FOCUS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३. श्लोकम्, टिप्पणीम्, माध्व-टिप्पणीं च पठ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४. सम्बद्ध-सङ्कल्पनं (यथा मोक्षम्) स्पृश्य गच्छ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4A3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५. MAP-इत्यां स्थानं द्रष्टुम्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Bhagavadgita Concept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भगवद्गीता · सङ्कल्पन-ज्ञानवृत्तम्</dc:title>
  <dc:subject>PptxGenJS Presentation</dc:subject>
  <dc:creator>kvinayakpai</dc:creator>
  <cp:lastModifiedBy>kvinayakpai</cp:lastModifiedBy>
  <cp:revision>1</cp:revision>
  <dcterms:created xsi:type="dcterms:W3CDTF">2026-05-16T04:25:44Z</dcterms:created>
  <dcterms:modified xsi:type="dcterms:W3CDTF">2026-05-16T04:25:44Z</dcterms:modified>
</cp:coreProperties>
</file>