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भगवद्गीता · सङ्कल्पन-ज्ञानवृत्तम्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88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माध्व-सिद्धान्तानुसारेण पठनम्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166360" y="3520440"/>
            <a:ext cx="1828800" cy="18288"/>
          </a:xfrm>
          <a:prstGeom prst="rect">
            <a:avLst/>
          </a:prstGeom>
          <a:solidFill>
            <a:srgbClr val="C9B58A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749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7558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सङ्कल्पन-ग्राफः · माध्वम्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558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Concept KG · github.com/kvinayakpai/Bhagavadgita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A7558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किमर्थम् इदं रचितम्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गीतायाः सप्तशत-श्लोकाः विश्वरचनां, धर्मम्, अधिभूतिकं च बहुषु सङ्कल्पनेषु निबध्नन्ति। एकवारं क्रमेण पठनं सिध्यति, परन्तु सर्वेषां योगानां, दोषाणां, यज्ञानां, फलानां च परस्परं सम्बन्धः लुप्तप्राय एव। इदं सङ्कल्पन-ज्ञानवृत्तम् सर्वं जालं प्रकटयति — प्रत्येकं सङ्कल्पनं श्लोके निबद्धम्, प्रत्येकः सम्बन्धः चिह्नितः, माध्व-सिद्धान्त-दृष्ट्या पठितः।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A7558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द्वादश-स्तराः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सर्वाणि सङ्कल्पनानि द्वादश तारतम्य-स्तरेषु विन्यस्तानि — परमार्थात् प्रतीकपर्यन्तम् एका सोपान-पङ्क्तिः। प्रत्येकः स्तरः समान-जातीयानि सङ्कल्पनानि सङ्गृह्णाति। सम्बन्धाः (is-a, leads-to, antidote-to, arises-from, opposite-of, includes, predicates-on, transforms-into) श्लोकानुसारं सङ्कल्पनानां योजयन्ति।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958084"/>
            <a:ext cx="164592" cy="164592"/>
          </a:xfrm>
          <a:prstGeom prst="ellipse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803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à¤ªà¤°à¤®à¤¾à¤°à¥à¤¥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14600" y="28803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Ultimate reality â€” Hari, the sarvottama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2958084"/>
            <a:ext cx="164592" cy="164592"/>
          </a:xfrm>
          <a:prstGeom prst="ellipse">
            <a:avLst/>
          </a:prstGeom>
          <a:solidFill>
            <a:srgbClr val="A83F1A"/>
          </a:solidFill>
          <a:ln w="12700">
            <a:solidFill>
              <a:srgbClr val="A83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8803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à¤¤à¤¤à¥à¤¤à¥à¤µ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28803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Metaphysical categories â€” jÄ«va, praká¹›ti, kÄla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87268"/>
            <a:ext cx="164592" cy="164592"/>
          </a:xfrm>
          <a:prstGeom prst="ellipse">
            <a:avLst/>
          </a:prstGeom>
          <a:solidFill>
            <a:srgbClr val="B8702A"/>
          </a:solidFill>
          <a:ln w="12700">
            <a:solidFill>
              <a:srgbClr val="B870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954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à¤•à¥à¤·à¥‡à¤¤à¥à¤°-à¤•à¥à¤·à¥‡à¤¤à¥à¤°à¤œà¥à¤ž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32095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Field &amp; field-knower â€” body, knower, 24 elements (Ch 13)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287268"/>
            <a:ext cx="164592" cy="164592"/>
          </a:xfrm>
          <a:prstGeom prst="ellipse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20954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à¤—à¥à¤£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32095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three modes of praká¹›ti â€” sattva, rajas, tamas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16452"/>
            <a:ext cx="164592" cy="164592"/>
          </a:xfrm>
          <a:prstGeom prst="ellipse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5387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à¤¯à¥‹à¤—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14600" y="35387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Paths â€” karma, jÃ±Äna, bhakti, dhyÄna, sannyÄsa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616452"/>
            <a:ext cx="164592" cy="164592"/>
          </a:xfrm>
          <a:prstGeom prst="ellipse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5387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à¤¸à¤¾à¤§à¤¨à¤¾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35387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Practices â€” Å›raddhÄ, vairÄgya, yajÃ±a, tapas, tyÄga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945636"/>
            <a:ext cx="164592" cy="164592"/>
          </a:xfrm>
          <a:prstGeom prst="ellipse">
            <a:avLst/>
          </a:prstGeom>
          <a:solidFill>
            <a:srgbClr val="2F6E7A"/>
          </a:solidFill>
          <a:ln w="12700">
            <a:solidFill>
              <a:srgbClr val="2F6E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8679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à¤…à¤¨à¥à¤¤à¤ƒà¤•à¤°à¤£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14600" y="38679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Inner instrument â€” manas, buddhi, ahaá¹…kÄra, indriyas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3945636"/>
            <a:ext cx="164592" cy="164592"/>
          </a:xfrm>
          <a:prstGeom prst="ellipse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8679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à¤§à¤°à¥à¤®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38679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Ethics â€” svadharma, niá¹£kÄma-karma, sthita-prajÃ±a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274820"/>
            <a:ext cx="164592" cy="164592"/>
          </a:xfrm>
          <a:prstGeom prst="ellipse">
            <a:avLst/>
          </a:prstGeom>
          <a:solidFill>
            <a:srgbClr val="5A3E6A"/>
          </a:solidFill>
          <a:ln w="12700">
            <a:solidFill>
              <a:srgbClr val="5A3E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1970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à¤¦à¥‹à¤·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514600" y="41970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Defects â€” kÄma, krodha, lobha, moha, asat-saá¹…ga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4274820"/>
            <a:ext cx="164592" cy="164592"/>
          </a:xfrm>
          <a:prstGeom prst="ellipse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41970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à¤«à¤²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0" y="41970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Goals &amp; states â€” moká¹£a, paramagati, brÄhmÄ«-sthiti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604004"/>
            <a:ext cx="164592" cy="164592"/>
          </a:xfrm>
          <a:prstGeom prst="ellipse">
            <a:avLst/>
          </a:prstGeom>
          <a:solidFill>
            <a:srgbClr val="6A2E2E"/>
          </a:solidFill>
          <a:ln w="12700">
            <a:solidFill>
              <a:srgbClr val="6A2E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5262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à¤¯à¤œà¥à¤ž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514600" y="45262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Sacrifice varieties â€” dravya, tapo, jÃ±Äna, svÄdhyÄya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4604004"/>
            <a:ext cx="164592" cy="164592"/>
          </a:xfrm>
          <a:prstGeom prst="ellipse">
            <a:avLst/>
          </a:prstGeom>
          <a:solidFill>
            <a:srgbClr val="3E3A32"/>
          </a:solidFill>
          <a:ln w="12700">
            <a:solidFill>
              <a:srgbClr val="3E3A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45262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à¤ªà¥à¤°à¤¤à¥€à¤•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0" y="45262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Symbols &amp; metaphors â€” aÅ›vattha, ratha, praá¹‡ava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B1E1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अस्य स्तरस्य कथा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à¤ªà¤°à¤®à¤¾à¤°à¥à¤¥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परम-तत्त्वम्। गीतायाः शीर्ष-सङ्कल्पनं न तु निर्विशेषं ब्रह्म, अपि तु हरिः — विष्णुः, क्षरात् (नश्वर-जीवात्) अक्षरात् (कूटस्थात् लक्ष्म्याः) च परः पुरुषोत्तमः। पञ्चदशे अध्याये कृष्णः एतत् पुरुषोत्तम-योगेन उद्घोषयति।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0" y="160020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1600200"/>
            <a:ext cx="73152" cy="1078992"/>
          </a:xfrm>
          <a:prstGeom prst="rect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655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à¤¬à¥à¤°à¤¹à¥à¤® â€” à¤ªà¤°à¤¤à¤¤à¥à¤¤à¥à¤µ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0" y="16550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8.3 Â· 14.27 Â· 15.18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97880" y="192938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à¤®à¤§à¥à¤µ-à¤¸à¤¿à¤¦à¥à¤§à¤¾à¤¨à¥à¤¤à¥‡ à¤¬à¥à¤°à¤¹à¥à¤® à¤‡à¤¤à¤¿ à¤¶à¤¬à¥à¤¦à¤ƒ à¤•à¥‡à¤µà¤²à¤‚ à¤µà¤¿à¤·à¥à¤£à¥‹à¤ƒ (à¤¨à¤¾à¤°à¤¾à¤¯à¤£à¤¸à¥à¤¯) à¤µà¤¾à¤šà¤•à¤ƒ â€” à¤¸à¤°à¥à¤µà¥‹à¤¤à¥à¤¤à¤®à¤ƒ, à¤•à¥à¤·à¤°à¤¾à¤•à¥à¤·à¤°à¤¾à¤¤à¥€à¤¤à¤ƒ à¤ªà¥…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278892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788920"/>
            <a:ext cx="73152" cy="1078992"/>
          </a:xfrm>
          <a:prstGeom prst="rect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8437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à¤ªà¤°à¤®à¤¾à¤¤à¥à¤®à¤¾ â€” à¤…à¤¨à¥à¤¤à¤°à¥à¤¯à¤¾à¤®à¥€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2843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13.22 Â· 15.17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311810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à¤¸à¤°à¥à¤µà¤¦à¥‡à¤¹à¥‡à¤·à¥ à¤¸à¤¾à¤•à¥à¤·à¤¿-à¤­à¤°à¥à¤¤à¤¾-à¤¨à¤¿à¤¯à¤¨à¥à¤¤à¥ƒ-à¤°à¥‚à¤ªà¥‡à¤£ à¤¸à¥à¤¥à¤¿à¤¤à¤ƒ à¤ªà¤°à¤® à¤†à¤¤à¥à¤®à¤¾à¥¤ à¤œà¥€à¤µà¤¾à¤¤à¥ à¤…à¤¤à¥à¤¯à¤¨à¥à¤¤à¤‚ à¤­à¤¿à¤¨à¥à¤¨à¤ƒ (à¤—à¥€à¥° à¥§à¥«à¥¤à¥§à¥­)à¥¤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397764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977640"/>
            <a:ext cx="73152" cy="1078992"/>
          </a:xfrm>
          <a:prstGeom prst="rect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4032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à¤ªà¥à¤°à¥à¤·à¥‹à¤¤à¥à¤¤à¤® â€” à¤ªà¤°à¤®à¤ƒ à¤ªà¥à¤°à¥à¤·à¤ƒ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0" y="4032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15.18â€“19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430682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à¤•à¥à¤·à¤°à¤¾à¤•à¥à¤·à¤°à¤¯à¥‹à¤ƒ à¤…à¤¤à¥€à¤¤à¤ƒ à¤‰à¤¤à¥à¤¤à¤®à¤ƒ à¤ªà¥à¤°à¥à¤·à¤ƒ à¤‡à¤¤à¤¿ à¤•à¥ƒà¤·à¥à¤£à¤¸à¥à¤¯ à¤†à¤¤à¥à¤®-à¤¨à¤¿à¤°à¥‚à¤ªà¤£à¤®à¥à¥¤ à¤ªà¤žà¥à¤šà¤¦à¤¶à¤¾à¤§à¥à¤¯à¤¾à¤¯à¤¸à¥à¤¯ à¤¹à¤°à¥à¤®à¥‡à¤¨à¥à¤¯à¥‚à¤¤à¤¿à¤•-à¤•à¥‡à¤…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15000" y="516636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166360"/>
            <a:ext cx="73152" cy="1078992"/>
          </a:xfrm>
          <a:prstGeom prst="rect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5221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à¤…à¤•à¥à¤·à¤°à¤ªà¥à¤°à¥à¤·à¤ƒ â€” à¤•à¥‚à¤Ÿà¤¸à¥à¤¥à¤ƒ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0" y="52212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15.16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549554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à¤•à¥‚à¤Ÿà¤¸à¥à¤¥à¤ƒ à¤…à¤•à¥à¤·à¤°à¤ƒ â€” à¤®à¤§à¥à¤µ-à¤®à¤¤à¥‡ à¤²à¤•à¥à¤·à¥à¤®à¥€à¤ƒ, à¤¨à¤¿à¤¤à¥à¤¯-à¤®à¥à¤•à¥à¤¤-à¤œà¥€à¤µ-à¤—à¤£-à¤®à¥à¤–à¥à¤¯à¤¾à¥¤ à¤¹à¤°à¥‡à¤ƒ à¤…à¤¨à¤¨à¥à¤¤à¤°à¤‚ à¤¸à¤°à¥à¤µà¥‹à¤¤à¥à¤¤à¤®à¤¾à¥¤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A83F1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अस्य स्तरस्य कथा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à¤¤à¤¤à¥à¤¤à¥à¤µ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अधिभूतिक-वर्गाः। अष्टधा अपरा प्रकृतिः, जीव-भूता परा प्रकृतिः च तत्त्व-स्थापनं कुर्वन्ति। कालः, कर्म, स्वभावः च तेषु अन्तर्भूताः। मध्व-मते प्रत्येकं वर्गः वास्तविकं भिन्नं तत्त्वम् — न तु एकस्मिन् ब्रह्मणि लीयमानम्।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0" y="160020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1600200"/>
            <a:ext cx="73152" cy="1078992"/>
          </a:xfrm>
          <a:prstGeom prst="rect">
            <a:avLst/>
          </a:prstGeom>
          <a:solidFill>
            <a:srgbClr val="A83F1A"/>
          </a:solidFill>
          <a:ln w="12700">
            <a:solidFill>
              <a:srgbClr val="A83F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655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à¤œà¥€à¤µà¤ƒ â€” à¤¦à¥‡à¤¹à¤¸à¥à¤¥à¤ƒ à¤†à¤¤à¥à¤®à¤¾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0" y="16550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15.7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97880" y="192938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à¤¹à¤°à¥‡à¤ƒ à¤¨à¤¿à¤¤à¥à¤¯à¤ƒ à¤…à¤‚à¤¶à¤ƒ (à¤—à¥€à¥° à¥§à¥«à¥¤à¥­) â€” à¤¸à¤¤à¥à¤¯à¤ƒ, à¤­à¤¿à¤¨à¥à¤¨à¤ƒ, à¤¬à¤¹à¥à¤µà¤¿à¤§à¤ƒ, à¤•à¤¦à¤¾à¤ªà¤¿ à¤¬à¥à¤°à¤¹à¥à¤®à¤£à¤¿ à¤²à¥€à¤¨à¤‚ à¤¨ à¤ªà¥à¤°à¤¾à¤ªà¥à¤¨à¥‹à¤¤à¤¿à¥¤ à¤®à¥à¤•à¥à¤¤à¤¿-à¤ªà¤°à¥à¤¯à…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278892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788920"/>
            <a:ext cx="73152" cy="1078992"/>
          </a:xfrm>
          <a:prstGeom prst="rect">
            <a:avLst/>
          </a:prstGeom>
          <a:solidFill>
            <a:srgbClr val="A83F1A"/>
          </a:solidFill>
          <a:ln w="12700">
            <a:solidFill>
              <a:srgbClr val="A83F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8437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à¤ªà¥à¤°à¤•à¥ƒà¤¤à¤¿à¤ƒ â€” à¤®à¥‚à¤²-à¤œà¤¡à¤®à¥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2843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7.4â€“5 Â· 9.10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311810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à¤¹à¤°à¥‡à¤ƒ à¤…à¤ªà¤°à¤¾-à¤ªà¥à¤°à¤•à¥ƒà¤¤à¤¿à¤ƒ à¤…à¤·à¥à¤Ÿà¤§à¤¾ â€” à¤­à¥‚à¤®à¤¿, à¤†à¤ªà¤ƒ, à¤…à¤¨à¤²à¤ƒ, à¤µà¤¾à¤¯à¥à¤ƒ, à¤–à¤®à¥, à¤®à¤¨à¤ƒ, à¤¬à¥à¤¦à¥à¤§à¤¿à¤ƒ, à¤…à¤¹à¤™à¥à¤•à¤¾à¤°à¤ƒà¥¤ à¤¸à¤°à¥à¤µ-à¤°à¥‚à¤ª-à¤¯à¥‹à¤¨à¤¿à¤ƒà¥¤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397764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977640"/>
            <a:ext cx="73152" cy="1078992"/>
          </a:xfrm>
          <a:prstGeom prst="rect">
            <a:avLst/>
          </a:prstGeom>
          <a:solidFill>
            <a:srgbClr val="A83F1A"/>
          </a:solidFill>
          <a:ln w="12700">
            <a:solidFill>
              <a:srgbClr val="A83F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4032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à¤¸à¥à¤µà¤­à¤¾à¤µà¤ƒ â€” à¤¸à¤¹à¤œ-à¤ªà¥à¤°à¤•à¥ƒà¤¤à¤¿à¤ƒ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0" y="4032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5.14 Â· 8.3 Â· 18.41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430682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à¤ªà¥à¤°à¤¤à¥à¤¯à¥‡à¤•-à¤œà¥€à¤µà¤¸à¥à¤¯ à¤…à¤¨à¤¾à¤¦à¤¿à¤ƒ à¤¸à¤¹à¤œà¤ƒ à¤¸à¥à¤µà¤­à¤¾à¤µà¤ƒ (à¤®à¤§à¥à¤µ-à¤®à¤¤à¥‡ à¤¸à¥à¤µà¤°à¥‚à¤ª-à¤¯à¥‹à¤—à¥à¤¯à¤¤à¤¾)à¥¤ à¤µà¤°à¥à¤£à¤‚ à¤¸à¤¾à¤®à¤°à¥à¤¥à¥à¤¯à¤‚ à¤…à¤¨à¥à¤¤à¤¿à¤®-à¤—à¤¤à¤¿à¤‚ à¤š à¤¨à¤¿à¤°à¥…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15000" y="516636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166360"/>
            <a:ext cx="73152" cy="1078992"/>
          </a:xfrm>
          <a:prstGeom prst="rect">
            <a:avLst/>
          </a:prstGeom>
          <a:solidFill>
            <a:srgbClr val="A83F1A"/>
          </a:solidFill>
          <a:ln w="12700">
            <a:solidFill>
              <a:srgbClr val="A83F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5221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à¤ˆà¤¶à¥à¤µà¤°à¤ƒ â€” à¤¨à¤¿à¤¯à¤¨à¥à¤¤à¤¾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0" y="52212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18.61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549554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à¤¹à¤°à¤¿à¤ƒ à¤…à¤¨à¥à¤¤à¤°à¥à¤¯à¤¾à¤®à¤¿-à¤°à¥‚à¤ªà¥‡à¤£ à¤¸à¤°à¥à¤µ-à¤¹à¥ƒà¤¦à¤¯à¥‡ à¤¤à¤¿à¤·à¥à¤ à¤¨à¥ à¤¯à¤¨à¥à¤¤à¥à¤°à¤¾à¤°à¥‚à¤¢-à¤®à¤¾à¤¯à¤¯à¤¾ à¤œà¥€à¤µà¤¾à¤¨à¥ à¤­à¥à¤°à¤¾à¤®à¤¯à¤¤à¤¿à¥¤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8702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अस्य स्तरस्य कथा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à¤•à¥à¤·à¥‡à¤¤à¥à¤°-à¤•à¥à¤·à¥‡à¤¤à¥à¤°à¤œà¥à¤ž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क्षेत्रं क्षेत्रज्ञश्च। शरीरं क्षेत्रम्, तत्र स्थितः जीवः क्षेत्रज्ञः, सर्व-क्षेत्रेषु च परमः कृष्णः क्षेत्रज्ञः। त्रयोदशे अध्याये क्षेत्रस्य चतुर्विंशति-तत्त्वानि सप्त-विकाराश्च निरूपिताः।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0" y="160020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1600200"/>
            <a:ext cx="73152" cy="1078992"/>
          </a:xfrm>
          <a:prstGeom prst="rect">
            <a:avLst/>
          </a:prstGeom>
          <a:solidFill>
            <a:srgbClr val="B8702A"/>
          </a:solidFill>
          <a:ln w="12700">
            <a:solidFill>
              <a:srgbClr val="B87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655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à¤•à¥à¤·à¥‡à¤¤à¥à¤°à¤œà¥à¤žà¤ƒ â€” à¤•à¥à¤·à¥‡à¤¤à¥à¤°-à¤µà¥‡à¤¤à¥à¤¤à¤¾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0" y="16550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13.2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97880" y="192938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à¤•à¥à¤·à¥‡à¤¤à¥à¤°à¤‚ à¤µà¥‡à¤¤à¥à¤¤à¤¿ à¤¯à¤ƒ à¤¸à¤ƒ à¤•à¥à¤·à¥‡à¤¤à¥à¤°à¤œà¥à¤žà¤ƒà¥¤ à¤•à¥ƒà¤·à¥à¤£-à¤µà¤šà¤¨à¤®à¥ â€” "à¤•à¥à¤·à¥‡à¤¤à¥à¤°à¤œà¥à¤žà¤‚ à¤šà¤¾à¤ªà¤¿ à¤®à¤¾à¤‚ à¤µà¤¿à¤¦à¥à¤§à¤¿ à¤¸à¤°à¥à¤µ-à¤•à¥à¤·à¥‡à¤¤à¥à¤°à¥‡à¤·à¥ à¤­à¤¾…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278892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788920"/>
            <a:ext cx="73152" cy="1078992"/>
          </a:xfrm>
          <a:prstGeom prst="rect">
            <a:avLst/>
          </a:prstGeom>
          <a:solidFill>
            <a:srgbClr val="B8702A"/>
          </a:solidFill>
          <a:ln w="12700">
            <a:solidFill>
              <a:srgbClr val="B870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8437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à¤•à¥à¤·à¥‡à¤¤à¥à¤°à¤®à¥ â€” à¤¶à¤°à¥€à¤°à¤®à¥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2843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13.1 Â· 13.5â€“6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311810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à¤‡à¤¦à¤‚ à¤¶à¤°à¥€à¤°à¤‚ à¤šà¤¤à¥à¤°à¥à¤µà¤¿à¤‚à¤¶à¤¤à¤¿-à¤¤à¤¤à¥à¤¤à¥à¤µ-à¤¸à¤‚à¤˜à¤¾à¤¤à¤ƒ â€” à¤®à¤¹à¤¾à¤­à¥‚à¤¤à¤¾à¤¨à¤¿, à¤…à¤¹à¤™à¥à¤•à¤¾à¤°à¤ƒ, à¤¬à¥à¤¦à¥à¤§à¤¿à¤ƒ, à¤…à¤µà¥à¤¯à¤•à¥à¤¤à¤®à¥, à¤‡à¤¨à¥à¤¦à¥à¤°à¤¿à¤¯à¤¾à¤£à¤¿, à¤®à¤¨à¤ƒ, à¤µ…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397764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977640"/>
            <a:ext cx="73152" cy="1078992"/>
          </a:xfrm>
          <a:prstGeom prst="rect">
            <a:avLst/>
          </a:prstGeom>
          <a:solidFill>
            <a:srgbClr val="B8702A"/>
          </a:solidFill>
          <a:ln w="12700">
            <a:solidFill>
              <a:srgbClr val="B870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4032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à¤®à¤¹à¤¾à¤­à¥‚à¤¤à¤¾à¤¨à¤¿ â€” à¤ªà¤žà¥à¤š-à¤¸à¥à¤¥à¥‚à¤²-à¤¤à¤¤à¥à¤¤à¥à¤µà¤¾à¤¨à¤¿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0" y="4032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13.5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430682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à¤ªà¥ƒà¤¥à¤¿à¤µà¥€, à¤…à¤ªà¥, à¤¤à¥‡à¤œà¤ƒ, à¤µà¤¾à¤¯à¥à¤ƒ, à¤†à¤•à¤¾à¤¶à¤ƒ â€” à¤šà¤¤à¥à¤°à¥à¤µà¤¿à¤‚à¤¶à¤¤à¤¿-à¤•à¥à¤·à¥‡à¤¤à¥à¤°-à¤¤à¤¤à¥à¤¤à¥à¤µà¥‡à¤·à¥ à¤ªà¥à¤°à¤¥à¤®à¤¾à¤¨à¤¿ à¤ªà¤žà¥à¤šà¥¤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15000" y="516636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166360"/>
            <a:ext cx="73152" cy="1078992"/>
          </a:xfrm>
          <a:prstGeom prst="rect">
            <a:avLst/>
          </a:prstGeom>
          <a:solidFill>
            <a:srgbClr val="B8702A"/>
          </a:solidFill>
          <a:ln w="12700">
            <a:solidFill>
              <a:srgbClr val="B870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5221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à¤…à¤µà¥à¤¯à¤•à¥à¤¤à¤®à¥ â€” à¤®à¥‚à¤²-à¤ªà¥à¤°à¤•à¥ƒà¤¤à¤¿à¤ƒ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0" y="52212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13.5 Â· 8.18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549554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à¤µà¤¿à¤•à¤¾à¤°-à¤ªà¥‚à¤°à¥à¤µà¤µà¤°à¥à¤¤à¥€ à¤®à¥‚à¤²-à¤ªà¥à¤°à¤•à¥ƒà¤¤à¤¿à¤ƒà¥¤ à¤¤à¤¤à¤ƒ à¤®à¤¹à¤¾à¤¨à¥, à¤…à¤¹à¤™à¥à¤•à¤¾à¤°à¤ƒ, à¤¤à¤¨à¥à¤®à¤¾à¤¤à¥à¤°à¤¾à¤£à¤¿ à¤š à¤ªà¥à¤°à¤µà¤°à¥à¤¤à¤¨à¥à¤¤à¥‡à¥¤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C69E2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अस्य स्तरस्य कथा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à¤—à¥à¤£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प्रकृतेः त्रयो गुणाः — सत्त्वं (प्रकाशः, ज्ञानम्), रजः (रागः, क्रिया), तमः (जाड्यम्, मोहः)। चतुर्दश-सप्तदश-अष्टादशेषु अध्यायेषु प्रत्येकं कर्म, आहारः, यज्ञः, ज्ञानं च तेषु एकेन गुणेन निरूप्यन्ते। मोक्षः गुणातीतत्वम् — त्रिगुणान् अतिक्रम्य अवस्थानम्।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0" y="160020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1600200"/>
            <a:ext cx="73152" cy="1078992"/>
          </a:xfrm>
          <a:prstGeom prst="rect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655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à¤ªà¥à¤°à¤•à¤¾à¤¶à¤¸à¥à¤¯ à¤—à¥à¤£à¤ƒ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0" y="16550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14.6 Â· 14.11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97880" y="192938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à¤²à¤˜à¥, à¤ªà¥à¤°à¤•à¤¾à¤¶à¤•à¤®à¥, à¤…à¤¨à¤¾à¤®à¤¯à¤®à¥ â€” à¤¸à¥à¤–à¤¸à¤™à¥à¤—à¥‡à¤¨ à¤œà¥à¤žà¤¾à¤¨à¤¸à¤™à¥à¤—à¥‡à¤¨ à¤š à¤œà¥€à¤µà¤‚ à¤¬à¤§à¥à¤¨à¤¾à¤¤à¤¿à¥¤ à¤µà¤¿à¤µà¥‡à¤•à¤¿à¤·à¥ à¤ªà¥à¤°à¤¬à¤²à¤ƒà¥¤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278892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788920"/>
            <a:ext cx="73152" cy="1078992"/>
          </a:xfrm>
          <a:prstGeom prst="rect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8437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à¤°à¤¾à¤—à¤¸à¥à¤¯ à¤—à¥à¤£à¤ƒ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2843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14.7 Â· 14.12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311810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à¤°à¤¾à¤—à¤¾à¤¤à¥à¤®à¤•à¤‚ à¤¸à¤™à¥à¤—à¤¾à¤¤à¥à¤®à¤•à¤‚ â€” à¤¤à¥ƒà¤·à¥à¤£à¤¾à¤¸à¤™à¥à¤—à¤¯à¥‹à¤ƒ à¤¸à¤®à¥à¤¦à¥à¤­à¤µà¤®à¥à¥¤ à¤…à¤¨à¤µà¤°à¤¤à¤•à¤°à¥à¤®à¤ªà¥à¤°à¤µà¤°à¥à¤¤à¤•à¤®à¥à¥¤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397764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977640"/>
            <a:ext cx="73152" cy="1078992"/>
          </a:xfrm>
          <a:prstGeom prst="rect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4032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à¤…à¤¨à¥à¤§à¤•à¤¾à¤°à¤¸à¥à¤¯ à¤—à¥à¤£à¤ƒ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0" y="4032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14.8 Â· 14.13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430682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à¤…à¤œà¥à¤žà¤¾à¤¨à¤œà¤‚ â€” à¤¸à¤°à¥à¤µà¤¾à¤¨à¥ à¤¦à¥‡à¤¹à¤¿à¤¨à¥‹ à¤®à¥‹à¤¹à¤¯à¤¤à¤¿; à¤ªà¥à¤°à¤®à¤¾à¤¦à¤¾à¤²à¤¸à¥à¤¯à¤¨à¤¿à¤¦à¥à¤°à¤¾à¤­à¤¿à¤°à¥à¤¬à¤§à¥à¤¨à¤¾à¤¤à¤¿à¥¤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15000" y="516636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166360"/>
            <a:ext cx="73152" cy="1078992"/>
          </a:xfrm>
          <a:prstGeom prst="rect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5221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à¤—à¥à¤£à¤¾à¤¨à¤¾à¤®à¤¤à¥€à¤¤à¤ƒ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0" y="52212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14.22â€“25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549554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à¤¯à¤¸à¥à¤®à¤¿à¤¨à¥ à¤¸à¤™à¥à¤—à¤¾à¤¦à¥ à¤—à¥à¤£à¤ªà¥à¤°à¤µà¥ƒà¤¤à¥à¤¤à¤¿à¤°à¥à¤¨ à¤œà¤¾à¤¯à¤¤à¥‡; à¤®à¤¿à¤¤à¥à¤°à¤¾à¤°à¤¿à¤·à¥ à¤¸à¤®à¤ƒ; à¤¸à¤°à¥à¤µà¤¾à¤°à¤®à¥à¤­à¤ªà¤°à¤¿à¤¤à¥à¤¯à¤¾à¤—à¥€à¥¤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B8D2E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अस्य स्तरस्य कथा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à¤¯à¥‹à¤—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मार्गाः। कर्मयोगः, ज्ञानयोगः, भक्तियोगः, ध्यानयोगः, सन्न्यासश्च। मध्व-मते भक्तिः न केवलं मार्गान्तरम् — सा अनिवार्यं साधनं मोक्षस्य च घटकः।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0" y="160020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1600200"/>
            <a:ext cx="73152" cy="1078992"/>
          </a:xfrm>
          <a:prstGeom prst="rect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655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à¤­à¤•à¥à¤¤à¤¿à¤®à¤¾à¤°à¥à¤—à¤ƒ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0" y="16550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9.22 Â· 11.54 Â· 18.55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97880" y="192938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à¤¹à¤°à¥Œ à¤ªà¥à¤°à¥‡à¤®à¤ªà¥‚à¤°à¥à¤µà¤•à¤‚ à¤œà¥à¤žà¤¾à¤¨à¤‚ â€” à¤¸à¤°à¥à¤µà¤œà¥à¤žà¤¾à¤¨à¤¾à¤¤à¤¿à¤¶à¤¾à¤¯à¤¿à¥¤ à¤®à¤§à¥à¤µà¤®à¤¤à¥‡ à¤­à¤•à¥à¤¤à¤¿à¤ƒ à¤¸à¥à¤¥à¤¿à¤°à¤œà¥à¤žà¤¾à¤¨à¤ªà¥‚à¤°à¥à¤µà¤¿à¤•à¤¾à¤ªà¥à¤°à¥‡à¤®à¤°à¥‚à¤ªà¤¾, à¤®à¥‹à¤•à¥…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278892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788920"/>
            <a:ext cx="73152" cy="1078992"/>
          </a:xfrm>
          <a:prstGeom prst="rect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8437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à¤¹à¤°à¥Œ à¤¶à¤°à¤£à¤¾à¤—à¤¤à¤¿à¤ƒ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2843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18.66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311810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'à¤¸à¤°à¥à¤µà¤§à¤°à¥à¤®à¤¾à¤¨à¥ à¤ªà¤°à¤¿à¤¤à¥à¤¯à¤œà¥à¤¯ à¤®à¤¾à¤®à¥‡à¤•à¤‚ à¤¶à¤°à¤£à¤‚ à¤µà¥à¤°à¤œ' â€” à¤—à¥€à¤¤à¤¾à¤¯à¤¾à¤ƒ à¤šà¤°à¤®à¥‹à¤ªà¤¦à¥‡à¤¶à¤ƒà¥¤ à¤¹à¤°à¤¿à¤‚ à¤¸à¤°à¥à¤µà¤¶à¤°à¤£à¤‚ à¤•à¥ƒà¤¤à¥à¤µà¤¾ à¤¸à¤°à¥à¤µà¤ªà¤¾à¤ªà¤®à¥‹à¤šà¤¨à¤…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397764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977640"/>
            <a:ext cx="73152" cy="1078992"/>
          </a:xfrm>
          <a:prstGeom prst="rect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4032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à¤¨à¤¿à¤·à¥à¤•à¤¾à¤®à¤•à¤°à¥à¤®à¤£à¥‹ à¤®à¤¾à¤°à¥à¤—à¤ƒ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0" y="4032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3.3 Â· 3.19 Â· 5.2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430682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à¤¸à¥à¤µà¤•à¥€à¤¯à¤‚ à¤•à¤°à¥à¤¤à¤µà¥à¤¯à¤‚ à¤¹à¤°à¤¯à¥‡ à¤…à¤°à¥à¤ªà¤£à¤‚ à¤•à¥ƒà¤¤à¥à¤µà¤¾, à¤¸à¤°à¥à¤µà¤«à¤²à¤‚ à¤¤à¤¸à¥à¤®à¥ˆ à¤¸à¤®à¤°à¥à¤ªà¥à¤¯ à¤†à¤šà¤°à¤£à¤®à¥à¥¤ à¤¶à¥à¤°à¥€à¤•à¥ƒà¤·à¥à¤£à¤¸à¥à¤¯ à¤…à¤°à¥à¤œà¥à¤¨à¤¾à¤¯ à¤ªà¥à¤°à¤®à¥…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15000" y="516636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166360"/>
            <a:ext cx="73152" cy="1078992"/>
          </a:xfrm>
          <a:prstGeom prst="rect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5221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à¤µà¤¿à¤µà¥‡à¤•à¤œà¥à¤žà¤¾à¤¨à¤®à¤¾à¤°à¥à¤—à¤ƒ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0" y="52212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3.3 Â· 4.33â€“38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549554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à¤¹à¤°à¤¿à¤‚ à¤ªà¤°à¤‚ à¤œà¥à¤žà¤¾à¤¤à¥à¤µà¤¾, à¤œà¥€à¤µà¤‚ à¤¤à¤¦à¤‚à¤¶à¤‚, à¤œà¤—à¤šà¥à¤š à¤¤à¤¦à¤§à¥€à¤¨à¤‚ à¤¸à¤¤à¥à¤¯à¤‚ à¤œà¥à¤žà¤¾à¤¤à¥à¤µà¤¾ à¤ªà¥à¤°à¤µà¥ƒà¤¤à¥à¤¤à¤¿à¤ƒà¥¤ à¤…à¤§à¤¿à¤•à¤¾à¤°à¤¿à¤£à¤¾à¤‚ à¤¸à¤¾à¤§à¤¨à¤®à¥à¥¤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3F7A4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अस्य स्तरस्य कथा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à¤¸à¤¾à¤§à¤¨à¤¾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साधनानि। श्रद्धा, वैराग्यम्, अभ्यासः, तपः, दानम्, सत्सङ्गः, जपः, स्मरणम्, शरणागतिः। गीता एतानि न तु स्व-कर्तृत्वेन ददाति — किन्तु भगवता विहितानि साधनानि येषु अनुग्रहः वहति।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0" y="160020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1600200"/>
            <a:ext cx="73152" cy="1078992"/>
          </a:xfrm>
          <a:prstGeom prst="rect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655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à¤¶à¥à¤°à¤¦à¥à¤§à¤¾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0" y="16550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17.2â€“3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97880" y="192938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à¤¶à¥à¤°à¤¦à¥à¤§à¤¾ à¤¸à¥à¤µà¤­à¤¾à¤µà¤¾à¤¨à¥à¤—à¤¾ â€” à¤¯à¥‹ à¤¯à¤šà¥à¤›à¥à¤°à¤¦à¥à¤§à¤ƒ à¤¸ à¤à¤µ à¤¸à¤ƒà¥¤ à¤—à¥à¤£à¤¤à¤¸à¥à¤¤à¥à¤°à¤¿à¤µà¤¿à¤§à¤¾ â€” à¤¦à¥‡à¤µà¥‡à¤·à¥ à¤¸à¤¾à¤¤à¥à¤¤à¥à¤µà¤¿à¤•à¥€, à¤¯à¤•à¥à¤·à¤°à¤•à¥à¤·à¤ƒà¤¸à¥ à¤°à¤¾à…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278892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788920"/>
            <a:ext cx="73152" cy="1078992"/>
          </a:xfrm>
          <a:prstGeom prst="rect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8437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à¤µà¥ˆà¤°à¤¾à¤—à¥à¤¯à¤®à¥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2843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6.35 Â· 13.8â€“11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311810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à¤µà¤¿à¤·à¤¯à¥‡à¤­à¥à¤¯à¥‹ à¤µà¤¿à¤°à¤•à¥à¤¤à¤¿à¤ƒ â€” à¤¨ à¤œà¥€à¤µà¤¨à¤¨à¤¿à¤·à¥‡à¤§à¤ƒ, à¤…à¤ªà¤¿ à¤¤à¥ à¤¬à¤¨à¥à¤§à¤¨à¤ªà¥à¤°à¤¦à¤¾à¤•à¤°à¥à¤·à¤£à¤¾à¤¨à¤¾à¤‚ à¤µà¤¿à¤µà¥‡à¤•à¥‡à¤¨ à¤¦à¤°à¥à¤¶à¤¨à¤®à¥à¥¤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397764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977640"/>
            <a:ext cx="73152" cy="1078992"/>
          </a:xfrm>
          <a:prstGeom prst="rect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4032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à¤…à¤­à¥à¤¯à¤¾à¤¸à¤ƒ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0" y="4032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6.26 Â· 12.9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430682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à¤¸à¤®à¤¾à¤§à¥à¤¯à¤­à¥à¤¯à¤¾à¤¸à¤ƒ â€” à¤šà¤žà¥à¤šà¤²à¤‚ à¤®à¤¨à¤ƒ à¤ªà¥à¤¨à¤ƒà¤ªà¥à¤¨à¤ƒ à¤¨à¤¿à¤µà¤°à¥à¤¤à¥à¤¯ à¤¹à¤°à¥Œ à¤¨à¤¿à¤¯à¤®à¤¨à¤®à¥à¥¤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15000" y="516636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166360"/>
            <a:ext cx="73152" cy="1078992"/>
          </a:xfrm>
          <a:prstGeom prst="rect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5221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à¤¤à¤ªà¤ƒ (à¤¤à¥à¤°à¤¿à¤µà¤¿à¤§à¤®à¥)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0" y="52212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17.14â€“19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549554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à¤¦à¥‡à¤¹à¤¸à¥à¤¯ à¤¤à¤ªà¤ƒ (à¤ªà¥‚à¤œà¤¾/à¤¶à¥Œà¤š/à¤¬à¥à¤°à¤¹à¥à¤®à¤šà¤°à¥à¤¯), à¤µà¤¾à¤šà¤¿à¤•à¤‚ (à¤¸à¤¤à¥à¤¯/à¤ªà¥à¤°à¤¿à¤¯/à¤¸à¥à¤µà¤¾à¤§à¥à¤¯à¤¾à¤¯), à¤®à¤¾à¤¨à¤¸à¤¿à¤•à¤‚ (à¤ªà¥à¤°à¤¸à¤¾à¤¦/à¤®à¥Œà¤¨/à¤†à¤¤à¥à¤®à¤¨à¤¿à¤—à¥à¤°à¤¹)à¥¤ à¤¤à¥…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F6E7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अस्य स्तरस्य कथा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à¤…à¤¨à¥à¤¤à¤ƒà¤•à¤°à¤£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अन्तःकरणम्। मनः, बुद्धिः, अहङ्कारः च, एकादश इन्द्रियाणि (ज्ञान-कर्म) सह। षष्ठे अध्याये कृष्णः तेषां संयमं उपदिशति, द्वितीये (२।६७) च अनियन्त्रित-इन्द्रियाणां भयं प्रकटयति।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0" y="160020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1600200"/>
            <a:ext cx="73152" cy="1078992"/>
          </a:xfrm>
          <a:prstGeom prst="rect">
            <a:avLst/>
          </a:prstGeom>
          <a:solidFill>
            <a:srgbClr val="2F6E7A"/>
          </a:solidFill>
          <a:ln w="12700">
            <a:solidFill>
              <a:srgbClr val="2F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655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à¤…à¤¨à¥à¤¤à¤°à¥à¤¯à¤¾à¤®à¥€ â€” à¤¹à¥ƒà¤¦à¤¯à¥‡ à¤¹à¤°à¤¿à¤ƒ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0" y="16550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18.61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97880" y="192938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"à¤ˆà¤¶à¥à¤µà¤°à¤ƒ à¤¸à¤°à¥à¤µ-à¤­à¥‚à¤¤à¤¾à¤¨à¤¾à¤‚ à¤¹à¥ƒà¤¦à¥à¤¦à¥‡à¤¶à¥‡à¤½à¤°à¥à¤œà¥à¤¨ à¤¤à¤¿à¤·à¥à¤ à¤¤à¤¿" â€” à¤­à¤—à¤µà¤¾à¤¨à¥ à¤¸à¤°à¥à¤µà¥‡à¤·à¤¾à¤‚ à¤ªà¥à¤°à¤¾à¤£à¤¿à¤¨à¤¾à¤‚ à¤¹à¥ƒà¤¦à¤¯à¥‡ à¤¸à¥à¤¥à¤¿à¤¤à¥à¤µà¤¾ à¤¤à¤¾à¤¨à¥ à¤¸à¤žà…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278892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788920"/>
            <a:ext cx="73152" cy="1078992"/>
          </a:xfrm>
          <a:prstGeom prst="rect">
            <a:avLst/>
          </a:prstGeom>
          <a:solidFill>
            <a:srgbClr val="2F6E7A"/>
          </a:solidFill>
          <a:ln w="12700">
            <a:solidFill>
              <a:srgbClr val="2F6E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8437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à¤®à¤¨à¤¸à¥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2843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6.34â€“35 Â· 3.6â€“7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311810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à¤à¤•à¤¾à¤¦à¤¶à¤®à¥ à¤‡à¤¨à¥à¤¦à¥à¤°à¤¿à¤¯à¤®à¥à¥¤ à¤šà¤žà¥à¤šà¤²à¤‚ à¤ªà¥à¤°à¤®à¤¾à¤¥à¤¿ à¤¦à¥à¤°à¥à¤¨à¤¿à¤—à¥à¤°à¤¹à¤®à¥ â€” à¤¤à¤¥à¤¾à¤ªà¤¿ à¤•à¥ƒà¤·à¥à¤£à¤ƒ à¤•à¤¥à¤¯à¤¤à¤¿ à¤¯à¤¦à¥ à¤…à¤­à¥à¤¯à¤¾à¤¸à¥‡à¤¨ à¤µà¥ˆà¤°à¤¾à¤—à¥à¤¯à¥‡à¤£ à¤š à¤…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397764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977640"/>
            <a:ext cx="73152" cy="1078992"/>
          </a:xfrm>
          <a:prstGeom prst="rect">
            <a:avLst/>
          </a:prstGeom>
          <a:solidFill>
            <a:srgbClr val="2F6E7A"/>
          </a:solidFill>
          <a:ln w="12700">
            <a:solidFill>
              <a:srgbClr val="2F6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4032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à¤¬à¥à¤¦à¥à¤§à¤¿à¤ƒ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0" y="4032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18.30â€“32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430682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à¤•à¤¾à¤°à¥à¤¯à¤¾à¤•à¤¾à¤°à¥à¤¯-à¤µà¤¿à¤µà¥‡à¤šà¤¨à¥€ à¤µà¥ƒà¤¤à¥à¤¤à¤¿à¤ƒà¥¤ à¤¸à¤¾à¤¾à¤¤à¥à¤¤à¥à¤µà¤¿à¤•à¥€ à¤¬à¥à¤¦à¥à¤§à¤¿à¤ƒ à¤ªà¥à¤°à¤µà¥ƒà¤¤à¥à¤¤à¤¿à¤‚ à¤¨à¤¿à¤µà¥ƒà¤¤à¥à¤¤à¤¿à¤‚ à¤š à¤œà¤¾à¤¨à¤¾à¤¤à¤¿à¥¤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15000" y="516636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166360"/>
            <a:ext cx="73152" cy="1078992"/>
          </a:xfrm>
          <a:prstGeom prst="rect">
            <a:avLst/>
          </a:prstGeom>
          <a:solidFill>
            <a:srgbClr val="2F6E7A"/>
          </a:solidFill>
          <a:ln w="12700">
            <a:solidFill>
              <a:srgbClr val="2F6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5221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à¤…à¤¹à¤™à¥à¤•à¤¾à¤°à¤ƒ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0" y="52212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3.27 Â· 7.4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549554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à¤•à¤°à¥à¤¤à¥ƒà¤¤à¥à¤µ-à¤…à¤­à¤¿à¤®à¤¾à¤¨à¤ƒà¥¤ "à¤•à¤°à¥à¤¤à¤¾à¤¹à¤®à¥ à¤‡à¤¤à¤¿ à¤®à¤¨à¥à¤¯à¤¤à¥‡" â€” à¤…à¤¹à¤™à¥à¤•à¤¾à¤°-à¤µà¤¿à¤®à¥‚à¤¢à¤¾à¤¤à¥à¤®à¤¾ à¤ªà¥à¤°à¥à¤·à¤ƒ à¤¸à¥à¤µà¤®à¥ à¤•à¤°à¥à¤¤à¤¾à¤°à¤‚ à¤®à¤¨à¥à¤¯à¤¤à¥‡à¥¤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3A4A7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अस्य स्तरस्य कथा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à¤§à¤°à¥à¤®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धर्मः। स्वधर्मः, निष्काम-कर्म, स्थित-प्रज्ञता, अभयम्, अहिंसा, सम-दर्शनम्। मोक्षाय धर्मः न त्यज्यते — स एव मोक्षमार्गः।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0" y="160020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1600200"/>
            <a:ext cx="73152" cy="1078992"/>
          </a:xfrm>
          <a:prstGeom prst="rect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655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à¤¸à¥à¤µà¤§à¤°à¥à¤®à¤ƒ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0" y="16550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3.35 Â· 18.47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97880" y="192938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"à¤¶à¥à¤°à¥‡à¤¯à¤¾à¤¨à¥ à¤¸à¥à¤µà¤§à¤°à¥à¤®à¥‹ à¤µà¤¿à¤—à¥à¤£à¤ƒ à¤ªà¤°à¤§à¤°à¥à¤®à¤¾à¤¤à¥ à¤¸à¥à¤µà¤¨à¥à¤·à¥à¤ à¤¿à¤¤à¤¾à¤¤à¥" â€” à¤¸à¥à¤µ-à¤¸à¥à¤µà¤­à¤¾à¤µ-à¤œà¤¾à¤¤à¤‚ à¤•à¤°à¥à¤® à¤à¤µ à¤…à¤¨à¥à¤·à¥à¤ à¥‡à¤¯à¤®à¥à¥¤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278892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788920"/>
            <a:ext cx="73152" cy="1078992"/>
          </a:xfrm>
          <a:prstGeom prst="rect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8437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à¤µà¤°à¥à¤£-à¤¸à¥à¤µà¤­à¤¾à¤µà¤ƒ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2843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4.13 Â· 18.41â€“44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311810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à¤¬à¥à¤°à¤¾à¤¹à¥à¤®à¤£-à¤•à¥à¤·à¤¤à¥à¤°à¤¿à¤¯-à¤µà¥ˆà¤¶à¥à¤¯-à¤¶à¥‚à¤¦à¥à¤°à¤¾à¤ƒ â€” à¤—à¥à¤£-à¤•à¤°à¥à¤®-à¤µà¤¿à¤­à¤¾à¤—à¥‡à¤¨ à¤‰à¤¦à¥à¤­à¥‚à¤¤à¤¾à¤ƒ à¤•à¤°à¥à¤¤à¤µà¥à¤¯à¤¾à¤ƒà¥¤ à¤®à¤¾à¤§à¥à¤µà¤®à¤¤à¥‡ à¤à¤¤à¥‡ à¤œà¥€à¤µà¤¾à¤¨à¤¾à¤‚ à¤¨à¤¿à¤…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397764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977640"/>
            <a:ext cx="73152" cy="1078992"/>
          </a:xfrm>
          <a:prstGeom prst="rect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4032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à¤¨à¤¿à¤·à¥à¤•à¤¾à¤®à¤•à¤°à¥à¤®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0" y="4032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2.47 Â· 4.20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430682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à¤«à¤²à¤¾à¤•à¤¾à¤™à¥à¤•à¥à¤·à¤¾à¤‚ à¤µà¤¿à¤¨à¤¾ à¤…à¤¨à¥à¤·à¥à¤ à¤¿à¤¤à¤‚ à¤•à¤°à¥à¤®à¥¤ à¤—à¥€à¤¤à¤¾à¤¯à¤¾à¤ƒ à¤®à¥à¤–à¥à¤¯à¤ƒ à¤¨à¥ˆà¤¤à¤¿à¤•à¤ƒ à¤†à¤¦à¥‡à¤¶à¤ƒà¥¤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15000" y="516636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166360"/>
            <a:ext cx="73152" cy="1078992"/>
          </a:xfrm>
          <a:prstGeom prst="rect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5221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à¤¸à¥à¤¥à¤¿à¤¤à¤ªà¥à¤°à¤œà¥à¤žà¤ƒ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0" y="52212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2.55â€“72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549554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à¤¸à¥à¤–-à¤¦à¥à¤ƒà¤–à¤¯à¥‹à¤ƒ à¤¸à¤®à¤ƒ, à¤¸à¤™à¥à¤—-à¤­à¤¯-à¤•à¥à¤°à¥‹à¤§-à¤µà¤¿à¤®à¥à¤•à¥à¤¤à¤ƒ, à¤¸à¤°à¥à¤µà¤¤à¤ƒ à¤¸à¤™à¥à¤•à¥à¤šà¤¿à¤¤-à¤‡à¤¨à¥à¤¦à¥à¤°à¤¿à¤¯à¤ƒà¥¤ à¤¦à¥à¤µà¤¿à¤¤à¥€à¤¯à¤¾à¤§à¥à¤¯à¤¾à¤¯à¤¸à¥à¤¯ à¤…à¤¨à¥à¤¤à¤¿à¤®à¤‚ à¤šà¤¿à…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5A3E6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अस्य स्तरस्य कथा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à¤¦à¥‹à¤·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दोषाः। कामः, क्रोधः, लोभः — त्रिविधं नरकद्वारम् (१६।२१)। मोहः, अहङ्कार-ममता, असत्सङ्गः, आसुरी-सम्पत् च। गीता प्रत्येकस्य दोषस्य कारणं प्रतिकारं च निरूपयति।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0" y="160020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1600200"/>
            <a:ext cx="73152" cy="1078992"/>
          </a:xfrm>
          <a:prstGeom prst="rect">
            <a:avLst/>
          </a:prstGeom>
          <a:solidFill>
            <a:srgbClr val="5A3E6A"/>
          </a:solidFill>
          <a:ln w="12700">
            <a:solidFill>
              <a:srgbClr val="5A3E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655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à¤†à¤¸à¥à¤°à¥€ à¤¸à¤®à¥à¤ªà¤¤à¥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0" y="16550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16.4 Â· 16.7â€“20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97880" y="192938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à¤¦à¤®à¥à¤­à¤ƒ à¤¦à¤°à¥à¤ªà¤ƒ à¤…à¤­à¤¿à¤®à¤¾à¤¨à¤ƒ à¤•à¥à¤°à¥‹à¤§à¤ƒ à¤ªà¤¾à¤°à¥à¤·à¥à¤¯à¤®à¥ à¤…à¤œà¥à¤žà¤¾à¤¨à¤®à¥ â€” à¤¦à¥ˆà¤µà¥€-à¤¸à¤®à¥à¤ªà¤¦à¤ƒ à¤µà¤¿à¤ªà¤°à¥€à¤¤à¤®à¥à¥¤ à¤¬à¤¨à¥à¤§à¤¾à¤¯ à¤•à¤²à¥à¤ªà¤¤à¥‡à¥¤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278892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788920"/>
            <a:ext cx="73152" cy="1078992"/>
          </a:xfrm>
          <a:prstGeom prst="rect">
            <a:avLst/>
          </a:prstGeom>
          <a:solidFill>
            <a:srgbClr val="5A3E6A"/>
          </a:solidFill>
          <a:ln w="12700">
            <a:solidFill>
              <a:srgbClr val="5A3E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8437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à¤•à¤¾à¤®à¤ƒ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2843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3.37â€“39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311810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"à¤°à¤œà¥‹à¤—à¥à¤£-à¤¸à¤®à¥à¤¦à¥à¤­à¤µà¤ƒ, à¤®à¤¹à¤¾à¤¶à¤¨à¤ƒ, à¤®à¤¹à¤¾à¤ªà¤¾à¤ªà¥à¤®à¤¾, à¤‡à¤¹ à¤µà¥ˆà¤°à¥€" â€” à¤•à¥ƒà¤·à¥à¤£à¤ƒ à¤•à¤¾à¤®à¤‚ à¤ªà¥à¤°à¤¥à¤®à¤‚ à¤¶à¤¤à¥à¤°à¥à¤‚ à¤¨à¤¾à¤®à¥à¤¨à¤¾ à¤¨à¤¿à¤°à¥à¤¦à¤¿à¤¶à¤¤à¤¿à¥¤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397764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977640"/>
            <a:ext cx="73152" cy="1078992"/>
          </a:xfrm>
          <a:prstGeom prst="rect">
            <a:avLst/>
          </a:prstGeom>
          <a:solidFill>
            <a:srgbClr val="5A3E6A"/>
          </a:solidFill>
          <a:ln w="12700">
            <a:solidFill>
              <a:srgbClr val="5A3E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4032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à¤•à¥à¤°à¥‹à¤§à¤ƒ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0" y="4032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2.62â€“63 Â· 3.37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430682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à¤•à¤¾à¤®-à¤µà¤¿à¤˜à¤¾à¤¤à¤¾à¤¤à¥ à¤•à¥à¤°à¥‹à¤§à¤ƒ à¤‰à¤¦à¥à¤­à¤µà¤¤à¤¿; à¤•à¥à¤°à¥‹à¤§à¤¾à¤¤à¥ à¤¸à¤®à¥à¤®à¥‹à¤¹à¤ƒ; à¤¸à¤®à¥à¤®à¥‹à¤¹à¤¾à¤¤à¥ à¤¸à¥à¤®à¥ƒà¤¤à¤¿-à¤µà¤¿à¤­à¥à¤°à¤®à¤ƒà¥¤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15000" y="516636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166360"/>
            <a:ext cx="73152" cy="1078992"/>
          </a:xfrm>
          <a:prstGeom prst="rect">
            <a:avLst/>
          </a:prstGeom>
          <a:solidFill>
            <a:srgbClr val="5A3E6A"/>
          </a:solidFill>
          <a:ln w="12700">
            <a:solidFill>
              <a:srgbClr val="5A3E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5221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à¤²à¥‹à¤­à¤ƒ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0" y="52212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16.21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549554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à¤•à¤¾à¤®-à¤•à¥à¤°à¥‹à¤§à¤¾à¤­à¥à¤¯à¤¾à¤‚ à¤¸à¤¹ à¤¨à¤°à¤•à¤¸à¥à¤¯ à¤¤à¥à¤°à¤¿à¤µà¤¿à¤§à¤‚ à¤¦à¥à¤µà¤¾à¤°à¤®à¥à¥¤ à¤®à¤¾à¤°à¥à¤—à¤¾à¤°à¤®à¥à¤­à¥‡ à¤à¤µ à¤¤à¥à¤¯à¤œà¤¨à¥€à¤¯à¤ƒà¥¤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1E5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अस्य स्तरस्य कथा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à¤«à¤²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फलानि लक्ष्याणि च। मोक्षः, परमा गतिः, ब्राह्मी-स्थितिः, चतुर्विधा मुक्तिः (सालोक्य-सामीप्य-सारूप्य-सायुज्यम्)। मध्व-मते मोक्षः वास्तविकः किन्तु तारतम्य-युक्तः — न तु निर्विशेषानन्द-मात्रम्।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0" y="160020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1600200"/>
            <a:ext cx="73152" cy="1078992"/>
          </a:xfrm>
          <a:prstGeom prst="rect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655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à¤®à¥‹à¤•à¥à¤·à¤ƒ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0" y="16550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5.24â€“26 Â· 18.66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97880" y="192938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à¤¸à¤‚à¤¸à¤¾à¤°à¤¾à¤¤à¥ à¤µà¤¿à¤¨à¤¿à¤°à¥à¤®à¥à¤•à¥à¤¤à¤¿à¤ƒ à¤¹à¤°à¥‡à¤ƒ à¤¨à¤¿à¤¤à¥à¤¯à¤¸à¤¨à¥à¤¨à¤¿à¤§à¤¿à¤ªà¥à¤°à¤¾à¤ªà¥à¤¤à¤¿à¤¶à¥à¤šà¥¤ à¤®à¤¾à¤§à¥à¤µà¤®à¤¤à¥‡ à¤®à¥‹à¤•à¥à¤·à¤¸à¥à¤¯ à¤šà¤¤à¥à¤°à¥à¤µà¤¿à¤§à¤‚ à¤¤à¤¾à¤°à¤¤à¤®à¥à¤¯à¤®à¥ â…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278892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788920"/>
            <a:ext cx="73152" cy="1078992"/>
          </a:xfrm>
          <a:prstGeom prst="rect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8437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à¤šà¤°à¤®à¤¶à¥à¤²à¥‹à¤•à¤«à¤²à¤®à¥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2843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18.66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311810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"à¤…à¤¹à¤‚ à¤¤à¥à¤µà¤¾ à¤¸à¤°à¥à¤µà¤ªà¤¾à¤ªà¥‡à¤­à¥à¤¯à¥‹ à¤®à¥‹à¤•à¥à¤·à¤¯à¤¿à¤·à¥à¤¯à¤¾à¤®à¤¿ à¤®à¤¾ à¤¶à¥à¤šà¤ƒ" â€” à¤…à¤·à¥à¤Ÿà¤¾à¤¦à¤¶à¤¾à¤§à¥à¤¯à¤¾à¤¯à¥‡ à¤•à¥ƒà¤·à¥à¤£à¤¸à¥à¤¯ à¤ªà¥à¤°à¤¤à¥à¤¯à¤•à¥à¤·à¤¾à¤¶à¥à¤µà¤¾à¤¸à¤ƒà¥¤ à¤®à¤¾à¤§à¥…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397764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977640"/>
            <a:ext cx="73152" cy="1078992"/>
          </a:xfrm>
          <a:prstGeom prst="rect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4032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à¤¸à¤¾à¤²à¥‹à¤•à¥à¤¯à¤®à¥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0" y="4032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8.21 Â· 15.6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430682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à¤®à¥‹à¤•à¥à¤·à¤¸à¥à¤¯ à¤ªà¥à¤°à¤¥à¤®à¤‚ à¤¤à¤¾à¤°à¤¤à¤®à¥à¤¯à¤®à¥ â€” à¤¹à¤°à¥‡à¤ƒ à¤µà¥ˆà¤•à¥à¤£à¥à¤ à¤²à¥‹à¤•à¥‡ à¤¨à¤¿à¤µà¤¾à¤¸à¤ƒ, à¤ªà¤°à¤‚ à¤¨ à¤¤à¤¤à¥à¤¸à¤¾à¤¨à¥à¤¨à¤¿à¤§à¥à¤¯à¤®à¥à¥¤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15000" y="516636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166360"/>
            <a:ext cx="73152" cy="1078992"/>
          </a:xfrm>
          <a:prstGeom prst="rect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5221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à¤¸à¤¾à¤®à¥€à¤ªà¥à¤¯à¤®à¥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0" y="52212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11.55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549554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à¤¦à¥à¤µà¤¿à¤¤à¥€à¤¯à¤‚ à¤¤à¤¾à¤°à¤¤à¤®à¥à¤¯à¤®à¥ â€” à¤¹à¤°à¥‡à¤ƒ à¤¸à¥à¤µà¤§à¤¾à¤®à¥à¤¨à¤¿ à¤¤à¤¤à¥à¤¸à¤¾à¤¨à¥à¤¨à¤¿à¤§à¥à¤¯à¤ªà¥à¤°à¤¾à¤ªà¥à¤¤à¤¿à¤ƒà¥¤ à¤¸à¤¾à¤²à¥‹à¤•à¥à¤¯à¤¾à¤¦à¥à¤¤à¥à¤¤à¤°à¤‚ à¤¸à¤¾à¤°à¥‚à¤ªà¥à¤¯à¤¾à¤¤à¥ à¤¨à¥à¤¯à¥‚à¤¨à…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6A2E2E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अस्य स्तरस्य कथा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à¤¯à¤œà¥à¤ž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यज्ञः। द्रव्य-यज्ञः, तपो-यज्ञः, ज्ञान-यज्ञः, स्वाध्याय-यज्ञः, प्राणायाम-यज्ञः, इन्द्रिय-संयमश्च। चतुर्थे अध्याये सर्वं कर्म हरि-अर्पणेन यज्ञ-रूपं भवति।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0" y="160020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1600200"/>
            <a:ext cx="73152" cy="1078992"/>
          </a:xfrm>
          <a:prstGeom prst="rect">
            <a:avLst/>
          </a:prstGeom>
          <a:solidFill>
            <a:srgbClr val="6A2E2E"/>
          </a:solidFill>
          <a:ln w="12700">
            <a:solidFill>
              <a:srgbClr val="6A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655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à¤¦à¥à¤°à¤µà¥à¤¯à¤¯à¤œà¥à¤žà¤ƒ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0" y="16550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4.28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97880" y="192938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à¤§à¤¨-à¤µà¤¸à¥à¤¤à¥à¤µ-à¤…à¤¨à¥à¤¨à¤¾à¤¦à¤¿à¤¦à¥à¤°à¤µà¥à¤¯à¤¾à¤°à¥à¤ªà¤£à¤°à¥‚à¤ªà¤ƒ à¤¯à¤œà¥à¤žà¤ƒ â€” à¤šà¤¤à¥à¤°à¥à¤¥à¤¾à¤§à¥à¤¯à¤¾à¤¯à¤¾à¤·à¥à¤Ÿà¤¾à¤µà¤¿à¤‚à¤¶à¥‡ à¤¶à¥à¤²à¥‹à¤•à¥‡ à¤•à¥ƒà¤·à¥à¤£à¥‹à¤•à¥à¤¤à¤¯à¤œà¥à¤žà¤¾à¤¨à¤¾à¤‚ à¤ªà¥à…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278892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788920"/>
            <a:ext cx="73152" cy="1078992"/>
          </a:xfrm>
          <a:prstGeom prst="rect">
            <a:avLst/>
          </a:prstGeom>
          <a:solidFill>
            <a:srgbClr val="6A2E2E"/>
          </a:solidFill>
          <a:ln w="12700">
            <a:solidFill>
              <a:srgbClr val="6A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8437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à¤¤à¤ªà¥‹à¤¯à¤œà¥à¤žà¤ƒ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2843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4.28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311810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à¤•à¤¾à¤¯à¤¿à¤•-à¤µà¤¾à¤šà¤¿à¤•-à¤®à¤¾à¤¨à¤¸à¤¤à¤ªà¤¸à¤¾à¤‚ à¤¹à¤°à¤¯à¥‡à¤½à¤°à¥à¤ªà¤£à¤°à¥‚à¤ªà¤ƒ à¤¯à¤œà¥à¤žà¤ƒà¥¤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397764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977640"/>
            <a:ext cx="73152" cy="1078992"/>
          </a:xfrm>
          <a:prstGeom prst="rect">
            <a:avLst/>
          </a:prstGeom>
          <a:solidFill>
            <a:srgbClr val="6A2E2E"/>
          </a:solidFill>
          <a:ln w="12700">
            <a:solidFill>
              <a:srgbClr val="6A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4032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à¤¯à¥‹à¤—à¤¯à¤œà¥à¤žà¤ƒ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0" y="4032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4.28â€“30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430682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à¤ªà¥à¤°à¤¾à¤£à¤¾à¤ªà¤¾à¤¨à¤¸à¤‚à¤¯à¤®-à¤…à¤·à¥à¤Ÿà¤¾à¤™à¥à¤—à¤¯à¥‹à¤—à¤¾à¤¦à¤¿à¤°à¥‚à¤ªà¤¸à¥à¤¯ à¤¯à¥‹à¤—à¤¾à¤¨à¥à¤·à¥à¤ à¤¾à¤¨à¤¸à¥à¤¯ à¤¹à¤°à¤¯à¥‡ à¤…à¤°à¥à¤ªà¤£à¤®à¥ â€” à¤à¤· à¤¯à¥‹à¤—à¤¯à¤œà¥à¤žà¤ƒà¥¤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15000" y="516636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166360"/>
            <a:ext cx="73152" cy="1078992"/>
          </a:xfrm>
          <a:prstGeom prst="rect">
            <a:avLst/>
          </a:prstGeom>
          <a:solidFill>
            <a:srgbClr val="6A2E2E"/>
          </a:solidFill>
          <a:ln w="12700">
            <a:solidFill>
              <a:srgbClr val="6A2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5221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à¤¸à¥à¤µà¤¾à¤§à¥à¤¯à¤¾à¤¯à¤œà¥à¤žà¤¾à¤¨à¤¯à¤œà¥à¤žà¤ƒ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0" y="52212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4.28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549554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à¤¶à¤¾à¤¸à¥à¤¤à¥à¤°à¤¸à¥à¤µà¤¾à¤§à¥à¤¯à¤¾à¤¯à¤ƒ à¤¤à¤¦à¥à¤•à¥à¤¤à¤¾à¤°à¥à¤¥à¤œà¥à¤žà¤¾à¤¨à¤¸à¤¹à¤¿à¤¤à¤ƒ â€” à¤µà¤¾à¤™à¥à¤®à¤¯à¥‡à¤·à¥ à¤¯à¤œà¥à¤žà¥‡à¤·à¥ à¤‰à¤¤à¥à¤¤à¤®à¤ƒà¥¤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3E3A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अस्य स्तरस्य कथा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à¤ªà¥à¤°à¤¤à¥€à¤•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प्रतीकानि उपमाश्च। अश्वत्थः (पञ्चदशे अध्यायेऽधोमुख-संसार-वृक्षः), रथः (कठ-उपनिषदः गूढ-उपमा), प्रणवः (ॐ), गीता-माहात्म्यम्, विभूतिः। येन प्रतिमा-भाषेण अभूत-तत्त्वं हृदयं प्रविशति।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0" y="160020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1600200"/>
            <a:ext cx="73152" cy="1078992"/>
          </a:xfrm>
          <a:prstGeom prst="rect">
            <a:avLst/>
          </a:prstGeom>
          <a:solidFill>
            <a:srgbClr val="3E3A32"/>
          </a:solidFill>
          <a:ln w="12700">
            <a:solidFill>
              <a:srgbClr val="3E3A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655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à¤…à¤¶à¥à¤µà¤¤à¥à¤¥à¤µà¥ƒà¤•à¥à¤·à¤ƒ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0" y="16550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15.1â€“3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97880" y="192938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à¤Šà¤°à¥à¤§à¥à¤µà¤®à¥‚à¤²à¤ƒ (à¤¹à¤°à¤¿à¤ƒ) à¤…à¤§à¤ƒà¤¶à¤¾à¤–à¤ƒ (à¤²à¥‹à¤•à¤¾à¤ƒ) à¤¸à¤‚à¤¸à¤¾à¤°à¤µà¥ƒà¤•à¥à¤·à¤ƒ â€” à¤—à¥à¤£à¥ˆà¤ƒ à¤¸à¤¿à¤•à¥à¤¤à¤ƒ, à¤µà¤¿à¤·à¤¯à¤¾à¤™à¥à¤•à¥à¤°à¥‹à¤ªà¥‡à¤¤à¤ƒ, à¤…à¤¸à¤™à¥à¤—à¤¶à¤¸à¥à¤¤à¥à¤°à¥‡à¤£ à¤›à¥‡à¤¦à¥…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278892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788920"/>
            <a:ext cx="73152" cy="1078992"/>
          </a:xfrm>
          <a:prstGeom prst="rect">
            <a:avLst/>
          </a:prstGeom>
          <a:solidFill>
            <a:srgbClr val="3E3A32"/>
          </a:solidFill>
          <a:ln w="12700">
            <a:solidFill>
              <a:srgbClr val="3E3A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8437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à¤°à¤¥à¤°à¥‚à¤ªà¤•à¤®à¥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0" y="28437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1.21â€“25 Â· 18.78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311810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à¤ªà¥à¤°à¤¥à¤®à¤¦à¥à¤µà¤¿à¤¤à¥€à¤¯à¤¾à¤§à¥à¤¯à¤¾à¤¯à¤¯à¥‹à¤ƒ à¤¸à¥‚à¤šà¤¿à¤¤à¤®à¥ â€” à¤•à¥ƒà¤·à¥à¤£à¤ƒ à¤¸à¤¾à¤°à¤¥à¤¿à¤ƒ, à¤…à¤°à¥à¤œà¥à¤¨à¥‹ à¤°à¤¥à¥€à¥¤ à¤•à¤ à¥‹à¤ªà¤¨à¤¿à¤·à¤¦à¥à¤•à¥à¤¤à¤°à¤¥à¤°à¥‚à¤ªà¤•à¤¸à¥à¤¯ à¤ªà¥à¤°à¤¤à¤¿à¤§à¥à¤µà¤¨à¤¿…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15000" y="397764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977640"/>
            <a:ext cx="73152" cy="1078992"/>
          </a:xfrm>
          <a:prstGeom prst="rect">
            <a:avLst/>
          </a:prstGeom>
          <a:solidFill>
            <a:srgbClr val="3E3A32"/>
          </a:solidFill>
          <a:ln w="12700">
            <a:solidFill>
              <a:srgbClr val="3E3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4032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à¤ªà¥à¤°à¤£à¤µà¤ƒ (à¥)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0" y="4032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8.13 Â· 17.23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430682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"à¥ à¤‡à¤¤à¥à¤¯à¥‡à¤•à¤¾à¤•à¥à¤·à¤°à¤‚ à¤¬à¥à¤°à¤¹à¥à¤®" â€” à¤…à¤¨à¥à¤¤à¤•à¤¾à¤²à¥‡ à¥à¤•à¤¾à¤°à¤®à¥à¤šà¥à¤šà¤¾à¤°à¤¯à¤¨à¥ à¤¹à¤°à¤¿à¤®à¤¨à¥à¤¸à¥à¤®à¤°à¤¨à¥ à¤ªà¤°à¤®à¤¾à¤‚ à¤—à¤¤à¤¿à¤‚ à¤ªà¥à¤°à¤¾à¤ªà¥à¤¨à¥‹à¤¤à¤¿à¥¤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15000" y="5166360"/>
            <a:ext cx="5943600" cy="1078992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166360"/>
            <a:ext cx="73152" cy="1078992"/>
          </a:xfrm>
          <a:prstGeom prst="rect">
            <a:avLst/>
          </a:prstGeom>
          <a:solidFill>
            <a:srgbClr val="3E3A32"/>
          </a:solidFill>
          <a:ln w="12700">
            <a:solidFill>
              <a:srgbClr val="3E3A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5221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à¤…à¤•à¥à¤·à¤°à¤¾à¤£à¤¾à¤®à¤•à¤¾à¤°à¤ƒ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0" y="52212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10.33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549554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"à¤…à¤•à¥à¤·à¤°à¤¾à¤£à¤¾à¤®à¤•à¤¾à¤°à¥‹à¤½à¤¸à¥à¤®à¤¿" â€” à¤¸à¤°à¥à¤µà¤µà¤°à¥à¤£à¤¾à¤¨à¤¾à¤‚ à¤®à¥‚à¤²à¤­à¥‚à¤¤à¤ƒ à¤…à¤•à¤¾à¤°à¤ƒ à¤…à¤¹à¤®à¥ à¤‡à¤¤à¤¿ à¤•à¥ƒà¤·à¥à¤£à¤µà¤šà¤¨à¤®à¥; à¤¸à¤®à¤¾à¤¸à¥‡à¤·à¥ à¤¦à¥à¤µà¤¨à¥à¤¦à¥à¤µà¤¸à¤®à¤¾à¤¸à¤¶à¥à¤š…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A7558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सम्बन्ध-वर्गाः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अष्टौ चिह्निताः सम्बन्धाः गीता-विचारस्य रचनां धारयन्ति 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50008"/>
            <a:ext cx="201168" cy="20116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02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is-a — एकविषयत्वम् · ब्रह्म = परमात्मा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2350008"/>
            <a:ext cx="201168" cy="201168"/>
          </a:xfrm>
          <a:prstGeom prst="rect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2402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leads-to — साधनं → फलम् · कर्मयोगः → चित्तशुद्धिः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201168" cy="201168"/>
          </a:xfrm>
          <a:prstGeom prst="rect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974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antidote-to — दोष-निवारणम् · ज्ञानं → अज्ञानम्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807208"/>
            <a:ext cx="201168" cy="2011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6974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arises-from — कारणजन्यता · क्रोधः ← कामात्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64408"/>
            <a:ext cx="201168" cy="201168"/>
          </a:xfrm>
          <a:prstGeom prst="rect">
            <a:avLst/>
          </a:prstGeom>
          <a:solidFill>
            <a:srgbClr val="5A3E6A"/>
          </a:solidFill>
          <a:ln w="12700">
            <a:solidFill>
              <a:srgbClr val="5A3E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546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opposite-of — विपरीतत्वम् · सत्त्वम् ↔ तमः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264408"/>
            <a:ext cx="201168" cy="201168"/>
          </a:xfrm>
          <a:prstGeom prst="rect">
            <a:avLst/>
          </a:prstGeom>
          <a:solidFill>
            <a:srgbClr val="2F6E7A"/>
          </a:solidFill>
          <a:ln w="12700">
            <a:solidFill>
              <a:srgbClr val="2F6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1546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includes — अङ्ग-समावेशः · क्षेत्रं → महाभूतानि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21608"/>
            <a:ext cx="201168" cy="201168"/>
          </a:xfrm>
          <a:prstGeom prst="rect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11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predicates-on — आश्रयत्वम् · क्षेत्रज्ञः ← क्षेत्रम्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721608"/>
            <a:ext cx="201168" cy="201168"/>
          </a:xfrm>
          <a:prstGeom prst="rect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611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transforms-into — परिणामः · सत्त्वम् → सात्त्विकं ज्ञानम्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A7558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मानचित्रम्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द्वादश तिर्यक्-पट्ट्यः — परमार्थः शीर्षे, प्रतीकः अधःस्थः। प्रत्येकं सङ्कल्पनं स्व-स्तरे, प्रत्येकः सम्बन्धः स्व-प्रकारेण रञ्जितः। गीता-विचारस्य संरचना ऊर्ध्व-दृष्ट्या।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03720" y="1600200"/>
            <a:ext cx="4754880" cy="4114800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1E1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à¤ªà¤°à¤®à¤¾à¤°à¥à¤¥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686800" y="1842516"/>
            <a:ext cx="109728" cy="109728"/>
          </a:xfrm>
          <a:prstGeom prst="ellipse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0" y="1842516"/>
            <a:ext cx="109728" cy="109728"/>
          </a:xfrm>
          <a:prstGeom prst="ellipse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1842516"/>
            <a:ext cx="109728" cy="109728"/>
          </a:xfrm>
          <a:prstGeom prst="ellipse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0" y="1842516"/>
            <a:ext cx="109728" cy="109728"/>
          </a:xfrm>
          <a:prstGeom prst="ellipse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0" y="1842516"/>
            <a:ext cx="109728" cy="109728"/>
          </a:xfrm>
          <a:prstGeom prst="ellipse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1842516"/>
            <a:ext cx="109728" cy="109728"/>
          </a:xfrm>
          <a:prstGeom prst="ellipse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32720" y="1842516"/>
            <a:ext cx="109728" cy="109728"/>
          </a:xfrm>
          <a:prstGeom prst="ellipse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0" y="1842516"/>
            <a:ext cx="109728" cy="109728"/>
          </a:xfrm>
          <a:prstGeom prst="ellipse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0" y="1842516"/>
            <a:ext cx="109728" cy="109728"/>
          </a:xfrm>
          <a:prstGeom prst="ellipse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1842516"/>
            <a:ext cx="109728" cy="109728"/>
          </a:xfrm>
          <a:prstGeom prst="ellipse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3F1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à¤¤à¤¤à¥à¤¤à¥à¤µ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686800" y="2162556"/>
            <a:ext cx="109728" cy="109728"/>
          </a:xfrm>
          <a:prstGeom prst="ellipse">
            <a:avLst/>
          </a:prstGeom>
          <a:solidFill>
            <a:srgbClr val="A83F1A"/>
          </a:solidFill>
          <a:ln w="12700">
            <a:solidFill>
              <a:srgbClr val="A83F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2162556"/>
            <a:ext cx="109728" cy="109728"/>
          </a:xfrm>
          <a:prstGeom prst="ellipse">
            <a:avLst/>
          </a:prstGeom>
          <a:solidFill>
            <a:srgbClr val="A83F1A"/>
          </a:solidFill>
          <a:ln w="12700">
            <a:solidFill>
              <a:srgbClr val="A83F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2162556"/>
            <a:ext cx="109728" cy="109728"/>
          </a:xfrm>
          <a:prstGeom prst="ellipse">
            <a:avLst/>
          </a:prstGeom>
          <a:solidFill>
            <a:srgbClr val="A83F1A"/>
          </a:solidFill>
          <a:ln w="12700">
            <a:solidFill>
              <a:srgbClr val="A83F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2162556"/>
            <a:ext cx="109728" cy="109728"/>
          </a:xfrm>
          <a:prstGeom prst="ellipse">
            <a:avLst/>
          </a:prstGeom>
          <a:solidFill>
            <a:srgbClr val="A83F1A"/>
          </a:solidFill>
          <a:ln w="12700">
            <a:solidFill>
              <a:srgbClr val="A83F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2162556"/>
            <a:ext cx="109728" cy="109728"/>
          </a:xfrm>
          <a:prstGeom prst="ellipse">
            <a:avLst/>
          </a:prstGeom>
          <a:solidFill>
            <a:srgbClr val="A83F1A"/>
          </a:solidFill>
          <a:ln w="12700">
            <a:solidFill>
              <a:srgbClr val="A83F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2162556"/>
            <a:ext cx="109728" cy="109728"/>
          </a:xfrm>
          <a:prstGeom prst="ellipse">
            <a:avLst/>
          </a:prstGeom>
          <a:solidFill>
            <a:srgbClr val="A83F1A"/>
          </a:solidFill>
          <a:ln w="12700">
            <a:solidFill>
              <a:srgbClr val="A83F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32720" y="2162556"/>
            <a:ext cx="109728" cy="109728"/>
          </a:xfrm>
          <a:prstGeom prst="ellipse">
            <a:avLst/>
          </a:prstGeom>
          <a:solidFill>
            <a:srgbClr val="A83F1A"/>
          </a:solidFill>
          <a:ln w="12700">
            <a:solidFill>
              <a:srgbClr val="A83F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07040" y="2162556"/>
            <a:ext cx="109728" cy="109728"/>
          </a:xfrm>
          <a:prstGeom prst="ellipse">
            <a:avLst/>
          </a:prstGeom>
          <a:solidFill>
            <a:srgbClr val="A83F1A"/>
          </a:solidFill>
          <a:ln w="12700">
            <a:solidFill>
              <a:srgbClr val="A83F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702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à¤•à¥à¤·à¥‡à¤¤à¥à¤°-à¤•à¥à¤·à¥‡à¤¤à¥à¤°à¤œà¥à¤ž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686800" y="2482596"/>
            <a:ext cx="109728" cy="109728"/>
          </a:xfrm>
          <a:prstGeom prst="ellipse">
            <a:avLst/>
          </a:prstGeom>
          <a:solidFill>
            <a:srgbClr val="B8702A"/>
          </a:solidFill>
          <a:ln w="12700">
            <a:solidFill>
              <a:srgbClr val="B870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61120" y="2482596"/>
            <a:ext cx="109728" cy="109728"/>
          </a:xfrm>
          <a:prstGeom prst="ellipse">
            <a:avLst/>
          </a:prstGeom>
          <a:solidFill>
            <a:srgbClr val="B8702A"/>
          </a:solidFill>
          <a:ln w="12700">
            <a:solidFill>
              <a:srgbClr val="B870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35440" y="2482596"/>
            <a:ext cx="109728" cy="109728"/>
          </a:xfrm>
          <a:prstGeom prst="ellipse">
            <a:avLst/>
          </a:prstGeom>
          <a:solidFill>
            <a:srgbClr val="B8702A"/>
          </a:solidFill>
          <a:ln w="12700">
            <a:solidFill>
              <a:srgbClr val="B870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0" y="2482596"/>
            <a:ext cx="109728" cy="109728"/>
          </a:xfrm>
          <a:prstGeom prst="ellipse">
            <a:avLst/>
          </a:prstGeom>
          <a:solidFill>
            <a:srgbClr val="B8702A"/>
          </a:solidFill>
          <a:ln w="12700">
            <a:solidFill>
              <a:srgbClr val="B870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84080" y="2482596"/>
            <a:ext cx="109728" cy="109728"/>
          </a:xfrm>
          <a:prstGeom prst="ellipse">
            <a:avLst/>
          </a:prstGeom>
          <a:solidFill>
            <a:srgbClr val="B8702A"/>
          </a:solidFill>
          <a:ln w="12700">
            <a:solidFill>
              <a:srgbClr val="B870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0" y="2482596"/>
            <a:ext cx="109728" cy="109728"/>
          </a:xfrm>
          <a:prstGeom prst="ellipse">
            <a:avLst/>
          </a:prstGeom>
          <a:solidFill>
            <a:srgbClr val="B8702A"/>
          </a:solidFill>
          <a:ln w="12700">
            <a:solidFill>
              <a:srgbClr val="B870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32720" y="2482596"/>
            <a:ext cx="109728" cy="109728"/>
          </a:xfrm>
          <a:prstGeom prst="ellipse">
            <a:avLst/>
          </a:prstGeom>
          <a:solidFill>
            <a:srgbClr val="B8702A"/>
          </a:solidFill>
          <a:ln w="12700">
            <a:solidFill>
              <a:srgbClr val="B870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07040" y="2482596"/>
            <a:ext cx="109728" cy="109728"/>
          </a:xfrm>
          <a:prstGeom prst="ellipse">
            <a:avLst/>
          </a:prstGeom>
          <a:solidFill>
            <a:srgbClr val="B8702A"/>
          </a:solidFill>
          <a:ln w="12700">
            <a:solidFill>
              <a:srgbClr val="B870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9E2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à¤—à¥à¤£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686800" y="2802636"/>
            <a:ext cx="109728" cy="109728"/>
          </a:xfrm>
          <a:prstGeom prst="ellipse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0" y="2802636"/>
            <a:ext cx="109728" cy="109728"/>
          </a:xfrm>
          <a:prstGeom prst="ellipse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35440" y="2802636"/>
            <a:ext cx="109728" cy="109728"/>
          </a:xfrm>
          <a:prstGeom prst="ellipse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09760" y="2802636"/>
            <a:ext cx="109728" cy="109728"/>
          </a:xfrm>
          <a:prstGeom prst="ellipse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84080" y="2802636"/>
            <a:ext cx="109728" cy="109728"/>
          </a:xfrm>
          <a:prstGeom prst="ellipse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58400" y="2802636"/>
            <a:ext cx="109728" cy="109728"/>
          </a:xfrm>
          <a:prstGeom prst="ellipse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32720" y="2802636"/>
            <a:ext cx="109728" cy="109728"/>
          </a:xfrm>
          <a:prstGeom prst="ellipse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07040" y="2802636"/>
            <a:ext cx="109728" cy="109728"/>
          </a:xfrm>
          <a:prstGeom prst="ellipse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81360" y="2802636"/>
            <a:ext cx="109728" cy="109728"/>
          </a:xfrm>
          <a:prstGeom prst="ellipse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155680" y="2802636"/>
            <a:ext cx="109728" cy="109728"/>
          </a:xfrm>
          <a:prstGeom prst="ellipse">
            <a:avLst/>
          </a:prstGeom>
          <a:solidFill>
            <a:srgbClr val="C69E2A"/>
          </a:solidFill>
          <a:ln w="12700">
            <a:solidFill>
              <a:srgbClr val="C69E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9516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8D2E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à¤¯à¥‹à¤—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686800" y="3122676"/>
            <a:ext cx="109728" cy="109728"/>
          </a:xfrm>
          <a:prstGeom prst="ellipse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61120" y="3122676"/>
            <a:ext cx="109728" cy="109728"/>
          </a:xfrm>
          <a:prstGeom prst="ellipse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35440" y="3122676"/>
            <a:ext cx="109728" cy="109728"/>
          </a:xfrm>
          <a:prstGeom prst="ellipse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09760" y="3122676"/>
            <a:ext cx="109728" cy="109728"/>
          </a:xfrm>
          <a:prstGeom prst="ellipse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84080" y="3122676"/>
            <a:ext cx="109728" cy="109728"/>
          </a:xfrm>
          <a:prstGeom prst="ellipse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58400" y="3122676"/>
            <a:ext cx="109728" cy="109728"/>
          </a:xfrm>
          <a:prstGeom prst="ellipse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32720" y="3122676"/>
            <a:ext cx="109728" cy="109728"/>
          </a:xfrm>
          <a:prstGeom prst="ellipse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607040" y="3122676"/>
            <a:ext cx="109728" cy="109728"/>
          </a:xfrm>
          <a:prstGeom prst="ellipse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881360" y="3122676"/>
            <a:ext cx="109728" cy="109728"/>
          </a:xfrm>
          <a:prstGeom prst="ellipse">
            <a:avLst/>
          </a:prstGeom>
          <a:solidFill>
            <a:srgbClr val="7B8D2E"/>
          </a:solidFill>
          <a:ln w="12700">
            <a:solidFill>
              <a:srgbClr val="7B8D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95160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7A4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à¤¸à¤¾à¤§à¤¨à¤¾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686800" y="3442716"/>
            <a:ext cx="109728" cy="109728"/>
          </a:xfrm>
          <a:prstGeom prst="ellipse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961120" y="3442716"/>
            <a:ext cx="109728" cy="109728"/>
          </a:xfrm>
          <a:prstGeom prst="ellipse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35440" y="3442716"/>
            <a:ext cx="109728" cy="109728"/>
          </a:xfrm>
          <a:prstGeom prst="ellipse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509760" y="3442716"/>
            <a:ext cx="109728" cy="109728"/>
          </a:xfrm>
          <a:prstGeom prst="ellipse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84080" y="3442716"/>
            <a:ext cx="109728" cy="109728"/>
          </a:xfrm>
          <a:prstGeom prst="ellipse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058400" y="3442716"/>
            <a:ext cx="109728" cy="109728"/>
          </a:xfrm>
          <a:prstGeom prst="ellipse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332720" y="3442716"/>
            <a:ext cx="109728" cy="109728"/>
          </a:xfrm>
          <a:prstGeom prst="ellipse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607040" y="3442716"/>
            <a:ext cx="109728" cy="109728"/>
          </a:xfrm>
          <a:prstGeom prst="ellipse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881360" y="3442716"/>
            <a:ext cx="109728" cy="109728"/>
          </a:xfrm>
          <a:prstGeom prst="ellipse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155680" y="3442716"/>
            <a:ext cx="109728" cy="109728"/>
          </a:xfrm>
          <a:prstGeom prst="ellipse">
            <a:avLst/>
          </a:prstGeom>
          <a:solidFill>
            <a:srgbClr val="3F7A4A"/>
          </a:solidFill>
          <a:ln w="12700">
            <a:solidFill>
              <a:srgbClr val="3F7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9516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6E7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à¤…à¤¨à¥à¤¤à¤ƒà¤•à¤°à¤£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686800" y="3762756"/>
            <a:ext cx="109728" cy="109728"/>
          </a:xfrm>
          <a:prstGeom prst="ellipse">
            <a:avLst/>
          </a:prstGeom>
          <a:solidFill>
            <a:srgbClr val="2F6E7A"/>
          </a:solidFill>
          <a:ln w="12700">
            <a:solidFill>
              <a:srgbClr val="2F6E7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61120" y="3762756"/>
            <a:ext cx="109728" cy="109728"/>
          </a:xfrm>
          <a:prstGeom prst="ellipse">
            <a:avLst/>
          </a:prstGeom>
          <a:solidFill>
            <a:srgbClr val="2F6E7A"/>
          </a:solidFill>
          <a:ln w="12700">
            <a:solidFill>
              <a:srgbClr val="2F6E7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235440" y="3762756"/>
            <a:ext cx="109728" cy="109728"/>
          </a:xfrm>
          <a:prstGeom prst="ellipse">
            <a:avLst/>
          </a:prstGeom>
          <a:solidFill>
            <a:srgbClr val="2F6E7A"/>
          </a:solidFill>
          <a:ln w="12700">
            <a:solidFill>
              <a:srgbClr val="2F6E7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509760" y="3762756"/>
            <a:ext cx="109728" cy="109728"/>
          </a:xfrm>
          <a:prstGeom prst="ellipse">
            <a:avLst/>
          </a:prstGeom>
          <a:solidFill>
            <a:srgbClr val="2F6E7A"/>
          </a:solidFill>
          <a:ln w="12700">
            <a:solidFill>
              <a:srgbClr val="2F6E7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784080" y="3762756"/>
            <a:ext cx="109728" cy="109728"/>
          </a:xfrm>
          <a:prstGeom prst="ellipse">
            <a:avLst/>
          </a:prstGeom>
          <a:solidFill>
            <a:srgbClr val="2F6E7A"/>
          </a:solidFill>
          <a:ln w="12700">
            <a:solidFill>
              <a:srgbClr val="2F6E7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058400" y="3762756"/>
            <a:ext cx="109728" cy="109728"/>
          </a:xfrm>
          <a:prstGeom prst="ellipse">
            <a:avLst/>
          </a:prstGeom>
          <a:solidFill>
            <a:srgbClr val="2F6E7A"/>
          </a:solidFill>
          <a:ln w="12700">
            <a:solidFill>
              <a:srgbClr val="2F6E7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9516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A4A7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à¤§à¤°à¥à¤®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686800" y="4082796"/>
            <a:ext cx="109728" cy="109728"/>
          </a:xfrm>
          <a:prstGeom prst="ellipse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961120" y="4082796"/>
            <a:ext cx="109728" cy="109728"/>
          </a:xfrm>
          <a:prstGeom prst="ellipse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235440" y="4082796"/>
            <a:ext cx="109728" cy="109728"/>
          </a:xfrm>
          <a:prstGeom prst="ellipse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509760" y="4082796"/>
            <a:ext cx="109728" cy="109728"/>
          </a:xfrm>
          <a:prstGeom prst="ellipse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784080" y="4082796"/>
            <a:ext cx="109728" cy="109728"/>
          </a:xfrm>
          <a:prstGeom prst="ellipse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058400" y="4082796"/>
            <a:ext cx="109728" cy="109728"/>
          </a:xfrm>
          <a:prstGeom prst="ellipse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332720" y="4082796"/>
            <a:ext cx="109728" cy="109728"/>
          </a:xfrm>
          <a:prstGeom prst="ellipse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607040" y="4082796"/>
            <a:ext cx="109728" cy="109728"/>
          </a:xfrm>
          <a:prstGeom prst="ellipse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881360" y="4082796"/>
            <a:ext cx="109728" cy="109728"/>
          </a:xfrm>
          <a:prstGeom prst="ellipse">
            <a:avLst/>
          </a:prstGeom>
          <a:solidFill>
            <a:srgbClr val="3A4A7A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99516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3E6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à¤¦à¥‹à¤·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686800" y="4402836"/>
            <a:ext cx="109728" cy="109728"/>
          </a:xfrm>
          <a:prstGeom prst="ellipse">
            <a:avLst/>
          </a:prstGeom>
          <a:solidFill>
            <a:srgbClr val="5A3E6A"/>
          </a:solidFill>
          <a:ln w="12700">
            <a:solidFill>
              <a:srgbClr val="5A3E6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61120" y="4402836"/>
            <a:ext cx="109728" cy="109728"/>
          </a:xfrm>
          <a:prstGeom prst="ellipse">
            <a:avLst/>
          </a:prstGeom>
          <a:solidFill>
            <a:srgbClr val="5A3E6A"/>
          </a:solidFill>
          <a:ln w="12700">
            <a:solidFill>
              <a:srgbClr val="5A3E6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235440" y="4402836"/>
            <a:ext cx="109728" cy="109728"/>
          </a:xfrm>
          <a:prstGeom prst="ellipse">
            <a:avLst/>
          </a:prstGeom>
          <a:solidFill>
            <a:srgbClr val="5A3E6A"/>
          </a:solidFill>
          <a:ln w="12700">
            <a:solidFill>
              <a:srgbClr val="5A3E6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509760" y="4402836"/>
            <a:ext cx="109728" cy="109728"/>
          </a:xfrm>
          <a:prstGeom prst="ellipse">
            <a:avLst/>
          </a:prstGeom>
          <a:solidFill>
            <a:srgbClr val="5A3E6A"/>
          </a:solidFill>
          <a:ln w="12700">
            <a:solidFill>
              <a:srgbClr val="5A3E6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84080" y="4402836"/>
            <a:ext cx="109728" cy="109728"/>
          </a:xfrm>
          <a:prstGeom prst="ellipse">
            <a:avLst/>
          </a:prstGeom>
          <a:solidFill>
            <a:srgbClr val="5A3E6A"/>
          </a:solidFill>
          <a:ln w="12700">
            <a:solidFill>
              <a:srgbClr val="5A3E6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058400" y="4402836"/>
            <a:ext cx="109728" cy="109728"/>
          </a:xfrm>
          <a:prstGeom prst="ellipse">
            <a:avLst/>
          </a:prstGeom>
          <a:solidFill>
            <a:srgbClr val="5A3E6A"/>
          </a:solidFill>
          <a:ln w="12700">
            <a:solidFill>
              <a:srgbClr val="5A3E6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332720" y="4402836"/>
            <a:ext cx="109728" cy="109728"/>
          </a:xfrm>
          <a:prstGeom prst="ellipse">
            <a:avLst/>
          </a:prstGeom>
          <a:solidFill>
            <a:srgbClr val="5A3E6A"/>
          </a:solidFill>
          <a:ln w="12700">
            <a:solidFill>
              <a:srgbClr val="5A3E6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607040" y="4402836"/>
            <a:ext cx="109728" cy="109728"/>
          </a:xfrm>
          <a:prstGeom prst="ellipse">
            <a:avLst/>
          </a:prstGeom>
          <a:solidFill>
            <a:srgbClr val="5A3E6A"/>
          </a:solidFill>
          <a:ln w="12700">
            <a:solidFill>
              <a:srgbClr val="5A3E6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995160" y="4617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1E5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à¤«à¤²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8686800" y="4722876"/>
            <a:ext cx="109728" cy="109728"/>
          </a:xfrm>
          <a:prstGeom prst="ellipse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961120" y="4722876"/>
            <a:ext cx="109728" cy="109728"/>
          </a:xfrm>
          <a:prstGeom prst="ellipse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235440" y="4722876"/>
            <a:ext cx="109728" cy="109728"/>
          </a:xfrm>
          <a:prstGeom prst="ellipse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509760" y="4722876"/>
            <a:ext cx="109728" cy="109728"/>
          </a:xfrm>
          <a:prstGeom prst="ellipse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784080" y="4722876"/>
            <a:ext cx="109728" cy="109728"/>
          </a:xfrm>
          <a:prstGeom prst="ellipse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058400" y="4722876"/>
            <a:ext cx="109728" cy="109728"/>
          </a:xfrm>
          <a:prstGeom prst="ellipse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332720" y="4722876"/>
            <a:ext cx="109728" cy="109728"/>
          </a:xfrm>
          <a:prstGeom prst="ellipse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607040" y="4722876"/>
            <a:ext cx="109728" cy="109728"/>
          </a:xfrm>
          <a:prstGeom prst="ellipse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881360" y="4722876"/>
            <a:ext cx="109728" cy="109728"/>
          </a:xfrm>
          <a:prstGeom prst="ellipse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155680" y="4722876"/>
            <a:ext cx="109728" cy="109728"/>
          </a:xfrm>
          <a:prstGeom prst="ellipse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95160" y="4937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A2E2E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à¤¯à¤œà¥à¤ž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8686800" y="5042916"/>
            <a:ext cx="109728" cy="109728"/>
          </a:xfrm>
          <a:prstGeom prst="ellipse">
            <a:avLst/>
          </a:prstGeom>
          <a:solidFill>
            <a:srgbClr val="6A2E2E"/>
          </a:solidFill>
          <a:ln w="12700">
            <a:solidFill>
              <a:srgbClr val="6A2E2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961120" y="5042916"/>
            <a:ext cx="109728" cy="109728"/>
          </a:xfrm>
          <a:prstGeom prst="ellipse">
            <a:avLst/>
          </a:prstGeom>
          <a:solidFill>
            <a:srgbClr val="6A2E2E"/>
          </a:solidFill>
          <a:ln w="12700">
            <a:solidFill>
              <a:srgbClr val="6A2E2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235440" y="5042916"/>
            <a:ext cx="109728" cy="109728"/>
          </a:xfrm>
          <a:prstGeom prst="ellipse">
            <a:avLst/>
          </a:prstGeom>
          <a:solidFill>
            <a:srgbClr val="6A2E2E"/>
          </a:solidFill>
          <a:ln w="12700">
            <a:solidFill>
              <a:srgbClr val="6A2E2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509760" y="5042916"/>
            <a:ext cx="109728" cy="109728"/>
          </a:xfrm>
          <a:prstGeom prst="ellipse">
            <a:avLst/>
          </a:prstGeom>
          <a:solidFill>
            <a:srgbClr val="6A2E2E"/>
          </a:solidFill>
          <a:ln w="12700">
            <a:solidFill>
              <a:srgbClr val="6A2E2E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784080" y="5042916"/>
            <a:ext cx="109728" cy="109728"/>
          </a:xfrm>
          <a:prstGeom prst="ellipse">
            <a:avLst/>
          </a:prstGeom>
          <a:solidFill>
            <a:srgbClr val="6A2E2E"/>
          </a:solidFill>
          <a:ln w="12700">
            <a:solidFill>
              <a:srgbClr val="6A2E2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058400" y="5042916"/>
            <a:ext cx="109728" cy="109728"/>
          </a:xfrm>
          <a:prstGeom prst="ellipse">
            <a:avLst/>
          </a:prstGeom>
          <a:solidFill>
            <a:srgbClr val="6A2E2E"/>
          </a:solidFill>
          <a:ln w="12700">
            <a:solidFill>
              <a:srgbClr val="6A2E2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995160" y="5257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E3A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à¤ªà¥à¤°à¤¤à¥€à¤•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8686800" y="5362956"/>
            <a:ext cx="109728" cy="109728"/>
          </a:xfrm>
          <a:prstGeom prst="ellipse">
            <a:avLst/>
          </a:prstGeom>
          <a:solidFill>
            <a:srgbClr val="3E3A32"/>
          </a:solidFill>
          <a:ln w="12700">
            <a:solidFill>
              <a:srgbClr val="3E3A32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961120" y="5362956"/>
            <a:ext cx="109728" cy="109728"/>
          </a:xfrm>
          <a:prstGeom prst="ellipse">
            <a:avLst/>
          </a:prstGeom>
          <a:solidFill>
            <a:srgbClr val="3E3A32"/>
          </a:solidFill>
          <a:ln w="12700">
            <a:solidFill>
              <a:srgbClr val="3E3A3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235440" y="5362956"/>
            <a:ext cx="109728" cy="109728"/>
          </a:xfrm>
          <a:prstGeom prst="ellipse">
            <a:avLst/>
          </a:prstGeom>
          <a:solidFill>
            <a:srgbClr val="3E3A32"/>
          </a:solidFill>
          <a:ln w="12700">
            <a:solidFill>
              <a:srgbClr val="3E3A32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509760" y="5362956"/>
            <a:ext cx="109728" cy="109728"/>
          </a:xfrm>
          <a:prstGeom prst="ellipse">
            <a:avLst/>
          </a:prstGeom>
          <a:solidFill>
            <a:srgbClr val="3E3A32"/>
          </a:solidFill>
          <a:ln w="12700">
            <a:solidFill>
              <a:srgbClr val="3E3A32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784080" y="5362956"/>
            <a:ext cx="109728" cy="109728"/>
          </a:xfrm>
          <a:prstGeom prst="ellipse">
            <a:avLst/>
          </a:prstGeom>
          <a:solidFill>
            <a:srgbClr val="3E3A32"/>
          </a:solidFill>
          <a:ln w="12700">
            <a:solidFill>
              <a:srgbClr val="3E3A32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058400" y="5362956"/>
            <a:ext cx="109728" cy="109728"/>
          </a:xfrm>
          <a:prstGeom prst="ellipse">
            <a:avLst/>
          </a:prstGeom>
          <a:solidFill>
            <a:srgbClr val="3E3A32"/>
          </a:solidFill>
          <a:ln w="12700">
            <a:solidFill>
              <a:srgbClr val="3E3A32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B1E1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माध्व-पठनम्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à¤¸à¤°à¥à¤µà¥‹à¤¤à¥à¤¤à¤®à¤¤à¥à¤µà¤®à¥ â€” à¤¹à¤°à¥‡à¤ƒ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à¤¤à¤¾à¤°à¤¤à¤®à¥à¤¯à¤¸à¥à¤¯ à¤®à¥‚à¤²à¤¾à¤§à¤¾à¤°-à¤¸à¤¿à¤¦à¥à¤§à¤¾à¤¨à¥à¤¤à¤ƒ â€” à¤¹à¤°à¤¿à¤ƒ à¤¸à¤°à¥à¤µà¥‹à¤¤à¥à¤•à¥ƒà¤·à¥à¤Ÿà¤ƒ, à¤¨ à¤¤à¤¸à¥à¤¯ à¤¸à¤®à¤ƒ à¤¨ à¤…à¤§à¤¿à¤•à¤ƒà¥¤ à¤¸à¤°à¥à¤µà¤®à¥ à¤‡à¤¤à¤°à¤¤à¥ à¤¤à¤¤à¥-à¤ªà¤°à¤¤à¤¨à¥à¤¤à¥à¤°à¤®à¥à¥¤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8B1E1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à¤®à¤§à¥à¤µ-à¤¸à¤¿à¤¦à¥à¤§à¤¾à¤¨à¥à¤¤à¤¸à¥à¤¯ à¤†à¤§à¤¾à¤°-à¤¶à¤¿à¤²à¤¾ â€” à¤ªà¤žà¥à¤š-à¤­à¥‡à¤¦-à¤µà¥à¤¯à¤µà¤¸à¥à¤¥à¤¾ à¤…à¤¤ à¤à¤µ à¤ªà¥à¤°à¤¾à¤°à¤­à¤¤à¥‡à¥¤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0" y="1600200"/>
            <a:ext cx="3886200" cy="4572000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600200"/>
            <a:ext cx="73152" cy="4572000"/>
          </a:xfrm>
          <a:prstGeom prst="rect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7558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आधार-श्लोकः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7.7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23317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à¤®à¤¤à¥à¤¤à¤ƒ à¤ªà¤°à¤¤à¤°à¤‚ à¤¨à¤¾à¤¨à¥à¤¯à¤¤à¥à¤•à¤¿à¤žà¥à¤šà¤¿à¤¦à¤¸à¥à¤¤à¤¿ à¤§à¤¨à¤žà¥à¤œà¤¯à¥¤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5715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7.7 Â· 11.43 Â· 18.65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B1E1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माध्व-पठनम्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à¤ªà¤žà¥à¤šà¤­à¥‡à¤¦à¤ƒ â€” à¤ªà¤žà¥à¤š-à¤µà¤¾à¤¸à¥à¤¤à¤µà¤¿à¤•-à¤­à¥‡à¤¦à¤¾à¤ƒ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à¤¹à¤°à¤¿-à¤œà¥€à¤µ, à¤¹à¤°à¤¿-à¤œà¤¡, à¤œà¥€à¤µ-à¤œà¤¡, à¤œà¥€à¤µ-à¤œà¥€à¤µ, à¤œà¤¡-à¤œà¤¡ â€” à¤à¤¤à¥‡ à¤ªà¤žà¥à¤š à¤¨à¤¿à¤¤à¥à¤¯-à¤­à¥‡à¤¦à¤¾à¤ƒ à¤®à¤§à¥à¤µ-à¤¸à¤¿à¤¦à¥à¤§à¤¾à¤¨à¥à¤¤à¥‡à¤¨ à¤¸à¤¤à¥à¤¤à¤¾-à¤¤à¤¨à¥à¤¤à¥à¤°-à¤µà¤¾à¤¸à¥à¤¤à¤µà¤¿à¤•à¤¾à¤ƒ à¤‡à¤¤à¤¿ à¤ªà¥à¤°à¤¤à¤¿à¤ªà¤¾à¤¦à¥à¤¯à¤¨à¥à¤¤à¥‡à¥¤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8B1E1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à¤®à¤§à¥à¤µ-à¤¨à¤¿à¤°à¥à¤£à¤¾à¤¯à¤•à¤®à¥à¥¤ à¤ªà¥à¤°à¤¤à¥à¤¯à¥‡à¤•-à¤­à¥‡à¤¦à¤ƒ à¤—à¥€à¤¤à¤¾à¤¯à¤¾à¤‚ à¤ªà¥à¤°à¤¤à¤¿à¤·à¥à¤ à¤¿à¤¤à¤ƒ (à¤œà¥€à¤µà¤¾à¤‚à¤¶-à¤µà¤¾à¤•à¥à¤¯à¤‚ à¤—à¥€à¥° à¥§à¥«à¥¤à¥­; à¤œà¥€à¤µ-à¤œà¥€à¤µ-à¤­à¥‡à¤¦à¤ƒ à¤¸à¥à¤µà¤­à¤¾à¤µ-à¤µà¤¾à¤•à¥à¤¯à¥‡ à¤—à¥€à¥° à¥§à¥®à¥¤à¥ªà¥§ à¤‡à¤¤à¥à¤¯à¤¾à¤¦à¤¿à¤·à¥ à¤…à¤¨à¥à¤¤à¤°à¥à¤¨à¤¿à¤¹à¤¿à¤¤à¤ƒ)à¥¤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0" y="1600200"/>
            <a:ext cx="3886200" cy="4572000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600200"/>
            <a:ext cx="73152" cy="4572000"/>
          </a:xfrm>
          <a:prstGeom prst="rect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7558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आधार-श्लोकः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15.7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23317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à¤®à¤®à¥ˆà¤µà¤¾à¤‚à¤¶à¥‹ à¤œà¥€à¤µà¤²à¥‹à¤•à¥‡ à¤œà¥€à¤µà¤­à¥‚à¤¤à¤ƒ à¤¸à¤¨à¤¾à¤¤à¤¨à¤ƒà¥¤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5715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7.4â€“5 Â· 15.7 Â· 15.16â€“18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B1E1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माध्व-पठनम्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à¤¤à¤¾à¤°à¤¤à¤®à¥à¤¯à¤®à¥ â€” à¤¸à¤¤à¥à¤¤à¤¾-à¤•à¥à¤°à¤®à¤ƒ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à¤¹à¤°à¤¿-à¤…à¤§à¥€à¤¨à¤¸à¥à¤¯ à¤¸à¤®à¤¸à¥à¤¤-à¤¸à¤¤à¥à¤¤à¤¾à¤¯à¤¾à¤ƒ à¤•à¤ à¥‹à¤°-à¤•à¥à¤°à¤®-à¤µà¥à¤¯à¤µà¤¸à¥à¤¥à¤¾ â€” à¤ªà¥à¤°à¤¤à¥à¤¯à¥‡à¤•-à¤œà¥€à¤µà¤¸à¥à¤¯ à¤¨à¤¿à¤¶à¥à¤šà¤¿à¤¤à¤ƒ à¤…à¤ªà¤°à¤¿à¤µà¤°à¥à¤¤à¤¨à¥€à¤¯à¤ƒ à¤š à¤ªà¤¦-à¤•à¥à¤°à¤®à¤ƒà¥¤ à¤®à¤§à¥à¤µ-à¤¤à¤¤à¥à¤¤à¥à¤µ-à¤¶à¤¾à¤¸à¥à¤¤à¥à¤°à¤¸à¥à¤¯ à¤°à¤šà¤¨à¤¾-à¤¤à¤¤à¥à¤¤à¥à¤µà¤®à¥à¥¤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8B1E1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à¤µà¤¿à¤¶à¤¿à¤·à¥à¤Ÿà¤‚ à¤®à¤§à¥à¤µ-à¤¤à¤¤à¥à¤¤à¥à¤µà¤®à¥à¥¤ à¤ªà¤žà¥à¤š-à¤­à¥‡à¤¦-à¤µà¥à¤¯à¤µà¤¸à¥à¤¥à¤¾à¤‚ à¤®à¥à¤•à¥à¤¤à¤¿-à¤¤à¤¾à¤°à¤¤à¤®à¥à¤¯à¤‚ à¤š à¤†à¤§à¤¾à¤°à¤¯à¤¤à¤¿à¥¤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0" y="1600200"/>
            <a:ext cx="3886200" cy="4572000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600200"/>
            <a:ext cx="73152" cy="4572000"/>
          </a:xfrm>
          <a:prstGeom prst="rect">
            <a:avLst/>
          </a:prstGeom>
          <a:solidFill>
            <a:srgbClr val="8B1E1A"/>
          </a:solidFill>
          <a:ln w="12700">
            <a:solidFill>
              <a:srgbClr val="8B1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7558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आधार-श्लोकः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7.7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23317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à¤®à¤¤à¥à¤¤à¤ƒ à¤ªà¤°à¤¤à¤°à¤‚ à¤¨à¤¾à¤¨à¥à¤¯à¤¤à¥à¤•à¤¿à¤žà¥à¤šà¤¿à¤¦à¤¸à¥à¤¤à¤¿ à¤§à¤¨à¤žà¥à¤œà¤¯à¥¤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à¤®à¤¯à¤¿ à¤¸à¤°à¥à¤µà¤®à¤¿à¤¦à¤‚ à¤ªà¥à¤°à¥‹à¤¤à¤‚ à¤¸à¥‚à¤¤à¥à¤°à¥‡ à¤®à¤£à¤¿à¤—à¤£à¤¾ à¤‡à¤µà¥¥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5715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7.7 Â· 15.16â€“18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1E5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माध्व-पठनम्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à¤šà¤°à¤®à¤¶à¥à¤²à¥‹à¤•à¤«à¤²à¤®à¥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"à¤…à¤¹à¤‚ à¤¤à¥à¤µà¤¾ à¤¸à¤°à¥à¤µà¤ªà¤¾à¤ªà¥‡à¤­à¥à¤¯à¥‹ à¤®à¥‹à¤•à¥à¤·à¤¯à¤¿à¤·à¥à¤¯à¤¾à¤®à¤¿ à¤®à¤¾ à¤¶à¥à¤šà¤ƒ" â€” à¤…à¤·à¥à¤Ÿà¤¾à¤¦à¤¶à¤¾à¤§à¥à¤¯à¤¾à¤¯à¥‡ à¤•à¥ƒà¤·à¥à¤£à¤¸à¥à¤¯ à¤ªà¥à¤°à¤¤à¥à¤¯à¤•à¥à¤·à¤¾à¤¶à¥à¤µà¤¾à¤¸à¤ƒà¥¤ à¤®à¤¾à¤§à¥à¤µà¤¸à¤®à¥à¤ªà¥à¤°à¤¦à¤¾à¤¯à¥‡ à¤…à¤¯à¤‚ à¤—à¥€à¤¤à¤¾à¤¶à¤¾à¤¸à¥à¤¤à¥à¤°à¤¸à¥à¤¯ à¤¶à¤¿à¤°à¥‹à¤­à¥‚à¤¤à¤ƒ à¤¶à¥à¤²à¥‹à¤•à¤ƒà¥¤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7A1E5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à¤šà¤°à¤®à¤¶à¥à¤²à¥‹à¤•à¤ƒ â€” à¤®à¤§à¥à¤µà¤¾à¤šà¤¾à¤°à¥à¤¯à¤¸à¥à¤¯ à¤¸à¤¾à¤•à¥à¤·à¤¾à¤¤à¥ à¤®à¥‹à¤•à¥à¤·à¥‹à¤ªà¤¦à¥‡à¤¶à¤ƒà¥¤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0" y="1600200"/>
            <a:ext cx="3886200" cy="4572000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600200"/>
            <a:ext cx="73152" cy="4572000"/>
          </a:xfrm>
          <a:prstGeom prst="rect">
            <a:avLst/>
          </a:prstGeom>
          <a:solidFill>
            <a:srgbClr val="7A1E5A"/>
          </a:solidFill>
          <a:ln w="12700">
            <a:solidFill>
              <a:srgbClr val="7A1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7558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आधार-श्लोकः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18.66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23317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à¤¸à¤°à¥à¤µà¤§à¤°à¥à¤®à¤¾à¤¨à¥à¤ªà¤°à¤¿à¤¤à¥à¤¯à¤œà¥à¤¯ à¤®à¤¾à¤®à¥‡à¤•à¤‚ à¤¶à¤°à¤£à¤‚ à¤µà¥à¤°à¤œà¥¤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à¤…à¤¹à¤‚ à¤¤à¥à¤µà¤¾ à¤¸à¤°à¥à¤µà¤ªà¤¾à¤ªà¥‡à¤­à¥à¤¯à¥‹ à¤®à¥‹à¤•à¥à¤·à¤¯à¤¿à¤·à¥à¤¯à¤¾à¤®à¤¿ à¤®à¤¾ à¤¶à¥à¤šà¤ƒà¥¥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5715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18.66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A83F1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माध्व-पठनम्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à¤œà¥€à¤µà¤ƒ â€” à¤¦à¥‡à¤¹à¤¸à¥à¤¥à¤ƒ à¤†à¤¤à¥à¤®à¤¾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à¤¹à¤°à¥‡à¤ƒ à¤¨à¤¿à¤¤à¥à¤¯à¤ƒ à¤…à¤‚à¤¶à¤ƒ (à¤—à¥€à¥° à¥§à¥«à¥¤à¥­) â€” à¤¸à¤¤à¥à¤¯à¤ƒ, à¤­à¤¿à¤¨à¥à¤¨à¤ƒ, à¤¬à¤¹à¥à¤µà¤¿à¤§à¤ƒ, à¤•à¤¦à¤¾à¤ªà¤¿ à¤¬à¥à¤°à¤¹à¥à¤®à¤£à¤¿ à¤²à¥€à¤¨à¤‚ à¤¨ à¤ªà¥à¤°à¤¾à¤ªà¥à¤¨à¥‹à¤¤à¤¿à¥¤ à¤®à¥à¤•à¥à¤¤à¤¿-à¤ªà¤°à¥à¤¯à¤¨à¥à¤¤à¤®à¥ à¤…à¤µà¤¿à¤¦à¥à¤¯à¤¯à¤¾ à¤¬à¤¦à¥à¤§à¤ƒà¥¤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A83F1A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à¤œà¥€à¤µ-à¤­à¥‡à¤¦à¤ƒ à¤µà¤¾à¤¸à¥à¤¤à¤µà¤¿à¤•à¤ƒ (à¤ªà¤žà¥à¤š-à¤­à¥‡à¤¦à¥‡à¤·à¥ à¤ªà¥à¤°à¤¥à¤®à¤ƒ)à¥¤ à¤œà¥€à¤µ-à¤¬à¤¹à¥à¤¤à¥à¤µà¤‚ à¤¨à¤¿à¤¤à¥à¤¯à¤®à¥à¥¤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0" y="1600200"/>
            <a:ext cx="3886200" cy="4572000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600200"/>
            <a:ext cx="73152" cy="4572000"/>
          </a:xfrm>
          <a:prstGeom prst="rect">
            <a:avLst/>
          </a:prstGeom>
          <a:solidFill>
            <a:srgbClr val="A83F1A"/>
          </a:solidFill>
          <a:ln w="12700">
            <a:solidFill>
              <a:srgbClr val="A83F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7558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आधार-श्लोकः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15.7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23317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à¤®à¤®à¥ˆà¤µà¤¾à¤‚à¤¶à¥‹ à¤œà¥€à¤µà¤²à¥‹à¤•à¥‡ à¤œà¥€à¤µà¤­à¥‚à¤¤à¤ƒ à¤¸à¤¨à¤¾à¤¤à¤¨à¤ƒà¥¤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à¤®à¤¨à¤ƒà¤·à¤·à¥à¤ à¤¾à¤¨à¥€à¤¨à¥à¤¦à¥à¤°à¤¿à¤¯à¤¾à¤£à¤¿ à¤ªà¥à¤°à¤•à¥ƒà¤¤à¤¿à¤¸à¥à¤¥à¤¾à¤¨à¤¿ à¤•à¤°à¥à¤·à¤¤à¤¿à¥¥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5715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BG 15.7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A7558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22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दर्शकस्य प्रयोगः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• Browse — स्तरानुसारं सर्वाणि सङ्कल्पनानि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• Focus — श्लोक-आधारः, माध्व-टीका, सर्वे सम्बन्धाः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• Map — द्वादशधा-वर्णिते पटे सर्वाणि ११२ सङ्कल्पनानि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चतुर्लिपि-स्विच्: English · देवनागरी · हिंदी · ಕನ್ನಡ — एक-स्पर्शेन परिवर्तनम्।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A7558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23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मूलस्रोतांसि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मूलः — भगवद्गीता (संस्कृत-श्लोकाः, प्रत्येकं सङ्कल्पनं श्लोके निबद्धम्)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भाष्यम् — माध्वं गीता-भाष्यम्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आधुनिक-व्याख्या — बन्नञ्जे गोविन्दाचार्यस्य गीता-भाष्यम् (४ खण्डाः)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दार्शनिक-दृष्टिः — BNK शर्मा, श्री-मध्वाचार्य-दर्शनम्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मानकः — प्रत्येकं सङ्कल्पनं श्लोके सम्प्रदाये च आधृतम्; न मनःकल्पनम्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A7558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24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ग्राफे यत् किञ्चित्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2011680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574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B2A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112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Concepts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51760" cy="2011680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0574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B2A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241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383280" y="3154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Relations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51760" cy="2011680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574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B2A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12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217920" y="3154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Tiers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651760" cy="2011680"/>
          </a:xfrm>
          <a:prstGeom prst="rect">
            <a:avLst/>
          </a:prstGeom>
          <a:solidFill>
            <a:srgbClr val="FBF5E6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20574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B2A1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124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052560" y="3154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Verse anchors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463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github.com/kvinayakpai/Bhagavadgita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55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MIT · open source · build-decks.js generates this deck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2A1B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नमः पार्थसारथये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394960" y="3337560"/>
            <a:ext cx="1371600" cy="18288"/>
          </a:xfrm>
          <a:prstGeom prst="rect">
            <a:avLst/>
          </a:prstGeom>
          <a:solidFill>
            <a:srgbClr val="C9B58A"/>
          </a:solidFill>
          <a:ln w="6350">
            <a:solidFill>
              <a:srgbClr val="C9B5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520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4632"/>
                </a:solidFill>
                <a:latin typeface="Tiro Devanagari Sanskrit" pitchFamily="34" charset="0"/>
                <a:ea typeface="Tiro Devanagari Sanskrit" pitchFamily="34" charset="-122"/>
                <a:cs typeface="Tiro Devanagari Sanskrit" pitchFamily="34" charset="-120"/>
              </a:rPr>
              <a:t>श्रीकृष्णार्पणमस्तु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Bhagavad Gītā Concept 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भगवद्गीता · सङ्कल्पन-ज्ञानवृत्तम्</dc:title>
  <dc:subject>Madhva siddhānta · concept knowledge graph of the BG</dc:subject>
  <dc:creator>kvinayakpai</dc:creator>
  <cp:lastModifiedBy>kvinayakpai</cp:lastModifiedBy>
  <cp:revision>1</cp:revision>
  <dcterms:created xsi:type="dcterms:W3CDTF">2026-06-01T13:15:20Z</dcterms:created>
  <dcterms:modified xsi:type="dcterms:W3CDTF">2026-06-01T13:15:20Z</dcterms:modified>
</cp:coreProperties>
</file>