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भगवद्गीता · सङ्कल्पन-ज्ञानवृत्तम्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88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माध्व-सिद्धान्तानुसारेण पठनम्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166360" y="3520440"/>
            <a:ext cx="1828800" cy="18288"/>
          </a:xfrm>
          <a:prstGeom prst="rect">
            <a:avLst/>
          </a:prstGeom>
          <a:solidFill>
            <a:srgbClr val="C9B58A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49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सङ्कल्पन-ग्राफः · माध्वम्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Concept KG · github.com/kvinayakpai/Bhagavadgita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किमर्थम् इदं रचितम्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गीतायाः सप्तशत-श्लोकाः विश्वरचनां, धर्मम्, अधिभूतिकं च बहुषु सङ्कल्पनेषु निबध्नन्ति। एकवारं क्रमेण पठनं सिध्यति, परन्तु सर्वेषां योगानां, दोषाणां, यज्ञानां, फलानां च परस्परं सम्बन्धः लुप्तप्राय एव। इदं सङ्कल्पन-ज्ञानवृत्तम् सर्वं जालं प्रकटयति — प्रत्येकं सङ्कल्पनं श्लोके निबद्धम्, प्रत्येकः सम्बन्धः चिह्नितः, माध्व-सिद्धान्त-दृष्ट्या पठितः।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द्वादश-स्तराः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सर्वाणि सङ्कल्पनानि द्वादश तारतम्य-स्तरेषु विन्यस्तानि — परमार्थात् प्रतीकपर्यन्तम् एका सोपान-पङ्क्तिः। प्रत्येकः स्तरः समान-जातीयानि सङ्कल्पनानि सङ्गृह्णाति। सम्बन्धाः (is-a, leads-to, antidote-to, arises-from, opposite-of, includes, predicates-on, transforms-into) श्लोकानुसारं सङ्कल्पनानां योजयन्ति।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958084"/>
            <a:ext cx="164592" cy="164592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803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परमार्थ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8803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2958084"/>
            <a:ext cx="164592" cy="164592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8803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तत्त्व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0" y="28803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Metaphysical categories — jīva, prakṛti, kāla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287268"/>
            <a:ext cx="164592" cy="164592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9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क्षेत्र-क्षेत्रज्ञ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14600" y="32095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Field &amp; field-knower — body, knower, 24 elements (Ch 13)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287268"/>
            <a:ext cx="164592" cy="164592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3209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गुण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0" y="32095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three modes of prakṛti — sattva, rajas, tamas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616452"/>
            <a:ext cx="164592" cy="164592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5387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योग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14600" y="35387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3616452"/>
            <a:ext cx="164592" cy="164592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35387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साधना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35387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Practices — śraddhā, vairāgya, yajña, tapas, tyāga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945636"/>
            <a:ext cx="164592" cy="164592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8679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अन्तःकरण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514600" y="386791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Inner instrument — manas, buddhi, ahaṅkāra, indriyas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63640" y="3945636"/>
            <a:ext cx="164592" cy="164592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8679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धर्म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0" y="386791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Ethics — svadharma, niṣkāma-karma, sthita-prajña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274820"/>
            <a:ext cx="164592" cy="164592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1970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दोष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514600" y="419709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Defects — kāma, krodha, lobha, moha, asat-saṅga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63640" y="4274820"/>
            <a:ext cx="164592" cy="164592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41970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फल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0" y="419709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Goals &amp; states — mokṣa, paramagati, brāhmī-sthiti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4604004"/>
            <a:ext cx="164592" cy="164592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5262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यज्ञ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514600" y="45262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Sacrifice varieties — dravya, tapo, jñāna, svādhyāya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263640" y="4604004"/>
            <a:ext cx="164592" cy="164592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5262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प्रतीक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0" y="45262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Symbols &amp; metaphors — aśvattha, ratha, praṇava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परमार्थ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परम-तत्त्वम्। गीतायाः शीर्ष-सङ्कल्पनं न तु निर्विशेषं ब्रह्म, अपि तु हरिः — विष्णुः, क्षरात् (नश्वर-जीवात्) अक्षरात् (कूटस्थात् लक्ष्म्याः) च परः पुरुषोत्तमः। पञ्चदशे अध्याये कृष्णः एतत् पुरुषोत्तम-योगेन उद्घोषयति।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ब्रह्म — परतत्त्व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8.3 · 14.27 · 15.18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मध्व-सिद्धान्ते ब्रह्म इति शब्दः केवलं विष्णोः (नारायणस्य) वाचकः — सर्वोत्तमः, क्षराक्षरातीतः पुरुषोत्तमः। न तु निर्विशेष-निरुपाधि-सामान्य-तत्त्ववाचकः।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परमात्मा — अन्तर्यामी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13.22 · 15.17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सर्वदेहेषु साक्षि-भर्ता-नियन्तृ-रूपेण स्थितः परम आत्मा। जीवात् अत्यन्तं भिन्नः (गी॰ १५।१७)।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पुरुषोत्तम — परमः पुरुषः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15.18–19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क्षराक्षरयोः अतीतः उत्तमः पुरुषः इति कृष्णस्य आत्म-निरूपणम्। पञ्चदशाध्यायस्य हर्मेन्यूतिक-केन्द्रम्।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अक्षरपुरुषः — कूटस्थः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15.16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कूटस्थः अक्षरः — मध्व-मते लक्ष्मीः, नित्य-मुक्त-जीव-गण-मुख्या। हरेः अनन्तरं सर्वोत्तमा।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A83F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तत्त्व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अधिभूतिक-वर्गाः। अष्टधा अपरा प्रकृतिः, जीव-भूता परा प्रकृतिः च तत्त्व-स्थापनं कुर्वन्ति। कालः, कर्म, स्वभावः च तेषु अन्तर्भूताः। मध्व-मते प्रत्येकं वर्गः वास्तविकं भिन्नं तत्त्वम् — न तु एकस्मिन् ब्रह्मणि लीयमानम्।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जीवः — देहस्थः आत्मा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हरेः नित्यः अंशः (गी॰ १५।७) — सत्यः, भिन्नः, बहुविधः, कदापि ब्रह्मणि लीनं न प्राप्नोति। मुक्ति-पर्यन्तम् अविद्यया बद्धः।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प्रकृतिः — मूल-जडम्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7.4–5 · 9.10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हरेः अपरा-प्रकृतिः अष्टधा — भूमि, आपः, अनलः, वायुः, खम्, मनः, बुद्धिः, अहङ्कारः। सर्व-रूप-योनिः।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स्वभावः — सहज-प्रकृतिः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5.14 · 8.3 · 18.41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प्रत्येक-जीवस्य अनादिः सहजः स्वभावः (मध्व-मते स्वरूप-योग्यता)। वर्णं सामर्थ्यं अन्तिम-गतिं च निर्धारयति।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ईश्वरः — नियन्ता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हरिः अन्तर्यामि-रूपेण सर्व-हृदये तिष्ठन् यन्त्रारूढ-मायया जीवान् भ्रामयति।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8702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क्षेत्र-क्षेत्रज्ञ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क्षेत्रं क्षेत्रज्ञश्च। शरीरं क्षेत्रम्, तत्र स्थितः जीवः क्षेत्रज्ञः, सर्व-क्षेत्रेषु च परमः कृष्णः क्षेत्रज्ञः। त्रयोदशे अध्याये क्षेत्रस्य चतुर्विंशति-तत्त्वानि सप्त-विकाराश्च निरूपिताः।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क्षेत्रज्ञः — क्षेत्र-वेत्ता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क्षेत्रं वेत्ति यः सः क्षेत्रज्ञः। कृष्ण-वचनम् — "क्षेत्रज्ञं चापि मां विद्धि सर्व-क्षेत्रेषु भारत" — हरिः परमः क्षेत्रज्ञः।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क्षेत्रम् — शरीरम्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13.1 · 13.5–6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इदं शरीरं चतुर्विंशति-तत्त्व-संघातः — महाभूतानि, अहङ्कारः, बुद्धिः, अव्यक्तम्, इन्द्रियाणि, मनः, विषयाः, इच्छा, द्वेषः, सुखं, दुःखं, सङ्घातः, चेतना, धृतिः।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महाभूतानि — पञ्च-स्थूल-तत्त्वानि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13.5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पृथिवी, अप्, तेजः, वायुः, आकाशः — चतुर्विंशति-क्षेत्र-तत्त्वेषु प्रथमानि पञ्च।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अव्यक्तम् — मूल-प्रकृतिः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13.5 · 8.18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विकार-पूर्ववर्ती मूल-प्रकृतिः। ततः महान्, अहङ्कारः, तन्मात्राणि च प्रवर्तन्ते।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69E2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गुण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प्रकृतेः त्रयो गुणाः — सत्त्वं (प्रकाशः, ज्ञानम्), रजः (रागः, क्रिया), तमः (जाड्यम्, मोहः)। चतुर्दश-सप्तदश-अष्टादशेषु अध्यायेषु प्रत्येकं कर्म, आहारः, यज्ञः, ज्ञानं च तेषु एकेन गुणेन निरूप्यन्ते। मोक्षः गुणातीतत्वम् — त्रिगुणान् अतिक्रम्य अवस्थानम्।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प्रकाशस्य गुणः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14.6 · 14.11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लघु, प्रकाशकम्, अनामयम् — सुखसङ्गेन ज्ञानसङ्गेन च जीवं बध्नाति। विवेकिषु प्रबलः।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रागस्य गुणः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14.7 · 14.12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रागात्मकं सङ्गात्मकं — तृष्णासङ्गयोः समुद्भवम्। अनवरतकर्मप्रवर्तकम्।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अन्धकारस्य गुणः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14.8 · 14.13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अज्ञानजं — सर्वान् देहिनो मोहयति; प्रमादालस्यनिद्राभिर्बध्नाति।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गुणानामतीतः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14.22–25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यस्मिन् सङ्गाद् गुणप्रवृत्तिर्न जायते; मित्रारिषु समः; सर्वारम्भपरित्यागी।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7B8D2E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योग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मार्गाः। कर्मयोगः, ज्ञानयोगः, भक्तियोगः, ध्यानयोगः, सन्न्यासश्च। मध्व-मते भक्तिः न केवलं मार्गान्तरम् — सा अनिवार्यं साधनं मोक्षस्य च घटकः।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भक्तिमार्गः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9.22 · 11.54 · 18.55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हरौ प्रेमपूर्वकं ज्ञानं — सर्वज्ञानातिशायि। मध्वमते भक्तिः स्थिरज्ञानपूर्विकाप्रेमरूपा, मोक्षस्य अनिवार्यः हेतुः।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हरौ शरणागतिः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'सर्वधर्मान् परित्यज्य मामेकं शरणं व्रज' — गीतायाः चरमोपदेशः। हरिं सर्वशरणं कृत्वा सर्वपापमोचनम्।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निष्कामकर्मणो मार्गः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 · 3.19 · 5.2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स्वकीयं कर्तव्यं हरये अर्पणं कृत्वा, सर्वफलं तस्मै समर्प्य आचरणम्। श्रीकृष्णस्य अर्जुनाय प्रमुखोपदेशः।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विवेकज्ञानमार्गः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 · 4.33–38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हरिं परं ज्ञात्वा, जीवं तदंशं, जगच्च तदधीनं सत्यं ज्ञात्वा प्रवृत्तिः। अधिकारिणां साधनम्।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3F7A4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साधना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साधनानि। श्रद्धा, वैराग्यम्, अभ्यासः, तपः, दानम्, सत्सङ्गः, जपः, स्मरणम्, शरणागतिः। गीता एतानि न तु स्व-कर्तृत्वेन ददाति — किन्तु भगवता विहितानि साधनानि येषु अनुग्रहः वहति।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श्रद्धा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17.2–3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श्रद्धा स्वभावानुगा — यो यच्छ्रद्धः स एव सः। गुणतस्त्रिविधा — देवेषु सात्त्विकी, यक्षरक्षःसु राजसी, भूतप्रेतेषु तामसी।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वैराग्यम्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6.35 · 13.8–11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विषयेभ्यो विरक्तिः — न जीवननिषेधः, अपि तु बन्धनप्रदाकर्षणानां विवेकेन दर्शनम्।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अभ्यासः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6.26 · 12.9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समाध्यभ्यासः — चञ्चलं मनः पुनःपुनः निवर्त्य हरौ नियमनम्।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तपः (त्रिविधम्)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17.14–19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देहस्य तपः (पूजा/शौच/ब्रह्मचर्य), वाचिकं (सत्य/प्रिय/स्वाध्याय), मानसिकं (प्रसाद/मौन/आत्मनिग्रह)। त्रयं गुणभेदात् त्रिविधम्।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2F6E7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अन्तःकरण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अन्तःकरणम्। मनः, बुद्धिः, अहङ्कारः च, एकादश इन्द्रियाणि (ज्ञान-कर्म) सह। षष्ठे अध्याये कृष्णः तेषां संयमं उपदिशति, द्वितीये (२।६७) च अनियन्त्रित-इन्द्रियाणां भयं प्रकटयति।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अन्तर्यामी — हृदये हरिः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"ईश्वरः सर्व-भूतानां हृद्देशेऽर्जुन तिष्ठति" — भगवान् सर्वेषां प्राणिनां हृदये स्थित्वा तान् सञ्चालयति।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मनस्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6.34–35 · 3.6–7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एकादशम् इन्द्रियम्। चञ्चलं प्रमाथि दुर्निग्रहम् — तथापि कृष्णः कथयति यद् अभ्यासेन वैराग्येण च तद् निगृह्यते।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बुद्धिः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18.30–32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कार्याकार्य-विवेचनी वृत्तिः। साात्त्विकी बुद्धिः प्रवृत्तिं निवृत्तिं च जानाति।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अहङ्कारः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3.27 · 7.4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कर्तृत्व-अभिमानः। "कर्ताहम् इति मन्यते" — अहङ्कार-विमूढात्मा पुरुषः स्वम् कर्तारं मन्यते।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3A4A7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धर्म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धर्मः। स्वधर्मः, निष्काम-कर्म, स्थित-प्रज्ञता, अभयम्, अहिंसा, सम-दर्शनम्। मोक्षाय धर्मः न त्यज्यते — स एव मोक्षमार्गः।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स्वधर्मः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3.35 · 18.47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"श्रेयान् स्वधर्मो विगुणः परधर्मात् स्वनुष्ठितात्" — स्व-स्वभाव-जातं कर्म एव अनुष्ठेयम्।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वर्ण-स्वभावः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4.13 · 18.41–44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ब्राह्मण-क्षत्रिय-वैश्य-शूद्राः — गुण-कर्म-विभागेन उद्भूताः कर्तव्याः। माध्वमते एते जीवानां नित्य-स्वरूप-योग्यतायां निहिताः।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निष्कामकर्म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2.47 · 4.20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फलाकाङ्क्षां विना अनुष्ठितं कर्म। गीतायाः मुख्यः नैतिकः आदेशः।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स्थितप्रज्ञः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2.55–72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सुख-दुःखयोः समः, सङ्ग-भय-क्रोध-विमुक्तः, सर्वतः सङ्कुचित-इन्द्रियः। द्वितीयाध्यायस्य अन्तिमं चित्रणम्।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5A3E6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दोष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दोषाः। कामः, क्रोधः, लोभः — त्रिविधं नरकद्वारम् (१६।२१)। मोहः, अहङ्कार-ममता, असत्सङ्गः, आसुरी-सम्पत् च। गीता प्रत्येकस्य दोषस्य कारणं प्रतिकारं च निरूपयति।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आसुरी सम्पत्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16.4 · 16.7–20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दम्भः दर्पः अभिमानः क्रोधः पारुष्यम् अज्ञानम् — दैवी-सम्पदः विपरीतम्। बन्धाय कल्पते।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कामः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3.37–39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"रजोगुण-समुद्भवः, महाशनः, महापाप्मा, इह वैरी" — कृष्णः कामं प्रथमं शत्रुं नाम्ना निर्दिशति।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क्रोधः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2.62–63 · 3.37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काम-विघातात् क्रोधः उद्भवति; क्रोधात् सम्मोहः; सम्मोहात् स्मृति-विभ्रमः।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लोभः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16.21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काम-क्रोधाभ्यां सह नरकस्य त्रिविधं द्वारम्। मार्गारम्भे एव त्यजनीयः।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7A1E5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फल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फलानि लक्ष्याणि च। मोक्षः, परमा गतिः, ब्राह्मी-स्थितिः, चतुर्विधा मुक्तिः (सालोक्य-सामीप्य-सारूप्य-सायुज्यम्)। मध्व-मते मोक्षः वास्तविकः किन्तु तारतम्य-युक्तः — न तु निर्विशेषानन्द-मात्रम्।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मोक्षः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5.24–26 · 18.66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संसारात् विनिर्मुक्तिः हरेः नित्यसन्निधिप्राप्तिश्च। माध्वमते मोक्षस्य चतुर्विधं तारतम्यम् — सालोक्य-सार्ष्टि-सामीप्य-सारूप्य-सायुज्यभेदेन।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चरमश्लोकफलम्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"अहं त्वा सर्वपापेभ्यो मोक्षयिष्यामि मा शुचः" — अष्टादशाध्याये कृष्णस्य प्रत्यक्षाश्वासः। माध्वसम्प्रदाये अयं गीताशास्त्रस्य शिरोभूतः श्लोकः।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सालोक्यम्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8.21 · 15.6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मोक्षस्य प्रथमं तारतम्यम् — हरेः वैकुण्ठलोके निवासः, परं न तत्सान्निध्यम्।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सामीप्यम्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11.55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द्वितीयं तारतम्यम् — हरेः स्वधाम्नि तत्सान्निध्यप्राप्तिः। सालोक्यादुत्तरं सारूप्यात् न्यूनम्।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6A2E2E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यज्ञ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यज्ञः। द्रव्य-यज्ञः, तपो-यज्ञः, ज्ञान-यज्ञः, स्वाध्याय-यज्ञः, प्राणायाम-यज्ञः, इन्द्रिय-संयमश्च। चतुर्थे अध्याये सर्वं कर्म हरि-अर्पणेन यज्ञ-रूपं भवति।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द्रव्ययज्ञः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धन-वस्त्व-अन्नादिद्रव्यार्पणरूपः यज्ञः — चतुर्थाध्यायाष्टाविंशे श्लोके कृष्णोक्तयज्ञानां प्रथमः।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तपोयज्ञः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कायिक-वाचिक-मानसतपसां हरयेऽर्पणरूपः यज्ञः।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योगयज्ञः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4.28–30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प्राणापानसंयम-अष्टाङ्गयोगादिरूपस्य योगानुष्ठानस्य हरये अर्पणम् — एष योगयज्ञः।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स्वाध्यायज्ञानयज्ञः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शास्त्रस्वाध्यायः तदुक्तार्थज्ञानसहितः — वाङ्मयेषु यज्ञेषु उत्तमः।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3E3A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अस्य स्तरस्य कथा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प्रतीक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प्रतीकानि उपमाश्च। अश्वत्थः (पञ्चदशे अध्यायेऽधोमुख-संसार-वृक्षः), रथः (कठ-उपनिषदः गूढ-उपमा), प्रणवः (ॐ), गीता-माहात्म्यम्, विभूतिः। येन प्रतिमा-भाषेण अभूत-तत्त्वं हृदयं प्रविशति।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अश्वत्थवृक्षः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15.1–3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ऊर्ध्वमूलः (हरिः) अधःशाखः (लोकाः) संसारवृक्षः — गुणैः सिक्तः, विषयाङ्कुरोपेतः, असङ्गशस्त्रेण छेद्यः।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रथरूपकम्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1.21–25 · 18.78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प्रथमद्वितीयाध्याययोः सूचितम् — कृष्णः सारथिः, अर्जुनो रथी। कठोपनिषदुक्तरथरूपकस्य प्रतिध्वनिः।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प्रणवः (ॐ)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8.13 · 17.23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"ॐ इत्येकाक्षरं ब्रह्म" — अन्तकाले ॐकारमुच्चारयन् हरिमनुस्मरन् परमां गतिं प्राप्नोति।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अक्षराणामकारः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10.33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"अक्षराणामकारोऽस्मि" — सर्ववर्णानां मूलभूतः अकारः अहम् इति कृष्णवचनम्; समासेषु द्वन्द्वसमासश्च।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सम्बन्ध-वर्गाः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अष्टौ चिह्निताः सम्बन्धाः गीता-विचारस्य रचनां धारयन्ति —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50008"/>
            <a:ext cx="201168" cy="201168"/>
          </a:xfrm>
          <a:prstGeom prst="rect">
            <a:avLst/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402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is-a — एकविषयत्वम् · ब्रह्म = परमात्मा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2350008"/>
            <a:ext cx="201168" cy="201168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2402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leads-to — साधनं → फलम् · कर्मयोगः → चित्तशुद्धिः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201168" cy="201168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6974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antidote-to — दोष-निवारणम् · ज्ञानं → अज्ञानम्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807208"/>
            <a:ext cx="201168" cy="20116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6974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arises-from — कारणजन्यता · क्रोधः ← कामात्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64408"/>
            <a:ext cx="201168" cy="201168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1546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opposite-of — विपरीतत्वम् · सत्त्वम् ↔ तमः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3264408"/>
            <a:ext cx="201168" cy="201168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31546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includes — अङ्ग-समावेशः · क्षेत्रं → महाभूतानि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721608"/>
            <a:ext cx="201168" cy="201168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6118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predicates-on — आश्रयत्वम् · क्षेत्रज्ञः ← क्षेत्रम्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721608"/>
            <a:ext cx="201168" cy="201168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36118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transforms-into — परिणामः · सत्त्वम् → सात्त्विकं ज्ञानम्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मानचित्रम्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943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द्वादश तिर्यक्-पट्ट्यः — परमार्थः शीर्षे, प्रतीकः अधःस्थः। प्रत्येकं सङ्कल्पनं स्व-स्तरे, प्रत्येकः सम्बन्धः स्व-प्रकारेण रञ्जितः। गीता-विचारस्य संरचना ऊर्ध्व-दृष्ट्या।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903720" y="1600200"/>
            <a:ext cx="4754880" cy="41148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95160" y="1737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1E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परमार्थ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868680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544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0976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3272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0704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8136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5568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95160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83F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तत्त्व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68680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112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3272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8702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क्षेत्र-क्षेत्रज्ञ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68680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112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3544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0976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8408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3272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0704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95160" y="26974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69E2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गुण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68680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6112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3544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0976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78408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5840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33272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60704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88136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15568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9516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B8D2E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योग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868680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96112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23544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0976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8408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05840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3272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60704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88136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95160" y="3337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F7A4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साधना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868680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96112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3544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0976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78408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05840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33272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60704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88136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15568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95160" y="3657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6E7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अन्तःकरण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68680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6112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3544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50976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78408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05840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995160" y="3977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A4A7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धर्म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68680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96112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3544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50976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78408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05840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33272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60704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88136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995160" y="4297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3E6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दोष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868680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96112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3544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50976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78408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5840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33272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60704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995160" y="4617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1E5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फल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868680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96112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3544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50976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8408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05840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3272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60704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88136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115568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995160" y="4937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A2E2E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यज्ञ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868680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96112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23544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50976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78408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005840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995160" y="5257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3A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प्रतीक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868680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96112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23544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50976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78408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05840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माध्व-पठनम्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सर्वोत्तमत्वम् — हरेः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तारतम्यस्य मूलाधार-सिद्धान्तः — हरिः सर्वोत्कृष्टः, न तस्य समः न अधिकः। सर्वम् इतरत् तत्-परतन्त्रम्।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8B1E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मध्व-सिद्धान्तस्य आधार-शिला — पञ्च-भेद-व्यवस्था अत एव प्रारभते।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आधार-श्लोकः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मत्तः परतरं नान्यत्किञ्चिदस्ति धनञ्जय।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 · 11.43 · 18.65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माध्व-पठनम्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पञ्चभेदः — पञ्च-वास्तविक-भेदाः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हरि-जीव, हरि-जड, जीव-जड, जीव-जीव, जड-जड — एते पञ्च नित्य-भेदाः मध्व-सिद्धान्तेन सत्ता-तन्त्र-वास्तविकाः इति प्रतिपाद्यन्ते।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8B1E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मध्व-निर्णायकम्। प्रत्येक-भेदः गीतायां प्रतिष्ठितः (जीवांश-वाक्यं गी॰ १५।७; जीव-जीव-भेदः स्वभाव-वाक्ये गी॰ १८।४१ इत्यादिषु अन्तर्निहितः)।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आधार-श्लोकः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ममैवांशो जीवलोके जीवभूतः सनातनः।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7.4–5 · 15.7 · 15.16–18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माध्व-पठनम्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तारतम्यम् — सत्ता-क्रमः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हरि-अधीनस्य समस्त-सत्तायाः कठोर-क्रम-व्यवस्था — प्रत्येक-जीवस्य निश्चितः अपरिवर्तनीयः च पद-क्रमः। मध्व-तत्त्व-शास्त्रस्य रचना-तत्त्वम्।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8B1E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विशिष्टं मध्व-तत्त्वम्। पञ्च-भेद-व्यवस्थां मुक्ति-तारतम्यं च आधारयति।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आधार-श्लोकः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मत्तः परतरं नान्यत्किञ्चिदस्ति धनञ्जय।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मयि सर्वमिदं प्रोतं सूत्रे मणिगणा इव॥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 · 15.16–18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7A1E5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माध्व-पठनम्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चरमश्लोकफलम्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"अहं त्वा सर्वपापेभ्यो मोक्षयिष्यामि मा शुचः" — अष्टादशाध्याये कृष्णस्य प्रत्यक्षाश्वासः। माध्वसम्प्रदाये अयं गीताशास्त्रस्य शिरोभूतः श्लोकः।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7A1E5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चरमश्लोकः — मध्वाचार्यस्य साक्षात् मोक्षोपदेशः।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आधार-श्लोकः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सर्वधर्मान्परित्यज्य मामेकं शरणं व्रज।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अहं त्वा सर्वपापेभ्यो मोक्षयिष्यामि मा शुचः॥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A83F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माध्व-पठनम्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जीवः — देहस्थः आत्मा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हरेः नित्यः अंशः (गी॰ १५।७) — सत्यः, भिन्नः, बहुविधः, कदापि ब्रह्मणि लीनं न प्राप्नोति। मुक्ति-पर्यन्तम् अविद्यया बद्धः।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A83F1A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जीव-भेदः वास्तविकः (पञ्च-भेदेषु प्रथमः)। जीव-बहुत्वं नित्यम्।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आधार-श्लोकः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ममैवांशो जीवलोके जीवभूतः सनातनः।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मनःषष्ठानीन्द्रियाणि प्रकृतिस्थानि कर्षति॥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22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दर्शकस्य प्रयोगः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• Browse — स्तरानुसारं सर्वाणि सङ्कल्पनानि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• Focus — श्लोक-आधारः, माध्व-टीका, सर्वे सम्बन्धाः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• Map — द्वादशधा-वर्णिते पटे सर्वाणि ११२ सङ्कल्पनानि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चतुर्लिपि-स्विच्: English · देवनागरी · हिंदी · ಕನ್ನಡ — एक-स्पर्शेन परिवर्तनम्।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23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मूलस्रोतांसि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मूलः — भगवद्गीता (संस्कृत-श्लोकाः, प्रत्येकं सङ्कल्पनं श्लोके निबद्धम्)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भाष्यम् — माध्वं गीता-भाष्यम्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आधुनिक-व्याख्या — बन्नञ्जे गोविन्दाचार्यस्य गीता-भाष्यम् (४ खण्डाः)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दार्शनिक-दृष्टिः — BNK शर्मा, श्री-मध्वाचार्य-दर्शनम्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मानकः — प्रत्येकं सङ्कल्पनं श्लोके सम्प्रदाये च आधृतम्; न मनःकल्पनम्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24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ग्राफे यत् किञ्चित्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112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Concepts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124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38328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Relations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12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21792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Tiers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112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905256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Verse anchors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github.com/kvinayakpai/Bhagavadgita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MIT · open source · build-decks.js generates this deck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2A1B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नमः पार्थसारथये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394960" y="3337560"/>
            <a:ext cx="1371600" cy="18288"/>
          </a:xfrm>
          <a:prstGeom prst="rect">
            <a:avLst/>
          </a:prstGeom>
          <a:solidFill>
            <a:srgbClr val="C9B58A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4632"/>
                </a:solidFill>
                <a:latin typeface="Tiro Devanagari Sanskrit" pitchFamily="34" charset="0"/>
                <a:ea typeface="Tiro Devanagari Sanskrit" pitchFamily="34" charset="-122"/>
                <a:cs typeface="Tiro Devanagari Sanskrit" pitchFamily="34" charset="-120"/>
              </a:rPr>
              <a:t>श्रीकृष्णार्पणमस्तु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Bhagavad Gītā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भगवद्गीता · सङ्कल्पन-ज्ञानवृत्तम्</dc:title>
  <dc:subject>Madhva siddhānta · concept knowledge graph of the BG</dc:subject>
  <dc:creator>kvinayakpai</dc:creator>
  <cp:lastModifiedBy>kvinayakpai</cp:lastModifiedBy>
  <cp:revision>1</cp:revision>
  <dcterms:created xsi:type="dcterms:W3CDTF">2026-05-17T16:09:51Z</dcterms:created>
  <dcterms:modified xsi:type="dcterms:W3CDTF">2026-05-17T16:09:51Z</dcterms:modified>
</cp:coreProperties>
</file>