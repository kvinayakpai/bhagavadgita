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EA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1945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7A6C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CONCEPT KNOWLEDGE GRAPH FOR THE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2697480"/>
            <a:ext cx="109728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1F1A1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ಭಗವದ್ಗೀತಾ · ಪರಿಕಲ್ಪನಾ ಜ್ಞಾನ ಗ್ರಾಫ್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640080" y="42976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4A3F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ಮಾಧ್ವ ಸಿದ್ಧಾಂತಾನುಸಾರಿ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61264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7A6C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112 concepts · 124 relations · 12 tiers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EA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F4EAD8"/>
          </a:solidFill>
          <a:ln w="6350">
            <a:solidFill>
              <a:srgbClr val="D6C59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7A6C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ಪರಿಕಲ್ಪನಾ ಗ್ರಾಫ್ · ಮಾಧ್ವ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0" y="73152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4A3F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ಭಗವದ್ಗೀತಾ · ಪರಿಕಲ್ಪನಾ ಜ್ಞಾನ ಗ್ರಾಫ್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7A6C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ಸಮಸ್ಯೆ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325880"/>
            <a:ext cx="108813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F1A1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700 ಶ್ಲೋಕಗಳು · 18 ಅಧ್ಯಾಯಗಳು · ಒಂದು ತಾರತಮ್ಯ ಆಧಾರ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640080" y="2377440"/>
            <a:ext cx="108813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4A3F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ಭಗವದ್ಗೀತೆಯು ವಿಶ್ವರಚನೆ, ಧರ್ಮ, ಅಧ್ಯಾತ್ಮ — ಇವುಗಳನ್ನು ನೂರಾರು ಪರಿಕಲ್ಪನೆಗಳಲ್ಲಿ ಹಣೆಯುತ್ತದೆ. ಒಂದು ಬಾರಿ ಕ್ರಮವಾಗಿ ಓದಿದರೆ ಸಾಕು — ಆದರೆ ಪ್ರತಿ ಯೋಗ, ದೋಷ, ಯಜ್ಞಗಳ ನಡುವಿನ ಸಂಬಂಧ ಕಾಣಲು ಒಂದು ರಚನಾತ್ಮಕ ದೃಷ್ಟಿ ಬೇಕು — ಪಠ್ಯವೇ ನೀಡದ ದೃಷ್ಟಿ.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EA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F4EAD8"/>
          </a:solidFill>
          <a:ln w="6350">
            <a:solidFill>
              <a:srgbClr val="D6C59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7A6C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ಪರಿಕಲ್ಪನಾ ಗ್ರಾಫ್ · ಮಾಧ್ವ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0" y="73152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4A3F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ಭಗವದ್ಗೀತಾ · ಪರಿಕಲ್ಪನಾ ಜ್ಞಾನ ಗ್ರಾಫ್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7A6C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ಮೂಲಸ್ರೋತಗಳು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325880"/>
            <a:ext cx="108813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F1A1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ಪ್ರತಿ ಪರಿಕಲ್ಪನೆ ಶ್ಲೋಕದಲ್ಲಿ ಮತ್ತು ಮಾಧ್ವ ಭಾಷ್ಯದಲ್ಲಿ ನೆಲೆಗೊಂಡಿದೆ.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640080" y="2377440"/>
            <a:ext cx="108813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800"/>
              </a:spcAft>
            </a:pPr>
            <a:r>
              <a:rPr lang="en-US" sz="1800" dirty="0">
                <a:solidFill>
                  <a:srgbClr val="4A3F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ಮೂಲ ಪಠ್ಯ — ಭಗವದ್ಗೀತಾ (ಸಂಸ್ಕೃತ + ಆಂಗ್ಲ)</a:t>
            </a:r>
            <a:endParaRPr lang="en-US" sz="1800" dirty="0"/>
          </a:p>
          <a:p>
            <a:pPr>
              <a:spcAft>
                <a:spcPts val="800"/>
              </a:spcAft>
            </a:pPr>
            <a:r>
              <a:rPr lang="en-US" sz="1800" dirty="0">
                <a:solidFill>
                  <a:srgbClr val="4A3F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ಭಾಷ್ಯ — ಬನ್ನಂಜೆ ಗೋವಿಂದಾಚಾರ್ಯ, ಗೀತಾ ಭಾಷ್ಯ (4 ಸಂಪುಟಗಳು, ಕನ್ನಡ)</a:t>
            </a:r>
            <a:endParaRPr lang="en-US" sz="1800" dirty="0"/>
          </a:p>
          <a:p>
            <a:pPr>
              <a:spcAft>
                <a:spcPts val="800"/>
              </a:spcAft>
            </a:pPr>
            <a:r>
              <a:rPr lang="en-US" sz="1800" dirty="0">
                <a:solidFill>
                  <a:srgbClr val="4A3F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ಸಂದರ್ಭ — ಮಹಾಭಾರತ ತಾತ್ಪರ್ಯ ನಿರ್ಣಯ (ಮಾಧ್ವ)</a:t>
            </a:r>
            <a:endParaRPr lang="en-US" sz="1800" dirty="0"/>
          </a:p>
          <a:p>
            <a:pPr>
              <a:spcAft>
                <a:spcPts val="800"/>
              </a:spcAft>
            </a:pPr>
            <a:r>
              <a:rPr lang="en-US" sz="1800" dirty="0">
                <a:solidFill>
                  <a:srgbClr val="4A3F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ಸೈದ್ಧಾಂತಿಕ ದೃಷ್ಟಿ — ಸರ್ವೋತ್ತಮ ಹರಿ, ಜೀವ ಭೇದ, ತಾರತಮ್ಯ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EA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F4EAD8"/>
          </a:solidFill>
          <a:ln w="6350">
            <a:solidFill>
              <a:srgbClr val="D6C59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7A6C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ಪರಿಕಲ್ಪನಾ ಗ್ರಾಫ್ · ಮಾಧ್ವ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0" y="73152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4A3F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ಭಗವದ್ಗೀತಾ · ಪರಿಕಲ್ಪನಾ ಜ್ಞಾನ ಗ್ರಾಫ್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7A6C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ಮಾಡಲ್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325880"/>
            <a:ext cx="108813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A1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ಪರಿಕಲ್ಪನೆಗಳ ಹನ್ನೆರಡು ತಾರತಮ್ಯ ಸ್ತರಗಳು.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40080" y="2286000"/>
            <a:ext cx="108813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4A3F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ಪ್ರತಿ ಸ್ತರವು ಸಮಾನ ಜಾತಿಯ ಪರಿಕಲ್ಪನೆಗಳನ್ನು ಸಂಗ್ರಹಿಸುತ್ತದೆ — ತತ್ತ್ವಗಳು, ಯೋಗಗಳು, ದೋಷಗಳು, ಫಲಗಳು, ಯಜ್ಞಗಳು, ಪ್ರತೀಕಗಳು. ಸಂಬಂಧಗಳು (is-a, leads-to, antidote-to, arises-from, opposite-of, includes, predicates-on, transforms-into) ಶ್ಲೋಕದ ಪ್ರಕಾರ ಪರಿಕಲ್ಪನೆಗಳನ್ನು ಜೋಡಿಸುತ್ತವೆ.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3886200"/>
            <a:ext cx="1828800" cy="502920"/>
          </a:xfrm>
          <a:prstGeom prst="rect">
            <a:avLst/>
          </a:prstGeom>
          <a:solidFill>
            <a:srgbClr val="8B1E1A"/>
          </a:solidFill>
          <a:ln w="6350">
            <a:solidFill>
              <a:srgbClr val="D6C5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388620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ಪರಮಾರ್ಥ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651760" y="3886200"/>
            <a:ext cx="1828800" cy="502920"/>
          </a:xfrm>
          <a:prstGeom prst="rect">
            <a:avLst/>
          </a:prstGeom>
          <a:solidFill>
            <a:srgbClr val="A83F1A"/>
          </a:solidFill>
          <a:ln w="6350">
            <a:solidFill>
              <a:srgbClr val="D6C59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51760" y="388620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ತತ್ತ್ವ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663440" y="3886200"/>
            <a:ext cx="1828800" cy="502920"/>
          </a:xfrm>
          <a:prstGeom prst="rect">
            <a:avLst/>
          </a:prstGeom>
          <a:solidFill>
            <a:srgbClr val="B8702A"/>
          </a:solidFill>
          <a:ln w="6350">
            <a:solidFill>
              <a:srgbClr val="D6C5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388620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ಕ್ಷೇತ್ರ-ಕ್ಷೇತ್ರಜ್ಞ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675120" y="3886200"/>
            <a:ext cx="1828800" cy="502920"/>
          </a:xfrm>
          <a:prstGeom prst="rect">
            <a:avLst/>
          </a:prstGeom>
          <a:solidFill>
            <a:srgbClr val="C69E2A"/>
          </a:solidFill>
          <a:ln w="6350">
            <a:solidFill>
              <a:srgbClr val="D6C59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75120" y="388620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ಗುಣ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4498848"/>
            <a:ext cx="1828800" cy="502920"/>
          </a:xfrm>
          <a:prstGeom prst="rect">
            <a:avLst/>
          </a:prstGeom>
          <a:solidFill>
            <a:srgbClr val="7B8D2E"/>
          </a:solidFill>
          <a:ln w="6350">
            <a:solidFill>
              <a:srgbClr val="D6C59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4498848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ಯೋಗ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651760" y="4498848"/>
            <a:ext cx="1828800" cy="502920"/>
          </a:xfrm>
          <a:prstGeom prst="rect">
            <a:avLst/>
          </a:prstGeom>
          <a:solidFill>
            <a:srgbClr val="3F7A4A"/>
          </a:solidFill>
          <a:ln w="6350">
            <a:solidFill>
              <a:srgbClr val="D6C59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651760" y="4498848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ಸಾಧನಾ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663440" y="4498848"/>
            <a:ext cx="1828800" cy="502920"/>
          </a:xfrm>
          <a:prstGeom prst="rect">
            <a:avLst/>
          </a:prstGeom>
          <a:solidFill>
            <a:srgbClr val="2F6E7A"/>
          </a:solidFill>
          <a:ln w="6350">
            <a:solidFill>
              <a:srgbClr val="D6C59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63440" y="4498848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ಅಂತಃಕರಣ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675120" y="4498848"/>
            <a:ext cx="1828800" cy="502920"/>
          </a:xfrm>
          <a:prstGeom prst="rect">
            <a:avLst/>
          </a:prstGeom>
          <a:solidFill>
            <a:srgbClr val="3A4A7A"/>
          </a:solidFill>
          <a:ln w="6350">
            <a:solidFill>
              <a:srgbClr val="D6C59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75120" y="4498848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ಧರ್ಮ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40080" y="5111496"/>
            <a:ext cx="1828800" cy="502920"/>
          </a:xfrm>
          <a:prstGeom prst="rect">
            <a:avLst/>
          </a:prstGeom>
          <a:solidFill>
            <a:srgbClr val="5A3E6A"/>
          </a:solidFill>
          <a:ln w="6350">
            <a:solidFill>
              <a:srgbClr val="D6C59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5111496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ದೋಷ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2651760" y="5111496"/>
            <a:ext cx="1828800" cy="502920"/>
          </a:xfrm>
          <a:prstGeom prst="rect">
            <a:avLst/>
          </a:prstGeom>
          <a:solidFill>
            <a:srgbClr val="7A1E5A"/>
          </a:solidFill>
          <a:ln w="6350">
            <a:solidFill>
              <a:srgbClr val="D6C59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651760" y="5111496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ಫಲ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663440" y="5111496"/>
            <a:ext cx="1828800" cy="502920"/>
          </a:xfrm>
          <a:prstGeom prst="rect">
            <a:avLst/>
          </a:prstGeom>
          <a:solidFill>
            <a:srgbClr val="6A2E2E"/>
          </a:solidFill>
          <a:ln w="6350">
            <a:solidFill>
              <a:srgbClr val="D6C59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63440" y="5111496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ಯಜ್ಞ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675120" y="5111496"/>
            <a:ext cx="1828800" cy="502920"/>
          </a:xfrm>
          <a:prstGeom prst="rect">
            <a:avLst/>
          </a:prstGeom>
          <a:solidFill>
            <a:srgbClr val="3E3A32"/>
          </a:solidFill>
          <a:ln w="6350">
            <a:solidFill>
              <a:srgbClr val="D6C59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75120" y="5111496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ಪ್ರತೀಕ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EA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F4EAD8"/>
          </a:solidFill>
          <a:ln w="6350">
            <a:solidFill>
              <a:srgbClr val="D6C59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7A6C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ಪರಿಕಲ್ಪನಾ ಗ್ರಾಫ್ · ಮಾಧ್ವ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0" y="73152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4A3F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ಭಗವದ್ಗೀತಾ · ಪರಿಕಲ್ಪನಾ ಜ್ಞಾನ ಗ್ರಾಫ್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7A6C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ನ್ಯಾವಿಗೇಶನ್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325880"/>
            <a:ext cx="108813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F1A1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ಮೂರು ದೃಷ್ಟಿಗಳು · ಒಂದು ಡೇಟಾಸೆಟ್.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640080" y="2377440"/>
            <a:ext cx="108813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800"/>
              </a:spcAft>
            </a:pPr>
            <a:r>
              <a:rPr lang="en-US" sz="1800" dirty="0">
                <a:solidFill>
                  <a:srgbClr val="4A3F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 — ಸ್ತರಾನುಸಾರ ಪ್ರತಿ ಪರಿಕಲ್ಪನೆ</a:t>
            </a:r>
            <a:endParaRPr lang="en-US" sz="1800" dirty="0"/>
          </a:p>
          <a:p>
            <a:pPr>
              <a:spcAft>
                <a:spcPts val="800"/>
              </a:spcAft>
            </a:pPr>
            <a:r>
              <a:rPr lang="en-US" sz="1800" dirty="0">
                <a:solidFill>
                  <a:srgbClr val="4A3F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 — ಶ್ಲೋಕ ಆಧಾರ + ಮಾಧ್ವ ಟಿಪ್ಪಣಿ + ಎಲ್ಲ ಸಂಬಂಧಗಳು</a:t>
            </a:r>
            <a:endParaRPr lang="en-US" sz="1800" dirty="0"/>
          </a:p>
          <a:p>
            <a:pPr>
              <a:spcAft>
                <a:spcPts val="800"/>
              </a:spcAft>
            </a:pPr>
            <a:r>
              <a:rPr lang="en-US" sz="1800" dirty="0">
                <a:solidFill>
                  <a:srgbClr val="4A3F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 — ಎಲ್ಲ ಪರಿಕಲ್ಪನೆಗಳು ಒಂದೇ ಚಿತ್ರಪಟದಲ್ಲಿ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EA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F4EAD8"/>
          </a:solidFill>
          <a:ln w="6350">
            <a:solidFill>
              <a:srgbClr val="D6C59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7A6C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ಪರಿಕಲ್ಪನಾ ಗ್ರಾಫ್ · ಮಾಧ್ವ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0" y="73152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4A3F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ಭಗವದ್ಗೀತಾ · ಪರಿಕಲ್ಪನಾ ಜ್ಞಾನ ಗ್ರಾಫ್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7A6C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ದೃಷ್ಟಿ 1 · BROWSE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325880"/>
            <a:ext cx="108813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F1A1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ಪ್ರತಿ ಪರಿಕಲ್ಪನೆಯ ಸ್ತರಾನುಸಾರ ಸೂಚಿ.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40080" y="2286000"/>
            <a:ext cx="108813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4A3F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ಪ್ರತಿ ಸ್ತರವು ತನ್ನ ವರ್ಣ ಚುಕ್ಕೆ, ತ್ರಿಲಿಪಿ ಹೆಸರು, ಸಂಕ್ಷಿಪ್ತ ವಿವರಣೆ, ಪರಿಕಲ್ಪನಾ ಸಂಖ್ಯೆಯೊಡನೆ ಆರಂಭವಾಗುತ್ತದೆ. ಲೈವ್ ಸರ್ಚ್ ಎಲ್ಲ ಲಿಪಿಗಳಲ್ಲಿಯೂ ಫಿಲ್ಟರ್ ಮಾಡುತ್ತದೆ.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31520" y="4114800"/>
            <a:ext cx="182880" cy="182880"/>
          </a:xfrm>
          <a:prstGeom prst="ellipse">
            <a:avLst/>
          </a:prstGeom>
          <a:solidFill>
            <a:srgbClr val="8B1E1A"/>
          </a:solidFill>
          <a:ln w="12700">
            <a:solidFill>
              <a:srgbClr val="8B1E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40233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A1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ಪರಮಾರ್ಥ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840480" y="4078224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6C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Ultimate reality — Hari, the sarvottama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31520" y="4663440"/>
            <a:ext cx="182880" cy="182880"/>
          </a:xfrm>
          <a:prstGeom prst="ellipse">
            <a:avLst/>
          </a:prstGeom>
          <a:solidFill>
            <a:srgbClr val="7B8D2E"/>
          </a:solidFill>
          <a:ln w="12700">
            <a:solidFill>
              <a:srgbClr val="7B8D2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45720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A1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ಯೋಗ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840480" y="4626864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6C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Paths — karma, jñāna, bhakti, dhyāna, sannyāsa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31520" y="5212080"/>
            <a:ext cx="182880" cy="182880"/>
          </a:xfrm>
          <a:prstGeom prst="ellipse">
            <a:avLst/>
          </a:prstGeom>
          <a:solidFill>
            <a:srgbClr val="7A1E5A"/>
          </a:solidFill>
          <a:ln w="12700">
            <a:solidFill>
              <a:srgbClr val="7A1E5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51560" y="51206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A1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ಫಲ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840480" y="5175504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6C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Goals &amp; states — mokṣa, paramagati, brāhmī-sthiti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EA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F4EAD8"/>
          </a:solidFill>
          <a:ln w="6350">
            <a:solidFill>
              <a:srgbClr val="D6C59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7A6C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ಪರಿಕಲ್ಪನಾ ಗ್ರಾಫ್ · ಮಾಧ್ವ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0" y="73152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4A3F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ಭಗವದ್ಗೀತಾ · ಪರಿಕಲ್ಪನಾ ಜ್ಞಾನ ಗ್ರಾಫ್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7A6C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ದೃಷ್ಟಿ 2 · FOCUS — ಹೀರೋ ಕಾರ್ಡ್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325880"/>
            <a:ext cx="108813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1A1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ಪ್ರತಿ ಪರಿಕಲ್ಪನೆ ಒಂದು ಶ್ಲೋಕದಲ್ಲಿ ನೆಲೆಗೊಂಡಿದೆ.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40080" y="2286000"/>
            <a:ext cx="108813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4A3F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ಹೀರೋ ಕಾರ್ಡ್ ಕ್ರಮವಾಗಿ ತೋರಿಸುತ್ತದೆ — ಸ್ತರದ ಚಿಹ್ನೆ, ಸಕ್ರಿಯ ಲಿಪಿಯಲ್ಲಿ ಪರಿಕಲ್ಪನಾ ಹೆಸರು, ಒಂದು ಸಾಲಿನ ಉಪಶೀರ್ಷಿಕೆ, 2–3 ವಾಕ್ಯಗಳ ಸಿದ್ಧಾಂತ ಟಿಪ್ಪಣಿ, ಮಾಧ್ವ ವಿಶಿಷ್ಟ ಟಿಪ್ಪಣಿ, ಮತ್ತು ಶ್ಲೋಕ ಸಂದರ್ಭಗಳು.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3840480"/>
            <a:ext cx="10972800" cy="2651760"/>
          </a:xfrm>
          <a:prstGeom prst="rect">
            <a:avLst/>
          </a:prstGeom>
          <a:solidFill>
            <a:srgbClr val="FBF5E6"/>
          </a:solidFill>
          <a:ln w="12700">
            <a:solidFill>
              <a:srgbClr val="D6C5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3931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3A4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ಧರ್ಮ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68680" y="42062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1A1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ಸ್ಥಿತಪ್ರಜ್ಞ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868680" y="48463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3F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of steady wisdom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525780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1A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Indifferent to pleasure and pain, free of attachment, fear, anger; senses fully withdrawn. Closing portrait of Ch 2.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68680" y="621792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7A6C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BG 2.55–72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EA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F4EAD8"/>
          </a:solidFill>
          <a:ln w="6350">
            <a:solidFill>
              <a:srgbClr val="D6C59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7A6C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ಪರಿಕಲ್ಪನಾ ಗ್ರಾಫ್ · ಮಾಧ್ವ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0" y="73152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4A3F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ಭಗವದ್ಗೀತಾ · ಪರಿಕಲ್ಪನಾ ಜ್ಞಾನ ಗ್ರಾಫ್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7A6C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ದೃಷ್ಟಿ 2 · FOCUS — ಸಂಬಂಧಗಳು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325880"/>
            <a:ext cx="108813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1A1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ಪ್ರತಿ ಸಂಬಂಧ ಚಿಹ್ನಿತ, ಲೇಬಲ್ಡ್.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40080" y="2286000"/>
            <a:ext cx="108813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4A3F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ಶ್ಲೋಕದ ಕೆಳಗೆ ಬಹಿರ್ಗಾಮಿ ಮತ್ತು ಅಂತರ್ಗಾಮಿ ಸಂಬಂಧಗಳು ಸೂಚಿಸಲ್ಪಡುತ್ತವೆ — ಸಂಬಂಧ ಪ್ರಕಾರ, ಲೇಬಲ್, ಇನ್ನೊಂದು ಕೊನೆಯ ಪರಿಕಲ್ಪನೆ. ಯಾವುದೇ ಸಾಲನ್ನು ಒತ್ತಿ ಮುಂದೆ ಸಾಗಿರಿ.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3840480"/>
            <a:ext cx="1463040" cy="329184"/>
          </a:xfrm>
          <a:prstGeom prst="rect">
            <a:avLst/>
          </a:prstGeom>
          <a:solidFill>
            <a:srgbClr val="E0DAC6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3840480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1F1A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includes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286000" y="3840480"/>
            <a:ext cx="4572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3F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sense-restraint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040880" y="3840480"/>
            <a:ext cx="4572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A1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 ಇಂದ್ರಿಯನಿಗ್ರಹ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4251960"/>
            <a:ext cx="1463040" cy="329184"/>
          </a:xfrm>
          <a:prstGeom prst="rect">
            <a:avLst/>
          </a:prstGeom>
          <a:solidFill>
            <a:srgbClr val="E0DAC6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4251960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1F1A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includes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286000" y="4251960"/>
            <a:ext cx="4572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3F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equanimity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040880" y="4251960"/>
            <a:ext cx="4572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A1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 ಸಮತ್ವ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4663440"/>
            <a:ext cx="1463040" cy="329184"/>
          </a:xfrm>
          <a:prstGeom prst="rect">
            <a:avLst/>
          </a:prstGeom>
          <a:solidFill>
            <a:srgbClr val="E0DAC6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663440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1F1A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leads-to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286000" y="4663440"/>
            <a:ext cx="4572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3F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sense-restraint → steady-wisdom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040880" y="4663440"/>
            <a:ext cx="4572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A1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← ಇಂದ್ರಿಯನಿಗ್ರಹ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40080" y="5074920"/>
            <a:ext cx="1463040" cy="329184"/>
          </a:xfrm>
          <a:prstGeom prst="rect">
            <a:avLst/>
          </a:prstGeom>
          <a:solidFill>
            <a:srgbClr val="E0DAC6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5074920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1F1A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is-a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286000" y="5074920"/>
            <a:ext cx="4572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3F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040880" y="5074920"/>
            <a:ext cx="4572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A1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← ಸಮದರ್ಶನ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EA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F4EAD8"/>
          </a:solidFill>
          <a:ln w="6350">
            <a:solidFill>
              <a:srgbClr val="D6C59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7A6C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ಪರಿಕಲ್ಪನಾ ಗ್ರಾಫ್ · ಮಾಧ್ವ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0" y="73152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4A3F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ಭಗವದ್ಗೀತಾ · ಪರಿಕಲ್ಪನಾ ಜ್ಞಾನ ಗ್ರಾಫ್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7A6C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ದೃಷ್ಟಿ 3 · MAP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325880"/>
            <a:ext cx="108813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A1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ಎಲ್ಲ ಪರಿಕಲ್ಪನೆಗಳು ಒಂದೇ ಚಿತ್ರಪಟದಲ್ಲಿ.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40080" y="2286000"/>
            <a:ext cx="108813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4A3F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ಹನ್ನೆರಡು ಅಡ್ಡ ಪಟ್ಟಿಗಳು — ಪರಮಾರ್ಥ ಮೇಲೆ, ಪ್ರತೀಕ ಕೆಳಗೆ. ಸಂಬಂಧಗಳು ಪರಿಕಲ್ಪನೆಗಳ ನಡುವೆ ಬಾಗುತ್ತವೆ, ಪ್ರಕಾರಾನುಸಾರ ಬಣ್ಣಿತ.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3840480"/>
            <a:ext cx="868680" cy="2286000"/>
          </a:xfrm>
          <a:prstGeom prst="rect">
            <a:avLst/>
          </a:prstGeom>
          <a:solidFill>
            <a:srgbClr val="8B1E1A"/>
          </a:solidFill>
          <a:ln w="12700">
            <a:solidFill>
              <a:srgbClr val="8B1E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3977640"/>
            <a:ext cx="8686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ಪರಮಾರ್ಥ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5715000"/>
            <a:ext cx="868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600200" y="3840480"/>
            <a:ext cx="868680" cy="2286000"/>
          </a:xfrm>
          <a:prstGeom prst="rect">
            <a:avLst/>
          </a:prstGeom>
          <a:solidFill>
            <a:srgbClr val="A83F1A"/>
          </a:solidFill>
          <a:ln w="12700">
            <a:solidFill>
              <a:srgbClr val="A83F1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600200" y="3977640"/>
            <a:ext cx="8686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ತತ್ತ್ವ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600200" y="5715000"/>
            <a:ext cx="868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560320" y="3840480"/>
            <a:ext cx="868680" cy="2286000"/>
          </a:xfrm>
          <a:prstGeom prst="rect">
            <a:avLst/>
          </a:prstGeom>
          <a:solidFill>
            <a:srgbClr val="B8702A"/>
          </a:solidFill>
          <a:ln w="12700">
            <a:solidFill>
              <a:srgbClr val="B870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60320" y="3977640"/>
            <a:ext cx="8686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ಕ್ಷೇತ್ರ-ಕ್ಷೇತ್ರಜ್ಞ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560320" y="5715000"/>
            <a:ext cx="868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520440" y="3840480"/>
            <a:ext cx="868680" cy="2286000"/>
          </a:xfrm>
          <a:prstGeom prst="rect">
            <a:avLst/>
          </a:prstGeom>
          <a:solidFill>
            <a:srgbClr val="C69E2A"/>
          </a:solidFill>
          <a:ln w="12700">
            <a:solidFill>
              <a:srgbClr val="C69E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520440" y="3977640"/>
            <a:ext cx="8686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ಗುಣ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520440" y="5715000"/>
            <a:ext cx="868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480560" y="3840480"/>
            <a:ext cx="868680" cy="2286000"/>
          </a:xfrm>
          <a:prstGeom prst="rect">
            <a:avLst/>
          </a:prstGeom>
          <a:solidFill>
            <a:srgbClr val="7B8D2E"/>
          </a:solidFill>
          <a:ln w="12700">
            <a:solidFill>
              <a:srgbClr val="7B8D2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80560" y="3977640"/>
            <a:ext cx="8686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ಯೋಗ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480560" y="5715000"/>
            <a:ext cx="868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440680" y="3840480"/>
            <a:ext cx="868680" cy="2286000"/>
          </a:xfrm>
          <a:prstGeom prst="rect">
            <a:avLst/>
          </a:prstGeom>
          <a:solidFill>
            <a:srgbClr val="3F7A4A"/>
          </a:solidFill>
          <a:ln w="12700">
            <a:solidFill>
              <a:srgbClr val="3F7A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40680" y="3977640"/>
            <a:ext cx="8686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ಸಾಧನಾ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440680" y="5715000"/>
            <a:ext cx="868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400800" y="3840480"/>
            <a:ext cx="868680" cy="2286000"/>
          </a:xfrm>
          <a:prstGeom prst="rect">
            <a:avLst/>
          </a:prstGeom>
          <a:solidFill>
            <a:srgbClr val="2F6E7A"/>
          </a:solidFill>
          <a:ln w="12700">
            <a:solidFill>
              <a:srgbClr val="2F6E7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0" y="3977640"/>
            <a:ext cx="8686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ಅಂತಃಕರಣ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00800" y="5715000"/>
            <a:ext cx="868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7360920" y="3840480"/>
            <a:ext cx="868680" cy="2286000"/>
          </a:xfrm>
          <a:prstGeom prst="rect">
            <a:avLst/>
          </a:prstGeom>
          <a:solidFill>
            <a:srgbClr val="3A4A7A"/>
          </a:solidFill>
          <a:ln w="12700">
            <a:solidFill>
              <a:srgbClr val="3A4A7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60920" y="3977640"/>
            <a:ext cx="8686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ಧರ್ಮ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360920" y="5715000"/>
            <a:ext cx="868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8321040" y="3840480"/>
            <a:ext cx="868680" cy="2286000"/>
          </a:xfrm>
          <a:prstGeom prst="rect">
            <a:avLst/>
          </a:prstGeom>
          <a:solidFill>
            <a:srgbClr val="5A3E6A"/>
          </a:solidFill>
          <a:ln w="12700">
            <a:solidFill>
              <a:srgbClr val="5A3E6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321040" y="3977640"/>
            <a:ext cx="8686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ದೋಷ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321040" y="5715000"/>
            <a:ext cx="868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9281160" y="3840480"/>
            <a:ext cx="868680" cy="2286000"/>
          </a:xfrm>
          <a:prstGeom prst="rect">
            <a:avLst/>
          </a:prstGeom>
          <a:solidFill>
            <a:srgbClr val="7A1E5A"/>
          </a:solidFill>
          <a:ln w="12700">
            <a:solidFill>
              <a:srgbClr val="7A1E5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281160" y="3977640"/>
            <a:ext cx="8686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ಫಲ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9281160" y="5715000"/>
            <a:ext cx="868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10241280" y="3840480"/>
            <a:ext cx="868680" cy="2286000"/>
          </a:xfrm>
          <a:prstGeom prst="rect">
            <a:avLst/>
          </a:prstGeom>
          <a:solidFill>
            <a:srgbClr val="6A2E2E"/>
          </a:solidFill>
          <a:ln w="12700">
            <a:solidFill>
              <a:srgbClr val="6A2E2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241280" y="3977640"/>
            <a:ext cx="8686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ಯಜ್ಞ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10241280" y="5715000"/>
            <a:ext cx="868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11201400" y="3840480"/>
            <a:ext cx="868680" cy="2286000"/>
          </a:xfrm>
          <a:prstGeom prst="rect">
            <a:avLst/>
          </a:prstGeom>
          <a:solidFill>
            <a:srgbClr val="3E3A32"/>
          </a:solidFill>
          <a:ln w="12700">
            <a:solidFill>
              <a:srgbClr val="3E3A3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1201400" y="3977640"/>
            <a:ext cx="8686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ಪ್ರತೀಕ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11201400" y="5715000"/>
            <a:ext cx="868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EA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F4EAD8"/>
          </a:solidFill>
          <a:ln w="6350">
            <a:solidFill>
              <a:srgbClr val="D6C59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7A6C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ಪರಿಕಲ್ಪನಾ ಗ್ರಾಫ್ · ಮಾಧ್ವ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0" y="73152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4A3F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ಭಗವದ್ಗೀತಾ · ಪರಿಕಲ್ಪನಾ ಜ್ಞಾನ ಗ್ರಾಫ್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7A6C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ಗ್ರಾಫ್ · ವೈಶಿಷ್ಟ್ಯಗಳು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325880"/>
            <a:ext cx="108813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F1A1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ಒತ್ತಿ, ನೋಡಿ, ಚಲಿಸಿ.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640080" y="2377440"/>
            <a:ext cx="108813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800"/>
              </a:spcAft>
            </a:pPr>
            <a:r>
              <a:rPr lang="en-US" sz="1800" dirty="0">
                <a:solidFill>
                  <a:srgbClr val="4A3F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ಯಾವುದೇ ನೋಡ್ ಒತ್ತಿ ಫೋಕಸ್ ಪಡೆಯಿರಿ</a:t>
            </a:r>
            <a:endParaRPr lang="en-US" sz="1800" dirty="0"/>
          </a:p>
          <a:p>
            <a:pPr>
              <a:spcAft>
                <a:spcPts val="800"/>
              </a:spcAft>
            </a:pPr>
            <a:r>
              <a:rPr lang="en-US" sz="1800" dirty="0">
                <a:solidFill>
                  <a:srgbClr val="4A3F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ಎಡ್ಜ್ ಬಣ್ಣಗಳು ಸಂಬಂಧ ಪ್ರಕಾರ ತಿಳಿಸುತ್ತವೆ</a:t>
            </a:r>
            <a:endParaRPr lang="en-US" sz="1800" dirty="0"/>
          </a:p>
          <a:p>
            <a:pPr>
              <a:spcAft>
                <a:spcPts val="800"/>
              </a:spcAft>
            </a:pPr>
            <a:r>
              <a:rPr lang="en-US" sz="1800" dirty="0">
                <a:solidFill>
                  <a:srgbClr val="4A3F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ಸರ್ಚ್ ಎಲ್ಲ ಮೂರು ದೃಷ್ಟಿಗಳಲ್ಲಿಯೂ ಒಮ್ಮೆಲೆ</a:t>
            </a:r>
            <a:endParaRPr lang="en-US" sz="1800" dirty="0"/>
          </a:p>
          <a:p>
            <a:pPr>
              <a:spcAft>
                <a:spcPts val="800"/>
              </a:spcAft>
            </a:pPr>
            <a:r>
              <a:rPr lang="en-US" sz="1800" dirty="0">
                <a:solidFill>
                  <a:srgbClr val="4A3F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ಒಂದು ಒತ್ತಿನಿಂದ ಭಾಷಾ ಬದಲಾವಣೆ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EA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F4EAD8"/>
          </a:solidFill>
          <a:ln w="6350">
            <a:solidFill>
              <a:srgbClr val="D6C59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7A6C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ಪರಿಕಲ್ಪನಾ ಗ್ರಾಫ್ · ಮಾಧ್ವ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0" y="73152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4A3F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ಭಗವದ್ಗೀತಾ · ಪರಿಕಲ್ಪನಾ ಜ್ಞಾನ ಗ್ರಾಫ್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7A6C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ಭಾಷಾ ಸ್ಥಳೀಕರಣ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325880"/>
            <a:ext cx="108813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F1A1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ಒಂದು ಜ್ಞಾನವೃತ್ತ · ಮೂರು ಲಿಪಿಗಳು.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640080" y="2377440"/>
            <a:ext cx="108813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800"/>
              </a:spcAft>
            </a:pPr>
            <a:r>
              <a:rPr lang="en-US" sz="1800" dirty="0">
                <a:solidFill>
                  <a:srgbClr val="4A3F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ಆಂಗ್ಲ (IAST)</a:t>
            </a:r>
            <a:endParaRPr lang="en-US" sz="1800" dirty="0"/>
          </a:p>
          <a:p>
            <a:pPr>
              <a:spcAft>
                <a:spcPts val="800"/>
              </a:spcAft>
            </a:pPr>
            <a:r>
              <a:rPr lang="en-US" sz="1800" dirty="0">
                <a:solidFill>
                  <a:srgbClr val="4A3F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ದೇವನಾಗರಿ</a:t>
            </a:r>
            <a:endParaRPr lang="en-US" sz="1800" dirty="0"/>
          </a:p>
          <a:p>
            <a:pPr>
              <a:spcAft>
                <a:spcPts val="800"/>
              </a:spcAft>
            </a:pPr>
            <a:r>
              <a:rPr lang="en-US" sz="1800" dirty="0">
                <a:solidFill>
                  <a:srgbClr val="4A3F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ಕನ್ನಡ ಲಿಪಿ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EA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F4EAD8"/>
          </a:solidFill>
          <a:ln w="6350">
            <a:solidFill>
              <a:srgbClr val="D6C59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7A6C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ಪರಿಕಲ್ಪನಾ ಗ್ರಾಫ್ · ಮಾಧ್ವ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0" y="73152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4A3F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ಭಗವದ್ಗೀತಾ · ಪರಿಕಲ್ಪನಾ ಜ್ಞಾನ ಗ್ರಾಫ್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7A6C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ಶ್ಲೋಕಗಳು · ಮೂರು ಲಿಪಿಗಳಲ್ಲಿ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325880"/>
            <a:ext cx="108813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1A1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ಪ್ರತಿ ಆಧಾರ ಶ್ಲೋಕ ದೇವನಾಗರಿ, IAST, ಮತ್ತು ಕನ್ನಡ ಲಿಪಿಯಲ್ಲಿ.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40080" y="219456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F1A13"/>
                </a:solidFill>
                <a:latin typeface="Sanskrit Text" pitchFamily="34" charset="0"/>
                <a:ea typeface="Sanskrit Text" pitchFamily="34" charset="-122"/>
                <a:cs typeface="Sanskrit Text" pitchFamily="34" charset="-120"/>
              </a:rPr>
              <a:t>यस्मात्क्षरमतीतोऽहमक्षरादपि चोत्तमः।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F1A13"/>
                </a:solidFill>
                <a:latin typeface="Sanskrit Text" pitchFamily="34" charset="0"/>
                <a:ea typeface="Sanskrit Text" pitchFamily="34" charset="-122"/>
                <a:cs typeface="Sanskrit Text" pitchFamily="34" charset="-120"/>
              </a:rPr>
              <a:t>अतोऽस्मि लोके वेदे च प्रसिद्धः पुरुषोत्तमः॥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3749040"/>
            <a:ext cx="109728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F1A1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yasmāt kṣaram atīto 'ham akṣarād api cottamaḥ |</a:t>
            </a:r>
            <a:endParaRPr lang="en-US" sz="1800" dirty="0"/>
          </a:p>
          <a:p>
            <a:pPr indent="0" marL="0">
              <a:buNone/>
            </a:pPr>
            <a:r>
              <a:rPr lang="en-US" sz="1800" i="1" dirty="0">
                <a:solidFill>
                  <a:srgbClr val="1F1A1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ato 'smi loke vede ca prasiddhaḥ puruṣottamaḥ ||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5166360"/>
            <a:ext cx="109728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F1A13"/>
                </a:solidFill>
                <a:latin typeface="Tunga" pitchFamily="34" charset="0"/>
                <a:ea typeface="Tunga" pitchFamily="34" charset="-122"/>
                <a:cs typeface="Tunga" pitchFamily="34" charset="-120"/>
              </a:rPr>
              <a:t>ಯಸ್ಮಾತ್ಕ್ಷರಮತೀತೋಽಹಮಕ್ಷರಾದಪಿ ಚೋತ್ತಮಃ।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F1A13"/>
                </a:solidFill>
                <a:latin typeface="Tunga" pitchFamily="34" charset="0"/>
                <a:ea typeface="Tunga" pitchFamily="34" charset="-122"/>
                <a:cs typeface="Tunga" pitchFamily="34" charset="-120"/>
              </a:rPr>
              <a:t>ಅತೋಽಸ್ಮಿ ಲೋಕೇ ವೇದೇ ಚ ಪ್ರಸಿದ್ಧಃ ಪುರುಷೋತ್ತಮಃ॥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40080" y="6400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A6C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BG 15.18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EA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F4EAD8"/>
          </a:solidFill>
          <a:ln w="6350">
            <a:solidFill>
              <a:srgbClr val="D6C59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7A6C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ಪರಿಕಲ್ಪನಾ ಗ್ರಾಫ್ · ಮಾಧ್ವ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0" y="73152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4A3F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ಭಗವದ್ಗೀತಾ · ಪರಿಕಲ್ಪನಾ ಜ್ಞಾನ ಗ್ರಾಫ್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7A6C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ಮೂಲ-ಆಧಾರಿತ ಪರೀಕ್ಷೆ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325880"/>
            <a:ext cx="108813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F1A1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ಪ್ರತಿ ಪರಿಕಲ್ಪನೆ ಪರೀಕ್ಷಿತ.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640080" y="2377440"/>
            <a:ext cx="108813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4A3F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ಪ್ರತಿ ಪರಿಕಲ್ಪನಾ ನೋಡ್ ಕನಿಷ್ಠ ಒಂದು ಸ್ಪಷ್ಟ ಗೀತಾ ಶ್ಲೋಕದಲ್ಲಿ ನೆಲೆಗೊಂಡಿದೆ. ಮಾಧ್ವರ ವ್ಯಾಖ್ಯಾನ ವಿಶಿಷ್ಟವಿರುವ ಕಡೆ — ಬ್ರಹ್ಮ = ಹರಿ, ಅಕ್ಷರ = ಲಕ್ಷ್ಮಿ, ಮೋಕ್ಷದಲ್ಲಿ ತಾರತಮ್ಯ, ಜೀವ ಭೇದ — ಡೇಟಾ ಫೈಲ್ ಚಿಹ್ನಿಸಿದೆ.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5120640"/>
            <a:ext cx="2743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8B1E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112</a:t>
            </a:r>
            <a:endParaRPr lang="en-US" sz="6400" dirty="0"/>
          </a:p>
        </p:txBody>
      </p:sp>
      <p:sp>
        <p:nvSpPr>
          <p:cNvPr id="9" name="Text 7"/>
          <p:cNvSpPr/>
          <p:nvPr/>
        </p:nvSpPr>
        <p:spPr>
          <a:xfrm>
            <a:off x="640080" y="62636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200" kern="0" dirty="0">
                <a:solidFill>
                  <a:srgbClr val="7A6C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concepts grounded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0" y="5120640"/>
            <a:ext cx="2743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7B8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42</a:t>
            </a:r>
            <a:endParaRPr lang="en-US" sz="6400" dirty="0"/>
          </a:p>
        </p:txBody>
      </p:sp>
      <p:sp>
        <p:nvSpPr>
          <p:cNvPr id="11" name="Text 9"/>
          <p:cNvSpPr/>
          <p:nvPr/>
        </p:nvSpPr>
        <p:spPr>
          <a:xfrm>
            <a:off x="4389120" y="62636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200" kern="0" dirty="0">
                <a:solidFill>
                  <a:srgbClr val="7A6C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verses in tri-script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0" y="5120640"/>
            <a:ext cx="2743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3A4A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124</a:t>
            </a:r>
            <a:endParaRPr lang="en-US" sz="6400" dirty="0"/>
          </a:p>
        </p:txBody>
      </p:sp>
      <p:sp>
        <p:nvSpPr>
          <p:cNvPr id="13" name="Text 11"/>
          <p:cNvSpPr/>
          <p:nvPr/>
        </p:nvSpPr>
        <p:spPr>
          <a:xfrm>
            <a:off x="8229600" y="62636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200" kern="0" dirty="0">
                <a:solidFill>
                  <a:srgbClr val="7A6C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typed relations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EA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F4EAD8"/>
          </a:solidFill>
          <a:ln w="6350">
            <a:solidFill>
              <a:srgbClr val="D6C59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7A6C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ಪರಿಕಲ್ಪನಾ ಗ್ರಾಫ್ · ಮಾಧ್ವ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0" y="73152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4A3F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ಭಗವದ್ಗೀತಾ · ಪರಿಕಲ್ಪನಾ ಜ್ಞಾನ ಗ್ರಾಫ್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7A6C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ಸಾಮರ್ಥ್ಯಗಳು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325880"/>
            <a:ext cx="108813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F1A1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ಈ ಕೃತಿ ಏನು ಮಾಡುತ್ತದೆ — ಒಂದು ಪರದೆಯಲ್ಲಿ.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640080" y="2377440"/>
            <a:ext cx="108813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800"/>
              </a:spcAft>
            </a:pPr>
            <a:r>
              <a:rPr lang="en-US" sz="1800" dirty="0">
                <a:solidFill>
                  <a:srgbClr val="4A3F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112 concept nodes</a:t>
            </a:r>
            <a:endParaRPr lang="en-US" sz="1800" dirty="0"/>
          </a:p>
          <a:p>
            <a:pPr>
              <a:spcAft>
                <a:spcPts val="800"/>
              </a:spcAft>
            </a:pPr>
            <a:r>
              <a:rPr lang="en-US" sz="1800" dirty="0">
                <a:solidFill>
                  <a:srgbClr val="4A3F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124 typed relations</a:t>
            </a:r>
            <a:endParaRPr lang="en-US" sz="1800" dirty="0"/>
          </a:p>
          <a:p>
            <a:pPr>
              <a:spcAft>
                <a:spcPts val="800"/>
              </a:spcAft>
            </a:pPr>
            <a:r>
              <a:rPr lang="en-US" sz="1800" dirty="0">
                <a:solidFill>
                  <a:srgbClr val="4A3F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tāratamya tiers</a:t>
            </a:r>
            <a:endParaRPr lang="en-US" sz="1800" dirty="0"/>
          </a:p>
          <a:p>
            <a:pPr>
              <a:spcAft>
                <a:spcPts val="800"/>
              </a:spcAft>
            </a:pPr>
            <a:r>
              <a:rPr lang="en-US" sz="1800" dirty="0">
                <a:solidFill>
                  <a:srgbClr val="4A3F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 anchor verses · tri-script</a:t>
            </a:r>
            <a:endParaRPr lang="en-US" sz="1800" dirty="0"/>
          </a:p>
          <a:p>
            <a:pPr>
              <a:spcAft>
                <a:spcPts val="800"/>
              </a:spcAft>
            </a:pPr>
            <a:r>
              <a:rPr lang="en-US" sz="1800" dirty="0">
                <a:solidFill>
                  <a:srgbClr val="4A3F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 Madhva-distinctive callouts</a:t>
            </a:r>
            <a:endParaRPr lang="en-US" sz="1800" dirty="0"/>
          </a:p>
          <a:p>
            <a:pPr>
              <a:spcAft>
                <a:spcPts val="800"/>
              </a:spcAft>
            </a:pPr>
            <a:r>
              <a:rPr lang="en-US" sz="1800" dirty="0">
                <a:solidFill>
                  <a:srgbClr val="4A3F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scripts: IAST · Devanāgarī · Kannada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EA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F4EAD8"/>
          </a:solidFill>
          <a:ln w="6350">
            <a:solidFill>
              <a:srgbClr val="D6C59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7A6C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ಪರಿಕಲ್ಪನಾ ಗ್ರಾಫ್ · ಮಾಧ್ವ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0" y="73152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4A3F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ಭಗವದ್ಗೀತಾ · ಪರಿಕಲ್ಪನಾ ಜ್ಞಾನ ಗ್ರಾಫ್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7A6C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ಮಾಧ್ವ ವಿಶೇಷಗಳು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325880"/>
            <a:ext cx="108813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F1A1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ಅದ್ವೈತ ವ್ಯಾಖ್ಯಾನದಿಂದ ಎಲ್ಲಿ ಭಿನ್ನ.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640080" y="2377440"/>
            <a:ext cx="108813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800"/>
              </a:spcAft>
            </a:pPr>
            <a:r>
              <a:rPr lang="en-US" sz="1800" dirty="0">
                <a:solidFill>
                  <a:srgbClr val="4A3F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ಬ್ರಹ್ಮ = ವಿಷ್ಣು/ನಾರಾಯಣ, ನಿರ್ಗುಣ ಅಲ್ಲ</a:t>
            </a:r>
            <a:endParaRPr lang="en-US" sz="1800" dirty="0"/>
          </a:p>
          <a:p>
            <a:pPr>
              <a:spcAft>
                <a:spcPts val="800"/>
              </a:spcAft>
            </a:pPr>
            <a:r>
              <a:rPr lang="en-US" sz="1800" dirty="0">
                <a:solidFill>
                  <a:srgbClr val="4A3F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ಅಕ್ಷರ ಪುರುಷ = ಲಕ್ಷ್ಮಿ, ನಿರ್ವ್ಯಕ್ತಿಕ ಅಲ್ಲ</a:t>
            </a:r>
            <a:endParaRPr lang="en-US" sz="1800" dirty="0"/>
          </a:p>
          <a:p>
            <a:pPr>
              <a:spcAft>
                <a:spcPts val="800"/>
              </a:spcAft>
            </a:pPr>
            <a:r>
              <a:rPr lang="en-US" sz="1800" dirty="0">
                <a:solidFill>
                  <a:srgbClr val="4A3F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ಮೋಕ್ಷದಲ್ಲಿ ತಾರತಮ್ಯ — ಅಭಿನ್ನ ಆನಂದ ಅಲ್ಲ</a:t>
            </a:r>
            <a:endParaRPr lang="en-US" sz="1800" dirty="0"/>
          </a:p>
          <a:p>
            <a:pPr>
              <a:spcAft>
                <a:spcPts val="800"/>
              </a:spcAft>
            </a:pPr>
            <a:r>
              <a:rPr lang="en-US" sz="1800" dirty="0">
                <a:solidFill>
                  <a:srgbClr val="4A3F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ಜೀವ ಭೇದ ಸತ್ಯ, ನಿತ್ಯ, ಬಹುಧಾ</a:t>
            </a:r>
            <a:endParaRPr lang="en-US" sz="1800" dirty="0"/>
          </a:p>
          <a:p>
            <a:pPr>
              <a:spcAft>
                <a:spcPts val="800"/>
              </a:spcAft>
            </a:pPr>
            <a:r>
              <a:rPr lang="en-US" sz="1800" dirty="0">
                <a:solidFill>
                  <a:srgbClr val="4A3F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ಭಕ್ತಿ ಮೋಕ್ಷದ ಸಾಧನ ಮತ್ತು ತತ್ತ್ವ ಎರಡೂ</a:t>
            </a:r>
            <a:endParaRPr lang="en-US" sz="1800" dirty="0"/>
          </a:p>
          <a:p>
            <a:pPr>
              <a:spcAft>
                <a:spcPts val="800"/>
              </a:spcAft>
            </a:pPr>
            <a:r>
              <a:rPr lang="en-US" sz="1800" dirty="0">
                <a:solidFill>
                  <a:srgbClr val="4A3F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ಚರಮ ಶ್ಲೋಕ (ಗೀ. 18.66) ಮೋಕ್ಷೋಪದೇಶದ ಸಾರ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EA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F4EAD8"/>
          </a:solidFill>
          <a:ln w="6350">
            <a:solidFill>
              <a:srgbClr val="D6C59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7A6C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ಪರಿಕಲ್ಪನಾ ಗ್ರಾಫ್ · ಮಾಧ್ವ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0" y="73152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4A3F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ಭಗವದ್ಗೀತಾ · ಪರಿಕಲ್ಪನಾ ಜ್ಞಾನ ಗ್ರಾಫ್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7A6C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ಸಾಮಾನ್ಯ ಸತ್ರ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325880"/>
            <a:ext cx="108813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F1A1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ಹೇಗೆ ನ್ಯಾವಿಗೇಟ್ ಮಾಡುವುದು.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640080" y="2377440"/>
            <a:ext cx="108813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800"/>
              </a:spcAft>
            </a:pPr>
            <a:r>
              <a:rPr lang="en-US" sz="1800" dirty="0">
                <a:solidFill>
                  <a:srgbClr val="4A3F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BROWSE-ನಲ್ಲಿ ಆರಂಭ</a:t>
            </a:r>
            <a:endParaRPr lang="en-US" sz="1800" dirty="0"/>
          </a:p>
          <a:p>
            <a:pPr>
              <a:spcAft>
                <a:spcPts val="800"/>
              </a:spcAft>
            </a:pPr>
            <a:r>
              <a:rPr lang="en-US" sz="1800" dirty="0">
                <a:solidFill>
                  <a:srgbClr val="4A3F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ಒಂದು ಪರಿಕಲ್ಪನೆ ಒತ್ತಿ (ಉದಾ. ಸ್ಥಿತಪ್ರಜ್ಞ) → FOCUS</a:t>
            </a:r>
            <a:endParaRPr lang="en-US" sz="1800" dirty="0"/>
          </a:p>
          <a:p>
            <a:pPr>
              <a:spcAft>
                <a:spcPts val="800"/>
              </a:spcAft>
            </a:pPr>
            <a:r>
              <a:rPr lang="en-US" sz="1800" dirty="0">
                <a:solidFill>
                  <a:srgbClr val="4A3F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ಶ್ಲೋಕ, ಟಿಪ್ಪಣಿ, ಮಾಧ್ವ ಕಾಲ್‌ಔಟ್ ಓದಿ</a:t>
            </a:r>
            <a:endParaRPr lang="en-US" sz="1800" dirty="0"/>
          </a:p>
          <a:p>
            <a:pPr>
              <a:spcAft>
                <a:spcPts val="800"/>
              </a:spcAft>
            </a:pPr>
            <a:r>
              <a:rPr lang="en-US" sz="1800" dirty="0">
                <a:solidFill>
                  <a:srgbClr val="4A3F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ಸಂಬಂಧಿತ ಪರಿಕಲ್ಪನೆ (ಉದಾ. ಮೋಕ್ಷ) ಒತ್ತಿ ಮುಂದೆ ಸಾಗಿ</a:t>
            </a:r>
            <a:endParaRPr lang="en-US" sz="1800" dirty="0"/>
          </a:p>
          <a:p>
            <a:pPr>
              <a:spcAft>
                <a:spcPts val="800"/>
              </a:spcAft>
            </a:pPr>
            <a:r>
              <a:rPr lang="en-US" sz="1800" dirty="0">
                <a:solidFill>
                  <a:srgbClr val="4A3F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MAP-ನಲ್ಲಿ ನಿಮ್ಮ ಸ್ಥಾನ ನೋಡಿ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Bhagavadgita Concept KG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ಭಗವದ್ಗೀತಾ · ಪರಿಕಲ್ಪನಾ ಜ್ಞಾನ ಗ್ರಾಫ್</dc:title>
  <dc:subject>PptxGenJS Presentation</dc:subject>
  <dc:creator>kvinayakpai</dc:creator>
  <cp:lastModifiedBy>kvinayakpai</cp:lastModifiedBy>
  <cp:revision>1</cp:revision>
  <dcterms:created xsi:type="dcterms:W3CDTF">2026-05-16T04:25:44Z</dcterms:created>
  <dcterms:modified xsi:type="dcterms:W3CDTF">2026-05-16T04:25:44Z</dcterms:modified>
</cp:coreProperties>
</file>