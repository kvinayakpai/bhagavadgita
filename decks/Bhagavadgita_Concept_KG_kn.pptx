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ಭಗವದ್ಗೀತಾ · ಪರಿಕಲ್ಪನಾ ಜ್ಞಾನ-ಪಟ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88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ಮಧ್ವ-ಸಿದ್ಧಾಂತದ ಓದು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166360" y="3520440"/>
            <a:ext cx="1828800" cy="18288"/>
          </a:xfrm>
          <a:prstGeom prst="rect">
            <a:avLst/>
          </a:prstGeom>
          <a:solidFill>
            <a:srgbClr val="C9B58A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49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ಪರಿಕಲ್ಪನಾ ಗ್ರಾಫ್ · ಮಧ್ವ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Concept KG · github.com/kvinayakpai/Bhagavadgita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ಇದನ್ನು ಏಕೆ ರಚಿಸಿದ್ದು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ಗೀತೆಯ ೭೦೦ ಶ್ಲೋಕಗಳು ವಿಶ್ವ-ರಚನೆ, ಧರ್ಮ, ಆಧ್ಯಾತ್ಮಿಕ ತತ್ತ್ವಗಳನ್ನು ನೂರಾರು ಪರಿಕಲ್ಪನೆಗಳಲ್ಲಿ ಹೆಣೆದಿವೆ. ಒಮ್ಮೆ ಕ್ರಮವಾಗಿ ಓದಿದರೆ ಸಾಗುತ್ತದೆ, ಆದರೆ ಎಲ್ಲಾ ಯೋಗ, ದೋಷ, ಯಜ್ಞ, ಫಲಗಳ ನಡುವಿನ ರಚನಾತ್ಮಕ ಸಂಬಂಧಗಳು ಕಳೆದುಹೋಗುತ್ತವೆ. ಈ ಪರಿಕಲ್ಪನಾ ಜ್ಞಾನ-ಪಟವು ಇಡೀ ಜಾಲವನ್ನು ತೋರಿಸುತ್ತದೆ — ಪ್ರತಿ ಪರಿಕಲ್ಪನೆ ಒಂದು ಶ್ಲೋಕದಲ್ಲಿ ಆಧಾರಿತ, ಪ್ರತಿ ಸಂಬಂಧ ವರ್ಗೀಕೃತ, ಮಧ್ವ-ಸಿದ್ಧಾಂತದ ದೃಷ್ಟಿಯಿಂದ ಓದಿದ್ದು.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ಹನ್ನೆರಡು ಸ್ತರಗಳು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ಪರಿಕಲ್ಪನೆಗಳನ್ನು ಹನ್ನೆರಡು ತಾರತಮ್ಯ-ಸ್ತರಗಳಲ್ಲಿ ಜೋಡಿಸಲಾಗಿದೆ — ಪರಮಾರ್ಥದಿಂದ ಪ್ರತೀಕದವರೆಗೆ ಒಂದು ಸೋಪಾನ-ಪಂಕ್ತಿ. ಪ್ರತಿ ಸ್ತರವು ಒಂದೇ ಜಾತಿಯ ಪರಿಕಲ್ಪನೆಗಳನ್ನು ಒಗ್ಗೂಡಿಸುತ್ತದೆ. ಸಂಬಂಧಗಳು (is-a, leads-to, antidote-to, arises-from, opposite-of, includes, predicates-on, transforms-into) ಶ್ಲೋಕದಿಂದ ಶ್ಲೋಕಕ್ಕೆ ಪರಿಕಲ್ಪನೆಗಳನ್ನು ಜೋಡಿಸುತ್ತವೆ.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958084"/>
            <a:ext cx="164592" cy="164592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803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ಪರಮಾರ್ಥ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28803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Ultimate reality — Hari, the sarvottama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2958084"/>
            <a:ext cx="164592" cy="164592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88036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ತತ್ತ್ವ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0" y="28803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Metaphysical categories — jīva, prakṛti, kāla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287268"/>
            <a:ext cx="164592" cy="164592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9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ಕ್ಷೇತ್ರ-ಕ್ಷೇತ್ರಜ್ಞ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14600" y="32095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Field &amp; field-knower — body, knower, 24 elements (Ch 13)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287268"/>
            <a:ext cx="164592" cy="164592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32095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ಗುಣ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0" y="32095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three modes of prakṛti — sattva, rajas, tamas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616452"/>
            <a:ext cx="164592" cy="164592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5387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ಯೋಗ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14600" y="35387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Paths — karma, jñāna, bhakti, dhyāna, sannyāsa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3616452"/>
            <a:ext cx="164592" cy="164592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35387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ಸಾಧನಾ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353872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Practices — śraddhā, vairāgya, yajña, tapas, tyāga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945636"/>
            <a:ext cx="164592" cy="164592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8679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ಅಂತಃಕರಣ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514600" y="386791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Inner instrument — manas, buddhi, ahaṅkāra, indriyas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63640" y="3945636"/>
            <a:ext cx="164592" cy="164592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8679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ಧರ್ಮ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0" y="386791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Ethics — svadharma, niṣkāma-karma, sthita-prajña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274820"/>
            <a:ext cx="164592" cy="164592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1970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ದೋಷ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514600" y="419709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Defects — kāma, krodha, lobha, moha, asat-saṅga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63640" y="4274820"/>
            <a:ext cx="164592" cy="164592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41970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ಫಲ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0" y="419709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Goals &amp; states — mokṣa, paramagati, brāhmī-sthiti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4604004"/>
            <a:ext cx="164592" cy="164592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5262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ಯಜ್ಞ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514600" y="45262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Sacrifice varieties — dravya, tapo, jñāna, svādhyāya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263640" y="4604004"/>
            <a:ext cx="164592" cy="164592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45262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ಪ್ರತೀಕ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0" y="452628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Symbols &amp; metaphors — aśvattha, ratha, praṇava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ಪರಮಾರ್ಥ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ಪರಮ ತತ್ತ್ವ. ಗೀತೆಯ ಉನ್ನತ ಪರಿಕಲ್ಪನೆ ನಿರ್ವಿಶೇಷ ಬ್ರಹ್ಮ ಅಲ್ಲ, ಬದಲಿಗೆ ಹರಿ — ವಿಷ್ಣು, ಕ್ಷರಕ್ಕಿಂತ (ನಶ್ವರ ಜೀವಗಳಿಂದ) ಮತ್ತು ಅಕ್ಷರಕ್ಕಿಂತ (ಕೂಟಸ್ಥ ಲಕ್ಷ್ಮಿಯಿಂದ) ಪರನಾದ ಪುರುಷೋತ್ತಮ. ಹದಿನೈದನೆಯ ಅಧ್ಯಾಯದಲ್ಲಿ ಕೃಷ್ಣ ಇದನ್ನು ಪುರುಷೋತ್ತಮ-ಯೋಗದಲ್ಲಿ ಪ್ರಕಟಿಸುತ್ತಾನೆ.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ಬ್ರಹ್ಮ — ಪರತತ್ತ್ವ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8.3 · 14.27 · 15.18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ಮಧ್ವ-ಸಿದ್ಧಾಂತದಲ್ಲಿ ಬ್ರಹ್ಮ ಎಂಬ ಶಬ್ದವು ಕೇವಲ ವಿಷ್ಣುವಿನ (ನಾರಾಯಣನ) ವಾಚಕ — ಸರ್ವೋತ್ತಮ, ಕ್ಷರಾಕ್ಷರಾತೀತ ಪುರುಷೋತ್ತಮ। ನಿರ್ವಿಶೇಷ-ನಿರುಪಾಧಿ-ಸಾಮಾನ್ಯ-ತತ್ತ್ವವಾಚಕ ಅಲ್ಲ.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ಪರಮಾತ್ಮಾ — ಅಂತರ್ಯಾಮಿ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13.22 · 15.17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ಸರ್ವ ದೇಹಗಳಲ್ಲಿ ಸಾಕ್ಷಿ-ಭರ್ತೃ-ನಿಯಂತೃ ರೂಪದಲ್ಲಿ ಸ್ಥಿತನಾದ ಪರಮ ಆತ್ಮಾ. ಜೀವಕ್ಕಿಂತ ಅತ್ಯಂತ ಭಿನ್ನ (ಗೀ॰ ೧೫।೧೭).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ಪುರುಷೋತ್ತಮ — ಪರಮ ಪುರುಷ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15.18–19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ಕ್ಷರಾಕ್ಷರಗಳಿಗಿಂತ ಅತೀತನಾದ ಉತ್ತಮ ಪುರುಷ ಎಂಬುದು ಕೃಷ್ಣನ ಆತ್ಮ-ನಿರೂಪಣೆ. ಹದಿನೈದನೆಯ ಅಧ್ಯಾಯದ ಹರ್ಮೆನ್ಯೂಟಿಕ್ ಕೇಂದ್ರ.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ಅಕ್ಷರಪುರುಷ — ಕೂಟಸ್ಥ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15.16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ಕೂಟಸ್ಥ ಅಕ್ಷರ — ಮಧ್ವ-ಮತದಲ್ಲಿ ಲಕ್ಷ್ಮೀ, ನಿತ್ಯ-ಮುಕ್ತ-ಜೀವ-ಗಣ-ಮುಖ್ಯಾ. ಹರಿಯ ನಂತರ ಸರ್ವೋತ್ತಮಾ.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A83F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ತತ್ತ್ವ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ತತ್ತ್ವ-ವರ್ಗಗಳು. ಅಷ್ಟಾಂಗ ಅಪರಾ ಪ್ರಕೃತಿ ಮತ್ತು ಜೀವ-ಭೂತ ಪರಾ ಪ್ರಕೃತಿ ವಾಸ್ತವದ ರಚನೆಯನ್ನು ರೂಪಿಸುತ್ತವೆ. ಕಾಲ, ಕರ್ಮ, ಸ್ವಭಾವ ಸಹ ಅಲ್ಲಿಯೇ ಇವೆ. ಮಧ್ವ ಪ್ರತಿ ವರ್ಗವನ್ನು ವಾಸ್ತವಿಕ, ಪ್ರತ್ಯೇಕ ತತ್ತ್ವವಾಗಿ ಉಳಿಸುತ್ತಾನೆ — ಒಂದೇ ಬ್ರಹ್ಮದಲ್ಲಿ ಲಯ ಆಗಿಸುವುದಿಲ್ಲ.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ಜೀವ — ದೇಹಸ್ಥ ಆತ್ಮ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ಹರಿಯ ನಿತ್ಯ ಅಂಶ (ಗೀ॰ ೧೫।೭) — ಸತ್ಯ, ಭಿನ್ನ, ಬಹುವಿಧ, ಎಂದಿಗೂ ಬ್ರಹ್ಮದಲ್ಲಿ ಲೀನವಾಗುವುದಿಲ್ಲ. ಮುಕ್ತಿ-ಪರ್ಯಂತ ಅವಿದ್ಯೆಯಿಂದ ಬದ್ಧ.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ಪ್ರಕೃತಿ — ಮೂಲ-ಜಡ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7.4–5 · 9.10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ಹರಿಯ ಅಪರಾ-ಪ್ರಕೃತಿ ಎಂಟು ವಿಧ — ಭೂಮಿ, ಆಪಃ, ಅನಲ, ವಾಯು, ಖಂ, ಮನಃ, ಬುದ್ಧಿ, ಅಹಂಕಾರ. ಸರ್ವ-ರೂಪಗಳ ಯೋನಿ.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ಸ್ವಭಾವ — ಸಹಜ-ಪ್ರಕೃತಿ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5.14 · 8.3 · 18.41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ಪ್ರತಿ ಜೀವದ ಅನಾದಿ ಸಹಜ ಸ್ವಭಾವ (ಮಧ್ವ-ಮತದಲ್ಲಿ ಸ್ವರೂಪ-ಯೋಗ್ಯತಾ). ವರ್ಣ, ಸಾಮರ್ಥ್ಯ ಮತ್ತು ಅಂತಿಮ ಗತಿಯನ್ನು ನಿರ್ಧರಿಸುತ್ತದೆ.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ಈಶ್ವರ — ನಿಯಂತಾ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ಹರಿಯು ಅಂತರ್ಯಾಮಿ ರೂಪದಲ್ಲಿ ಸರ್ವ-ಹೃದಯದಲ್ಲಿ ನಿಂತು ಯಂತ್ರಾರೂಢ-ಮಾಯೆಯಿಂದ ಜೀವಗಳನ್ನು ಭ್ರಮಿಸುತ್ತಾನೆ.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8702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ಕ್ಷೇತ್ರ-ಕ್ಷೇತ್ರಜ್ಞ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ಕ್ಷೇತ್ರ ಮತ್ತು ಕ್ಷೇತ್ರಜ್ಞ. ಶರೀರ ಕ್ಷೇತ್ರ, ಜೀವ ಕ್ಷೇತ್ರಜ್ಞ, ಮತ್ತು ಎಲ್ಲಾ ಶರೀರಗಳಲ್ಲಿ ಪರಮ ಕ್ಷೇತ್ರಜ್ಞ ಸ್ವತಃ ಕೃಷ್ಣ. ಹದಿಮೂರನೆಯ ಅಧ್ಯಾಯದಲ್ಲಿ ಕ್ಷೇತ್ರದ ೨೪ ತತ್ತ್ವ ಮತ್ತು ೭ ವಿಕಾರಗಳನ್ನು ವಿವರಿಸಲಾಗಿದೆ.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ಕ್ಷೇತ್ರಜ್ಞ — ಕ್ಷೇತ್ರ-ವೇತ್ತ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ಕ್ಷೇತ್ರವನ್ನು ಬಲ್ಲವನು ಕ್ಷೇತ್ರಜ್ಞ. ಕೃಷ್ಣ-ವಚನ — "ಕ್ಷೇತ್ರಜ್ಞಂ ಚಾಪಿ ಮಾಂ ವಿದ್ಧಿ ಸರ್ವ-ಕ್ಷೇತ್ರೇಷು ಭಾರತ" — ಹರಿಯೇ ಪರಮ ಕ್ಷೇತ್ರಜ್ಞ.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ಕ್ಷೇತ್ರ — ಶರೀರ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13.1 · 13.5–6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ಶರೀರವು ಇಪ್ಪತ್ತನಾಲ್ಕು ತತ್ತ್ವಗಳ ಸಂಘಾತ — ಮಹಾಭೂತಗಳು, ಅಹಂಕಾರ, ಬುದ್ಧಿ, ಅವ್ಯಕ್ತ, ಇಂದ್ರಿಯಗಳು, ಮನಸ್ಸು, ವಿಷಯಗಳು, ಇಚ್ಛಾ, ದ್ವೇಷ, ಸುಖ, ದುಃಖ, ಸಂಘಾತ, ಚೇತನಾ, ಧೃತಿ.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ಮಹಾಭೂತಗಳು — ಐದು ಸ್ಥೂಲ ತತ್ತ್ವಗಳು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13.5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ಪೃಥಿವೀ, ಆಪ್, ತೇಜ, ವಾಯು, ಆಕಾಶ — ಇಪ್ಪತ್ತನಾಲ್ಕು ಕ್ಷೇತ್ರ-ತತ್ತ್ವಗಳಲ್ಲಿ ಮೊದಲ ಐದು.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ಅವ್ಯಕ್ತ — ಮೂಲ-ಪ್ರಕೃತಿ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13.5 · 8.18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ವಿಕಾರಗಳಿಗೆ ಮೊದಲಿನ ಮೂಲ-ಪ್ರಕೃತಿ. ಅದರಿಂದ ಮಹತ್, ಅಹಂಕಾರ ಮತ್ತು ತನ್ಮಾತ್ರಗಳು ಪ್ರವರ್ತಿಸುತ್ತವೆ.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69E2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ಗುಣ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ಪ್ರಕೃತಿಯ ಮೂರು ಗುಣಗಳು — ಸತ್ತ್ವ (ಪ್ರಕಾಶ, ಜ್ಞಾನ), ರಜಸ್ (ರಾಗ, ಕ್ರಿಯೆ), ತಮಸ್ (ಜಡತೆ, ಮೋಹ). ೧೪, ೧೭, ೧೮ನೇ ಅಧ್ಯಾಯಗಳಲ್ಲಿ ಪ್ರತಿ ಕರ್ಮ, ಆಹಾರ, ಯಜ್ಞ, ಜ್ಞಾನವನ್ನು ಅದರ ಗುಣಕ್ಕೆ ತಲುಪಿಸಲಾಗಿದೆ. ಮೋಕ್ಷ ಗುಣಾತೀತತೆ — ಮೂರೂ ಗುಣಗಳಿಂದ ಆಚೆಗೆ.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ಪ್ರಕಾಶಸ್ಯ ಗುಣಃ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14.6 · 14.11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ಲಘು, ಪ್ರಕಾಶಕಂ, ಅನಾಮಯಮ್ — ಸುಖಸಂಗೇನ ಜ್ಞಾನಸಂಗೇನ ಚ ಜೀವಂ ಬಧ್ನಾತಿ। ವಿವೇಕಿಷು ಪ್ರಬಲಃ।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ರಾಗಸ್ಯ ಗುಣಃ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14.7 · 14.12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ರಾಗಾತ್ಮಕಂ ಸಂಗಾತ್ಮಕಂ — ತೃಷ್ಣಾಸಂಗಯೋಃ ಸಮುದ್ಭವಮ್। ಅನವರತಕರ್ಮಪ್ರವರ್ತಕಮ್।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ಅಂಧಕಾರಸ್ಯ ಗುಣಃ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14.8 · 14.13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ಅಜ್ಞಾನಜಂ — ಸರ್ವಾನ್ ದೇಹಿನೋ ಮೋಹಯತಿ; ಪ್ರಮಾದಾಲಸ್ಯನಿದ್ರಾಭಿರ್ಬಧ್ನಾತಿ।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ಗುಣಾನಾಮತೀತಃ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14.22–25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ಯಸ್ಮಿನ್ ಸಂಗಾದ್ ಗುಣಪ್ರವೃತ್ತಿರ್ನ ಜಾಯತೇ; ಮಿತ್ರಾರಿಷು ಸಮಃ; ಸರ್ವಾರಂಭಪರಿತ್ಯಾಗೀ।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7B8D2E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ಯೋಗ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ಮಾರ್ಗಗಳು. ಕರ್ಮಯೋಗ, ಜ್ಞಾನಯೋಗ, ಭಕ್ತಿಯೋಗ, ಧ್ಯಾನಯೋಗ, ಸಂನ್ಯಾಸ. ಮಧ್ವರ ಪ್ರಕಾರ ಭಕ್ತಿ ಕೇವಲ ಒಂದು ಮಾರ್ಗ ಅಲ್ಲ — ಅದು ಅನಿವಾರ್ಯ ಸಾಧನವೂ, ಮೋಕ್ಷದ ಅಂಗವೂ ಆಗಿದೆ.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ಭಕ್ತಿಮಾರ್ಗಃ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9.22 · 11.54 · 18.55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ಹರೌ ಪ್ರೇಮಪೂರ್ವಕಂ ಜ್ಞಾನಂ — ಸರ್ವಜ್ಞಾನಾತಿಶಾಯಿ। ಮಧ್ವಮತೇ ಭಕ್ತಿಃ ಸ್ಥಿರಜ್ಞಾನಪೂರ್ವಿಕಾಪ್ರೇಮರೂಪಾ, ಮೋಕ್ಷಸ್ಯ ಅನಿವಾರ್ಯಃ ಹೇತುಃ।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ಹರೌ ಶರಣಾಗತಿಃ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'ಸರ್ವಧರ್ಮಾನ್ ಪರಿತ್ಯಜ್ಯ ಮಾಮೇಕಂ ಶರಣಂ ವ್ರಜ' — ಗೀತಾಯಾಃ ಚರಮೋಪದೇಶಃ। ಹರಿಂ ಸರ್ವಶರಣಂ ಕೃತ್ವಾ ಸರ್ವಪಾಪಮೋಚನಮ್।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ನಿಷ್ಕಾಮಕರ್ಮಣೋ ಮಾರ್ಗಃ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 · 3.19 · 5.2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ಸ್ವಕೀಯಂ ಕರ್ತವ್ಯಂ ಹರಯೇ ಅರ್ಪಣಂ ಕೃತ್ವಾ, ಸರ್ವಫಲಂ ತಸ್ಮೈ ಸಮರ್ಪ್ಯ ಆಚರಣಮ್। ಶ್ರೀಕೃಷ್ಣಸ್ಯ ಅರ್ಜುನಾಯ ಪ್ರಮುಖೋಪದೇಶಃ।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ವಿವೇಕಜ್ಞಾನಮಾರ್ಗಃ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 · 4.33–38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ಹರಿಂ ಪರಂ ಜ್ಞಾತ್ವಾ, ಜೀವಂ ತದಂಶಂ, ಜಗಚ್ಚ ತದಧೀನಂ ಸತ್ಯಂ ಜ್ಞಾತ್ವಾ ಪ್ರವೃತ್ತಿಃ। ಅಧಿಕಾರಿಣಾಂ ಸಾಧನಮ್।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3F7A4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ಸಾಧನಾ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ಸಾಧನೆಗಳು. ಶ್ರದ್ಧಾ, ವೈರಾಗ್ಯ, ಅಭ್ಯಾಸ, ತಪಸ್, ದಾನ, ಸತ್ಸಂಗ, ಜಪ, ಸ್ಮರಣ, ಶರಣಾಗತಿ. ಗೀತೆ ಇವನ್ನು ಸ್ವ-ಕರ್ತೃತ್ವದಿಂದ ಅಲ್ಲ, ಭಗವಂತನಿಂದ ನಿಯೋಜಿತ ಸಾಧನಗಳಾಗಿ ಪ್ರಸ್ತುತಪಡಿಸುತ್ತದೆ — ಇವುಗಳ ಮೂಲಕ ಅನುಗ್ರಹ ಹರಿಯುತ್ತದೆ.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ಶ್ರದ್ಧಾ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17.2–3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ಶ್ರದ್ಧಾ ಸ್ವಭಾವಾನುಗಾ — ಯೋ ಯಚ್ಛ್ರದ್ಧಃ ಸ ಏವ ಸಃ। ಗುಣತಸ್ತ್ರಿವಿಧಾ — ದೇವೇಷು ಸಾತ್ತ್ವಿಕೀ, ಯಕ್ಷರಕ್ಷಃಸು ರಾಜಸೀ, ಭೂತಪ್ರೇತೇಷು ತಾಮಸೀ।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ವೈರಾಗ್ಯಮ್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6.35 · 13.8–11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ವಿಷಯೇಭ್ಯೋ ವಿರಕ್ತಿಃ — ನ ಜೀವನನಿಷೇಧಃ, ಅಪಿ ತು ಬಂಧನಪ್ರದಾಕರ್ಷಣಾನಾಂ ವಿವೇಕೇನ ದರ್ಶನಮ್।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ಅಭ್ಯಾಸಃ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6.26 · 12.9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ಸಮಾಧ್ಯಭ್ಯಾಸಃ — ಚಂಚಲಂ ಮನಃ ಪುನಃಪುನಃ ನಿವರ್ತ್ಯ ಹರೌ ನಿಯಮನಮ್।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ತಪಃ (ತ್ರಿವಿಧಮ್)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17.14–19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ದೇಹಸ್ಯ ತಪಃ (ಪೂಜಾ/ಶೌಚ/ಬ್ರಹ್ಮಚರ್ಯ), ವಾಚಿಕಂ (ಸತ್ಯ/ಪ್ರಿಯ/ಸ್ವಾಧ್ಯಾಯ), ಮಾನಸಿಕಂ (ಪ್ರಸಾದ/ಮೌನ/ಆತ್ಮನಿಗ್ರಹ)। ತ್ರಯಂ ಗುಣಭೇದಾತ್ ತ್ರಿವಿಧಮ್।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2F6E7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ಅಂತಃಕರಣ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ಅಂತಃಕರಣ. ಮನಸ್, ಬುದ್ಧಿ, ಅಹಂಕಾರ ಮತ್ತು ೧೧ ಇಂದ್ರಿಯಗಳು (ಜ್ಞಾನೇಂದ್ರಿಯ + ಕರ್ಮೇಂದ್ರಿಯ). ೬ನೇ ಅಧ್ಯಾಯದಲ್ಲಿ ಕೃಷ್ಣ ಇವುಗಳ ಸಂಯಮವನ್ನು, ೨.೬೭ರಲ್ಲಿ ಅನಿಯಂತ್ರಿತ ಇಂದ್ರಿಯಗಳ ಅಪಾಯವನ್ನು ತೋರಿಸುತ್ತಾನೆ.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ಅಂತರ್ಯಾಮೀ — ಹೃದಯೇ ಹರಿಃ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"ಈಶ್ವರಃ ಸರ್ವ-ಭೂತಾನಾಂ ಹೃದ್ದೇಶೇಽರ್ಜುನ ತಿಷ್ಠತಿ" — ಭಗವಾನ್ ಸರ್ವೇಷಾಂ ಪ್ರಾಣಿನಾಂ ಹೃದಯೇ ಸ್ಥಿತ್ವಾ ತಾನ್ ಸಂಚಾಲಯತಿ।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ಮನಸ್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6.34–35 · 3.6–7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ಏಕಾದಶಮ್ ಇಂದ್ರಿಯಮ್। ಚಂಚಲಂ ಪ್ರಮಾಥಿ ದುರ್ನಿಗ್ರಹಮ್ — ತಥಾಪಿ ಕೃಷ್ಣಃ ಕಥಯತಿ ಯದ್ ಅಭ್ಯಾಸೇನ ವೈರಾಗ್ಯೇಣ ಚ ತದ್ ನಿಗೃಹ್ಯತೇ।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ಬುದ್ಧಿಃ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18.30–32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ಕಾರ್ಯಾಕಾರ್ಯ-ವಿವೇಚನೀ ವೃತ್ತಿಃ। ಸಾತ್ತ್ವಿಕೀ ಬುದ್ಧಿಃ ಪ್ರವೃತ್ತಿಂ ನಿವೃತ್ತಿಂ ಚ ಜಾನಾತಿ।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ಅಹಂಕಾರಃ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3.27 · 7.4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ಕರ್ತೃತ್ವ-ಅಭಿಮಾನಃ। "ಕರ್ತಾಹಮ್ ಇತಿ ಮನ್ಯತೇ" — ಅಹಂಕಾರ-ವಿಮೂಢಾತ್ಮಾ ಪುರುಷಃ ಸ್ವಮ್ ಕರ್ತಾರಂ ಮನ್ಯತೇ।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3A4A7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ಧರ್ಮ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ಧರ್ಮ. ಸ್ವಧರ್ಮ, ನಿಷ್ಕಾಮ-ಕರ್ಮ, ಸ್ಥಿತ-ಪ್ರಜ್ಞತೆ, ಅಭಯ, ಅಹಿಂಸಾ, ಸಮ-ದರ್ಶನ. ಮೋಕ್ಷಕ್ಕಾಗಿ ಧರ್ಮವನ್ನು ಬಿಡುವುದಿಲ್ಲ — ಅದೇ ಮೋಕ್ಷ-ಮಾರ್ಗ.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ಸ್ವಧರ್ಮಃ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3.35 · 18.47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"ಶ್ರೇಯಾನ್ ಸ್ವಧರ್ಮೋ ವಿಗುಣಃ ಪರಧರ್ಮಾತ್ ಸ್ವನುಷ್ಠಿತಾತ್" — ಸ್ವ-ಸ್ವಭಾವ-ಜಾತಂ ಕರ್ಮ ಏವ ಅನುಷ್ಠೇಯಮ್।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ವರ್ಣ-ಸ್ವಭಾವಃ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4.13 · 18.41–44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ಬ್ರಾಹ್ಮಣ-ಕ್ಷತ್ರಿಯ-ವೈಶ್ಯ-ಶೂದ್ರಾಃ — ಗುಣ-ಕರ್ಮ-ವಿಭಾಗೇನ ಉದ್ಭೂತಾಃ ಕರ್ತವ್ಯಾಃ। ಮಾಧ್ವಮತೇ ಏತೇ ಜೀವಾನಾಂ ನಿತ್ಯ-ಸ್ವರೂಪ-ಯೋಗ್ಯತಾಯಾಂ ನಿಹಿತಾಃ।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ನಿಷ್ಕಾಮ-ಕರ್ಮ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2.47 · 4.20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ಫಲಾಕಾಂಕ್ಷಾಂ ವಿನಾ ಅನುಷ್ಠಿತಂ ಕರ್ಮ। ಗೀತಾಯಾಃ ಮುಖ್ಯಃ ನೈತಿಕಃ ಆದೇಶಃ।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ಸ್ಥಿತಪ್ರಜ್ಞಃ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2.55–72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ಸುಖ-ದುಃಖಯೋಃ ಸಮಃ, ಸಂಗ-ಭಯ-ಕ್ರೋಧ-ವಿಮುಕ್ತಃ, ಸರ್ವತಃ ಸಂಕುಚಿತ-ಇಂದ್ರಿಯಃ। ದ್ವಿತೀಯಾಧ್ಯಾಯಸ್ಯ ಅಂತಿಮಂ ಚಿತ್ರಣಮ್।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5A3E6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ದೋಷ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ದೋಷಗಳು. ಕಾಮ, ಕ್ರೋಧ, ಲೋಭ — ತ್ರಿವಿಧ ನರಕದ ದ್ವಾರ (೧೬.೨೧). ಮೋಹ, ಅಹಂಕಾರ-ಮಮತೆ, ಅಸತ್‍ಸಂಗ, ಆಸುರೀ-ಸಂಪತ್. ಗೀತೆ ಪ್ರತಿ ದೋಷದ ಮೂಲ ಮತ್ತು ಪ್ರತಿಕಾರವನ್ನು ತೋರಿಸುತ್ತದೆ.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ಆಸುರೀ ಸಂಪತ್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16.4 · 16.7–20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ದಂಭಃ ದರ್ಪಃ ಅಭಿಮಾನಃ ಕ್ರೋಧಃ ಪಾರುಷ್ಯಮ್ ಅಜ್ಞಾನಮ್ — ದೈವೀ-ಸಂಪದಃ ವಿಪರೀತಮ್। ಬಂಧಾಯ ಕಲ್ಪತೇ।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ಕಾಮಃ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3.37–39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"ರಜೋಗುಣ-ಸಮುದ್ಭವಃ, ಮಹಾಶನಃ, ಮಹಾಪಾಪ್ಮಾ, ಇಹ ವೈರೀ" — ಕೃಷ್ಣಃ ಕಾಮಂ ಪ್ರಥಮಂ ಶತ್ರುಂ ನಾಮ್ನಾ ನಿರ್ದಿಶತಿ।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ಕ್ರೋಧಃ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2.62–63 · 3.37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ಕಾಮ-ವಿಘಾತಾತ್ ಕ್ರೋಧಃ ಉದ್ಭವತಿ; ಕ್ರೋಧಾತ್ ಸಂಮೋಹಃ; ಸಂಮೋಹಾತ್ ಸ್ಮೃತಿ-ವಿಭ್ರಮಃ।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ಲೋಭಃ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16.21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ಕಾಮ-ಕ್ರೋಧಾಭ್ಯಾಂ ಸಹ ನರಕಸ್ಯ ತ್ರಿವಿಧಂ ದ್ವಾರಮ್। ಮಾರ್ಗಾರಂಭೇ ಏವ ತ್ಯಜನೀಯಃ।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7A1E5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ಫಲ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ಫಲಗಳು ಮತ್ತು ಸ್ಥಿತಿಗಳು. ಮೋಕ್ಷ, ಪರಮಾ-ಗತಿ, ಬ್ರಾಹ್ಮೀ-ಸ್ಥಿತಿ, ನಾಲ್ಕು ಮುಕ್ತಿ-ಶ್ರೇಣಿಗಳು (ಸಾಲೋಕ್ಯ, ಸಾಮೀಪ್ಯ, ಸಾರೂಪ್ಯ, ಸಾಯುಜ್ಯ). ಮಧ್ವರ ಪ್ರಕಾರ ಮೋಕ್ಷ ವಾಸ್ತವಿಕ ಆದರೆ ತಾರತಮ್ಯ-ಯುಕ್ತ — ಯಾವುದೇ ನಿರ್ವಿಶೇಷ ಆನಂದ ಅಲ್ಲ.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ಮೋಕ್ಷಃ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5.24–26 · 18.66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ಸಂಸಾರಾತ್ ವಿನಿರ್ಮುಕ್ತಿಃ ಹರೇಃ ನಿತ್ಯಸನ್ನಿಧಿಪ್ರಾಪ್ತಿಶ್ಚ। ಮಾಧ್ವಮತೇ ಮೋಕ್ಷಸ್ಯ ಚತುರ್ವಿಧಂ ತಾರತಮ್ಯಮ್ — ಸಾಲೋಕ್ಯ-ಸಾರ್ಷ್ಟಿ-ಸಾಮೀಪ್ಯ-ಸಾರೂಪ್ಯ-ಸಾಯುಜ್ಯಭೇದೇನ।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ಚರಮಶ್ಲೋಕ-ಫಲಮ್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"ಅಹಂ ತ್ವಾ ಸರ್ವಪಾಪೇಭ್ಯೋ ಮೋಕ್ಷಯಿಷ್ಯಾಮಿ ಮಾ ಶುಚಃ" — ಅಷ್ಟಾದಶಾಧ್ಯಾಯೇ ಕೃಷ್ಣಸ್ಯ ಪ್ರತ್ಯಕ್ಷಾಶ್ವಾಸಃ। ಮಾಧ್ವಸಂಪ್ರದಾಯೇ ಅಯಂ ಗೀತಾಶಾಸ್ತ್ರಸ್ಯ ಶಿರೋಭೂತಃ ಶ್ಲೋಕಃ।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ಸಾಲೋಕ್ಯಮ್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8.21 · 15.6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ಮೋಕ್ಷಸ್ಯ ಪ್ರಥಮಂ ತಾರತಮ್ಯಮ್ — ಹರೇಃ ವೈಕುಂಠಲೋಕೇ ನಿವಾಸಃ, ಪರಂ ನ ತತ್ಸಾನ್ನಿಧ್ಯಮ್।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ಸಾಮೀಪ್ಯಮ್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11.55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ದ್ವಿತೀಯಂ ತಾರತಮ್ಯಮ್ — ಹರೇಃ ಸ್ವಧಾಮ್ನಿ ತತ್ಸಾನ್ನಿಧ್ಯಪ್ರಾಪ್ತಿಃ। ಸಾಲೋಕ್ಯಾದುತ್ತರಂ ಸಾರೂಪ್ಯಾತ್ ನ್ಯೂನಮ್।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6A2E2E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ಯಜ್ಞ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ಯಜ್ಞ. ದ್ರವ್ಯ-ಯಜ್ಞ, ತಪೋ-ಯಜ್ಞ, ಜ್ಞಾನ-ಯಜ್ಞ, ಸ್ವಾಧ್ಯಾಯ-ಯಜ್ಞ, ಪ್ರಾಣಾಯಾಮ-ಯಜ್ಞ, ಇಂದ್ರಿಯ-ಸಂಯಮ. ೪ನೇ ಅಧ್ಯಾಯ ಎಲ್ಲಾ ಕರ್ಮವನ್ನು ಹರಿಗೆ ಅರ್ಪಿಸಿದರೆ ಯಜ್ಞವಾಗಿಸುತ್ತದೆ.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ದ್ರವ್ಯಯಜ್ಞಃ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ಧನ-ವಸ್ತ್ವ-ಅನ್ನಾದಿದ್ರವ್ಯಾರ್ಪಣರೂಪಃ ಯಜ್ಞಃ — ಚತುರ್ಥಾಧ್ಯಾಯಾಷ್ಟಾವಿಂಶೇ ಶ್ಲೋಕೇ ಕೃಷ್ಣೋಕ್ತಯಜ್ಞಾನಾಂ ಪ್ರಥಮಃ।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ತಪೋಯಜ್ಞಃ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ಕಾಯಿಕ-ವಾಚಿಕ-ಮಾನಸತಪಸಾಂ ಹರಯೇಽರ್ಪಣರೂಪಃ ಯಜ್ಞಃ।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ಯೋಗಯಜ್ಞಃ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4.28–30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ಪ್ರಾಣಾಪಾನಸಂಯಮ-ಅಷ್ಟಾಂಗಯೋಗಾದಿರೂಪಸ್ಯ ಯೋಗಾನುಷ್ಠಾನಸ್ಯ ಹರಯೇ ಅರ್ಪಣಮ್ — ಏಷ ಯೋಗಯಜ್ಞಃ।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ಸ್ವಾಧ್ಯಾಯ-ಜ್ಞಾನ-ಯಜ್ಞಃ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4.28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ಶಾಸ್ತ್ರಸ್ವಾಧ್ಯಾಯಃ ತದುಕ್ತಾರ್ಥಜ್ಞಾನಸಹಿತಃ — ವಾಙ್ಮಯೇಷು ಯಜ್ಞೇಷು ಉತ್ತಮಃ।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3E3A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ಈ ಸ್ತರದ ಕಥೆ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ಪ್ರತೀಕ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ಪ್ರತೀಕಗಳು ಮತ್ತು ಉಪಮೆಗಳು. ಅಶ್ವತ್ಥ (ತಲೆ-ಕೆಳಗಿನ ಸಂಸಾರ-ವೃಕ್ಷ, ೧೫), ರಥ (ಶರೀರ-ರಥ ಉಪಮೆ), ಪ್ರಣವ (ಓಂ), ಗೀತಾ-ಮಾಹಾತ್ಮ್ಯ, ವಿಭೂತಿ. ಅಮೂರ್ತ ತತ್ತ್ವ ಹೃದಯ ಸೇರಲು ಬಳಸುವ ಪ್ರತಿಮಾ-ಭಾಷೆ.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15000" y="160020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0" y="160020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97880" y="1655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ಅಶ್ವತ್ಥವೃಕ್ಷಃ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0" y="1655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15.1–3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97880" y="192938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ಊರ್ಧ್ವಮೂಲಃ (ಹರಿಃ) ಅಧಃಶಾಖಃ (ಲೋಕಾಃ) ಸಂಸಾರವೃಕ್ಷಃ — ಗುಣೈಃ ಸಿಕ್ತಃ, ವಿಷಯಾಂಕುರೋಪೇತಃ, ಅಸಂಗಶಸ್ತ್ರೇಣ ಛೇದ್ಯಃ।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15000" y="278892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278892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843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ರಥರೂಪಕಮ್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0" y="28437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1.21–25 · 18.78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97880" y="311810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ಪ್ರಥಮದ್ವಿತೀಯಾಧ್ಯಾಯಯೋಃ ಸೂಚಿತಮ್ — ಕೃಷ್ಣಃ ಸಾರಥಿಃ, ಅರ್ಜುನೋ ರಥೀ। ಕಠೋಪನಿಷದುಕ್ತರಥರೂಪಕಸ್ಯ ಪ್ರತಿಧ್ವನಿಃ।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0" y="397764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397764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40325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ಪ್ರಣವಃ (ಓಂ)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0" y="4032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8.13 · 17.23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430682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"ಓಂ ಇತ್ಯೇಕಾಕ್ಷರಂ ಬ್ರಹ್ಮ" — ಅಂತಕಾಲೇ ಓಂಕಾರಮುಚ್ಚಾರಯನ್ ಹರಿಮನುಸ್ಮರನ್ ಪರಮಾಂ ಗತಿಂ ಪ್ರಾಪ್ನೋತಿ।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166360"/>
            <a:ext cx="5943600" cy="1078992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15000" y="5166360"/>
            <a:ext cx="73152" cy="1078992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52212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ಅಕ್ಷರಾಣಾಮಕಾರಃ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0" y="52212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10.33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5495544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"ಅಕ್ಷರಾಣಾಮಕಾರೋಽಸ್ಮಿ" — ಸರ್ವವರ್ಣಾನಾಂ ಮೂಲಭೂತಃ ಅಕಾರಃ ಅಹಮ್ ಇತಿ ಕೃಷ್ಣವಚನಮ್; ಸಮಾಸೇಷು ದ್ವಂದ್ವಸಮಾಸಶ್ಚ।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ಸಂಬಂಧ-ವರ್ಗಗಳು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ಎಂಟು ವರ್ಗೀಕೃತ ಸಂಬಂಧಗಳು ಗೀತೆಯ ವಿಚಾರದ ರಚನೆಯನ್ನು ಹಿಡಿದಿಡುತ್ತವೆ —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50008"/>
            <a:ext cx="201168" cy="201168"/>
          </a:xfrm>
          <a:prstGeom prst="rect">
            <a:avLst/>
          </a:prstGeom>
          <a:solidFill>
            <a:srgbClr val="8B6914"/>
          </a:solidFill>
          <a:ln w="12700">
            <a:solidFill>
              <a:srgbClr val="8B691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402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is-a — ಏಕವಿಷಯತ್ವ · ಬ್ರಹ್ಮ = ಪರಮಾತ್ಮ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2350008"/>
            <a:ext cx="201168" cy="201168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2402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leads-to — ಸಾಧನ → ಫಲ · ಕರ್ಮಯೋಗ → ಚಿತ್ತ-ಶುದ್ಧಿ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201168" cy="201168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6974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antidote-to — ದೋಷ-ನಿವಾರಣ · ಜ್ಞಾನ → ಅಜ್ಞಾನ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807208"/>
            <a:ext cx="201168" cy="20116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6974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arises-from — ಕಾರಣಜನ್ಯತೆ · ಕ್ರೋಧ ← ಕಾಮದಿಂದ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64408"/>
            <a:ext cx="201168" cy="201168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1546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opposite-of — ವಿಪರೀತತ್ವ · ಸತ್ತ್ವ ↔ ತಮಃ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3264408"/>
            <a:ext cx="201168" cy="201168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31546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includes — ಅಂಗ-ಸಮಾವೇಶ · ಕ್ಷೇತ್ರ → ಮಹಾಭೂತಗಳು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721608"/>
            <a:ext cx="201168" cy="201168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6118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predicates-on — ಆಶ್ರಯತ್ವ · ಕ್ಷೇತ್ರಜ್ಞ ← ಕ್ಷೇತ್ರ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721608"/>
            <a:ext cx="201168" cy="201168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36118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transforms-into — ಪರಿಣಾಮ · ಸತ್ತ್ವ → ಸಾತ್ತ್ವಿಕ-ಜ್ಞಾನ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943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ಹನ್ನೆರಡು ಸಮಾನಾಂತರ ಪಟ್ಟಿಗಳು — ಪರಮಾರ್ಥ ಮೇಲೆ, ಪ್ರತೀಕ ಕೆಳಗೆ. ಪ್ರತಿ ಪರಿಕಲ್ಪನೆ ತನ್ನ ಸ್ತರದಲ್ಲಿ, ಪ್ರತಿ ಸಂಬಂಧ ತನ್ನ ವರ್ಗದ ಬಣ್ಣದಲ್ಲಿ. ಗೀತೆಯ ವಿಚಾರದ ರಚನೆಯನ್ನು ಮೇಲಿನಿಂದ ನೋಡಿದಂತೆ.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903720" y="1600200"/>
            <a:ext cx="4754880" cy="41148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95160" y="1737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ಪರಮಾರ್ಥ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868680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3544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0976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3272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0704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8136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55680" y="1842516"/>
            <a:ext cx="109728" cy="109728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95160" y="2057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A83F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ತತ್ತ್ವ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68680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112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976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8408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3272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0" y="2162556"/>
            <a:ext cx="109728" cy="109728"/>
          </a:xfrm>
          <a:prstGeom prst="ellipse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8702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ಕ್ಷೇತ್ರ-ಕ್ಷೇತ್ರಜ್ಞ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68680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112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3544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0976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8408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3272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07040" y="2482596"/>
            <a:ext cx="109728" cy="109728"/>
          </a:xfrm>
          <a:prstGeom prst="ellipse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95160" y="26974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69E2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ಗುಣ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68680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6112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3544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0976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78408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5840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33272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60704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88136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155680" y="2802636"/>
            <a:ext cx="109728" cy="109728"/>
          </a:xfrm>
          <a:prstGeom prst="ellipse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9516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B8D2E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ಯೋಗ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868680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96112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23544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0976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8408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05840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3272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60704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881360" y="3122676"/>
            <a:ext cx="109728" cy="109728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995160" y="3337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F7A4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ಸಾಧನಾ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868680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96112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3544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50976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78408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05840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33272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60704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88136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155680" y="3442716"/>
            <a:ext cx="109728" cy="109728"/>
          </a:xfrm>
          <a:prstGeom prst="ellipse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95160" y="3657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6E7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ಅಂತಃಕರಣ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68680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6112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3544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50976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78408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058400" y="3762756"/>
            <a:ext cx="109728" cy="109728"/>
          </a:xfrm>
          <a:prstGeom prst="ellipse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995160" y="3977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A4A7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ಧರ್ಮ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68680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96112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3544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50976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78408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05840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33272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60704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881360" y="4082796"/>
            <a:ext cx="109728" cy="109728"/>
          </a:xfrm>
          <a:prstGeom prst="ellipse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995160" y="4297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A3E6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ದೋಷ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868680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96112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3544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50976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78408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5840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33272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607040" y="4402836"/>
            <a:ext cx="109728" cy="109728"/>
          </a:xfrm>
          <a:prstGeom prst="ellipse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995160" y="4617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1E5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ಫಲ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868680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96112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3544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50976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8408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05840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33272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60704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88136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1155680" y="4722876"/>
            <a:ext cx="109728" cy="109728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995160" y="4937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A2E2E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ಯಜ್ಞ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868680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96112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23544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50976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78408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0058400" y="5042916"/>
            <a:ext cx="109728" cy="109728"/>
          </a:xfrm>
          <a:prstGeom prst="ellipse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995160" y="5257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E3A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ಪ್ರತೀಕ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868680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96112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23544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50976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78408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058400" y="5362956"/>
            <a:ext cx="109728" cy="109728"/>
          </a:xfrm>
          <a:prstGeom prst="ellipse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ಮಧ್ವ-ಓದು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ಸರ್ವೋತ್ತಮತ್ವ — ಹರಿಯ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ತಾರತಮ್ಯದ ಮೂಲಾಧಾರ-ಸಿದ್ಧಾಂತ — ಹರಿಯು ಸರ್ವೋತ್ಕೃಷ್ಟ, ಅವನಿಗೆ ಸಮಾನನಿಲ್ಲ ಅಧಿಕನಿಲ್ಲ. ಎಲ್ಲವೂ ಇತರ ಅವನ ಪರತಂತ್ರ.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ಮಧ್ವ-ಸಿದ್ಧಾಂತದ ಆಧಾರ-ಶಿಲೆ — ಪಂಚ-ಭೇದ-ವ್ಯವಸ್ಥೆಯು ಇದರಿಂದಲೇ ಪ್ರಾರಂಭವಾಗುತ್ತದೆ.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ಆಧಾರ ಶ್ಲೋಕ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ಮತ್ತಃ ಪರತರಂ ನಾನ್ಯತ್ಕಿಂಚಿದಸ್ತಿ ಧನಂಜಯ।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 · 11.43 · 18.65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ಮಧ್ವ-ಓದು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ಪಂಚಭೇದ — ಐದು ವಾಸ್ತವಿಕ ಭೇದಗಳು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ಹರಿ-ಜೀವ, ಹರಿ-ಜಡ, ಜೀವ-ಜಡ, ಜೀವ-ಜೀವ, ಜಡ-ಜಡ — ಈ ಐದು ನಿತ್ಯ-ಭೇದಗಳು ಮಧ್ವ-ಸಿದ್ಧಾಂತದಿಂದ ಸತ್ತಾ-ತಂತ್ರ-ವಾಸ್ತವಿಕ ಎಂದು ಪ್ರತಿಪಾದ್ಯವಾಗುತ್ತವೆ.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ಮಧ್ವ-ನಿರ್ಣಾಯಕ. ಪ್ರತಿ ಭೇದವೂ ಗೀತೆಯಲ್ಲಿ ಪ್ರತಿಷ್ಠಿತ (ಜೀವಾಂಶ-ವಾಕ್ಯ ಗೀ॰ ೧೫।೭; ಜೀವ-ಜೀವ-ಭೇದ ಸ್ವಭಾವ-ವಾಕ್ಯ ಗೀ॰ ೧೮।೪೧ ಇತ್ಯಾದಿಗಳಲ್ಲಿ ಅಂತರ್ನಿಹಿತ).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ಆಧಾರ ಶ್ಲೋಕ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ಮಮೈವಾಂಶೋ ಜೀವಲೋಕೇ ಜೀವಭೂತಃ ಸನಾತನಃ।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7.4–5 · 15.7 · 15.16–18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ಮಧ್ವ-ಓದು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ತಾರತಮ್ಯ — ಸತ್ತಾ-ಕ್ರಮ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ಹರಿ-ಅಧೀನ ಸಮಸ್ತ ಸತ್ತೆಯ ಕಠೋರ ಕ್ರಮ-ವ್ಯವಸ್ಥೆ — ಪ್ರತಿ ಜೀವಕ್ಕೂ ನಿಶ್ಚಿತ ಮತ್ತು ಅಪರಿವರ್ತನೀಯ ಪದ-ಕ್ರಮ. ಮಧ್ವ-ತತ್ತ್ವ-ಶಾಸ್ತ್ರದ ರಚನಾ-ತತ್ತ್ವ.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8B1E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ವಿಶಿಷ್ಟ ಮಧ್ವ-ತತ್ತ್ವ. ಪಂಚ-ಭೇದ-ವ್ಯವಸ್ಥೆ ಮತ್ತು ಮುಕ್ತಿ-ತಾರತಮ್ಯವನ್ನು ಆಧರಿಸುತ್ತದೆ.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ಆಧಾರ ಶ್ಲೋಕ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ಮತ್ತಃ ಪರತರಂ ನಾನ್ಯತ್ಕಿಂಚಿದಸ್ತಿ ಧನಂಜಯ।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ಮಯಿ ಸರ್ವಮಿದಂ ಪ್ರೋತಂ ಸೂತ್ರೇ ಮಣಿಗಣಾ ಇವ॥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7.7 · 15.16–18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7A1E5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ಮಧ್ವ-ಓದು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ಚರಮಶ್ಲೋಕ-ಫಲಮ್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"ಅಹಂ ತ್ವಾ ಸರ್ವಪಾಪೇಭ್ಯೋ ಮೋಕ್ಷಯಿಷ್ಯಾಮಿ ಮಾ ಶುಚಃ" — ಅಷ್ಟಾದಶಾಧ್ಯಾಯೇ ಕೃಷ್ಣಸ್ಯ ಪ್ರತ್ಯಕ್ಷಾಶ್ವಾಸಃ। ಮಾಧ್ವಸಂಪ್ರದಾಯೇ ಅಯಂ ಗೀತಾಶಾಸ್ತ್ರಸ್ಯ ಶಿರೋಭೂತಃ ಶ್ಲೋಕಃ।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7A1E5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ಚರಮಶ್ಲೋಕಃ — ಮಧ್ವಾಚಾರ್ಯಸ್ಯ ಸಾಕ್ಷಾತ್ ಮೋಕ್ಷೋಪದೇಶಃ।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ಆಧಾರ ಶ್ಲೋಕ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ಸರ್ವಧರ್ಮಾನ್ಪರಿತ್ಯಜ್ಯ ಮಾಮೇಕಂ ಶರಣಂ ವ್ರಜ।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ಅಹಂ ತ್ವಾ ಸರ್ವಪಾಪೇಭ್ಯೋ ಮೋಕ್ಷಯಿಷ್ಯಾಮಿ ಮಾ ಶುಚಃ॥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18.66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A83F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ಮಧ್ವ-ಓದು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ಜೀವ — ದೇಹಸ್ಥ ಆತ್ಮ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ಹರಿಯ ನಿತ್ಯ ಅಂಶ (ಗೀ॰ ೧೫।೭) — ಸತ್ಯ, ಭಿನ್ನ, ಬಹುವಿಧ, ಎಂದಿಗೂ ಬ್ರಹ್ಮದಲ್ಲಿ ಲೀನವಾಗುವುದಿಲ್ಲ. ಮುಕ್ತಿ-ಪರ್ಯಂತ ಅವಿದ್ಯೆಯಿಂದ ಬದ್ಧ.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6949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A83F1A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ಜೀವ-ಭೇದ ವಾಸ್ತವಿಕ (ಪಂಚ-ಭೇದಗಳಲ್ಲಿ ಮೊದಲನೆಯದು). ಜೀವ-ಬಹುತ್ವ ನಿತ್ಯ.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886200" cy="457200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1600200"/>
            <a:ext cx="73152" cy="4572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ಆಧಾರ ಶ್ಲೋಕ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23317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ಮಮೈವಾಂಶೋ ಜೀವಲೋಕೇ ಜೀವಭೂತಃ ಸನಾತನಃ।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ಮನಃಷಷ್ಠಾನೀಂದ್ರಿಯಾಣಿ ಪ್ರಕೃತಿಸ್ಥಾನಿ ಕರ್ಷತಿ॥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5715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BG 15.7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22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ವೀಕ್ಷಕನ ಬಳಕೆ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• Browse — ಪ್ರತಿ ಪರಿಕಲ್ಪನೆ ಅದರ ಸ್ತರದಲ್ಲಿ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• Focus — ಶ್ಲೋಕ-ಆಧಾರ, ಮಧ್ವ-ಟಿಪ್ಪಣಿ, ಎಲ್ಲಾ ಸಂಬಂಧಗಳು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• Map — ೧೧೨ ಪರಿಕಲ್ಪನೆಗಳು ಒಂದೇ ಪಟದಲ್ಲಿ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ಚತುರ್-ಲಿಪಿ ಸ್ವಿಚ್: English · ದೇವನಾಗರೀ · ಹಿಂದೀ · ಕನ್ನಡ — ಒಂದು ಸ್ಪರ್ಶದಲ್ಲಿ ಬದಲಾವಣೆ.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23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ಮೂಲ-ಸ್ರೋತಗಳು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ಮೂಲ — ಭಗವದ್ಗೀತಾ (ಸಂಸ್ಕೃತ ಶ್ಲೋಕ, ಪ್ರತಿ ಪರಿಕಲ್ಪನೆ ಒಂದು ಶ್ಲೋಕದಲ್ಲಿ)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ಭಾಷ್ಯ — ಮಧ್ವ ಗೀತಾ-ಭಾಷ್ಯ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ಆಧುನಿಕ ವ್ಯಾಖ್ಯಾನ — ಬನ್ನಂಜೆ ಗೋವಿಂದಾಚಾರ್ಯ, ಗೀತಾ-ಭಾಷ್ಯ (೪ ಸಂಪುಟ)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ತಾತ್ತ್ವಿಕ ದೃಷ್ಟಿ — BNK ಶರ್ಮಾ, Philosophy of Śrī Madhvācārya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ಮಾನಕ — ಪ್ರತಿ ನೋಡ್ ಶ್ಲೋಕ + ಸಂಪ್ರದಾಯದಲ್ಲಿ ಆಧಾರಿತ; ಯಾವುದೇ ಮನಃಕಲ್ಪನೆ ಇಲ್ಲ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8A7558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24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ಗ್ರಾಫ್‌ನಲ್ಲಿ ಇರುವುದು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112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Concepts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124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38328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Relations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12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621792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Tiers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51760" cy="2011680"/>
          </a:xfrm>
          <a:prstGeom prst="rect">
            <a:avLst/>
          </a:prstGeom>
          <a:solidFill>
            <a:srgbClr val="FBF5E6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20574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2A1B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112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905256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Verse anchors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463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github.com/kvinayakpai/Bhagavadgita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558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MIT · open source · build-decks.js generates this deck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2A1B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ನಮಃ ಪಾರ್ಥಸಾರಥಯೇ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394960" y="3337560"/>
            <a:ext cx="1371600" cy="18288"/>
          </a:xfrm>
          <a:prstGeom prst="rect">
            <a:avLst/>
          </a:prstGeom>
          <a:solidFill>
            <a:srgbClr val="C9B58A"/>
          </a:solidFill>
          <a:ln w="6350">
            <a:solidFill>
              <a:srgbClr val="C9B5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4632"/>
                </a:solidFill>
                <a:latin typeface="Tiro Kannada" pitchFamily="34" charset="0"/>
                <a:ea typeface="Tiro Kannada" pitchFamily="34" charset="-122"/>
                <a:cs typeface="Tiro Kannada" pitchFamily="34" charset="-120"/>
              </a:rPr>
              <a:t>ಶ್ರೀಕೃಷ್ಣಾರ್ಪಣಮಸ್ತು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Bhagavad Gītā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ಭಗವದ್ಗೀತಾ · ಪರಿಕಲ್ಪನಾ ಜ್ಞಾನ-ಪಟ</dc:title>
  <dc:subject>Madhva siddhānta · concept knowledge graph of the BG</dc:subject>
  <dc:creator>kvinayakpai</dc:creator>
  <cp:lastModifiedBy>kvinayakpai</cp:lastModifiedBy>
  <cp:revision>1</cp:revision>
  <dcterms:created xsi:type="dcterms:W3CDTF">2026-05-17T16:09:51Z</dcterms:created>
  <dcterms:modified xsi:type="dcterms:W3CDTF">2026-05-17T16:09:51Z</dcterms:modified>
</cp:coreProperties>
</file>