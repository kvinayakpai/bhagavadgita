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945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CONCEPT KNOWLEDGE GRAPH FOR THE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697480"/>
            <a:ext cx="10972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Bhagavad Gītā · Concept KG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4A3F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on the Madhva siddhānta backbone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 concepts · 99 relations · 12 tiers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Graph · Madhva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Bhagavad Gītā · Concept KG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700 verses · 18 chapters · one tāratamya backbone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Bhagavad Gītā weaves cosmology, ethics, and metaphysics across hundreds of distinct concepts. Reading it linearly works once — but seeing how every yoga, doṣa, and yajña connects to the others requires a structural view the text itself never gives you.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Graph · Madhva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Bhagavad Gītā · Concept KG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concept anchored in a verse — and in Madhva commentary.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text — Bhagavad Gītā (Sanskrit + English)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— Bannanje Govindacharya, Gītā-bhāṣya (4 vols, Kannada)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 — Mahābhārata Tātparya Nirṇaya (Madhva)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Doctrinal lens — sarvottama Hari, jīva-bheda, tāratamya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Graph · Madhva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Bhagavad Gītā · Concept KG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Twelve tiers of concepts.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tier groups concepts of the same kind — tattvas, yogas, doṣas, phalas, yajñas, pratīkas. Edges (is-a, leads-to, antidote-to, arises-from, opposite-of, includes, predicates-on, transforms-into) connect concepts the Gītā itself ties together verse by verse.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886200"/>
            <a:ext cx="1828800" cy="502920"/>
          </a:xfrm>
          <a:prstGeom prst="rect">
            <a:avLst/>
          </a:prstGeom>
          <a:solidFill>
            <a:srgbClr val="8B1E1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8862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Paramārtha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651760" y="3886200"/>
            <a:ext cx="1828800" cy="502920"/>
          </a:xfrm>
          <a:prstGeom prst="rect">
            <a:avLst/>
          </a:prstGeom>
          <a:solidFill>
            <a:srgbClr val="A83F1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51760" y="38862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Tattva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3886200"/>
            <a:ext cx="1828800" cy="502920"/>
          </a:xfrm>
          <a:prstGeom prst="rect">
            <a:avLst/>
          </a:prstGeom>
          <a:solidFill>
            <a:srgbClr val="B8702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38862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Kṣetra-Kṣetrajña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675120" y="3886200"/>
            <a:ext cx="1828800" cy="502920"/>
          </a:xfrm>
          <a:prstGeom prst="rect">
            <a:avLst/>
          </a:prstGeom>
          <a:solidFill>
            <a:srgbClr val="C69E2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75120" y="38862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Guṇa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498848"/>
            <a:ext cx="1828800" cy="502920"/>
          </a:xfrm>
          <a:prstGeom prst="rect">
            <a:avLst/>
          </a:prstGeom>
          <a:solidFill>
            <a:srgbClr val="7B8D2E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49884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Yoga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51760" y="4498848"/>
            <a:ext cx="1828800" cy="502920"/>
          </a:xfrm>
          <a:prstGeom prst="rect">
            <a:avLst/>
          </a:prstGeom>
          <a:solidFill>
            <a:srgbClr val="3F7A4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51760" y="449884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Sādhanā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4498848"/>
            <a:ext cx="1828800" cy="502920"/>
          </a:xfrm>
          <a:prstGeom prst="rect">
            <a:avLst/>
          </a:prstGeom>
          <a:solidFill>
            <a:srgbClr val="2F6E7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449884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Antaḥkaraṇa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675120" y="4498848"/>
            <a:ext cx="1828800" cy="502920"/>
          </a:xfrm>
          <a:prstGeom prst="rect">
            <a:avLst/>
          </a:prstGeom>
          <a:solidFill>
            <a:srgbClr val="3A4A7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75120" y="449884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Dharma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5111496"/>
            <a:ext cx="1828800" cy="502920"/>
          </a:xfrm>
          <a:prstGeom prst="rect">
            <a:avLst/>
          </a:prstGeom>
          <a:solidFill>
            <a:srgbClr val="5A3E6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11496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Doṣa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51760" y="5111496"/>
            <a:ext cx="1828800" cy="502920"/>
          </a:xfrm>
          <a:prstGeom prst="rect">
            <a:avLst/>
          </a:prstGeom>
          <a:solidFill>
            <a:srgbClr val="7A1E5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51760" y="5111496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Phala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5111496"/>
            <a:ext cx="1828800" cy="502920"/>
          </a:xfrm>
          <a:prstGeom prst="rect">
            <a:avLst/>
          </a:prstGeom>
          <a:solidFill>
            <a:srgbClr val="6A2E2E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5111496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Yajña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675120" y="5111496"/>
            <a:ext cx="1828800" cy="502920"/>
          </a:xfrm>
          <a:prstGeom prst="rect">
            <a:avLst/>
          </a:prstGeom>
          <a:solidFill>
            <a:srgbClr val="3E3A32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0" y="5111496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Pratīka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Graph · Madhva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Bhagavad Gītā · Concept KG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views · one dataset.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 — every concept under its tier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— verse anchor + Madhva note + every relation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— all concepts on one canvas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Graph · Madhva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Bhagavad Gītā · Concept KG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1 · BROWSE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tier-aware index of every concept.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tier opens with its color dot, English/Devanāgarī/Kannada name, gloss, and concept count. Live search filters across labels, titles, notes, and verse refs in any script.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4114800"/>
            <a:ext cx="182880" cy="182880"/>
          </a:xfrm>
          <a:prstGeom prst="ellipse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4023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Paramārtha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840480" y="4078224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Ultimate reality — Hari, the sarvottama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4663440"/>
            <a:ext cx="182880" cy="182880"/>
          </a:xfrm>
          <a:prstGeom prst="ellipse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1560" y="4572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Yoga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840480" y="4626864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Paths — karma, jñāna, bhakti, dhyāna, sannyāsa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5212080"/>
            <a:ext cx="182880" cy="182880"/>
          </a:xfrm>
          <a:prstGeom prst="ellipse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5120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Phala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840480" y="5175504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Goals &amp; states — mokṣa, paramagati, brāhmī-sthiti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Graph · Madhva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Bhagavad Gītā · Concept KG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2 · FOCUS — Hero card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concept, anchored in a verse.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hero card carries (in order) the tier tag, the concept name in the active script, a one-line subtitle, a 2–3 sentence doctrinal note, the Madhva-distinctive callout where applicable, and the BG verse references.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840480"/>
            <a:ext cx="10972800" cy="2651760"/>
          </a:xfrm>
          <a:prstGeom prst="rect">
            <a:avLst/>
          </a:prstGeom>
          <a:solidFill>
            <a:srgbClr val="FBF5E6"/>
          </a:solidFill>
          <a:ln w="12700">
            <a:solidFill>
              <a:srgbClr val="D6C5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9319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A4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Dharma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68680" y="4206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Sthita-prajña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868680" y="4846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3F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of steady wisdom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52578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1A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Indifferent to pleasure and pain, free of attachment, fear, anger; senses fully withdrawn. Closing portrait of Ch 2.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68680" y="62179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 2.55–72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Graph · Madhva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Bhagavad Gītā · Concept KG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2 · FOCUS — Relations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connection, typed and labelled.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the verse, outgoing and incoming relations are enumerated with their edge type (is-a, leads-to, etc.), edge label, and other endpoint. Tap any row to traverse.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840480"/>
            <a:ext cx="1463040" cy="329184"/>
          </a:xfrm>
          <a:prstGeom prst="rect">
            <a:avLst/>
          </a:prstGeom>
          <a:solidFill>
            <a:srgbClr val="E0DAC6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84048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1F1A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384048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sense-restraint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040880" y="384048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Indriya-nigraha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251960"/>
            <a:ext cx="1463040" cy="329184"/>
          </a:xfrm>
          <a:prstGeom prst="rect">
            <a:avLst/>
          </a:prstGeom>
          <a:solidFill>
            <a:srgbClr val="E0DAC6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25196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1F1A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286000" y="425196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equanimity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040880" y="425196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Samatva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663440"/>
            <a:ext cx="1463040" cy="329184"/>
          </a:xfrm>
          <a:prstGeom prst="rect">
            <a:avLst/>
          </a:prstGeom>
          <a:solidFill>
            <a:srgbClr val="E0DAC6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66344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1F1A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leads-to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286000" y="466344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sense-restraint → steady-wisdom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040880" y="466344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← Indriya-nigraha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5074920"/>
            <a:ext cx="1463040" cy="329184"/>
          </a:xfrm>
          <a:prstGeom prst="rect">
            <a:avLst/>
          </a:prstGeom>
          <a:solidFill>
            <a:srgbClr val="E0DAC6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507492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1F1A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is-a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286000" y="507492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40880" y="507492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← Sama-darśana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Graph · Madhva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Bhagavad Gītā · Concept KG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3 · MAP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concepts on one canvas.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Twelve horizontal bands — paramārtha at the top, pratīka at the bottom. Edges curve between concepts, color-coded by relation type. The structural shape of the Gītā's thought, seen from above.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840480"/>
            <a:ext cx="868680" cy="2286000"/>
          </a:xfrm>
          <a:prstGeom prst="rect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Paramārtha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00200" y="3840480"/>
            <a:ext cx="868680" cy="2286000"/>
          </a:xfrm>
          <a:prstGeom prst="rect">
            <a:avLst/>
          </a:prstGeom>
          <a:solidFill>
            <a:srgbClr val="A83F1A"/>
          </a:solidFill>
          <a:ln w="12700">
            <a:solidFill>
              <a:srgbClr val="A83F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60020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Tattva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60020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560320" y="3840480"/>
            <a:ext cx="868680" cy="2286000"/>
          </a:xfrm>
          <a:prstGeom prst="rect">
            <a:avLst/>
          </a:prstGeom>
          <a:solidFill>
            <a:srgbClr val="B8702A"/>
          </a:solidFill>
          <a:ln w="12700">
            <a:solidFill>
              <a:srgbClr val="B870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6032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Kṣetra-Kṣetrajña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56032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520440" y="3840480"/>
            <a:ext cx="868680" cy="2286000"/>
          </a:xfrm>
          <a:prstGeom prst="rect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2044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Guṇa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52044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480560" y="3840480"/>
            <a:ext cx="868680" cy="2286000"/>
          </a:xfrm>
          <a:prstGeom prst="rect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8056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Yoga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8056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40680" y="3840480"/>
            <a:ext cx="868680" cy="2286000"/>
          </a:xfrm>
          <a:prstGeom prst="rect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4068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Sādhanā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4068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400800" y="3840480"/>
            <a:ext cx="868680" cy="2286000"/>
          </a:xfrm>
          <a:prstGeom prst="rect">
            <a:avLst/>
          </a:prstGeom>
          <a:solidFill>
            <a:srgbClr val="2F6E7A"/>
          </a:solidFill>
          <a:ln w="12700">
            <a:solidFill>
              <a:srgbClr val="2F6E7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Antaḥkaraṇa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360920" y="3840480"/>
            <a:ext cx="868680" cy="2286000"/>
          </a:xfrm>
          <a:prstGeom prst="rect">
            <a:avLst/>
          </a:prstGeom>
          <a:solidFill>
            <a:srgbClr val="3A4A7A"/>
          </a:solidFill>
          <a:ln w="12700">
            <a:solidFill>
              <a:srgbClr val="3A4A7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6092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Dharma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36092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321040" y="3840480"/>
            <a:ext cx="868680" cy="2286000"/>
          </a:xfrm>
          <a:prstGeom prst="rect">
            <a:avLst/>
          </a:prstGeom>
          <a:solidFill>
            <a:srgbClr val="5A3E6A"/>
          </a:solidFill>
          <a:ln w="12700">
            <a:solidFill>
              <a:srgbClr val="5A3E6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2104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Doṣa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32104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9281160" y="3840480"/>
            <a:ext cx="868680" cy="2286000"/>
          </a:xfrm>
          <a:prstGeom prst="rect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28116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Phala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28116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10241280" y="3840480"/>
            <a:ext cx="868680" cy="2286000"/>
          </a:xfrm>
          <a:prstGeom prst="rect">
            <a:avLst/>
          </a:prstGeom>
          <a:solidFill>
            <a:srgbClr val="6A2E2E"/>
          </a:solidFill>
          <a:ln w="12700">
            <a:solidFill>
              <a:srgbClr val="6A2E2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24128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Yajña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24128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11201400" y="3840480"/>
            <a:ext cx="868680" cy="2286000"/>
          </a:xfrm>
          <a:prstGeom prst="rect">
            <a:avLst/>
          </a:prstGeom>
          <a:solidFill>
            <a:srgbClr val="3E3A32"/>
          </a:solidFill>
          <a:ln w="12700">
            <a:solidFill>
              <a:srgbClr val="3E3A3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20140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Pratīka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120140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Graph · Madhva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Bhagavad Gītā · Concept KG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· FEATURES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Tap, peek, traverse.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any node to focus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colors decode the relation type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re-filters all three views simultaneously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 language with one tap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Graph · Madhva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Bhagavad Gītā · Concept KG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LOCALIZATION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ontology · three scripts.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English (IAST diacritics)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Devanāgarī (देवनागरी)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Kannada (ಕನ್ನಡ ಲಿಪಿ)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Graph · Madhva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Bhagavad Gītā · Concept KG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VERSES · THREE SCRIPTS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anchor verse in Devanāgarī, IAST, and Kannada.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1A13"/>
                </a:solidFill>
                <a:latin typeface="Sanskrit Text" pitchFamily="34" charset="0"/>
                <a:ea typeface="Sanskrit Text" pitchFamily="34" charset="-122"/>
                <a:cs typeface="Sanskrit Text" pitchFamily="34" charset="-120"/>
              </a:rPr>
              <a:t>यस्मात्क्षरमतीतोऽहमक्षरादपि चोत्तमः।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1A13"/>
                </a:solidFill>
                <a:latin typeface="Sanskrit Text" pitchFamily="34" charset="0"/>
                <a:ea typeface="Sanskrit Text" pitchFamily="34" charset="-122"/>
                <a:cs typeface="Sanskrit Text" pitchFamily="34" charset="-120"/>
              </a:rPr>
              <a:t>अतोऽस्मि लोके वेदे च प्रसिद्धः पुरुषोत्तमः॥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374904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yasmāt kṣaram atīto 'ham akṣarād api cottamaḥ |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ato 'smi loke vede ca prasiddhaḥ puruṣottamaḥ ||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51663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1A13"/>
                </a:solidFill>
                <a:latin typeface="Tunga" pitchFamily="34" charset="0"/>
                <a:ea typeface="Tunga" pitchFamily="34" charset="-122"/>
                <a:cs typeface="Tunga" pitchFamily="34" charset="-120"/>
              </a:rPr>
              <a:t>ಯಸ್ಮಾತ್ಕ್ಷರಮತೀತೋಽಹಮಕ್ಷರಾದಪಿ ಚೋತ್ತಮಃ।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1A13"/>
                </a:solidFill>
                <a:latin typeface="Tunga" pitchFamily="34" charset="0"/>
                <a:ea typeface="Tunga" pitchFamily="34" charset="-122"/>
                <a:cs typeface="Tunga" pitchFamily="34" charset="-120"/>
              </a:rPr>
              <a:t>ಅತೋಽಸ್ಮಿ ಲೋಕೇ ವೇದೇ ಚ ಪ್ರಸಿದ್ಧಃ ಪುರುಷೋತ್ತಮಃ॥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" y="6400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BG 15.18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Graph · Madhva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Bhagavad Gītā · Concept KG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SOURCE-GROUNDED AUDIT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concept verified.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concept node was anchored to at least one explicit BG verse (Sanskrit). Where Madhva's reading is distinctive — Brahman=Hari, akṣara=Lakṣmī, tāratamya in mokṣa, jīva-bheda, bhakti as constituent of mokṣa — the data file flags it.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512064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8B1E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</a:t>
            </a:r>
            <a:endParaRPr lang="en-US" sz="6400" dirty="0"/>
          </a:p>
        </p:txBody>
      </p:sp>
      <p:sp>
        <p:nvSpPr>
          <p:cNvPr id="9" name="Text 7"/>
          <p:cNvSpPr/>
          <p:nvPr/>
        </p:nvSpPr>
        <p:spPr>
          <a:xfrm>
            <a:off x="640080" y="6263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concepts grounded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389120" y="512064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7B8D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6400" dirty="0"/>
          </a:p>
        </p:txBody>
      </p:sp>
      <p:sp>
        <p:nvSpPr>
          <p:cNvPr id="11" name="Text 9"/>
          <p:cNvSpPr/>
          <p:nvPr/>
        </p:nvSpPr>
        <p:spPr>
          <a:xfrm>
            <a:off x="4389120" y="6263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verses in tri-script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0" y="512064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3A4A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</a:t>
            </a:r>
            <a:endParaRPr lang="en-US" sz="6400" dirty="0"/>
          </a:p>
        </p:txBody>
      </p:sp>
      <p:sp>
        <p:nvSpPr>
          <p:cNvPr id="13" name="Text 11"/>
          <p:cNvSpPr/>
          <p:nvPr/>
        </p:nvSpPr>
        <p:spPr>
          <a:xfrm>
            <a:off x="8229600" y="6263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typed relations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Graph · Madhva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Bhagavad Gītā · Concept KG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CAPABILITIES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artifact does, in one screen.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 concept nodes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 typed relations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tāratamya tiers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 anchor verses · tri-script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Madhva-distinctive callouts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scripts: IAST · Devanāgarī · Kannada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Graph · Madhva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Bhagavad Gītā · Concept KG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MADHVA DISTINCTIVES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this reading parts company with Advaita.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Brahman = Viṣṇu/Nārāyaṇa, not nirguṇa absolute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Akṣara-puruṣa = Lakṣmī (jīva-gaṇa-mukhya), not impersonal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Mokṣa has tāratamya — not undifferentiated bliss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Jīva-bheda is real, eternal, plural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Bhakti is both means and constituent of mokṣa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Carama-śloka (BG 18.66) is the distilled mokṣa-upadeśa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Graph · Madhva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Bhagavad Gītā · Concept KG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TYPICAL SESSION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navigate.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Open in BROWSE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Tap a concept (e.g. Sthita-prajña) → FOCUS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Read the verse, the note, the Madhva callout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Tap a related concept (e.g. Mokṣa) to traverse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Switch to MAP to see where you are in the whole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Bhagavadgita Concept KG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Bhagavad Gītā · Concept KG</dc:title>
  <dc:subject>PptxGenJS Presentation</dc:subject>
  <dc:creator>kvinayakpai</dc:creator>
  <cp:lastModifiedBy>kvinayakpai</cp:lastModifiedBy>
  <cp:revision>1</cp:revision>
  <dcterms:created xsi:type="dcterms:W3CDTF">2026-05-15T19:41:28Z</dcterms:created>
  <dcterms:modified xsi:type="dcterms:W3CDTF">2026-05-15T19:41:28Z</dcterms:modified>
</cp:coreProperties>
</file>