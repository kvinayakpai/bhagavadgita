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457200" y="1463040"/>
            <a:ext cx="11247120" cy="1280160"/>
          </a:xfrm>
          <a:prstGeom prst="rect">
            <a:avLst/>
          </a:prstGeom>
          <a:noFill/>
          <a:ln/>
        </p:spPr>
        <p:txBody>
          <a:bodyPr wrap="square" rtlCol="0" anchor="ctr"/>
          <a:lstStyle/>
          <a:p>
            <a:pPr algn="ctr" indent="0" marL="0">
              <a:buNone/>
            </a:pPr>
            <a:r>
              <a:rPr lang="en-US" sz="4800" b="1" dirty="0">
                <a:solidFill>
                  <a:srgbClr val="3B2A1B"/>
                </a:solidFill>
                <a:latin typeface="Cormorant Garamond" pitchFamily="34" charset="0"/>
                <a:ea typeface="Cormorant Garamond" pitchFamily="34" charset="-122"/>
                <a:cs typeface="Cormorant Garamond" pitchFamily="34" charset="-120"/>
              </a:rPr>
              <a:t>Bhagavad Gītā · Concept KG</a:t>
            </a:r>
            <a:endParaRPr lang="en-US" sz="4800" dirty="0"/>
          </a:p>
        </p:txBody>
      </p:sp>
      <p:sp>
        <p:nvSpPr>
          <p:cNvPr id="3" name="Text 1"/>
          <p:cNvSpPr/>
          <p:nvPr/>
        </p:nvSpPr>
        <p:spPr>
          <a:xfrm>
            <a:off x="457200" y="2788920"/>
            <a:ext cx="11247120" cy="548640"/>
          </a:xfrm>
          <a:prstGeom prst="rect">
            <a:avLst/>
          </a:prstGeom>
          <a:noFill/>
          <a:ln/>
        </p:spPr>
        <p:txBody>
          <a:bodyPr wrap="square" rtlCol="0" anchor="ctr"/>
          <a:lstStyle/>
          <a:p>
            <a:pPr algn="ctr" indent="0" marL="0">
              <a:buNone/>
            </a:pPr>
            <a:r>
              <a:rPr lang="en-US" sz="2200" i="1" dirty="0">
                <a:solidFill>
                  <a:srgbClr val="5A4632"/>
                </a:solidFill>
                <a:latin typeface="Cormorant Garamond" pitchFamily="34" charset="0"/>
                <a:ea typeface="Cormorant Garamond" pitchFamily="34" charset="-122"/>
                <a:cs typeface="Cormorant Garamond" pitchFamily="34" charset="-120"/>
              </a:rPr>
              <a:t>A Madhva siddhānta reading</a:t>
            </a:r>
            <a:endParaRPr lang="en-US" sz="2200" dirty="0"/>
          </a:p>
        </p:txBody>
      </p:sp>
      <p:sp>
        <p:nvSpPr>
          <p:cNvPr id="4" name="Shape 2"/>
          <p:cNvSpPr/>
          <p:nvPr/>
        </p:nvSpPr>
        <p:spPr>
          <a:xfrm>
            <a:off x="5166360" y="3520440"/>
            <a:ext cx="1828800" cy="18288"/>
          </a:xfrm>
          <a:prstGeom prst="rect">
            <a:avLst/>
          </a:prstGeom>
          <a:solidFill>
            <a:srgbClr val="C9B58A"/>
          </a:solidFill>
          <a:ln w="6350">
            <a:solidFill>
              <a:srgbClr val="C9B58A"/>
            </a:solidFill>
            <a:prstDash val="solid"/>
          </a:ln>
        </p:spPr>
      </p:sp>
      <p:sp>
        <p:nvSpPr>
          <p:cNvPr id="5" name="Text 3"/>
          <p:cNvSpPr/>
          <p:nvPr/>
        </p:nvSpPr>
        <p:spPr>
          <a:xfrm>
            <a:off x="457200" y="3749040"/>
            <a:ext cx="11247120" cy="457200"/>
          </a:xfrm>
          <a:prstGeom prst="rect">
            <a:avLst/>
          </a:prstGeom>
          <a:noFill/>
          <a:ln/>
        </p:spPr>
        <p:txBody>
          <a:bodyPr wrap="square" rtlCol="0" anchor="ctr"/>
          <a:lstStyle/>
          <a:p>
            <a:pPr algn="ctr" indent="0" marL="0">
              <a:buNone/>
            </a:pPr>
            <a:r>
              <a:rPr lang="en-US" sz="1400" dirty="0">
                <a:solidFill>
                  <a:srgbClr val="8A7558"/>
                </a:solidFill>
                <a:latin typeface="Cormorant Garamond" pitchFamily="34" charset="0"/>
                <a:ea typeface="Cormorant Garamond" pitchFamily="34" charset="-122"/>
                <a:cs typeface="Cormorant Garamond" pitchFamily="34" charset="-120"/>
              </a:rPr>
              <a:t>Concept Graph · Madhva</a:t>
            </a:r>
            <a:endParaRPr lang="en-US" sz="1400" dirty="0"/>
          </a:p>
        </p:txBody>
      </p:sp>
      <p:sp>
        <p:nvSpPr>
          <p:cNvPr id="6" name="Text 4"/>
          <p:cNvSpPr/>
          <p:nvPr/>
        </p:nvSpPr>
        <p:spPr>
          <a:xfrm>
            <a:off x="457200" y="6263640"/>
            <a:ext cx="11247120" cy="365760"/>
          </a:xfrm>
          <a:prstGeom prst="rect">
            <a:avLst/>
          </a:prstGeom>
          <a:noFill/>
          <a:ln/>
        </p:spPr>
        <p:txBody>
          <a:bodyPr wrap="square" rtlCol="0" anchor="ctr"/>
          <a:lstStyle/>
          <a:p>
            <a:pPr algn="ctr" indent="0" marL="0">
              <a:buNone/>
            </a:pPr>
            <a:r>
              <a:rPr lang="en-US" sz="1000" dirty="0">
                <a:solidFill>
                  <a:srgbClr val="8A7558"/>
                </a:solidFill>
                <a:latin typeface="Cormorant Garamond" pitchFamily="34" charset="0"/>
                <a:ea typeface="Cormorant Garamond" pitchFamily="34" charset="-122"/>
                <a:cs typeface="Cormorant Garamond" pitchFamily="34" charset="-120"/>
              </a:rPr>
              <a:t>Concept KG · github.com/kvinayakpai/Bhagavadgita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Cormorant Garamond" pitchFamily="34" charset="0"/>
                <a:ea typeface="Cormorant Garamond" pitchFamily="34" charset="-122"/>
                <a:cs typeface="Cormorant Garamond" pitchFamily="34" charset="-120"/>
              </a:rPr>
              <a:t>01</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Why this exists</a:t>
            </a:r>
            <a:endParaRPr lang="en-US" sz="3000" dirty="0"/>
          </a:p>
        </p:txBody>
      </p:sp>
      <p:sp>
        <p:nvSpPr>
          <p:cNvPr id="4" name="Text 2"/>
          <p:cNvSpPr/>
          <p:nvPr/>
        </p:nvSpPr>
        <p:spPr>
          <a:xfrm>
            <a:off x="548640" y="1600200"/>
            <a:ext cx="10972800" cy="4114800"/>
          </a:xfrm>
          <a:prstGeom prst="rect">
            <a:avLst/>
          </a:prstGeom>
          <a:noFill/>
          <a:ln/>
        </p:spPr>
        <p:txBody>
          <a:bodyPr wrap="square" rtlCol="0" anchor="t"/>
          <a:lstStyle/>
          <a:p>
            <a:pPr algn="l" indent="0" marL="0">
              <a:spcAft>
                <a:spcPts val="800"/>
              </a:spcAft>
              <a:buNone/>
            </a:pPr>
            <a:r>
              <a:rPr lang="en-US" sz="1800" dirty="0">
                <a:solidFill>
                  <a:srgbClr val="3B2A1B"/>
                </a:solidFill>
                <a:latin typeface="Cormorant Garamond" pitchFamily="34" charset="0"/>
                <a:ea typeface="Cormorant Garamond" pitchFamily="34" charset="-122"/>
                <a:cs typeface="Cormorant Garamond" pitchFamily="34" charset="-120"/>
              </a:rPr>
              <a:t>The Gītā's 700 verses interweave cosmology, ethics, and metaphysics across hundreds of distinct concepts. Reading the text linearly works once — but the structural ties between every yoga, doṣa, yajña and phala are easy to lose. This Concept KG lays the whole network out — every concept anchored in a verse, every relation typed and labeled, read through the Madhva-siddhānta lens.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Cormorant Garamond" pitchFamily="34" charset="0"/>
                <a:ea typeface="Cormorant Garamond" pitchFamily="34" charset="-122"/>
                <a:cs typeface="Cormorant Garamond" pitchFamily="34" charset="-120"/>
              </a:rPr>
              <a:t>02</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The twelve tiers</a:t>
            </a:r>
            <a:endParaRPr lang="en-US" sz="3000" dirty="0"/>
          </a:p>
        </p:txBody>
      </p:sp>
      <p:sp>
        <p:nvSpPr>
          <p:cNvPr id="4" name="Text 2"/>
          <p:cNvSpPr/>
          <p:nvPr/>
        </p:nvSpPr>
        <p:spPr>
          <a:xfrm>
            <a:off x="548640" y="1600200"/>
            <a:ext cx="10972800" cy="1188720"/>
          </a:xfrm>
          <a:prstGeom prst="rect">
            <a:avLst/>
          </a:prstGeom>
          <a:noFill/>
          <a:ln/>
        </p:spPr>
        <p:txBody>
          <a:bodyPr wrap="square" rtlCol="0" anchor="t"/>
          <a:lstStyle/>
          <a:p>
            <a:pPr algn="l" indent="0" marL="0">
              <a:spcAft>
                <a:spcPts val="400"/>
              </a:spcAft>
              <a:buNone/>
            </a:pPr>
            <a:r>
              <a:rPr lang="en-US" sz="1300" i="1" dirty="0">
                <a:solidFill>
                  <a:srgbClr val="5A4632"/>
                </a:solidFill>
                <a:latin typeface="Cormorant Garamond" pitchFamily="34" charset="0"/>
                <a:ea typeface="Cormorant Garamond" pitchFamily="34" charset="-122"/>
                <a:cs typeface="Cormorant Garamond" pitchFamily="34" charset="-120"/>
              </a:rPr>
              <a:t>Concepts are organised into twelve tiers — a ladder of being from the supreme Hari down through symbol and metaphor. Each tier groups concepts of the same kind. Edges (is-a, leads-to, antidote-to, arises-from, opposite-of, includes, predicates-on, transforms-into) connect them as the Gītā itself does, verse by verse.</a:t>
            </a:r>
            <a:endParaRPr lang="en-US" sz="1300" dirty="0"/>
          </a:p>
        </p:txBody>
      </p:sp>
      <p:sp>
        <p:nvSpPr>
          <p:cNvPr id="5" name="Shape 3"/>
          <p:cNvSpPr/>
          <p:nvPr/>
        </p:nvSpPr>
        <p:spPr>
          <a:xfrm>
            <a:off x="548640" y="2958084"/>
            <a:ext cx="164592" cy="164592"/>
          </a:xfrm>
          <a:prstGeom prst="ellipse">
            <a:avLst/>
          </a:prstGeom>
          <a:solidFill>
            <a:srgbClr val="8B1E1A"/>
          </a:solidFill>
          <a:ln w="12700">
            <a:solidFill>
              <a:srgbClr val="8B1E1A"/>
            </a:solidFill>
            <a:prstDash val="solid"/>
          </a:ln>
        </p:spPr>
      </p:sp>
      <p:sp>
        <p:nvSpPr>
          <p:cNvPr id="6" name="Text 4"/>
          <p:cNvSpPr/>
          <p:nvPr/>
        </p:nvSpPr>
        <p:spPr>
          <a:xfrm>
            <a:off x="822960" y="2880360"/>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Paramārtha</a:t>
            </a:r>
            <a:endParaRPr lang="en-US" sz="1300" dirty="0"/>
          </a:p>
        </p:txBody>
      </p:sp>
      <p:sp>
        <p:nvSpPr>
          <p:cNvPr id="7" name="Text 5"/>
          <p:cNvSpPr/>
          <p:nvPr/>
        </p:nvSpPr>
        <p:spPr>
          <a:xfrm>
            <a:off x="2514600" y="2880360"/>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Ultimate reality — Hari, the sarvottama</a:t>
            </a:r>
            <a:endParaRPr lang="en-US" sz="1100" dirty="0"/>
          </a:p>
        </p:txBody>
      </p:sp>
      <p:sp>
        <p:nvSpPr>
          <p:cNvPr id="8" name="Shape 6"/>
          <p:cNvSpPr/>
          <p:nvPr/>
        </p:nvSpPr>
        <p:spPr>
          <a:xfrm>
            <a:off x="6263640" y="2958084"/>
            <a:ext cx="164592" cy="164592"/>
          </a:xfrm>
          <a:prstGeom prst="ellipse">
            <a:avLst/>
          </a:prstGeom>
          <a:solidFill>
            <a:srgbClr val="A83F1A"/>
          </a:solidFill>
          <a:ln w="12700">
            <a:solidFill>
              <a:srgbClr val="A83F1A"/>
            </a:solidFill>
            <a:prstDash val="solid"/>
          </a:ln>
        </p:spPr>
      </p:sp>
      <p:sp>
        <p:nvSpPr>
          <p:cNvPr id="9" name="Text 7"/>
          <p:cNvSpPr/>
          <p:nvPr/>
        </p:nvSpPr>
        <p:spPr>
          <a:xfrm>
            <a:off x="6537960" y="2880360"/>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Tattva</a:t>
            </a:r>
            <a:endParaRPr lang="en-US" sz="1300" dirty="0"/>
          </a:p>
        </p:txBody>
      </p:sp>
      <p:sp>
        <p:nvSpPr>
          <p:cNvPr id="10" name="Text 8"/>
          <p:cNvSpPr/>
          <p:nvPr/>
        </p:nvSpPr>
        <p:spPr>
          <a:xfrm>
            <a:off x="8229600" y="2880360"/>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Metaphysical categories — jīva, prakṛti, kāla</a:t>
            </a:r>
            <a:endParaRPr lang="en-US" sz="1100" dirty="0"/>
          </a:p>
        </p:txBody>
      </p:sp>
      <p:sp>
        <p:nvSpPr>
          <p:cNvPr id="11" name="Shape 9"/>
          <p:cNvSpPr/>
          <p:nvPr/>
        </p:nvSpPr>
        <p:spPr>
          <a:xfrm>
            <a:off x="548640" y="3287268"/>
            <a:ext cx="164592" cy="164592"/>
          </a:xfrm>
          <a:prstGeom prst="ellipse">
            <a:avLst/>
          </a:prstGeom>
          <a:solidFill>
            <a:srgbClr val="B8702A"/>
          </a:solidFill>
          <a:ln w="12700">
            <a:solidFill>
              <a:srgbClr val="B8702A"/>
            </a:solidFill>
            <a:prstDash val="solid"/>
          </a:ln>
        </p:spPr>
      </p:sp>
      <p:sp>
        <p:nvSpPr>
          <p:cNvPr id="12" name="Text 10"/>
          <p:cNvSpPr/>
          <p:nvPr/>
        </p:nvSpPr>
        <p:spPr>
          <a:xfrm>
            <a:off x="822960" y="3209544"/>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Kṣetra-Kṣetrajña</a:t>
            </a:r>
            <a:endParaRPr lang="en-US" sz="1300" dirty="0"/>
          </a:p>
        </p:txBody>
      </p:sp>
      <p:sp>
        <p:nvSpPr>
          <p:cNvPr id="13" name="Text 11"/>
          <p:cNvSpPr/>
          <p:nvPr/>
        </p:nvSpPr>
        <p:spPr>
          <a:xfrm>
            <a:off x="2514600" y="3209544"/>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Field &amp; field-knower — body, knower, 24 elements (Ch 13)</a:t>
            </a:r>
            <a:endParaRPr lang="en-US" sz="1100" dirty="0"/>
          </a:p>
        </p:txBody>
      </p:sp>
      <p:sp>
        <p:nvSpPr>
          <p:cNvPr id="14" name="Shape 12"/>
          <p:cNvSpPr/>
          <p:nvPr/>
        </p:nvSpPr>
        <p:spPr>
          <a:xfrm>
            <a:off x="6263640" y="3287268"/>
            <a:ext cx="164592" cy="164592"/>
          </a:xfrm>
          <a:prstGeom prst="ellipse">
            <a:avLst/>
          </a:prstGeom>
          <a:solidFill>
            <a:srgbClr val="C69E2A"/>
          </a:solidFill>
          <a:ln w="12700">
            <a:solidFill>
              <a:srgbClr val="C69E2A"/>
            </a:solidFill>
            <a:prstDash val="solid"/>
          </a:ln>
        </p:spPr>
      </p:sp>
      <p:sp>
        <p:nvSpPr>
          <p:cNvPr id="15" name="Text 13"/>
          <p:cNvSpPr/>
          <p:nvPr/>
        </p:nvSpPr>
        <p:spPr>
          <a:xfrm>
            <a:off x="6537960" y="3209544"/>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Guṇa</a:t>
            </a:r>
            <a:endParaRPr lang="en-US" sz="1300" dirty="0"/>
          </a:p>
        </p:txBody>
      </p:sp>
      <p:sp>
        <p:nvSpPr>
          <p:cNvPr id="16" name="Text 14"/>
          <p:cNvSpPr/>
          <p:nvPr/>
        </p:nvSpPr>
        <p:spPr>
          <a:xfrm>
            <a:off x="8229600" y="3209544"/>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The three modes of prakṛti — sattva, rajas, tamas</a:t>
            </a:r>
            <a:endParaRPr lang="en-US" sz="1100" dirty="0"/>
          </a:p>
        </p:txBody>
      </p:sp>
      <p:sp>
        <p:nvSpPr>
          <p:cNvPr id="17" name="Shape 15"/>
          <p:cNvSpPr/>
          <p:nvPr/>
        </p:nvSpPr>
        <p:spPr>
          <a:xfrm>
            <a:off x="548640" y="3616452"/>
            <a:ext cx="164592" cy="164592"/>
          </a:xfrm>
          <a:prstGeom prst="ellipse">
            <a:avLst/>
          </a:prstGeom>
          <a:solidFill>
            <a:srgbClr val="7B8D2E"/>
          </a:solidFill>
          <a:ln w="12700">
            <a:solidFill>
              <a:srgbClr val="7B8D2E"/>
            </a:solidFill>
            <a:prstDash val="solid"/>
          </a:ln>
        </p:spPr>
      </p:sp>
      <p:sp>
        <p:nvSpPr>
          <p:cNvPr id="18" name="Text 16"/>
          <p:cNvSpPr/>
          <p:nvPr/>
        </p:nvSpPr>
        <p:spPr>
          <a:xfrm>
            <a:off x="822960" y="3538728"/>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Yoga</a:t>
            </a:r>
            <a:endParaRPr lang="en-US" sz="1300" dirty="0"/>
          </a:p>
        </p:txBody>
      </p:sp>
      <p:sp>
        <p:nvSpPr>
          <p:cNvPr id="19" name="Text 17"/>
          <p:cNvSpPr/>
          <p:nvPr/>
        </p:nvSpPr>
        <p:spPr>
          <a:xfrm>
            <a:off x="2514600" y="3538728"/>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Paths — karma, jñāna, bhakti, dhyāna, sannyāsa</a:t>
            </a:r>
            <a:endParaRPr lang="en-US" sz="1100" dirty="0"/>
          </a:p>
        </p:txBody>
      </p:sp>
      <p:sp>
        <p:nvSpPr>
          <p:cNvPr id="20" name="Shape 18"/>
          <p:cNvSpPr/>
          <p:nvPr/>
        </p:nvSpPr>
        <p:spPr>
          <a:xfrm>
            <a:off x="6263640" y="3616452"/>
            <a:ext cx="164592" cy="164592"/>
          </a:xfrm>
          <a:prstGeom prst="ellipse">
            <a:avLst/>
          </a:prstGeom>
          <a:solidFill>
            <a:srgbClr val="3F7A4A"/>
          </a:solidFill>
          <a:ln w="12700">
            <a:solidFill>
              <a:srgbClr val="3F7A4A"/>
            </a:solidFill>
            <a:prstDash val="solid"/>
          </a:ln>
        </p:spPr>
      </p:sp>
      <p:sp>
        <p:nvSpPr>
          <p:cNvPr id="21" name="Text 19"/>
          <p:cNvSpPr/>
          <p:nvPr/>
        </p:nvSpPr>
        <p:spPr>
          <a:xfrm>
            <a:off x="6537960" y="3538728"/>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Sādhanā</a:t>
            </a:r>
            <a:endParaRPr lang="en-US" sz="1300" dirty="0"/>
          </a:p>
        </p:txBody>
      </p:sp>
      <p:sp>
        <p:nvSpPr>
          <p:cNvPr id="22" name="Text 20"/>
          <p:cNvSpPr/>
          <p:nvPr/>
        </p:nvSpPr>
        <p:spPr>
          <a:xfrm>
            <a:off x="8229600" y="3538728"/>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Practices — śraddhā, vairāgya, yajña, tapas, tyāga</a:t>
            </a:r>
            <a:endParaRPr lang="en-US" sz="1100" dirty="0"/>
          </a:p>
        </p:txBody>
      </p:sp>
      <p:sp>
        <p:nvSpPr>
          <p:cNvPr id="23" name="Shape 21"/>
          <p:cNvSpPr/>
          <p:nvPr/>
        </p:nvSpPr>
        <p:spPr>
          <a:xfrm>
            <a:off x="548640" y="3945636"/>
            <a:ext cx="164592" cy="164592"/>
          </a:xfrm>
          <a:prstGeom prst="ellipse">
            <a:avLst/>
          </a:prstGeom>
          <a:solidFill>
            <a:srgbClr val="2F6E7A"/>
          </a:solidFill>
          <a:ln w="12700">
            <a:solidFill>
              <a:srgbClr val="2F6E7A"/>
            </a:solidFill>
            <a:prstDash val="solid"/>
          </a:ln>
        </p:spPr>
      </p:sp>
      <p:sp>
        <p:nvSpPr>
          <p:cNvPr id="24" name="Text 22"/>
          <p:cNvSpPr/>
          <p:nvPr/>
        </p:nvSpPr>
        <p:spPr>
          <a:xfrm>
            <a:off x="822960" y="3867912"/>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Antaḥkaraṇa</a:t>
            </a:r>
            <a:endParaRPr lang="en-US" sz="1300" dirty="0"/>
          </a:p>
        </p:txBody>
      </p:sp>
      <p:sp>
        <p:nvSpPr>
          <p:cNvPr id="25" name="Text 23"/>
          <p:cNvSpPr/>
          <p:nvPr/>
        </p:nvSpPr>
        <p:spPr>
          <a:xfrm>
            <a:off x="2514600" y="3867912"/>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Inner instrument — manas, buddhi, ahaṅkāra, indriyas</a:t>
            </a:r>
            <a:endParaRPr lang="en-US" sz="1100" dirty="0"/>
          </a:p>
        </p:txBody>
      </p:sp>
      <p:sp>
        <p:nvSpPr>
          <p:cNvPr id="26" name="Shape 24"/>
          <p:cNvSpPr/>
          <p:nvPr/>
        </p:nvSpPr>
        <p:spPr>
          <a:xfrm>
            <a:off x="6263640" y="3945636"/>
            <a:ext cx="164592" cy="164592"/>
          </a:xfrm>
          <a:prstGeom prst="ellipse">
            <a:avLst/>
          </a:prstGeom>
          <a:solidFill>
            <a:srgbClr val="3A4A7A"/>
          </a:solidFill>
          <a:ln w="12700">
            <a:solidFill>
              <a:srgbClr val="3A4A7A"/>
            </a:solidFill>
            <a:prstDash val="solid"/>
          </a:ln>
        </p:spPr>
      </p:sp>
      <p:sp>
        <p:nvSpPr>
          <p:cNvPr id="27" name="Text 25"/>
          <p:cNvSpPr/>
          <p:nvPr/>
        </p:nvSpPr>
        <p:spPr>
          <a:xfrm>
            <a:off x="6537960" y="3867912"/>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Dharma</a:t>
            </a:r>
            <a:endParaRPr lang="en-US" sz="1300" dirty="0"/>
          </a:p>
        </p:txBody>
      </p:sp>
      <p:sp>
        <p:nvSpPr>
          <p:cNvPr id="28" name="Text 26"/>
          <p:cNvSpPr/>
          <p:nvPr/>
        </p:nvSpPr>
        <p:spPr>
          <a:xfrm>
            <a:off x="8229600" y="3867912"/>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Ethics — svadharma, niṣkāma-karma, sthita-prajña</a:t>
            </a:r>
            <a:endParaRPr lang="en-US" sz="1100" dirty="0"/>
          </a:p>
        </p:txBody>
      </p:sp>
      <p:sp>
        <p:nvSpPr>
          <p:cNvPr id="29" name="Shape 27"/>
          <p:cNvSpPr/>
          <p:nvPr/>
        </p:nvSpPr>
        <p:spPr>
          <a:xfrm>
            <a:off x="548640" y="4274820"/>
            <a:ext cx="164592" cy="164592"/>
          </a:xfrm>
          <a:prstGeom prst="ellipse">
            <a:avLst/>
          </a:prstGeom>
          <a:solidFill>
            <a:srgbClr val="5A3E6A"/>
          </a:solidFill>
          <a:ln w="12700">
            <a:solidFill>
              <a:srgbClr val="5A3E6A"/>
            </a:solidFill>
            <a:prstDash val="solid"/>
          </a:ln>
        </p:spPr>
      </p:sp>
      <p:sp>
        <p:nvSpPr>
          <p:cNvPr id="30" name="Text 28"/>
          <p:cNvSpPr/>
          <p:nvPr/>
        </p:nvSpPr>
        <p:spPr>
          <a:xfrm>
            <a:off x="822960" y="4197096"/>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Doṣa</a:t>
            </a:r>
            <a:endParaRPr lang="en-US" sz="1300" dirty="0"/>
          </a:p>
        </p:txBody>
      </p:sp>
      <p:sp>
        <p:nvSpPr>
          <p:cNvPr id="31" name="Text 29"/>
          <p:cNvSpPr/>
          <p:nvPr/>
        </p:nvSpPr>
        <p:spPr>
          <a:xfrm>
            <a:off x="2514600" y="4197096"/>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Defects — kāma, krodha, lobha, moha, asat-saṅga</a:t>
            </a:r>
            <a:endParaRPr lang="en-US" sz="1100" dirty="0"/>
          </a:p>
        </p:txBody>
      </p:sp>
      <p:sp>
        <p:nvSpPr>
          <p:cNvPr id="32" name="Shape 30"/>
          <p:cNvSpPr/>
          <p:nvPr/>
        </p:nvSpPr>
        <p:spPr>
          <a:xfrm>
            <a:off x="6263640" y="4274820"/>
            <a:ext cx="164592" cy="164592"/>
          </a:xfrm>
          <a:prstGeom prst="ellipse">
            <a:avLst/>
          </a:prstGeom>
          <a:solidFill>
            <a:srgbClr val="7A1E5A"/>
          </a:solidFill>
          <a:ln w="12700">
            <a:solidFill>
              <a:srgbClr val="7A1E5A"/>
            </a:solidFill>
            <a:prstDash val="solid"/>
          </a:ln>
        </p:spPr>
      </p:sp>
      <p:sp>
        <p:nvSpPr>
          <p:cNvPr id="33" name="Text 31"/>
          <p:cNvSpPr/>
          <p:nvPr/>
        </p:nvSpPr>
        <p:spPr>
          <a:xfrm>
            <a:off x="6537960" y="4197096"/>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Phala</a:t>
            </a:r>
            <a:endParaRPr lang="en-US" sz="1300" dirty="0"/>
          </a:p>
        </p:txBody>
      </p:sp>
      <p:sp>
        <p:nvSpPr>
          <p:cNvPr id="34" name="Text 32"/>
          <p:cNvSpPr/>
          <p:nvPr/>
        </p:nvSpPr>
        <p:spPr>
          <a:xfrm>
            <a:off x="8229600" y="4197096"/>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Goals &amp; states — mokṣa, paramagati, brāhmī-sthiti</a:t>
            </a:r>
            <a:endParaRPr lang="en-US" sz="1100" dirty="0"/>
          </a:p>
        </p:txBody>
      </p:sp>
      <p:sp>
        <p:nvSpPr>
          <p:cNvPr id="35" name="Shape 33"/>
          <p:cNvSpPr/>
          <p:nvPr/>
        </p:nvSpPr>
        <p:spPr>
          <a:xfrm>
            <a:off x="548640" y="4604004"/>
            <a:ext cx="164592" cy="164592"/>
          </a:xfrm>
          <a:prstGeom prst="ellipse">
            <a:avLst/>
          </a:prstGeom>
          <a:solidFill>
            <a:srgbClr val="6A2E2E"/>
          </a:solidFill>
          <a:ln w="12700">
            <a:solidFill>
              <a:srgbClr val="6A2E2E"/>
            </a:solidFill>
            <a:prstDash val="solid"/>
          </a:ln>
        </p:spPr>
      </p:sp>
      <p:sp>
        <p:nvSpPr>
          <p:cNvPr id="36" name="Text 34"/>
          <p:cNvSpPr/>
          <p:nvPr/>
        </p:nvSpPr>
        <p:spPr>
          <a:xfrm>
            <a:off x="822960" y="4526280"/>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Yajña</a:t>
            </a:r>
            <a:endParaRPr lang="en-US" sz="1300" dirty="0"/>
          </a:p>
        </p:txBody>
      </p:sp>
      <p:sp>
        <p:nvSpPr>
          <p:cNvPr id="37" name="Text 35"/>
          <p:cNvSpPr/>
          <p:nvPr/>
        </p:nvSpPr>
        <p:spPr>
          <a:xfrm>
            <a:off x="2514600" y="4526280"/>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Sacrifice varieties — dravya, tapo, jñāna, svādhyāya</a:t>
            </a:r>
            <a:endParaRPr lang="en-US" sz="1100" dirty="0"/>
          </a:p>
        </p:txBody>
      </p:sp>
      <p:sp>
        <p:nvSpPr>
          <p:cNvPr id="38" name="Shape 36"/>
          <p:cNvSpPr/>
          <p:nvPr/>
        </p:nvSpPr>
        <p:spPr>
          <a:xfrm>
            <a:off x="6263640" y="4604004"/>
            <a:ext cx="164592" cy="164592"/>
          </a:xfrm>
          <a:prstGeom prst="ellipse">
            <a:avLst/>
          </a:prstGeom>
          <a:solidFill>
            <a:srgbClr val="3E3A32"/>
          </a:solidFill>
          <a:ln w="12700">
            <a:solidFill>
              <a:srgbClr val="3E3A32"/>
            </a:solidFill>
            <a:prstDash val="solid"/>
          </a:ln>
        </p:spPr>
      </p:sp>
      <p:sp>
        <p:nvSpPr>
          <p:cNvPr id="39" name="Text 37"/>
          <p:cNvSpPr/>
          <p:nvPr/>
        </p:nvSpPr>
        <p:spPr>
          <a:xfrm>
            <a:off x="6537960" y="4526280"/>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Pratīka</a:t>
            </a:r>
            <a:endParaRPr lang="en-US" sz="1300" dirty="0"/>
          </a:p>
        </p:txBody>
      </p:sp>
      <p:sp>
        <p:nvSpPr>
          <p:cNvPr id="40" name="Text 38"/>
          <p:cNvSpPr/>
          <p:nvPr/>
        </p:nvSpPr>
        <p:spPr>
          <a:xfrm>
            <a:off x="8229600" y="4526280"/>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Symbols &amp; metaphors — aśvattha, ratha, praṇava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B1E1A"/>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Paramārtha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Ultimate reality. The Gītā's topmost concept is not an impersonal absolute but Hari — Viṣṇu, the puruṣottama who stands beyond the kṣara (perishable jīvas) and the akṣara (the kūṭastha, Lakṣmī). Krishna names this in Ch 15 with the puruṣottama-yoga.</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8B1E1A"/>
          </a:solidFill>
          <a:ln w="12700">
            <a:solidFill>
              <a:srgbClr val="8B1E1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Brahman — the Supreme</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8.3 · 14.27 · 15.18</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For Madhva, Brahman names Viṣṇu/Nārāyaṇa alone — sarvottama, the puruṣottama beyond kṣara and akṣara. Not a generic 'absolute'.</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8B1E1A"/>
          </a:solidFill>
          <a:ln w="12700">
            <a:solidFill>
              <a:srgbClr val="8B1E1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Paramātman — the indweller</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13.22 · 15.17</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The 'highest Self' standing in every body as the witness, sustainer, ordainer. Distinct from jīva (BG 15.17).</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8B1E1A"/>
          </a:solidFill>
          <a:ln w="12700">
            <a:solidFill>
              <a:srgbClr val="8B1E1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Puruṣottama — the supreme person</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15.18–19</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Krishna's self-designation as the puruṣa beyond the perishable and the imperishable. The hermeneutic center of Ch 15.</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8B1E1A"/>
          </a:solidFill>
          <a:ln w="12700">
            <a:solidFill>
              <a:srgbClr val="8B1E1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imperishable puruṣa</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15.16</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The kūṭa-stha — for Madhva, Lakṣmī, the eternally-liberated jīva-gaṇa-mukhya. Sarvottama after Hari.</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A83F1A"/>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Tattva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Metaphysical categories. The aparā prakṛti (eightfold material nature) and the parā prakṛti (jīva-bhūtā) lay out reality. Time, action, and svabhāva sit alongside them. Madhva keeps every category as a real, distinct ontological item — never collapsed into one Brahman.</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A83F1A"/>
          </a:solidFill>
          <a:ln w="12700">
            <a:solidFill>
              <a:srgbClr val="A83F1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embodied self</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15.7</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An eternal aṃśa of Hari (BG 15.7) — real, distinct, plural, never merged with Brahman. Bound by avidyā until released.</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A83F1A"/>
          </a:solidFill>
          <a:ln w="12700">
            <a:solidFill>
              <a:srgbClr val="A83F1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Material nature</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7.4–5 · 9.10</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Hari's own lower nature — eightfold: earth, water, fire, air, ether, manas, buddhi, ahaṅkāra. The womb of all forms.</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A83F1A"/>
          </a:solidFill>
          <a:ln w="12700">
            <a:solidFill>
              <a:srgbClr val="A83F1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Innate nature</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5.14 · 8.3 · 18.41</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Each jīva has a beginningless intrinsic nature (sva-rūpa-yogyatā in Madhva). Determines varṇa, capacities, and ultimate destination.</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A83F1A"/>
          </a:solidFill>
          <a:ln w="12700">
            <a:solidFill>
              <a:srgbClr val="A83F1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Lord as ordainer</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18.61</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Hari as antaryāmī — stands in every heart and directs (yantra-ārūḍha-māyā) the jīvas as if mounted on a machine.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B8702A"/>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Kṣetra-Kṣetrajña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Field &amp; field-knower. The body is the field (kṣetra); the jīva inside it is the knower (kṣetrajña); and within every body Krishna himself stands as the highest kṣetrajña. The 24 elements of kṣetra and their seven vikāras are laid out in Ch 13.</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B8702A"/>
          </a:solidFill>
          <a:ln w="12700">
            <a:solidFill>
              <a:srgbClr val="B8702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field-knower</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13.2</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The witness who knows the field. Krishna: 'kṣetrajñaṃ cāpi māṃ viddhi sarva-kṣetreṣu bhārata' — Hari is the highest kṣetrajña.</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B8702A"/>
          </a:solidFill>
          <a:ln w="12700">
            <a:solidFill>
              <a:srgbClr val="B8702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field (body)</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13.1 · 13.5–6</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This body, with its 24 elements (mahābhūtas, ahaṅkāra, buddhi, avyakta, indriyas, mind, viṣayas, will, dveṣa, sukha, duḥkha, saṅghāta, cetanā, dhṛti).</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B8702A"/>
          </a:solidFill>
          <a:ln w="12700">
            <a:solidFill>
              <a:srgbClr val="B8702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five gross elements</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13.5</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Earth, water, fire, air, ether — first five of the 24 kṣetra constituents.</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B8702A"/>
          </a:solidFill>
          <a:ln w="12700">
            <a:solidFill>
              <a:srgbClr val="B8702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unmanifest</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13.5 · 8.18</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Mūla-prakṛti before evolutes. From it emerge mahat, ahaṅkāra, and the tanmātras.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C69E2A"/>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Guṇa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The three modes of prakṛti — sattva (clarity, knowledge), rajas (passion, action), tamas (inertia, delusion). Chapters 14, 17, 18 trace every action, food, sacrifice and knowledge back to its guṇa. Liberation is described as guṇātīta — going beyond all three.</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C69E2A"/>
          </a:solidFill>
          <a:ln w="12700">
            <a:solidFill>
              <a:srgbClr val="C69E2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Mode of clarity</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14.6 · 14.11</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Light, luminous, healthful — binds the jīva through attachment to happiness and knowledge. Predominates in the wise.</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C69E2A"/>
          </a:solidFill>
          <a:ln w="12700">
            <a:solidFill>
              <a:srgbClr val="C69E2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Mode of passion</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14.7 · 14.12</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Of the nature of craving and attachment; born of thirst (tṛṣṇā) and clinging (saṅga). Drives ceaseless action.</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C69E2A"/>
          </a:solidFill>
          <a:ln w="12700">
            <a:solidFill>
              <a:srgbClr val="C69E2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Mode of darkness</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14.8 · 14.13</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Born of ajñāna — deludes all embodied beings; binds through negligence, indolence, sleep.</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C69E2A"/>
          </a:solidFill>
          <a:ln w="12700">
            <a:solidFill>
              <a:srgbClr val="C69E2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Beyond the guṇas</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14.22–25</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One in whom no guṇa-impulse arises by attachment; treats friend and foe alike; abandons all undertakings.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7B8D2E"/>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Yoga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The paths. Karma-yoga (selfless action), jñāna-yoga (knowledge), bhakti-yoga (devotion), dhyāna-yoga (meditation), sannyāsa (renunciation). For Madhva, bhakti is not one path among others — it is the indispensable means and a constituent of mokṣa itself.</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7B8D2E"/>
          </a:solidFill>
          <a:ln w="12700">
            <a:solidFill>
              <a:srgbClr val="7B8D2E"/>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Path of devotion</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9.22 · 11.54 · 18.55</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Loving knowledge of Hari that exceeds all other knowledge. For Madhva, bhakti is sthira-jñāna-pūrvika-prema — the indispensable cause of mokṣa.</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7B8D2E"/>
          </a:solidFill>
          <a:ln w="12700">
            <a:solidFill>
              <a:srgbClr val="7B8D2E"/>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Self-surrender to Hari</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18.66</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'sarva-dharmān parityajya mām ekaṃ śaraṇaṃ vraja' — the closing teaching. Total taking-of-refuge in Hari, who then absolves all sin.</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7B8D2E"/>
          </a:solidFill>
          <a:ln w="12700">
            <a:solidFill>
              <a:srgbClr val="7B8D2E"/>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Path of selfless action</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3.3 · 3.19 · 5.2</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Doing one's duty as an offering to Hari, surrendering all fruits. The path Krishna prescribes most often to Arjuna.</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7B8D2E"/>
          </a:solidFill>
          <a:ln w="12700">
            <a:solidFill>
              <a:srgbClr val="7B8D2E"/>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Path of discriminative knowledge</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3.3 · 4.33–38</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Knowing Hari as supreme, jīva as His aṃśa, world as His dependent reality. The means for the qualified.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3F7A4A"/>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Sādhanā</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Practices. Śraddhā (faith), vairāgya (dispassion), abhyāsa (steady practice), tapas, dāna, satsaṅga, japa, smaraṇa, śaraṇāgati. The Gītā treats these not as one's own doing but as means appointed by the Lord through which grace flows.</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3F7A4A"/>
          </a:solidFill>
          <a:ln w="12700">
            <a:solidFill>
              <a:srgbClr val="3F7A4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Faith</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17.2–3</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Faith follows one's nature; one is what one's faith is. Threefold by guṇa — sāttvika in gods, rājasa in yakṣas, tāmasa in spirits.</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3F7A4A"/>
          </a:solidFill>
          <a:ln w="12700">
            <a:solidFill>
              <a:srgbClr val="3F7A4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Dispassion</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6.35 · 13.8–11</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Detachment from sense-objects — not life-rejection but the seeing-through of binding attractions.</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3F7A4A"/>
          </a:solidFill>
          <a:ln w="12700">
            <a:solidFill>
              <a:srgbClr val="3F7A4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Repeated practice</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6.26 · 12.9</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The 'samādhi-abhyāsa' — bringing back the wandering mind, again and again, to Hari.</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3F7A4A"/>
          </a:solidFill>
          <a:ln w="12700">
            <a:solidFill>
              <a:srgbClr val="3F7A4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Austerity (3-fold)</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17.14–19</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Tapas of body (worship/cleanliness/celibacy), of speech (truth/kindness/study), of mind (serenity/silence/self-control). All threefold by guṇa.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2F6E7A"/>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Antaḥkaraṇa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The inner instrument. Manas, buddhi, ahaṅkāra plus the eleven indriyas — sensory and motor. Krishna teaches their command in Ch 6 (saṃyama) and the danger of dragged indriyas in Ch 2.67.</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2F6E7A"/>
          </a:solidFill>
          <a:ln w="12700">
            <a:solidFill>
              <a:srgbClr val="2F6E7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Indweller — Hari within</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18.61</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'īśvaraḥ sarva-bhūtānāṃ hṛd-deśe tiṣṭhati' — the Lord stands in the heart of every being, directing them.</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2F6E7A"/>
          </a:solidFill>
          <a:ln w="12700">
            <a:solidFill>
              <a:srgbClr val="2F6E7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Mind</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6.34–35 · 3.6–7</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The eleventh indriya. Restless, turbulent, hard to subdue — but Krishna affirms it is conquerable by abhyāsa and vairāgya.</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2F6E7A"/>
          </a:solidFill>
          <a:ln w="12700">
            <a:solidFill>
              <a:srgbClr val="2F6E7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Discriminating intellect</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18.30–32</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That faculty which discriminates duty from non-duty, what to do from what not to do. Sāttvika buddhi knows pravṛtti and nivṛtti.</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2F6E7A"/>
          </a:solidFill>
          <a:ln w="12700">
            <a:solidFill>
              <a:srgbClr val="2F6E7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I-maker</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3.27 · 7.4</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The sense of being the doer. 'kartāham iti manyate' — when the puruṣa is bewildered by ahaṅkāra he thinks himself the agent.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3A4A7A"/>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Dharma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Ethics. Svadharma (one's own duty), niṣkāma-karma (action without attachment to fruit), sthita-prajña (the established intellect), abhaya, ahiṃsā, sama-darśana. Dharma is not abandoned for mokṣa — it is the road to it.</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3A4A7A"/>
          </a:solidFill>
          <a:ln w="12700">
            <a:solidFill>
              <a:srgbClr val="3A4A7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One's own duty</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3.35 · 18.47</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'better one's own dharma poorly done than another's well done' — performing the duty arising from one's svabhāva.</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3A4A7A"/>
          </a:solidFill>
          <a:ln w="12700">
            <a:solidFill>
              <a:srgbClr val="3A4A7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Duties by intrinsic nature</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4.13 · 18.41–44</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Brāhmaṇa, kṣatriya, vaiśya, śūdra — duties arising from guṇa-karma-vibhāga. Madhva: rooted in eternal sva-rūpa-yogyatā.</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3A4A7A"/>
          </a:solidFill>
          <a:ln w="12700">
            <a:solidFill>
              <a:srgbClr val="3A4A7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Desireless action</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2.47 · 4.20</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Action performed without desire for its result. The signature ethical demand of the BG.</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3A4A7A"/>
          </a:solidFill>
          <a:ln w="12700">
            <a:solidFill>
              <a:srgbClr val="3A4A7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One of steady wisdom</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2.55–72</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Indifferent to pleasure and pain, free of attachment, fear, anger; senses fully withdrawn. Closing portrait of Ch 2.</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5A3E6A"/>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Doṣa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Defects. Kāma (desire), krodha (anger), lobha (greed) — the threefold gate to hell (16.21). Moha, ahaṅkāra-mamatā, asat-saṅga, asurī-sampad. The Gītā maps each doṣa with its arising-from cause and its antidote.</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5A3E6A"/>
          </a:solidFill>
          <a:ln w="12700">
            <a:solidFill>
              <a:srgbClr val="5A3E6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Demonic endowment</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16.4 · 16.7–20</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Hypocrisy, arrogance, conceit, anger, harshness, ignorance — the inverse of divine endowment. Leads to bondage.</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5A3E6A"/>
          </a:solidFill>
          <a:ln w="12700">
            <a:solidFill>
              <a:srgbClr val="5A3E6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Desire</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3.37–39</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'this is the enemy here, born of rajas, all-devouring, greatly sinful' — Krishna names kāma as the primary foe.</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5A3E6A"/>
          </a:solidFill>
          <a:ln w="12700">
            <a:solidFill>
              <a:srgbClr val="5A3E6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Anger</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2.62–63 · 3.37</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From kāma-vighāta (blocked desire) arises krodha; from krodha, delusion; from delusion, loss of memory.</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5A3E6A"/>
          </a:solidFill>
          <a:ln w="12700">
            <a:solidFill>
              <a:srgbClr val="5A3E6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Greed</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16.21</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One of the three gates of hell, alongside kāma and krodha. To be abandoned at the threshold of the path.</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7A1E5A"/>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Phala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Goals &amp; states. Mokṣa, paramā-gati, brāhmī-sthiti, the four mukti-gradations (sālokya, sāmīpya, sārūpya, sāyujya). For Madhva, mokṣa is real but tāratamya-graded — not undifferentiated bliss.</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7A1E5A"/>
          </a:solidFill>
          <a:ln w="12700">
            <a:solidFill>
              <a:srgbClr val="7A1E5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Liberation</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5.24–26 · 18.66</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Release from saṃsāra into Hari's eternal presence. For Madhva: gradations of mokṣa (sālokya, sārṣṭi, sāmīpya, sārūpya, sāyujya).</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7A1E5A"/>
          </a:solidFill>
          <a:ln w="12700">
            <a:solidFill>
              <a:srgbClr val="7A1E5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Fruit of surrender</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18.66</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'I will release you from all sins; do not grieve' — Krishna's guarantee at 18.66. For Madhva, the crown of the Gītā.</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7A1E5A"/>
          </a:solidFill>
          <a:ln w="12700">
            <a:solidFill>
              <a:srgbClr val="7A1E5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Co-residence in Hari's world</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8.21 · 15.6</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First grade of mokṣa: dwelling in the same loka as Hari (Vaikuṇṭha) — but not yet in His proximity.</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7A1E5A"/>
          </a:solidFill>
          <a:ln w="12700">
            <a:solidFill>
              <a:srgbClr val="7A1E5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Nearness to Hari</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11.55</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Second grade: proximity to Hari in His own abode. Beyond sālokya, not yet sārūpya.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6A2E2E"/>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Yajña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Sacrifice. Dravya-yajña (substance offering), tapo-yajña, jñāna-yajña, svādhyāya-yajña, prāṇāyāma-yajña, indriya-saṃyama. Ch 4 turns every action into yajña when offered to Hari.</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6A2E2E"/>
          </a:solidFill>
          <a:ln w="12700">
            <a:solidFill>
              <a:srgbClr val="6A2E2E"/>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Sacrifice of substance</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4.28</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Offering material wealth — first of Krishna's catalogue of yajñas at BG 4.28.</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6A2E2E"/>
          </a:solidFill>
          <a:ln w="12700">
            <a:solidFill>
              <a:srgbClr val="6A2E2E"/>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Sacrifice of austerity</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4.28</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Offering one's tapas — bodily, vocal, mental austerities — as worship.</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6A2E2E"/>
          </a:solidFill>
          <a:ln w="12700">
            <a:solidFill>
              <a:srgbClr val="6A2E2E"/>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Sacrifice of yoga</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4.28–30</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Offering one's yogic discipline — prāṇa-apāna control, eightfold yoga — as worship of Hari.</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6A2E2E"/>
          </a:solidFill>
          <a:ln w="12700">
            <a:solidFill>
              <a:srgbClr val="6A2E2E"/>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Sacrifice of study &amp; knowledge</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4.28</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Recitation of scripture together with the knowledge it discloses — the highest verbal yajña.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3E3A32"/>
                </a:solidFill>
                <a:latin typeface="Cormorant Garamond" pitchFamily="34" charset="0"/>
                <a:ea typeface="Cormorant Garamond" pitchFamily="34" charset="-122"/>
                <a:cs typeface="Cormorant Garamond" pitchFamily="34" charset="-120"/>
              </a:rPr>
              <a:t>A NARRATIVE TOUR OF THE TIER</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Pratīka</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Symbols &amp; metaphors. Aśvattha (the inverted world-tree, Ch 15), ratha (the body-chariot — implicit from Kaṭha), praṇava (oṃ), gītā-māhātmya, vibhūti. The image-language through which abstract tattva enters the heart.</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3E3A32"/>
          </a:solidFill>
          <a:ln w="12700">
            <a:solidFill>
              <a:srgbClr val="3E3A32"/>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inverted fig-tree</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15.1–3</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Roots above (Hari), branches below (the worlds); fed by the guṇas, sprouting sense-objects. Cut it with the axe of non-attachment.</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3E3A32"/>
          </a:solidFill>
          <a:ln w="12700">
            <a:solidFill>
              <a:srgbClr val="3E3A32"/>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chariot allegory</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1.21–25 · 18.78</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Implied throughout Ch 1–2: Krishna the sārathi (charioteer), Arjuna the rathin (warrior on the chariot). Echo of Kaṭha Up.</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3E3A32"/>
          </a:solidFill>
          <a:ln w="12700">
            <a:solidFill>
              <a:srgbClr val="3E3A32"/>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The syllable Om</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8.13 · 17.23</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'oṃ ity ekākṣaraṃ brahma' — uttering Om at the moment of death, remembering Hari, one attains the supreme.</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3E3A32"/>
          </a:solidFill>
          <a:ln w="12700">
            <a:solidFill>
              <a:srgbClr val="3E3A32"/>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Cormorant Garamond" pitchFamily="34" charset="0"/>
                <a:ea typeface="Cormorant Garamond" pitchFamily="34" charset="-122"/>
                <a:cs typeface="Cormorant Garamond" pitchFamily="34" charset="-120"/>
              </a:rPr>
              <a:t>'I am the letter A'</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10.33</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Cormorant Garamond" pitchFamily="34" charset="0"/>
                <a:ea typeface="Cormorant Garamond" pitchFamily="34" charset="-122"/>
                <a:cs typeface="Cormorant Garamond" pitchFamily="34" charset="-120"/>
              </a:rPr>
              <a:t>Among letters, Krishna says, 'I am A' — the source of all phonemes; among compounds, the dvandva.</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Cormorant Garamond" pitchFamily="34" charset="0"/>
                <a:ea typeface="Cormorant Garamond" pitchFamily="34" charset="-122"/>
                <a:cs typeface="Cormorant Garamond" pitchFamily="34" charset="-120"/>
              </a:rPr>
              <a:t>15</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Edge vocabulary</a:t>
            </a:r>
            <a:endParaRPr lang="en-US" sz="3000" dirty="0"/>
          </a:p>
        </p:txBody>
      </p:sp>
      <p:sp>
        <p:nvSpPr>
          <p:cNvPr id="4" name="Text 2"/>
          <p:cNvSpPr/>
          <p:nvPr/>
        </p:nvSpPr>
        <p:spPr>
          <a:xfrm>
            <a:off x="548640" y="1600200"/>
            <a:ext cx="10972800" cy="502920"/>
          </a:xfrm>
          <a:prstGeom prst="rect">
            <a:avLst/>
          </a:prstGeom>
          <a:noFill/>
          <a:ln/>
        </p:spPr>
        <p:txBody>
          <a:bodyPr wrap="square" lIns="0" tIns="0" rIns="0" bIns="0" rtlCol="0" anchor="t"/>
          <a:lstStyle/>
          <a:p>
            <a:pPr algn="l" indent="0" marL="0">
              <a:buNone/>
            </a:pPr>
            <a:r>
              <a:rPr lang="en-US" sz="1400" i="1" dirty="0">
                <a:solidFill>
                  <a:srgbClr val="5A4632"/>
                </a:solidFill>
                <a:latin typeface="Cormorant Garamond" pitchFamily="34" charset="0"/>
                <a:ea typeface="Cormorant Garamond" pitchFamily="34" charset="-122"/>
                <a:cs typeface="Cormorant Garamond" pitchFamily="34" charset="-120"/>
              </a:rPr>
              <a:t>Eight typed relations carry the structure of the Gītā's thought:</a:t>
            </a:r>
            <a:endParaRPr lang="en-US" sz="1400" dirty="0"/>
          </a:p>
        </p:txBody>
      </p:sp>
      <p:sp>
        <p:nvSpPr>
          <p:cNvPr id="5" name="Shape 3"/>
          <p:cNvSpPr/>
          <p:nvPr/>
        </p:nvSpPr>
        <p:spPr>
          <a:xfrm>
            <a:off x="548640" y="2350008"/>
            <a:ext cx="201168" cy="201168"/>
          </a:xfrm>
          <a:prstGeom prst="rect">
            <a:avLst/>
          </a:prstGeom>
          <a:solidFill>
            <a:srgbClr val="8B6914"/>
          </a:solidFill>
          <a:ln w="12700">
            <a:solidFill>
              <a:srgbClr val="8B6914"/>
            </a:solidFill>
            <a:prstDash val="solid"/>
          </a:ln>
        </p:spPr>
      </p:sp>
      <p:sp>
        <p:nvSpPr>
          <p:cNvPr id="6" name="Text 4"/>
          <p:cNvSpPr/>
          <p:nvPr/>
        </p:nvSpPr>
        <p:spPr>
          <a:xfrm>
            <a:off x="914400" y="22402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Cormorant Garamond" pitchFamily="34" charset="0"/>
                <a:ea typeface="Cormorant Garamond" pitchFamily="34" charset="-122"/>
                <a:cs typeface="Cormorant Garamond" pitchFamily="34" charset="-120"/>
              </a:rPr>
              <a:t>identity / membership — Brahman is-a paramātman</a:t>
            </a:r>
            <a:endParaRPr lang="en-US" sz="1250" dirty="0"/>
          </a:p>
        </p:txBody>
      </p:sp>
      <p:sp>
        <p:nvSpPr>
          <p:cNvPr id="7" name="Shape 5"/>
          <p:cNvSpPr/>
          <p:nvPr/>
        </p:nvSpPr>
        <p:spPr>
          <a:xfrm>
            <a:off x="6263640" y="2350008"/>
            <a:ext cx="201168" cy="201168"/>
          </a:xfrm>
          <a:prstGeom prst="rect">
            <a:avLst/>
          </a:prstGeom>
          <a:solidFill>
            <a:srgbClr val="3F7A4A"/>
          </a:solidFill>
          <a:ln w="12700">
            <a:solidFill>
              <a:srgbClr val="3F7A4A"/>
            </a:solidFill>
            <a:prstDash val="solid"/>
          </a:ln>
        </p:spPr>
      </p:sp>
      <p:sp>
        <p:nvSpPr>
          <p:cNvPr id="8" name="Text 6"/>
          <p:cNvSpPr/>
          <p:nvPr/>
        </p:nvSpPr>
        <p:spPr>
          <a:xfrm>
            <a:off x="6629400" y="22402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Cormorant Garamond" pitchFamily="34" charset="0"/>
                <a:ea typeface="Cormorant Garamond" pitchFamily="34" charset="-122"/>
                <a:cs typeface="Cormorant Garamond" pitchFamily="34" charset="-120"/>
              </a:rPr>
              <a:t>sādhana → phala — karma-yoga leads-to citta-śuddhi</a:t>
            </a:r>
            <a:endParaRPr lang="en-US" sz="1250" dirty="0"/>
          </a:p>
        </p:txBody>
      </p:sp>
      <p:sp>
        <p:nvSpPr>
          <p:cNvPr id="9" name="Shape 7"/>
          <p:cNvSpPr/>
          <p:nvPr/>
        </p:nvSpPr>
        <p:spPr>
          <a:xfrm>
            <a:off x="548640" y="2807208"/>
            <a:ext cx="201168" cy="201168"/>
          </a:xfrm>
          <a:prstGeom prst="rect">
            <a:avLst/>
          </a:prstGeom>
          <a:solidFill>
            <a:srgbClr val="7B8D2E"/>
          </a:solidFill>
          <a:ln w="12700">
            <a:solidFill>
              <a:srgbClr val="7B8D2E"/>
            </a:solidFill>
            <a:prstDash val="solid"/>
          </a:ln>
        </p:spPr>
      </p:sp>
      <p:sp>
        <p:nvSpPr>
          <p:cNvPr id="10" name="Text 8"/>
          <p:cNvSpPr/>
          <p:nvPr/>
        </p:nvSpPr>
        <p:spPr>
          <a:xfrm>
            <a:off x="914400" y="26974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Cormorant Garamond" pitchFamily="34" charset="0"/>
                <a:ea typeface="Cormorant Garamond" pitchFamily="34" charset="-122"/>
                <a:cs typeface="Cormorant Garamond" pitchFamily="34" charset="-120"/>
              </a:rPr>
              <a:t>cure for a doṣa — jñāna antidote-to ajñāna</a:t>
            </a:r>
            <a:endParaRPr lang="en-US" sz="1250" dirty="0"/>
          </a:p>
        </p:txBody>
      </p:sp>
      <p:sp>
        <p:nvSpPr>
          <p:cNvPr id="11" name="Shape 9"/>
          <p:cNvSpPr/>
          <p:nvPr/>
        </p:nvSpPr>
        <p:spPr>
          <a:xfrm>
            <a:off x="6263640" y="2807208"/>
            <a:ext cx="201168" cy="201168"/>
          </a:xfrm>
          <a:prstGeom prst="rect">
            <a:avLst/>
          </a:prstGeom>
          <a:solidFill>
            <a:srgbClr val="B85042"/>
          </a:solidFill>
          <a:ln w="12700">
            <a:solidFill>
              <a:srgbClr val="B85042"/>
            </a:solidFill>
            <a:prstDash val="solid"/>
          </a:ln>
        </p:spPr>
      </p:sp>
      <p:sp>
        <p:nvSpPr>
          <p:cNvPr id="12" name="Text 10"/>
          <p:cNvSpPr/>
          <p:nvPr/>
        </p:nvSpPr>
        <p:spPr>
          <a:xfrm>
            <a:off x="6629400" y="26974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Cormorant Garamond" pitchFamily="34" charset="0"/>
                <a:ea typeface="Cormorant Garamond" pitchFamily="34" charset="-122"/>
                <a:cs typeface="Cormorant Garamond" pitchFamily="34" charset="-120"/>
              </a:rPr>
              <a:t>causal genesis — krodha arises-from kāma</a:t>
            </a:r>
            <a:endParaRPr lang="en-US" sz="1250" dirty="0"/>
          </a:p>
        </p:txBody>
      </p:sp>
      <p:sp>
        <p:nvSpPr>
          <p:cNvPr id="13" name="Shape 11"/>
          <p:cNvSpPr/>
          <p:nvPr/>
        </p:nvSpPr>
        <p:spPr>
          <a:xfrm>
            <a:off x="548640" y="3264408"/>
            <a:ext cx="201168" cy="201168"/>
          </a:xfrm>
          <a:prstGeom prst="rect">
            <a:avLst/>
          </a:prstGeom>
          <a:solidFill>
            <a:srgbClr val="5A3E6A"/>
          </a:solidFill>
          <a:ln w="12700">
            <a:solidFill>
              <a:srgbClr val="5A3E6A"/>
            </a:solidFill>
            <a:prstDash val="solid"/>
          </a:ln>
        </p:spPr>
      </p:sp>
      <p:sp>
        <p:nvSpPr>
          <p:cNvPr id="14" name="Text 12"/>
          <p:cNvSpPr/>
          <p:nvPr/>
        </p:nvSpPr>
        <p:spPr>
          <a:xfrm>
            <a:off x="914400" y="31546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Cormorant Garamond" pitchFamily="34" charset="0"/>
                <a:ea typeface="Cormorant Garamond" pitchFamily="34" charset="-122"/>
                <a:cs typeface="Cormorant Garamond" pitchFamily="34" charset="-120"/>
              </a:rPr>
              <a:t>polar pair — sattva opposite-of tamas</a:t>
            </a:r>
            <a:endParaRPr lang="en-US" sz="1250" dirty="0"/>
          </a:p>
        </p:txBody>
      </p:sp>
      <p:sp>
        <p:nvSpPr>
          <p:cNvPr id="15" name="Shape 13"/>
          <p:cNvSpPr/>
          <p:nvPr/>
        </p:nvSpPr>
        <p:spPr>
          <a:xfrm>
            <a:off x="6263640" y="3264408"/>
            <a:ext cx="201168" cy="201168"/>
          </a:xfrm>
          <a:prstGeom prst="rect">
            <a:avLst/>
          </a:prstGeom>
          <a:solidFill>
            <a:srgbClr val="2F6E7A"/>
          </a:solidFill>
          <a:ln w="12700">
            <a:solidFill>
              <a:srgbClr val="2F6E7A"/>
            </a:solidFill>
            <a:prstDash val="solid"/>
          </a:ln>
        </p:spPr>
      </p:sp>
      <p:sp>
        <p:nvSpPr>
          <p:cNvPr id="16" name="Text 14"/>
          <p:cNvSpPr/>
          <p:nvPr/>
        </p:nvSpPr>
        <p:spPr>
          <a:xfrm>
            <a:off x="6629400" y="31546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Cormorant Garamond" pitchFamily="34" charset="0"/>
                <a:ea typeface="Cormorant Garamond" pitchFamily="34" charset="-122"/>
                <a:cs typeface="Cormorant Garamond" pitchFamily="34" charset="-120"/>
              </a:rPr>
              <a:t>whole-part — kṣetra includes mahābhūtas</a:t>
            </a:r>
            <a:endParaRPr lang="en-US" sz="1250" dirty="0"/>
          </a:p>
        </p:txBody>
      </p:sp>
      <p:sp>
        <p:nvSpPr>
          <p:cNvPr id="17" name="Shape 15"/>
          <p:cNvSpPr/>
          <p:nvPr/>
        </p:nvSpPr>
        <p:spPr>
          <a:xfrm>
            <a:off x="548640" y="3721608"/>
            <a:ext cx="201168" cy="201168"/>
          </a:xfrm>
          <a:prstGeom prst="rect">
            <a:avLst/>
          </a:prstGeom>
          <a:solidFill>
            <a:srgbClr val="3A4A7A"/>
          </a:solidFill>
          <a:ln w="12700">
            <a:solidFill>
              <a:srgbClr val="3A4A7A"/>
            </a:solidFill>
            <a:prstDash val="solid"/>
          </a:ln>
        </p:spPr>
      </p:sp>
      <p:sp>
        <p:nvSpPr>
          <p:cNvPr id="18" name="Text 16"/>
          <p:cNvSpPr/>
          <p:nvPr/>
        </p:nvSpPr>
        <p:spPr>
          <a:xfrm>
            <a:off x="914400" y="36118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Cormorant Garamond" pitchFamily="34" charset="0"/>
                <a:ea typeface="Cormorant Garamond" pitchFamily="34" charset="-122"/>
                <a:cs typeface="Cormorant Garamond" pitchFamily="34" charset="-120"/>
              </a:rPr>
              <a:t>depends on — kṣetrajña predicates-on kṣetra</a:t>
            </a:r>
            <a:endParaRPr lang="en-US" sz="1250" dirty="0"/>
          </a:p>
        </p:txBody>
      </p:sp>
      <p:sp>
        <p:nvSpPr>
          <p:cNvPr id="19" name="Shape 17"/>
          <p:cNvSpPr/>
          <p:nvPr/>
        </p:nvSpPr>
        <p:spPr>
          <a:xfrm>
            <a:off x="6263640" y="3721608"/>
            <a:ext cx="201168" cy="201168"/>
          </a:xfrm>
          <a:prstGeom prst="rect">
            <a:avLst/>
          </a:prstGeom>
          <a:solidFill>
            <a:srgbClr val="C69E2A"/>
          </a:solidFill>
          <a:ln w="12700">
            <a:solidFill>
              <a:srgbClr val="C69E2A"/>
            </a:solidFill>
            <a:prstDash val="solid"/>
          </a:ln>
        </p:spPr>
      </p:sp>
      <p:sp>
        <p:nvSpPr>
          <p:cNvPr id="20" name="Text 18"/>
          <p:cNvSpPr/>
          <p:nvPr/>
        </p:nvSpPr>
        <p:spPr>
          <a:xfrm>
            <a:off x="6629400" y="36118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Cormorant Garamond" pitchFamily="34" charset="0"/>
                <a:ea typeface="Cormorant Garamond" pitchFamily="34" charset="-122"/>
                <a:cs typeface="Cormorant Garamond" pitchFamily="34" charset="-120"/>
              </a:rPr>
              <a:t>modal shift — sattva transforms-into sāttvika-jñāna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Cormorant Garamond" pitchFamily="34" charset="0"/>
                <a:ea typeface="Cormorant Garamond" pitchFamily="34" charset="-122"/>
                <a:cs typeface="Cormorant Garamond" pitchFamily="34" charset="-120"/>
              </a:rPr>
              <a:t>16</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The map</a:t>
            </a:r>
            <a:endParaRPr lang="en-US" sz="3000" dirty="0"/>
          </a:p>
        </p:txBody>
      </p:sp>
      <p:sp>
        <p:nvSpPr>
          <p:cNvPr id="4" name="Text 2"/>
          <p:cNvSpPr/>
          <p:nvPr/>
        </p:nvSpPr>
        <p:spPr>
          <a:xfrm>
            <a:off x="548640" y="1600200"/>
            <a:ext cx="594360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Twelve horizontal bands — paramārtha at the top, pratīka at the bottom. Every node sits on its tier band, every edge is colored by its relation type. The structural shape of the Gītā's thought, seen from above.</a:t>
            </a:r>
            <a:endParaRPr lang="en-US" sz="1300" dirty="0"/>
          </a:p>
        </p:txBody>
      </p:sp>
      <p:sp>
        <p:nvSpPr>
          <p:cNvPr id="5" name="Shape 3"/>
          <p:cNvSpPr/>
          <p:nvPr/>
        </p:nvSpPr>
        <p:spPr>
          <a:xfrm>
            <a:off x="6903720" y="1600200"/>
            <a:ext cx="4754880" cy="4114800"/>
          </a:xfrm>
          <a:prstGeom prst="rect">
            <a:avLst/>
          </a:prstGeom>
          <a:solidFill>
            <a:srgbClr val="FBF5E6"/>
          </a:solidFill>
          <a:ln w="6350">
            <a:solidFill>
              <a:srgbClr val="C9B58A"/>
            </a:solidFill>
            <a:prstDash val="solid"/>
          </a:ln>
        </p:spPr>
      </p:sp>
      <p:sp>
        <p:nvSpPr>
          <p:cNvPr id="6" name="Text 4"/>
          <p:cNvSpPr/>
          <p:nvPr/>
        </p:nvSpPr>
        <p:spPr>
          <a:xfrm>
            <a:off x="6995160" y="1737360"/>
            <a:ext cx="1645920" cy="320040"/>
          </a:xfrm>
          <a:prstGeom prst="rect">
            <a:avLst/>
          </a:prstGeom>
          <a:noFill/>
          <a:ln/>
        </p:spPr>
        <p:txBody>
          <a:bodyPr wrap="square" lIns="0" tIns="0" rIns="0" bIns="0" rtlCol="0" anchor="ctr"/>
          <a:lstStyle/>
          <a:p>
            <a:pPr indent="0" marL="0">
              <a:buNone/>
            </a:pPr>
            <a:r>
              <a:rPr lang="en-US" sz="800" b="1" dirty="0">
                <a:solidFill>
                  <a:srgbClr val="8B1E1A"/>
                </a:solidFill>
                <a:latin typeface="Cormorant Garamond" pitchFamily="34" charset="0"/>
                <a:ea typeface="Cormorant Garamond" pitchFamily="34" charset="-122"/>
                <a:cs typeface="Cormorant Garamond" pitchFamily="34" charset="-120"/>
              </a:rPr>
              <a:t>Paramārtha</a:t>
            </a:r>
            <a:endParaRPr lang="en-US" sz="800" dirty="0"/>
          </a:p>
        </p:txBody>
      </p:sp>
      <p:sp>
        <p:nvSpPr>
          <p:cNvPr id="7" name="Shape 5"/>
          <p:cNvSpPr/>
          <p:nvPr/>
        </p:nvSpPr>
        <p:spPr>
          <a:xfrm>
            <a:off x="8686800" y="1842516"/>
            <a:ext cx="109728" cy="109728"/>
          </a:xfrm>
          <a:prstGeom prst="ellipse">
            <a:avLst/>
          </a:prstGeom>
          <a:solidFill>
            <a:srgbClr val="8B1E1A"/>
          </a:solidFill>
          <a:ln w="12700">
            <a:solidFill>
              <a:srgbClr val="8B1E1A"/>
            </a:solidFill>
            <a:prstDash val="solid"/>
          </a:ln>
        </p:spPr>
      </p:sp>
      <p:sp>
        <p:nvSpPr>
          <p:cNvPr id="8" name="Shape 6"/>
          <p:cNvSpPr/>
          <p:nvPr/>
        </p:nvSpPr>
        <p:spPr>
          <a:xfrm>
            <a:off x="8961120" y="1842516"/>
            <a:ext cx="109728" cy="109728"/>
          </a:xfrm>
          <a:prstGeom prst="ellipse">
            <a:avLst/>
          </a:prstGeom>
          <a:solidFill>
            <a:srgbClr val="8B1E1A"/>
          </a:solidFill>
          <a:ln w="12700">
            <a:solidFill>
              <a:srgbClr val="8B1E1A"/>
            </a:solidFill>
            <a:prstDash val="solid"/>
          </a:ln>
        </p:spPr>
      </p:sp>
      <p:sp>
        <p:nvSpPr>
          <p:cNvPr id="9" name="Shape 7"/>
          <p:cNvSpPr/>
          <p:nvPr/>
        </p:nvSpPr>
        <p:spPr>
          <a:xfrm>
            <a:off x="9235440" y="1842516"/>
            <a:ext cx="109728" cy="109728"/>
          </a:xfrm>
          <a:prstGeom prst="ellipse">
            <a:avLst/>
          </a:prstGeom>
          <a:solidFill>
            <a:srgbClr val="8B1E1A"/>
          </a:solidFill>
          <a:ln w="12700">
            <a:solidFill>
              <a:srgbClr val="8B1E1A"/>
            </a:solidFill>
            <a:prstDash val="solid"/>
          </a:ln>
        </p:spPr>
      </p:sp>
      <p:sp>
        <p:nvSpPr>
          <p:cNvPr id="10" name="Shape 8"/>
          <p:cNvSpPr/>
          <p:nvPr/>
        </p:nvSpPr>
        <p:spPr>
          <a:xfrm>
            <a:off x="9509760" y="1842516"/>
            <a:ext cx="109728" cy="109728"/>
          </a:xfrm>
          <a:prstGeom prst="ellipse">
            <a:avLst/>
          </a:prstGeom>
          <a:solidFill>
            <a:srgbClr val="8B1E1A"/>
          </a:solidFill>
          <a:ln w="12700">
            <a:solidFill>
              <a:srgbClr val="8B1E1A"/>
            </a:solidFill>
            <a:prstDash val="solid"/>
          </a:ln>
        </p:spPr>
      </p:sp>
      <p:sp>
        <p:nvSpPr>
          <p:cNvPr id="11" name="Shape 9"/>
          <p:cNvSpPr/>
          <p:nvPr/>
        </p:nvSpPr>
        <p:spPr>
          <a:xfrm>
            <a:off x="9784080" y="1842516"/>
            <a:ext cx="109728" cy="109728"/>
          </a:xfrm>
          <a:prstGeom prst="ellipse">
            <a:avLst/>
          </a:prstGeom>
          <a:solidFill>
            <a:srgbClr val="8B1E1A"/>
          </a:solidFill>
          <a:ln w="12700">
            <a:solidFill>
              <a:srgbClr val="8B1E1A"/>
            </a:solidFill>
            <a:prstDash val="solid"/>
          </a:ln>
        </p:spPr>
      </p:sp>
      <p:sp>
        <p:nvSpPr>
          <p:cNvPr id="12" name="Shape 10"/>
          <p:cNvSpPr/>
          <p:nvPr/>
        </p:nvSpPr>
        <p:spPr>
          <a:xfrm>
            <a:off x="10058400" y="1842516"/>
            <a:ext cx="109728" cy="109728"/>
          </a:xfrm>
          <a:prstGeom prst="ellipse">
            <a:avLst/>
          </a:prstGeom>
          <a:solidFill>
            <a:srgbClr val="8B1E1A"/>
          </a:solidFill>
          <a:ln w="12700">
            <a:solidFill>
              <a:srgbClr val="8B1E1A"/>
            </a:solidFill>
            <a:prstDash val="solid"/>
          </a:ln>
        </p:spPr>
      </p:sp>
      <p:sp>
        <p:nvSpPr>
          <p:cNvPr id="13" name="Shape 11"/>
          <p:cNvSpPr/>
          <p:nvPr/>
        </p:nvSpPr>
        <p:spPr>
          <a:xfrm>
            <a:off x="10332720" y="1842516"/>
            <a:ext cx="109728" cy="109728"/>
          </a:xfrm>
          <a:prstGeom prst="ellipse">
            <a:avLst/>
          </a:prstGeom>
          <a:solidFill>
            <a:srgbClr val="8B1E1A"/>
          </a:solidFill>
          <a:ln w="12700">
            <a:solidFill>
              <a:srgbClr val="8B1E1A"/>
            </a:solidFill>
            <a:prstDash val="solid"/>
          </a:ln>
        </p:spPr>
      </p:sp>
      <p:sp>
        <p:nvSpPr>
          <p:cNvPr id="14" name="Shape 12"/>
          <p:cNvSpPr/>
          <p:nvPr/>
        </p:nvSpPr>
        <p:spPr>
          <a:xfrm>
            <a:off x="10607040" y="1842516"/>
            <a:ext cx="109728" cy="109728"/>
          </a:xfrm>
          <a:prstGeom prst="ellipse">
            <a:avLst/>
          </a:prstGeom>
          <a:solidFill>
            <a:srgbClr val="8B1E1A"/>
          </a:solidFill>
          <a:ln w="12700">
            <a:solidFill>
              <a:srgbClr val="8B1E1A"/>
            </a:solidFill>
            <a:prstDash val="solid"/>
          </a:ln>
        </p:spPr>
      </p:sp>
      <p:sp>
        <p:nvSpPr>
          <p:cNvPr id="15" name="Shape 13"/>
          <p:cNvSpPr/>
          <p:nvPr/>
        </p:nvSpPr>
        <p:spPr>
          <a:xfrm>
            <a:off x="10881360" y="1842516"/>
            <a:ext cx="109728" cy="109728"/>
          </a:xfrm>
          <a:prstGeom prst="ellipse">
            <a:avLst/>
          </a:prstGeom>
          <a:solidFill>
            <a:srgbClr val="8B1E1A"/>
          </a:solidFill>
          <a:ln w="12700">
            <a:solidFill>
              <a:srgbClr val="8B1E1A"/>
            </a:solidFill>
            <a:prstDash val="solid"/>
          </a:ln>
        </p:spPr>
      </p:sp>
      <p:sp>
        <p:nvSpPr>
          <p:cNvPr id="16" name="Shape 14"/>
          <p:cNvSpPr/>
          <p:nvPr/>
        </p:nvSpPr>
        <p:spPr>
          <a:xfrm>
            <a:off x="11155680" y="1842516"/>
            <a:ext cx="109728" cy="109728"/>
          </a:xfrm>
          <a:prstGeom prst="ellipse">
            <a:avLst/>
          </a:prstGeom>
          <a:solidFill>
            <a:srgbClr val="8B1E1A"/>
          </a:solidFill>
          <a:ln w="12700">
            <a:solidFill>
              <a:srgbClr val="8B1E1A"/>
            </a:solidFill>
            <a:prstDash val="solid"/>
          </a:ln>
        </p:spPr>
      </p:sp>
      <p:sp>
        <p:nvSpPr>
          <p:cNvPr id="17" name="Text 15"/>
          <p:cNvSpPr/>
          <p:nvPr/>
        </p:nvSpPr>
        <p:spPr>
          <a:xfrm>
            <a:off x="6995160" y="2057400"/>
            <a:ext cx="1645920" cy="320040"/>
          </a:xfrm>
          <a:prstGeom prst="rect">
            <a:avLst/>
          </a:prstGeom>
          <a:noFill/>
          <a:ln/>
        </p:spPr>
        <p:txBody>
          <a:bodyPr wrap="square" lIns="0" tIns="0" rIns="0" bIns="0" rtlCol="0" anchor="ctr"/>
          <a:lstStyle/>
          <a:p>
            <a:pPr indent="0" marL="0">
              <a:buNone/>
            </a:pPr>
            <a:r>
              <a:rPr lang="en-US" sz="800" b="1" dirty="0">
                <a:solidFill>
                  <a:srgbClr val="A83F1A"/>
                </a:solidFill>
                <a:latin typeface="Cormorant Garamond" pitchFamily="34" charset="0"/>
                <a:ea typeface="Cormorant Garamond" pitchFamily="34" charset="-122"/>
                <a:cs typeface="Cormorant Garamond" pitchFamily="34" charset="-120"/>
              </a:rPr>
              <a:t>Tattva</a:t>
            </a:r>
            <a:endParaRPr lang="en-US" sz="800" dirty="0"/>
          </a:p>
        </p:txBody>
      </p:sp>
      <p:sp>
        <p:nvSpPr>
          <p:cNvPr id="18" name="Shape 16"/>
          <p:cNvSpPr/>
          <p:nvPr/>
        </p:nvSpPr>
        <p:spPr>
          <a:xfrm>
            <a:off x="8686800" y="2162556"/>
            <a:ext cx="109728" cy="109728"/>
          </a:xfrm>
          <a:prstGeom prst="ellipse">
            <a:avLst/>
          </a:prstGeom>
          <a:solidFill>
            <a:srgbClr val="A83F1A"/>
          </a:solidFill>
          <a:ln w="12700">
            <a:solidFill>
              <a:srgbClr val="A83F1A"/>
            </a:solidFill>
            <a:prstDash val="solid"/>
          </a:ln>
        </p:spPr>
      </p:sp>
      <p:sp>
        <p:nvSpPr>
          <p:cNvPr id="19" name="Shape 17"/>
          <p:cNvSpPr/>
          <p:nvPr/>
        </p:nvSpPr>
        <p:spPr>
          <a:xfrm>
            <a:off x="8961120" y="2162556"/>
            <a:ext cx="109728" cy="109728"/>
          </a:xfrm>
          <a:prstGeom prst="ellipse">
            <a:avLst/>
          </a:prstGeom>
          <a:solidFill>
            <a:srgbClr val="A83F1A"/>
          </a:solidFill>
          <a:ln w="12700">
            <a:solidFill>
              <a:srgbClr val="A83F1A"/>
            </a:solidFill>
            <a:prstDash val="solid"/>
          </a:ln>
        </p:spPr>
      </p:sp>
      <p:sp>
        <p:nvSpPr>
          <p:cNvPr id="20" name="Shape 18"/>
          <p:cNvSpPr/>
          <p:nvPr/>
        </p:nvSpPr>
        <p:spPr>
          <a:xfrm>
            <a:off x="9235440" y="2162556"/>
            <a:ext cx="109728" cy="109728"/>
          </a:xfrm>
          <a:prstGeom prst="ellipse">
            <a:avLst/>
          </a:prstGeom>
          <a:solidFill>
            <a:srgbClr val="A83F1A"/>
          </a:solidFill>
          <a:ln w="12700">
            <a:solidFill>
              <a:srgbClr val="A83F1A"/>
            </a:solidFill>
            <a:prstDash val="solid"/>
          </a:ln>
        </p:spPr>
      </p:sp>
      <p:sp>
        <p:nvSpPr>
          <p:cNvPr id="21" name="Shape 19"/>
          <p:cNvSpPr/>
          <p:nvPr/>
        </p:nvSpPr>
        <p:spPr>
          <a:xfrm>
            <a:off x="9509760" y="2162556"/>
            <a:ext cx="109728" cy="109728"/>
          </a:xfrm>
          <a:prstGeom prst="ellipse">
            <a:avLst/>
          </a:prstGeom>
          <a:solidFill>
            <a:srgbClr val="A83F1A"/>
          </a:solidFill>
          <a:ln w="12700">
            <a:solidFill>
              <a:srgbClr val="A83F1A"/>
            </a:solidFill>
            <a:prstDash val="solid"/>
          </a:ln>
        </p:spPr>
      </p:sp>
      <p:sp>
        <p:nvSpPr>
          <p:cNvPr id="22" name="Shape 20"/>
          <p:cNvSpPr/>
          <p:nvPr/>
        </p:nvSpPr>
        <p:spPr>
          <a:xfrm>
            <a:off x="9784080" y="2162556"/>
            <a:ext cx="109728" cy="109728"/>
          </a:xfrm>
          <a:prstGeom prst="ellipse">
            <a:avLst/>
          </a:prstGeom>
          <a:solidFill>
            <a:srgbClr val="A83F1A"/>
          </a:solidFill>
          <a:ln w="12700">
            <a:solidFill>
              <a:srgbClr val="A83F1A"/>
            </a:solidFill>
            <a:prstDash val="solid"/>
          </a:ln>
        </p:spPr>
      </p:sp>
      <p:sp>
        <p:nvSpPr>
          <p:cNvPr id="23" name="Shape 21"/>
          <p:cNvSpPr/>
          <p:nvPr/>
        </p:nvSpPr>
        <p:spPr>
          <a:xfrm>
            <a:off x="10058400" y="2162556"/>
            <a:ext cx="109728" cy="109728"/>
          </a:xfrm>
          <a:prstGeom prst="ellipse">
            <a:avLst/>
          </a:prstGeom>
          <a:solidFill>
            <a:srgbClr val="A83F1A"/>
          </a:solidFill>
          <a:ln w="12700">
            <a:solidFill>
              <a:srgbClr val="A83F1A"/>
            </a:solidFill>
            <a:prstDash val="solid"/>
          </a:ln>
        </p:spPr>
      </p:sp>
      <p:sp>
        <p:nvSpPr>
          <p:cNvPr id="24" name="Shape 22"/>
          <p:cNvSpPr/>
          <p:nvPr/>
        </p:nvSpPr>
        <p:spPr>
          <a:xfrm>
            <a:off x="10332720" y="2162556"/>
            <a:ext cx="109728" cy="109728"/>
          </a:xfrm>
          <a:prstGeom prst="ellipse">
            <a:avLst/>
          </a:prstGeom>
          <a:solidFill>
            <a:srgbClr val="A83F1A"/>
          </a:solidFill>
          <a:ln w="12700">
            <a:solidFill>
              <a:srgbClr val="A83F1A"/>
            </a:solidFill>
            <a:prstDash val="solid"/>
          </a:ln>
        </p:spPr>
      </p:sp>
      <p:sp>
        <p:nvSpPr>
          <p:cNvPr id="25" name="Shape 23"/>
          <p:cNvSpPr/>
          <p:nvPr/>
        </p:nvSpPr>
        <p:spPr>
          <a:xfrm>
            <a:off x="10607040" y="2162556"/>
            <a:ext cx="109728" cy="109728"/>
          </a:xfrm>
          <a:prstGeom prst="ellipse">
            <a:avLst/>
          </a:prstGeom>
          <a:solidFill>
            <a:srgbClr val="A83F1A"/>
          </a:solidFill>
          <a:ln w="12700">
            <a:solidFill>
              <a:srgbClr val="A83F1A"/>
            </a:solidFill>
            <a:prstDash val="solid"/>
          </a:ln>
        </p:spPr>
      </p:sp>
      <p:sp>
        <p:nvSpPr>
          <p:cNvPr id="26" name="Text 24"/>
          <p:cNvSpPr/>
          <p:nvPr/>
        </p:nvSpPr>
        <p:spPr>
          <a:xfrm>
            <a:off x="6995160" y="2377440"/>
            <a:ext cx="1645920" cy="320040"/>
          </a:xfrm>
          <a:prstGeom prst="rect">
            <a:avLst/>
          </a:prstGeom>
          <a:noFill/>
          <a:ln/>
        </p:spPr>
        <p:txBody>
          <a:bodyPr wrap="square" lIns="0" tIns="0" rIns="0" bIns="0" rtlCol="0" anchor="ctr"/>
          <a:lstStyle/>
          <a:p>
            <a:pPr indent="0" marL="0">
              <a:buNone/>
            </a:pPr>
            <a:r>
              <a:rPr lang="en-US" sz="800" b="1" dirty="0">
                <a:solidFill>
                  <a:srgbClr val="B8702A"/>
                </a:solidFill>
                <a:latin typeface="Cormorant Garamond" pitchFamily="34" charset="0"/>
                <a:ea typeface="Cormorant Garamond" pitchFamily="34" charset="-122"/>
                <a:cs typeface="Cormorant Garamond" pitchFamily="34" charset="-120"/>
              </a:rPr>
              <a:t>Kṣetra-Kṣetrajña</a:t>
            </a:r>
            <a:endParaRPr lang="en-US" sz="800" dirty="0"/>
          </a:p>
        </p:txBody>
      </p:sp>
      <p:sp>
        <p:nvSpPr>
          <p:cNvPr id="27" name="Shape 25"/>
          <p:cNvSpPr/>
          <p:nvPr/>
        </p:nvSpPr>
        <p:spPr>
          <a:xfrm>
            <a:off x="8686800" y="2482596"/>
            <a:ext cx="109728" cy="109728"/>
          </a:xfrm>
          <a:prstGeom prst="ellipse">
            <a:avLst/>
          </a:prstGeom>
          <a:solidFill>
            <a:srgbClr val="B8702A"/>
          </a:solidFill>
          <a:ln w="12700">
            <a:solidFill>
              <a:srgbClr val="B8702A"/>
            </a:solidFill>
            <a:prstDash val="solid"/>
          </a:ln>
        </p:spPr>
      </p:sp>
      <p:sp>
        <p:nvSpPr>
          <p:cNvPr id="28" name="Shape 26"/>
          <p:cNvSpPr/>
          <p:nvPr/>
        </p:nvSpPr>
        <p:spPr>
          <a:xfrm>
            <a:off x="8961120" y="2482596"/>
            <a:ext cx="109728" cy="109728"/>
          </a:xfrm>
          <a:prstGeom prst="ellipse">
            <a:avLst/>
          </a:prstGeom>
          <a:solidFill>
            <a:srgbClr val="B8702A"/>
          </a:solidFill>
          <a:ln w="12700">
            <a:solidFill>
              <a:srgbClr val="B8702A"/>
            </a:solidFill>
            <a:prstDash val="solid"/>
          </a:ln>
        </p:spPr>
      </p:sp>
      <p:sp>
        <p:nvSpPr>
          <p:cNvPr id="29" name="Shape 27"/>
          <p:cNvSpPr/>
          <p:nvPr/>
        </p:nvSpPr>
        <p:spPr>
          <a:xfrm>
            <a:off x="9235440" y="2482596"/>
            <a:ext cx="109728" cy="109728"/>
          </a:xfrm>
          <a:prstGeom prst="ellipse">
            <a:avLst/>
          </a:prstGeom>
          <a:solidFill>
            <a:srgbClr val="B8702A"/>
          </a:solidFill>
          <a:ln w="12700">
            <a:solidFill>
              <a:srgbClr val="B8702A"/>
            </a:solidFill>
            <a:prstDash val="solid"/>
          </a:ln>
        </p:spPr>
      </p:sp>
      <p:sp>
        <p:nvSpPr>
          <p:cNvPr id="30" name="Shape 28"/>
          <p:cNvSpPr/>
          <p:nvPr/>
        </p:nvSpPr>
        <p:spPr>
          <a:xfrm>
            <a:off x="9509760" y="2482596"/>
            <a:ext cx="109728" cy="109728"/>
          </a:xfrm>
          <a:prstGeom prst="ellipse">
            <a:avLst/>
          </a:prstGeom>
          <a:solidFill>
            <a:srgbClr val="B8702A"/>
          </a:solidFill>
          <a:ln w="12700">
            <a:solidFill>
              <a:srgbClr val="B8702A"/>
            </a:solidFill>
            <a:prstDash val="solid"/>
          </a:ln>
        </p:spPr>
      </p:sp>
      <p:sp>
        <p:nvSpPr>
          <p:cNvPr id="31" name="Shape 29"/>
          <p:cNvSpPr/>
          <p:nvPr/>
        </p:nvSpPr>
        <p:spPr>
          <a:xfrm>
            <a:off x="9784080" y="2482596"/>
            <a:ext cx="109728" cy="109728"/>
          </a:xfrm>
          <a:prstGeom prst="ellipse">
            <a:avLst/>
          </a:prstGeom>
          <a:solidFill>
            <a:srgbClr val="B8702A"/>
          </a:solidFill>
          <a:ln w="12700">
            <a:solidFill>
              <a:srgbClr val="B8702A"/>
            </a:solidFill>
            <a:prstDash val="solid"/>
          </a:ln>
        </p:spPr>
      </p:sp>
      <p:sp>
        <p:nvSpPr>
          <p:cNvPr id="32" name="Shape 30"/>
          <p:cNvSpPr/>
          <p:nvPr/>
        </p:nvSpPr>
        <p:spPr>
          <a:xfrm>
            <a:off x="10058400" y="2482596"/>
            <a:ext cx="109728" cy="109728"/>
          </a:xfrm>
          <a:prstGeom prst="ellipse">
            <a:avLst/>
          </a:prstGeom>
          <a:solidFill>
            <a:srgbClr val="B8702A"/>
          </a:solidFill>
          <a:ln w="12700">
            <a:solidFill>
              <a:srgbClr val="B8702A"/>
            </a:solidFill>
            <a:prstDash val="solid"/>
          </a:ln>
        </p:spPr>
      </p:sp>
      <p:sp>
        <p:nvSpPr>
          <p:cNvPr id="33" name="Shape 31"/>
          <p:cNvSpPr/>
          <p:nvPr/>
        </p:nvSpPr>
        <p:spPr>
          <a:xfrm>
            <a:off x="10332720" y="2482596"/>
            <a:ext cx="109728" cy="109728"/>
          </a:xfrm>
          <a:prstGeom prst="ellipse">
            <a:avLst/>
          </a:prstGeom>
          <a:solidFill>
            <a:srgbClr val="B8702A"/>
          </a:solidFill>
          <a:ln w="12700">
            <a:solidFill>
              <a:srgbClr val="B8702A"/>
            </a:solidFill>
            <a:prstDash val="solid"/>
          </a:ln>
        </p:spPr>
      </p:sp>
      <p:sp>
        <p:nvSpPr>
          <p:cNvPr id="34" name="Shape 32"/>
          <p:cNvSpPr/>
          <p:nvPr/>
        </p:nvSpPr>
        <p:spPr>
          <a:xfrm>
            <a:off x="10607040" y="2482596"/>
            <a:ext cx="109728" cy="109728"/>
          </a:xfrm>
          <a:prstGeom prst="ellipse">
            <a:avLst/>
          </a:prstGeom>
          <a:solidFill>
            <a:srgbClr val="B8702A"/>
          </a:solidFill>
          <a:ln w="12700">
            <a:solidFill>
              <a:srgbClr val="B8702A"/>
            </a:solidFill>
            <a:prstDash val="solid"/>
          </a:ln>
        </p:spPr>
      </p:sp>
      <p:sp>
        <p:nvSpPr>
          <p:cNvPr id="35" name="Text 33"/>
          <p:cNvSpPr/>
          <p:nvPr/>
        </p:nvSpPr>
        <p:spPr>
          <a:xfrm>
            <a:off x="6995160" y="2697480"/>
            <a:ext cx="1645920" cy="320040"/>
          </a:xfrm>
          <a:prstGeom prst="rect">
            <a:avLst/>
          </a:prstGeom>
          <a:noFill/>
          <a:ln/>
        </p:spPr>
        <p:txBody>
          <a:bodyPr wrap="square" lIns="0" tIns="0" rIns="0" bIns="0" rtlCol="0" anchor="ctr"/>
          <a:lstStyle/>
          <a:p>
            <a:pPr indent="0" marL="0">
              <a:buNone/>
            </a:pPr>
            <a:r>
              <a:rPr lang="en-US" sz="800" b="1" dirty="0">
                <a:solidFill>
                  <a:srgbClr val="C69E2A"/>
                </a:solidFill>
                <a:latin typeface="Cormorant Garamond" pitchFamily="34" charset="0"/>
                <a:ea typeface="Cormorant Garamond" pitchFamily="34" charset="-122"/>
                <a:cs typeface="Cormorant Garamond" pitchFamily="34" charset="-120"/>
              </a:rPr>
              <a:t>Guṇa</a:t>
            </a:r>
            <a:endParaRPr lang="en-US" sz="800" dirty="0"/>
          </a:p>
        </p:txBody>
      </p:sp>
      <p:sp>
        <p:nvSpPr>
          <p:cNvPr id="36" name="Shape 34"/>
          <p:cNvSpPr/>
          <p:nvPr/>
        </p:nvSpPr>
        <p:spPr>
          <a:xfrm>
            <a:off x="8686800" y="2802636"/>
            <a:ext cx="109728" cy="109728"/>
          </a:xfrm>
          <a:prstGeom prst="ellipse">
            <a:avLst/>
          </a:prstGeom>
          <a:solidFill>
            <a:srgbClr val="C69E2A"/>
          </a:solidFill>
          <a:ln w="12700">
            <a:solidFill>
              <a:srgbClr val="C69E2A"/>
            </a:solidFill>
            <a:prstDash val="solid"/>
          </a:ln>
        </p:spPr>
      </p:sp>
      <p:sp>
        <p:nvSpPr>
          <p:cNvPr id="37" name="Shape 35"/>
          <p:cNvSpPr/>
          <p:nvPr/>
        </p:nvSpPr>
        <p:spPr>
          <a:xfrm>
            <a:off x="8961120" y="2802636"/>
            <a:ext cx="109728" cy="109728"/>
          </a:xfrm>
          <a:prstGeom prst="ellipse">
            <a:avLst/>
          </a:prstGeom>
          <a:solidFill>
            <a:srgbClr val="C69E2A"/>
          </a:solidFill>
          <a:ln w="12700">
            <a:solidFill>
              <a:srgbClr val="C69E2A"/>
            </a:solidFill>
            <a:prstDash val="solid"/>
          </a:ln>
        </p:spPr>
      </p:sp>
      <p:sp>
        <p:nvSpPr>
          <p:cNvPr id="38" name="Shape 36"/>
          <p:cNvSpPr/>
          <p:nvPr/>
        </p:nvSpPr>
        <p:spPr>
          <a:xfrm>
            <a:off x="9235440" y="2802636"/>
            <a:ext cx="109728" cy="109728"/>
          </a:xfrm>
          <a:prstGeom prst="ellipse">
            <a:avLst/>
          </a:prstGeom>
          <a:solidFill>
            <a:srgbClr val="C69E2A"/>
          </a:solidFill>
          <a:ln w="12700">
            <a:solidFill>
              <a:srgbClr val="C69E2A"/>
            </a:solidFill>
            <a:prstDash val="solid"/>
          </a:ln>
        </p:spPr>
      </p:sp>
      <p:sp>
        <p:nvSpPr>
          <p:cNvPr id="39" name="Shape 37"/>
          <p:cNvSpPr/>
          <p:nvPr/>
        </p:nvSpPr>
        <p:spPr>
          <a:xfrm>
            <a:off x="9509760" y="2802636"/>
            <a:ext cx="109728" cy="109728"/>
          </a:xfrm>
          <a:prstGeom prst="ellipse">
            <a:avLst/>
          </a:prstGeom>
          <a:solidFill>
            <a:srgbClr val="C69E2A"/>
          </a:solidFill>
          <a:ln w="12700">
            <a:solidFill>
              <a:srgbClr val="C69E2A"/>
            </a:solidFill>
            <a:prstDash val="solid"/>
          </a:ln>
        </p:spPr>
      </p:sp>
      <p:sp>
        <p:nvSpPr>
          <p:cNvPr id="40" name="Shape 38"/>
          <p:cNvSpPr/>
          <p:nvPr/>
        </p:nvSpPr>
        <p:spPr>
          <a:xfrm>
            <a:off x="9784080" y="2802636"/>
            <a:ext cx="109728" cy="109728"/>
          </a:xfrm>
          <a:prstGeom prst="ellipse">
            <a:avLst/>
          </a:prstGeom>
          <a:solidFill>
            <a:srgbClr val="C69E2A"/>
          </a:solidFill>
          <a:ln w="12700">
            <a:solidFill>
              <a:srgbClr val="C69E2A"/>
            </a:solidFill>
            <a:prstDash val="solid"/>
          </a:ln>
        </p:spPr>
      </p:sp>
      <p:sp>
        <p:nvSpPr>
          <p:cNvPr id="41" name="Shape 39"/>
          <p:cNvSpPr/>
          <p:nvPr/>
        </p:nvSpPr>
        <p:spPr>
          <a:xfrm>
            <a:off x="10058400" y="2802636"/>
            <a:ext cx="109728" cy="109728"/>
          </a:xfrm>
          <a:prstGeom prst="ellipse">
            <a:avLst/>
          </a:prstGeom>
          <a:solidFill>
            <a:srgbClr val="C69E2A"/>
          </a:solidFill>
          <a:ln w="12700">
            <a:solidFill>
              <a:srgbClr val="C69E2A"/>
            </a:solidFill>
            <a:prstDash val="solid"/>
          </a:ln>
        </p:spPr>
      </p:sp>
      <p:sp>
        <p:nvSpPr>
          <p:cNvPr id="42" name="Shape 40"/>
          <p:cNvSpPr/>
          <p:nvPr/>
        </p:nvSpPr>
        <p:spPr>
          <a:xfrm>
            <a:off x="10332720" y="2802636"/>
            <a:ext cx="109728" cy="109728"/>
          </a:xfrm>
          <a:prstGeom prst="ellipse">
            <a:avLst/>
          </a:prstGeom>
          <a:solidFill>
            <a:srgbClr val="C69E2A"/>
          </a:solidFill>
          <a:ln w="12700">
            <a:solidFill>
              <a:srgbClr val="C69E2A"/>
            </a:solidFill>
            <a:prstDash val="solid"/>
          </a:ln>
        </p:spPr>
      </p:sp>
      <p:sp>
        <p:nvSpPr>
          <p:cNvPr id="43" name="Shape 41"/>
          <p:cNvSpPr/>
          <p:nvPr/>
        </p:nvSpPr>
        <p:spPr>
          <a:xfrm>
            <a:off x="10607040" y="2802636"/>
            <a:ext cx="109728" cy="109728"/>
          </a:xfrm>
          <a:prstGeom prst="ellipse">
            <a:avLst/>
          </a:prstGeom>
          <a:solidFill>
            <a:srgbClr val="C69E2A"/>
          </a:solidFill>
          <a:ln w="12700">
            <a:solidFill>
              <a:srgbClr val="C69E2A"/>
            </a:solidFill>
            <a:prstDash val="solid"/>
          </a:ln>
        </p:spPr>
      </p:sp>
      <p:sp>
        <p:nvSpPr>
          <p:cNvPr id="44" name="Shape 42"/>
          <p:cNvSpPr/>
          <p:nvPr/>
        </p:nvSpPr>
        <p:spPr>
          <a:xfrm>
            <a:off x="10881360" y="2802636"/>
            <a:ext cx="109728" cy="109728"/>
          </a:xfrm>
          <a:prstGeom prst="ellipse">
            <a:avLst/>
          </a:prstGeom>
          <a:solidFill>
            <a:srgbClr val="C69E2A"/>
          </a:solidFill>
          <a:ln w="12700">
            <a:solidFill>
              <a:srgbClr val="C69E2A"/>
            </a:solidFill>
            <a:prstDash val="solid"/>
          </a:ln>
        </p:spPr>
      </p:sp>
      <p:sp>
        <p:nvSpPr>
          <p:cNvPr id="45" name="Shape 43"/>
          <p:cNvSpPr/>
          <p:nvPr/>
        </p:nvSpPr>
        <p:spPr>
          <a:xfrm>
            <a:off x="11155680" y="2802636"/>
            <a:ext cx="109728" cy="109728"/>
          </a:xfrm>
          <a:prstGeom prst="ellipse">
            <a:avLst/>
          </a:prstGeom>
          <a:solidFill>
            <a:srgbClr val="C69E2A"/>
          </a:solidFill>
          <a:ln w="12700">
            <a:solidFill>
              <a:srgbClr val="C69E2A"/>
            </a:solidFill>
            <a:prstDash val="solid"/>
          </a:ln>
        </p:spPr>
      </p:sp>
      <p:sp>
        <p:nvSpPr>
          <p:cNvPr id="46" name="Text 44"/>
          <p:cNvSpPr/>
          <p:nvPr/>
        </p:nvSpPr>
        <p:spPr>
          <a:xfrm>
            <a:off x="6995160" y="3017520"/>
            <a:ext cx="1645920" cy="320040"/>
          </a:xfrm>
          <a:prstGeom prst="rect">
            <a:avLst/>
          </a:prstGeom>
          <a:noFill/>
          <a:ln/>
        </p:spPr>
        <p:txBody>
          <a:bodyPr wrap="square" lIns="0" tIns="0" rIns="0" bIns="0" rtlCol="0" anchor="ctr"/>
          <a:lstStyle/>
          <a:p>
            <a:pPr indent="0" marL="0">
              <a:buNone/>
            </a:pPr>
            <a:r>
              <a:rPr lang="en-US" sz="800" b="1" dirty="0">
                <a:solidFill>
                  <a:srgbClr val="7B8D2E"/>
                </a:solidFill>
                <a:latin typeface="Cormorant Garamond" pitchFamily="34" charset="0"/>
                <a:ea typeface="Cormorant Garamond" pitchFamily="34" charset="-122"/>
                <a:cs typeface="Cormorant Garamond" pitchFamily="34" charset="-120"/>
              </a:rPr>
              <a:t>Yoga</a:t>
            </a:r>
            <a:endParaRPr lang="en-US" sz="800" dirty="0"/>
          </a:p>
        </p:txBody>
      </p:sp>
      <p:sp>
        <p:nvSpPr>
          <p:cNvPr id="47" name="Shape 45"/>
          <p:cNvSpPr/>
          <p:nvPr/>
        </p:nvSpPr>
        <p:spPr>
          <a:xfrm>
            <a:off x="8686800" y="3122676"/>
            <a:ext cx="109728" cy="109728"/>
          </a:xfrm>
          <a:prstGeom prst="ellipse">
            <a:avLst/>
          </a:prstGeom>
          <a:solidFill>
            <a:srgbClr val="7B8D2E"/>
          </a:solidFill>
          <a:ln w="12700">
            <a:solidFill>
              <a:srgbClr val="7B8D2E"/>
            </a:solidFill>
            <a:prstDash val="solid"/>
          </a:ln>
        </p:spPr>
      </p:sp>
      <p:sp>
        <p:nvSpPr>
          <p:cNvPr id="48" name="Shape 46"/>
          <p:cNvSpPr/>
          <p:nvPr/>
        </p:nvSpPr>
        <p:spPr>
          <a:xfrm>
            <a:off x="8961120" y="3122676"/>
            <a:ext cx="109728" cy="109728"/>
          </a:xfrm>
          <a:prstGeom prst="ellipse">
            <a:avLst/>
          </a:prstGeom>
          <a:solidFill>
            <a:srgbClr val="7B8D2E"/>
          </a:solidFill>
          <a:ln w="12700">
            <a:solidFill>
              <a:srgbClr val="7B8D2E"/>
            </a:solidFill>
            <a:prstDash val="solid"/>
          </a:ln>
        </p:spPr>
      </p:sp>
      <p:sp>
        <p:nvSpPr>
          <p:cNvPr id="49" name="Shape 47"/>
          <p:cNvSpPr/>
          <p:nvPr/>
        </p:nvSpPr>
        <p:spPr>
          <a:xfrm>
            <a:off x="9235440" y="3122676"/>
            <a:ext cx="109728" cy="109728"/>
          </a:xfrm>
          <a:prstGeom prst="ellipse">
            <a:avLst/>
          </a:prstGeom>
          <a:solidFill>
            <a:srgbClr val="7B8D2E"/>
          </a:solidFill>
          <a:ln w="12700">
            <a:solidFill>
              <a:srgbClr val="7B8D2E"/>
            </a:solidFill>
            <a:prstDash val="solid"/>
          </a:ln>
        </p:spPr>
      </p:sp>
      <p:sp>
        <p:nvSpPr>
          <p:cNvPr id="50" name="Shape 48"/>
          <p:cNvSpPr/>
          <p:nvPr/>
        </p:nvSpPr>
        <p:spPr>
          <a:xfrm>
            <a:off x="9509760" y="3122676"/>
            <a:ext cx="109728" cy="109728"/>
          </a:xfrm>
          <a:prstGeom prst="ellipse">
            <a:avLst/>
          </a:prstGeom>
          <a:solidFill>
            <a:srgbClr val="7B8D2E"/>
          </a:solidFill>
          <a:ln w="12700">
            <a:solidFill>
              <a:srgbClr val="7B8D2E"/>
            </a:solidFill>
            <a:prstDash val="solid"/>
          </a:ln>
        </p:spPr>
      </p:sp>
      <p:sp>
        <p:nvSpPr>
          <p:cNvPr id="51" name="Shape 49"/>
          <p:cNvSpPr/>
          <p:nvPr/>
        </p:nvSpPr>
        <p:spPr>
          <a:xfrm>
            <a:off x="9784080" y="3122676"/>
            <a:ext cx="109728" cy="109728"/>
          </a:xfrm>
          <a:prstGeom prst="ellipse">
            <a:avLst/>
          </a:prstGeom>
          <a:solidFill>
            <a:srgbClr val="7B8D2E"/>
          </a:solidFill>
          <a:ln w="12700">
            <a:solidFill>
              <a:srgbClr val="7B8D2E"/>
            </a:solidFill>
            <a:prstDash val="solid"/>
          </a:ln>
        </p:spPr>
      </p:sp>
      <p:sp>
        <p:nvSpPr>
          <p:cNvPr id="52" name="Shape 50"/>
          <p:cNvSpPr/>
          <p:nvPr/>
        </p:nvSpPr>
        <p:spPr>
          <a:xfrm>
            <a:off x="10058400" y="3122676"/>
            <a:ext cx="109728" cy="109728"/>
          </a:xfrm>
          <a:prstGeom prst="ellipse">
            <a:avLst/>
          </a:prstGeom>
          <a:solidFill>
            <a:srgbClr val="7B8D2E"/>
          </a:solidFill>
          <a:ln w="12700">
            <a:solidFill>
              <a:srgbClr val="7B8D2E"/>
            </a:solidFill>
            <a:prstDash val="solid"/>
          </a:ln>
        </p:spPr>
      </p:sp>
      <p:sp>
        <p:nvSpPr>
          <p:cNvPr id="53" name="Shape 51"/>
          <p:cNvSpPr/>
          <p:nvPr/>
        </p:nvSpPr>
        <p:spPr>
          <a:xfrm>
            <a:off x="10332720" y="3122676"/>
            <a:ext cx="109728" cy="109728"/>
          </a:xfrm>
          <a:prstGeom prst="ellipse">
            <a:avLst/>
          </a:prstGeom>
          <a:solidFill>
            <a:srgbClr val="7B8D2E"/>
          </a:solidFill>
          <a:ln w="12700">
            <a:solidFill>
              <a:srgbClr val="7B8D2E"/>
            </a:solidFill>
            <a:prstDash val="solid"/>
          </a:ln>
        </p:spPr>
      </p:sp>
      <p:sp>
        <p:nvSpPr>
          <p:cNvPr id="54" name="Shape 52"/>
          <p:cNvSpPr/>
          <p:nvPr/>
        </p:nvSpPr>
        <p:spPr>
          <a:xfrm>
            <a:off x="10607040" y="3122676"/>
            <a:ext cx="109728" cy="109728"/>
          </a:xfrm>
          <a:prstGeom prst="ellipse">
            <a:avLst/>
          </a:prstGeom>
          <a:solidFill>
            <a:srgbClr val="7B8D2E"/>
          </a:solidFill>
          <a:ln w="12700">
            <a:solidFill>
              <a:srgbClr val="7B8D2E"/>
            </a:solidFill>
            <a:prstDash val="solid"/>
          </a:ln>
        </p:spPr>
      </p:sp>
      <p:sp>
        <p:nvSpPr>
          <p:cNvPr id="55" name="Shape 53"/>
          <p:cNvSpPr/>
          <p:nvPr/>
        </p:nvSpPr>
        <p:spPr>
          <a:xfrm>
            <a:off x="10881360" y="3122676"/>
            <a:ext cx="109728" cy="109728"/>
          </a:xfrm>
          <a:prstGeom prst="ellipse">
            <a:avLst/>
          </a:prstGeom>
          <a:solidFill>
            <a:srgbClr val="7B8D2E"/>
          </a:solidFill>
          <a:ln w="12700">
            <a:solidFill>
              <a:srgbClr val="7B8D2E"/>
            </a:solidFill>
            <a:prstDash val="solid"/>
          </a:ln>
        </p:spPr>
      </p:sp>
      <p:sp>
        <p:nvSpPr>
          <p:cNvPr id="56" name="Text 54"/>
          <p:cNvSpPr/>
          <p:nvPr/>
        </p:nvSpPr>
        <p:spPr>
          <a:xfrm>
            <a:off x="6995160" y="3337560"/>
            <a:ext cx="1645920" cy="320040"/>
          </a:xfrm>
          <a:prstGeom prst="rect">
            <a:avLst/>
          </a:prstGeom>
          <a:noFill/>
          <a:ln/>
        </p:spPr>
        <p:txBody>
          <a:bodyPr wrap="square" lIns="0" tIns="0" rIns="0" bIns="0" rtlCol="0" anchor="ctr"/>
          <a:lstStyle/>
          <a:p>
            <a:pPr indent="0" marL="0">
              <a:buNone/>
            </a:pPr>
            <a:r>
              <a:rPr lang="en-US" sz="800" b="1" dirty="0">
                <a:solidFill>
                  <a:srgbClr val="3F7A4A"/>
                </a:solidFill>
                <a:latin typeface="Cormorant Garamond" pitchFamily="34" charset="0"/>
                <a:ea typeface="Cormorant Garamond" pitchFamily="34" charset="-122"/>
                <a:cs typeface="Cormorant Garamond" pitchFamily="34" charset="-120"/>
              </a:rPr>
              <a:t>Sādhanā</a:t>
            </a:r>
            <a:endParaRPr lang="en-US" sz="800" dirty="0"/>
          </a:p>
        </p:txBody>
      </p:sp>
      <p:sp>
        <p:nvSpPr>
          <p:cNvPr id="57" name="Shape 55"/>
          <p:cNvSpPr/>
          <p:nvPr/>
        </p:nvSpPr>
        <p:spPr>
          <a:xfrm>
            <a:off x="8686800" y="3442716"/>
            <a:ext cx="109728" cy="109728"/>
          </a:xfrm>
          <a:prstGeom prst="ellipse">
            <a:avLst/>
          </a:prstGeom>
          <a:solidFill>
            <a:srgbClr val="3F7A4A"/>
          </a:solidFill>
          <a:ln w="12700">
            <a:solidFill>
              <a:srgbClr val="3F7A4A"/>
            </a:solidFill>
            <a:prstDash val="solid"/>
          </a:ln>
        </p:spPr>
      </p:sp>
      <p:sp>
        <p:nvSpPr>
          <p:cNvPr id="58" name="Shape 56"/>
          <p:cNvSpPr/>
          <p:nvPr/>
        </p:nvSpPr>
        <p:spPr>
          <a:xfrm>
            <a:off x="8961120" y="3442716"/>
            <a:ext cx="109728" cy="109728"/>
          </a:xfrm>
          <a:prstGeom prst="ellipse">
            <a:avLst/>
          </a:prstGeom>
          <a:solidFill>
            <a:srgbClr val="3F7A4A"/>
          </a:solidFill>
          <a:ln w="12700">
            <a:solidFill>
              <a:srgbClr val="3F7A4A"/>
            </a:solidFill>
            <a:prstDash val="solid"/>
          </a:ln>
        </p:spPr>
      </p:sp>
      <p:sp>
        <p:nvSpPr>
          <p:cNvPr id="59" name="Shape 57"/>
          <p:cNvSpPr/>
          <p:nvPr/>
        </p:nvSpPr>
        <p:spPr>
          <a:xfrm>
            <a:off x="9235440" y="3442716"/>
            <a:ext cx="109728" cy="109728"/>
          </a:xfrm>
          <a:prstGeom prst="ellipse">
            <a:avLst/>
          </a:prstGeom>
          <a:solidFill>
            <a:srgbClr val="3F7A4A"/>
          </a:solidFill>
          <a:ln w="12700">
            <a:solidFill>
              <a:srgbClr val="3F7A4A"/>
            </a:solidFill>
            <a:prstDash val="solid"/>
          </a:ln>
        </p:spPr>
      </p:sp>
      <p:sp>
        <p:nvSpPr>
          <p:cNvPr id="60" name="Shape 58"/>
          <p:cNvSpPr/>
          <p:nvPr/>
        </p:nvSpPr>
        <p:spPr>
          <a:xfrm>
            <a:off x="9509760" y="3442716"/>
            <a:ext cx="109728" cy="109728"/>
          </a:xfrm>
          <a:prstGeom prst="ellipse">
            <a:avLst/>
          </a:prstGeom>
          <a:solidFill>
            <a:srgbClr val="3F7A4A"/>
          </a:solidFill>
          <a:ln w="12700">
            <a:solidFill>
              <a:srgbClr val="3F7A4A"/>
            </a:solidFill>
            <a:prstDash val="solid"/>
          </a:ln>
        </p:spPr>
      </p:sp>
      <p:sp>
        <p:nvSpPr>
          <p:cNvPr id="61" name="Shape 59"/>
          <p:cNvSpPr/>
          <p:nvPr/>
        </p:nvSpPr>
        <p:spPr>
          <a:xfrm>
            <a:off x="9784080" y="3442716"/>
            <a:ext cx="109728" cy="109728"/>
          </a:xfrm>
          <a:prstGeom prst="ellipse">
            <a:avLst/>
          </a:prstGeom>
          <a:solidFill>
            <a:srgbClr val="3F7A4A"/>
          </a:solidFill>
          <a:ln w="12700">
            <a:solidFill>
              <a:srgbClr val="3F7A4A"/>
            </a:solidFill>
            <a:prstDash val="solid"/>
          </a:ln>
        </p:spPr>
      </p:sp>
      <p:sp>
        <p:nvSpPr>
          <p:cNvPr id="62" name="Shape 60"/>
          <p:cNvSpPr/>
          <p:nvPr/>
        </p:nvSpPr>
        <p:spPr>
          <a:xfrm>
            <a:off x="10058400" y="3442716"/>
            <a:ext cx="109728" cy="109728"/>
          </a:xfrm>
          <a:prstGeom prst="ellipse">
            <a:avLst/>
          </a:prstGeom>
          <a:solidFill>
            <a:srgbClr val="3F7A4A"/>
          </a:solidFill>
          <a:ln w="12700">
            <a:solidFill>
              <a:srgbClr val="3F7A4A"/>
            </a:solidFill>
            <a:prstDash val="solid"/>
          </a:ln>
        </p:spPr>
      </p:sp>
      <p:sp>
        <p:nvSpPr>
          <p:cNvPr id="63" name="Shape 61"/>
          <p:cNvSpPr/>
          <p:nvPr/>
        </p:nvSpPr>
        <p:spPr>
          <a:xfrm>
            <a:off x="10332720" y="3442716"/>
            <a:ext cx="109728" cy="109728"/>
          </a:xfrm>
          <a:prstGeom prst="ellipse">
            <a:avLst/>
          </a:prstGeom>
          <a:solidFill>
            <a:srgbClr val="3F7A4A"/>
          </a:solidFill>
          <a:ln w="12700">
            <a:solidFill>
              <a:srgbClr val="3F7A4A"/>
            </a:solidFill>
            <a:prstDash val="solid"/>
          </a:ln>
        </p:spPr>
      </p:sp>
      <p:sp>
        <p:nvSpPr>
          <p:cNvPr id="64" name="Shape 62"/>
          <p:cNvSpPr/>
          <p:nvPr/>
        </p:nvSpPr>
        <p:spPr>
          <a:xfrm>
            <a:off x="10607040" y="3442716"/>
            <a:ext cx="109728" cy="109728"/>
          </a:xfrm>
          <a:prstGeom prst="ellipse">
            <a:avLst/>
          </a:prstGeom>
          <a:solidFill>
            <a:srgbClr val="3F7A4A"/>
          </a:solidFill>
          <a:ln w="12700">
            <a:solidFill>
              <a:srgbClr val="3F7A4A"/>
            </a:solidFill>
            <a:prstDash val="solid"/>
          </a:ln>
        </p:spPr>
      </p:sp>
      <p:sp>
        <p:nvSpPr>
          <p:cNvPr id="65" name="Shape 63"/>
          <p:cNvSpPr/>
          <p:nvPr/>
        </p:nvSpPr>
        <p:spPr>
          <a:xfrm>
            <a:off x="10881360" y="3442716"/>
            <a:ext cx="109728" cy="109728"/>
          </a:xfrm>
          <a:prstGeom prst="ellipse">
            <a:avLst/>
          </a:prstGeom>
          <a:solidFill>
            <a:srgbClr val="3F7A4A"/>
          </a:solidFill>
          <a:ln w="12700">
            <a:solidFill>
              <a:srgbClr val="3F7A4A"/>
            </a:solidFill>
            <a:prstDash val="solid"/>
          </a:ln>
        </p:spPr>
      </p:sp>
      <p:sp>
        <p:nvSpPr>
          <p:cNvPr id="66" name="Shape 64"/>
          <p:cNvSpPr/>
          <p:nvPr/>
        </p:nvSpPr>
        <p:spPr>
          <a:xfrm>
            <a:off x="11155680" y="3442716"/>
            <a:ext cx="109728" cy="109728"/>
          </a:xfrm>
          <a:prstGeom prst="ellipse">
            <a:avLst/>
          </a:prstGeom>
          <a:solidFill>
            <a:srgbClr val="3F7A4A"/>
          </a:solidFill>
          <a:ln w="12700">
            <a:solidFill>
              <a:srgbClr val="3F7A4A"/>
            </a:solidFill>
            <a:prstDash val="solid"/>
          </a:ln>
        </p:spPr>
      </p:sp>
      <p:sp>
        <p:nvSpPr>
          <p:cNvPr id="67" name="Text 65"/>
          <p:cNvSpPr/>
          <p:nvPr/>
        </p:nvSpPr>
        <p:spPr>
          <a:xfrm>
            <a:off x="6995160" y="3657600"/>
            <a:ext cx="1645920" cy="320040"/>
          </a:xfrm>
          <a:prstGeom prst="rect">
            <a:avLst/>
          </a:prstGeom>
          <a:noFill/>
          <a:ln/>
        </p:spPr>
        <p:txBody>
          <a:bodyPr wrap="square" lIns="0" tIns="0" rIns="0" bIns="0" rtlCol="0" anchor="ctr"/>
          <a:lstStyle/>
          <a:p>
            <a:pPr indent="0" marL="0">
              <a:buNone/>
            </a:pPr>
            <a:r>
              <a:rPr lang="en-US" sz="800" b="1" dirty="0">
                <a:solidFill>
                  <a:srgbClr val="2F6E7A"/>
                </a:solidFill>
                <a:latin typeface="Cormorant Garamond" pitchFamily="34" charset="0"/>
                <a:ea typeface="Cormorant Garamond" pitchFamily="34" charset="-122"/>
                <a:cs typeface="Cormorant Garamond" pitchFamily="34" charset="-120"/>
              </a:rPr>
              <a:t>Antaḥkaraṇa</a:t>
            </a:r>
            <a:endParaRPr lang="en-US" sz="800" dirty="0"/>
          </a:p>
        </p:txBody>
      </p:sp>
      <p:sp>
        <p:nvSpPr>
          <p:cNvPr id="68" name="Shape 66"/>
          <p:cNvSpPr/>
          <p:nvPr/>
        </p:nvSpPr>
        <p:spPr>
          <a:xfrm>
            <a:off x="8686800" y="3762756"/>
            <a:ext cx="109728" cy="109728"/>
          </a:xfrm>
          <a:prstGeom prst="ellipse">
            <a:avLst/>
          </a:prstGeom>
          <a:solidFill>
            <a:srgbClr val="2F6E7A"/>
          </a:solidFill>
          <a:ln w="12700">
            <a:solidFill>
              <a:srgbClr val="2F6E7A"/>
            </a:solidFill>
            <a:prstDash val="solid"/>
          </a:ln>
        </p:spPr>
      </p:sp>
      <p:sp>
        <p:nvSpPr>
          <p:cNvPr id="69" name="Shape 67"/>
          <p:cNvSpPr/>
          <p:nvPr/>
        </p:nvSpPr>
        <p:spPr>
          <a:xfrm>
            <a:off x="8961120" y="3762756"/>
            <a:ext cx="109728" cy="109728"/>
          </a:xfrm>
          <a:prstGeom prst="ellipse">
            <a:avLst/>
          </a:prstGeom>
          <a:solidFill>
            <a:srgbClr val="2F6E7A"/>
          </a:solidFill>
          <a:ln w="12700">
            <a:solidFill>
              <a:srgbClr val="2F6E7A"/>
            </a:solidFill>
            <a:prstDash val="solid"/>
          </a:ln>
        </p:spPr>
      </p:sp>
      <p:sp>
        <p:nvSpPr>
          <p:cNvPr id="70" name="Shape 68"/>
          <p:cNvSpPr/>
          <p:nvPr/>
        </p:nvSpPr>
        <p:spPr>
          <a:xfrm>
            <a:off x="9235440" y="3762756"/>
            <a:ext cx="109728" cy="109728"/>
          </a:xfrm>
          <a:prstGeom prst="ellipse">
            <a:avLst/>
          </a:prstGeom>
          <a:solidFill>
            <a:srgbClr val="2F6E7A"/>
          </a:solidFill>
          <a:ln w="12700">
            <a:solidFill>
              <a:srgbClr val="2F6E7A"/>
            </a:solidFill>
            <a:prstDash val="solid"/>
          </a:ln>
        </p:spPr>
      </p:sp>
      <p:sp>
        <p:nvSpPr>
          <p:cNvPr id="71" name="Shape 69"/>
          <p:cNvSpPr/>
          <p:nvPr/>
        </p:nvSpPr>
        <p:spPr>
          <a:xfrm>
            <a:off x="9509760" y="3762756"/>
            <a:ext cx="109728" cy="109728"/>
          </a:xfrm>
          <a:prstGeom prst="ellipse">
            <a:avLst/>
          </a:prstGeom>
          <a:solidFill>
            <a:srgbClr val="2F6E7A"/>
          </a:solidFill>
          <a:ln w="12700">
            <a:solidFill>
              <a:srgbClr val="2F6E7A"/>
            </a:solidFill>
            <a:prstDash val="solid"/>
          </a:ln>
        </p:spPr>
      </p:sp>
      <p:sp>
        <p:nvSpPr>
          <p:cNvPr id="72" name="Shape 70"/>
          <p:cNvSpPr/>
          <p:nvPr/>
        </p:nvSpPr>
        <p:spPr>
          <a:xfrm>
            <a:off x="9784080" y="3762756"/>
            <a:ext cx="109728" cy="109728"/>
          </a:xfrm>
          <a:prstGeom prst="ellipse">
            <a:avLst/>
          </a:prstGeom>
          <a:solidFill>
            <a:srgbClr val="2F6E7A"/>
          </a:solidFill>
          <a:ln w="12700">
            <a:solidFill>
              <a:srgbClr val="2F6E7A"/>
            </a:solidFill>
            <a:prstDash val="solid"/>
          </a:ln>
        </p:spPr>
      </p:sp>
      <p:sp>
        <p:nvSpPr>
          <p:cNvPr id="73" name="Shape 71"/>
          <p:cNvSpPr/>
          <p:nvPr/>
        </p:nvSpPr>
        <p:spPr>
          <a:xfrm>
            <a:off x="10058400" y="3762756"/>
            <a:ext cx="109728" cy="109728"/>
          </a:xfrm>
          <a:prstGeom prst="ellipse">
            <a:avLst/>
          </a:prstGeom>
          <a:solidFill>
            <a:srgbClr val="2F6E7A"/>
          </a:solidFill>
          <a:ln w="12700">
            <a:solidFill>
              <a:srgbClr val="2F6E7A"/>
            </a:solidFill>
            <a:prstDash val="solid"/>
          </a:ln>
        </p:spPr>
      </p:sp>
      <p:sp>
        <p:nvSpPr>
          <p:cNvPr id="74" name="Text 72"/>
          <p:cNvSpPr/>
          <p:nvPr/>
        </p:nvSpPr>
        <p:spPr>
          <a:xfrm>
            <a:off x="6995160" y="3977640"/>
            <a:ext cx="1645920" cy="320040"/>
          </a:xfrm>
          <a:prstGeom prst="rect">
            <a:avLst/>
          </a:prstGeom>
          <a:noFill/>
          <a:ln/>
        </p:spPr>
        <p:txBody>
          <a:bodyPr wrap="square" lIns="0" tIns="0" rIns="0" bIns="0" rtlCol="0" anchor="ctr"/>
          <a:lstStyle/>
          <a:p>
            <a:pPr indent="0" marL="0">
              <a:buNone/>
            </a:pPr>
            <a:r>
              <a:rPr lang="en-US" sz="800" b="1" dirty="0">
                <a:solidFill>
                  <a:srgbClr val="3A4A7A"/>
                </a:solidFill>
                <a:latin typeface="Cormorant Garamond" pitchFamily="34" charset="0"/>
                <a:ea typeface="Cormorant Garamond" pitchFamily="34" charset="-122"/>
                <a:cs typeface="Cormorant Garamond" pitchFamily="34" charset="-120"/>
              </a:rPr>
              <a:t>Dharma</a:t>
            </a:r>
            <a:endParaRPr lang="en-US" sz="800" dirty="0"/>
          </a:p>
        </p:txBody>
      </p:sp>
      <p:sp>
        <p:nvSpPr>
          <p:cNvPr id="75" name="Shape 73"/>
          <p:cNvSpPr/>
          <p:nvPr/>
        </p:nvSpPr>
        <p:spPr>
          <a:xfrm>
            <a:off x="8686800" y="4082796"/>
            <a:ext cx="109728" cy="109728"/>
          </a:xfrm>
          <a:prstGeom prst="ellipse">
            <a:avLst/>
          </a:prstGeom>
          <a:solidFill>
            <a:srgbClr val="3A4A7A"/>
          </a:solidFill>
          <a:ln w="12700">
            <a:solidFill>
              <a:srgbClr val="3A4A7A"/>
            </a:solidFill>
            <a:prstDash val="solid"/>
          </a:ln>
        </p:spPr>
      </p:sp>
      <p:sp>
        <p:nvSpPr>
          <p:cNvPr id="76" name="Shape 74"/>
          <p:cNvSpPr/>
          <p:nvPr/>
        </p:nvSpPr>
        <p:spPr>
          <a:xfrm>
            <a:off x="8961120" y="4082796"/>
            <a:ext cx="109728" cy="109728"/>
          </a:xfrm>
          <a:prstGeom prst="ellipse">
            <a:avLst/>
          </a:prstGeom>
          <a:solidFill>
            <a:srgbClr val="3A4A7A"/>
          </a:solidFill>
          <a:ln w="12700">
            <a:solidFill>
              <a:srgbClr val="3A4A7A"/>
            </a:solidFill>
            <a:prstDash val="solid"/>
          </a:ln>
        </p:spPr>
      </p:sp>
      <p:sp>
        <p:nvSpPr>
          <p:cNvPr id="77" name="Shape 75"/>
          <p:cNvSpPr/>
          <p:nvPr/>
        </p:nvSpPr>
        <p:spPr>
          <a:xfrm>
            <a:off x="9235440" y="4082796"/>
            <a:ext cx="109728" cy="109728"/>
          </a:xfrm>
          <a:prstGeom prst="ellipse">
            <a:avLst/>
          </a:prstGeom>
          <a:solidFill>
            <a:srgbClr val="3A4A7A"/>
          </a:solidFill>
          <a:ln w="12700">
            <a:solidFill>
              <a:srgbClr val="3A4A7A"/>
            </a:solidFill>
            <a:prstDash val="solid"/>
          </a:ln>
        </p:spPr>
      </p:sp>
      <p:sp>
        <p:nvSpPr>
          <p:cNvPr id="78" name="Shape 76"/>
          <p:cNvSpPr/>
          <p:nvPr/>
        </p:nvSpPr>
        <p:spPr>
          <a:xfrm>
            <a:off x="9509760" y="4082796"/>
            <a:ext cx="109728" cy="109728"/>
          </a:xfrm>
          <a:prstGeom prst="ellipse">
            <a:avLst/>
          </a:prstGeom>
          <a:solidFill>
            <a:srgbClr val="3A4A7A"/>
          </a:solidFill>
          <a:ln w="12700">
            <a:solidFill>
              <a:srgbClr val="3A4A7A"/>
            </a:solidFill>
            <a:prstDash val="solid"/>
          </a:ln>
        </p:spPr>
      </p:sp>
      <p:sp>
        <p:nvSpPr>
          <p:cNvPr id="79" name="Shape 77"/>
          <p:cNvSpPr/>
          <p:nvPr/>
        </p:nvSpPr>
        <p:spPr>
          <a:xfrm>
            <a:off x="9784080" y="4082796"/>
            <a:ext cx="109728" cy="109728"/>
          </a:xfrm>
          <a:prstGeom prst="ellipse">
            <a:avLst/>
          </a:prstGeom>
          <a:solidFill>
            <a:srgbClr val="3A4A7A"/>
          </a:solidFill>
          <a:ln w="12700">
            <a:solidFill>
              <a:srgbClr val="3A4A7A"/>
            </a:solidFill>
            <a:prstDash val="solid"/>
          </a:ln>
        </p:spPr>
      </p:sp>
      <p:sp>
        <p:nvSpPr>
          <p:cNvPr id="80" name="Shape 78"/>
          <p:cNvSpPr/>
          <p:nvPr/>
        </p:nvSpPr>
        <p:spPr>
          <a:xfrm>
            <a:off x="10058400" y="4082796"/>
            <a:ext cx="109728" cy="109728"/>
          </a:xfrm>
          <a:prstGeom prst="ellipse">
            <a:avLst/>
          </a:prstGeom>
          <a:solidFill>
            <a:srgbClr val="3A4A7A"/>
          </a:solidFill>
          <a:ln w="12700">
            <a:solidFill>
              <a:srgbClr val="3A4A7A"/>
            </a:solidFill>
            <a:prstDash val="solid"/>
          </a:ln>
        </p:spPr>
      </p:sp>
      <p:sp>
        <p:nvSpPr>
          <p:cNvPr id="81" name="Shape 79"/>
          <p:cNvSpPr/>
          <p:nvPr/>
        </p:nvSpPr>
        <p:spPr>
          <a:xfrm>
            <a:off x="10332720" y="4082796"/>
            <a:ext cx="109728" cy="109728"/>
          </a:xfrm>
          <a:prstGeom prst="ellipse">
            <a:avLst/>
          </a:prstGeom>
          <a:solidFill>
            <a:srgbClr val="3A4A7A"/>
          </a:solidFill>
          <a:ln w="12700">
            <a:solidFill>
              <a:srgbClr val="3A4A7A"/>
            </a:solidFill>
            <a:prstDash val="solid"/>
          </a:ln>
        </p:spPr>
      </p:sp>
      <p:sp>
        <p:nvSpPr>
          <p:cNvPr id="82" name="Shape 80"/>
          <p:cNvSpPr/>
          <p:nvPr/>
        </p:nvSpPr>
        <p:spPr>
          <a:xfrm>
            <a:off x="10607040" y="4082796"/>
            <a:ext cx="109728" cy="109728"/>
          </a:xfrm>
          <a:prstGeom prst="ellipse">
            <a:avLst/>
          </a:prstGeom>
          <a:solidFill>
            <a:srgbClr val="3A4A7A"/>
          </a:solidFill>
          <a:ln w="12700">
            <a:solidFill>
              <a:srgbClr val="3A4A7A"/>
            </a:solidFill>
            <a:prstDash val="solid"/>
          </a:ln>
        </p:spPr>
      </p:sp>
      <p:sp>
        <p:nvSpPr>
          <p:cNvPr id="83" name="Shape 81"/>
          <p:cNvSpPr/>
          <p:nvPr/>
        </p:nvSpPr>
        <p:spPr>
          <a:xfrm>
            <a:off x="10881360" y="4082796"/>
            <a:ext cx="109728" cy="109728"/>
          </a:xfrm>
          <a:prstGeom prst="ellipse">
            <a:avLst/>
          </a:prstGeom>
          <a:solidFill>
            <a:srgbClr val="3A4A7A"/>
          </a:solidFill>
          <a:ln w="12700">
            <a:solidFill>
              <a:srgbClr val="3A4A7A"/>
            </a:solidFill>
            <a:prstDash val="solid"/>
          </a:ln>
        </p:spPr>
      </p:sp>
      <p:sp>
        <p:nvSpPr>
          <p:cNvPr id="84" name="Text 82"/>
          <p:cNvSpPr/>
          <p:nvPr/>
        </p:nvSpPr>
        <p:spPr>
          <a:xfrm>
            <a:off x="6995160" y="4297680"/>
            <a:ext cx="1645920" cy="320040"/>
          </a:xfrm>
          <a:prstGeom prst="rect">
            <a:avLst/>
          </a:prstGeom>
          <a:noFill/>
          <a:ln/>
        </p:spPr>
        <p:txBody>
          <a:bodyPr wrap="square" lIns="0" tIns="0" rIns="0" bIns="0" rtlCol="0" anchor="ctr"/>
          <a:lstStyle/>
          <a:p>
            <a:pPr indent="0" marL="0">
              <a:buNone/>
            </a:pPr>
            <a:r>
              <a:rPr lang="en-US" sz="800" b="1" dirty="0">
                <a:solidFill>
                  <a:srgbClr val="5A3E6A"/>
                </a:solidFill>
                <a:latin typeface="Cormorant Garamond" pitchFamily="34" charset="0"/>
                <a:ea typeface="Cormorant Garamond" pitchFamily="34" charset="-122"/>
                <a:cs typeface="Cormorant Garamond" pitchFamily="34" charset="-120"/>
              </a:rPr>
              <a:t>Doṣa</a:t>
            </a:r>
            <a:endParaRPr lang="en-US" sz="800" dirty="0"/>
          </a:p>
        </p:txBody>
      </p:sp>
      <p:sp>
        <p:nvSpPr>
          <p:cNvPr id="85" name="Shape 83"/>
          <p:cNvSpPr/>
          <p:nvPr/>
        </p:nvSpPr>
        <p:spPr>
          <a:xfrm>
            <a:off x="8686800" y="4402836"/>
            <a:ext cx="109728" cy="109728"/>
          </a:xfrm>
          <a:prstGeom prst="ellipse">
            <a:avLst/>
          </a:prstGeom>
          <a:solidFill>
            <a:srgbClr val="5A3E6A"/>
          </a:solidFill>
          <a:ln w="12700">
            <a:solidFill>
              <a:srgbClr val="5A3E6A"/>
            </a:solidFill>
            <a:prstDash val="solid"/>
          </a:ln>
        </p:spPr>
      </p:sp>
      <p:sp>
        <p:nvSpPr>
          <p:cNvPr id="86" name="Shape 84"/>
          <p:cNvSpPr/>
          <p:nvPr/>
        </p:nvSpPr>
        <p:spPr>
          <a:xfrm>
            <a:off x="8961120" y="4402836"/>
            <a:ext cx="109728" cy="109728"/>
          </a:xfrm>
          <a:prstGeom prst="ellipse">
            <a:avLst/>
          </a:prstGeom>
          <a:solidFill>
            <a:srgbClr val="5A3E6A"/>
          </a:solidFill>
          <a:ln w="12700">
            <a:solidFill>
              <a:srgbClr val="5A3E6A"/>
            </a:solidFill>
            <a:prstDash val="solid"/>
          </a:ln>
        </p:spPr>
      </p:sp>
      <p:sp>
        <p:nvSpPr>
          <p:cNvPr id="87" name="Shape 85"/>
          <p:cNvSpPr/>
          <p:nvPr/>
        </p:nvSpPr>
        <p:spPr>
          <a:xfrm>
            <a:off x="9235440" y="4402836"/>
            <a:ext cx="109728" cy="109728"/>
          </a:xfrm>
          <a:prstGeom prst="ellipse">
            <a:avLst/>
          </a:prstGeom>
          <a:solidFill>
            <a:srgbClr val="5A3E6A"/>
          </a:solidFill>
          <a:ln w="12700">
            <a:solidFill>
              <a:srgbClr val="5A3E6A"/>
            </a:solidFill>
            <a:prstDash val="solid"/>
          </a:ln>
        </p:spPr>
      </p:sp>
      <p:sp>
        <p:nvSpPr>
          <p:cNvPr id="88" name="Shape 86"/>
          <p:cNvSpPr/>
          <p:nvPr/>
        </p:nvSpPr>
        <p:spPr>
          <a:xfrm>
            <a:off x="9509760" y="4402836"/>
            <a:ext cx="109728" cy="109728"/>
          </a:xfrm>
          <a:prstGeom prst="ellipse">
            <a:avLst/>
          </a:prstGeom>
          <a:solidFill>
            <a:srgbClr val="5A3E6A"/>
          </a:solidFill>
          <a:ln w="12700">
            <a:solidFill>
              <a:srgbClr val="5A3E6A"/>
            </a:solidFill>
            <a:prstDash val="solid"/>
          </a:ln>
        </p:spPr>
      </p:sp>
      <p:sp>
        <p:nvSpPr>
          <p:cNvPr id="89" name="Shape 87"/>
          <p:cNvSpPr/>
          <p:nvPr/>
        </p:nvSpPr>
        <p:spPr>
          <a:xfrm>
            <a:off x="9784080" y="4402836"/>
            <a:ext cx="109728" cy="109728"/>
          </a:xfrm>
          <a:prstGeom prst="ellipse">
            <a:avLst/>
          </a:prstGeom>
          <a:solidFill>
            <a:srgbClr val="5A3E6A"/>
          </a:solidFill>
          <a:ln w="12700">
            <a:solidFill>
              <a:srgbClr val="5A3E6A"/>
            </a:solidFill>
            <a:prstDash val="solid"/>
          </a:ln>
        </p:spPr>
      </p:sp>
      <p:sp>
        <p:nvSpPr>
          <p:cNvPr id="90" name="Shape 88"/>
          <p:cNvSpPr/>
          <p:nvPr/>
        </p:nvSpPr>
        <p:spPr>
          <a:xfrm>
            <a:off x="10058400" y="4402836"/>
            <a:ext cx="109728" cy="109728"/>
          </a:xfrm>
          <a:prstGeom prst="ellipse">
            <a:avLst/>
          </a:prstGeom>
          <a:solidFill>
            <a:srgbClr val="5A3E6A"/>
          </a:solidFill>
          <a:ln w="12700">
            <a:solidFill>
              <a:srgbClr val="5A3E6A"/>
            </a:solidFill>
            <a:prstDash val="solid"/>
          </a:ln>
        </p:spPr>
      </p:sp>
      <p:sp>
        <p:nvSpPr>
          <p:cNvPr id="91" name="Shape 89"/>
          <p:cNvSpPr/>
          <p:nvPr/>
        </p:nvSpPr>
        <p:spPr>
          <a:xfrm>
            <a:off x="10332720" y="4402836"/>
            <a:ext cx="109728" cy="109728"/>
          </a:xfrm>
          <a:prstGeom prst="ellipse">
            <a:avLst/>
          </a:prstGeom>
          <a:solidFill>
            <a:srgbClr val="5A3E6A"/>
          </a:solidFill>
          <a:ln w="12700">
            <a:solidFill>
              <a:srgbClr val="5A3E6A"/>
            </a:solidFill>
            <a:prstDash val="solid"/>
          </a:ln>
        </p:spPr>
      </p:sp>
      <p:sp>
        <p:nvSpPr>
          <p:cNvPr id="92" name="Shape 90"/>
          <p:cNvSpPr/>
          <p:nvPr/>
        </p:nvSpPr>
        <p:spPr>
          <a:xfrm>
            <a:off x="10607040" y="4402836"/>
            <a:ext cx="109728" cy="109728"/>
          </a:xfrm>
          <a:prstGeom prst="ellipse">
            <a:avLst/>
          </a:prstGeom>
          <a:solidFill>
            <a:srgbClr val="5A3E6A"/>
          </a:solidFill>
          <a:ln w="12700">
            <a:solidFill>
              <a:srgbClr val="5A3E6A"/>
            </a:solidFill>
            <a:prstDash val="solid"/>
          </a:ln>
        </p:spPr>
      </p:sp>
      <p:sp>
        <p:nvSpPr>
          <p:cNvPr id="93" name="Text 91"/>
          <p:cNvSpPr/>
          <p:nvPr/>
        </p:nvSpPr>
        <p:spPr>
          <a:xfrm>
            <a:off x="6995160" y="4617720"/>
            <a:ext cx="1645920" cy="320040"/>
          </a:xfrm>
          <a:prstGeom prst="rect">
            <a:avLst/>
          </a:prstGeom>
          <a:noFill/>
          <a:ln/>
        </p:spPr>
        <p:txBody>
          <a:bodyPr wrap="square" lIns="0" tIns="0" rIns="0" bIns="0" rtlCol="0" anchor="ctr"/>
          <a:lstStyle/>
          <a:p>
            <a:pPr indent="0" marL="0">
              <a:buNone/>
            </a:pPr>
            <a:r>
              <a:rPr lang="en-US" sz="800" b="1" dirty="0">
                <a:solidFill>
                  <a:srgbClr val="7A1E5A"/>
                </a:solidFill>
                <a:latin typeface="Cormorant Garamond" pitchFamily="34" charset="0"/>
                <a:ea typeface="Cormorant Garamond" pitchFamily="34" charset="-122"/>
                <a:cs typeface="Cormorant Garamond" pitchFamily="34" charset="-120"/>
              </a:rPr>
              <a:t>Phala</a:t>
            </a:r>
            <a:endParaRPr lang="en-US" sz="800" dirty="0"/>
          </a:p>
        </p:txBody>
      </p:sp>
      <p:sp>
        <p:nvSpPr>
          <p:cNvPr id="94" name="Shape 92"/>
          <p:cNvSpPr/>
          <p:nvPr/>
        </p:nvSpPr>
        <p:spPr>
          <a:xfrm>
            <a:off x="8686800" y="4722876"/>
            <a:ext cx="109728" cy="109728"/>
          </a:xfrm>
          <a:prstGeom prst="ellipse">
            <a:avLst/>
          </a:prstGeom>
          <a:solidFill>
            <a:srgbClr val="7A1E5A"/>
          </a:solidFill>
          <a:ln w="12700">
            <a:solidFill>
              <a:srgbClr val="7A1E5A"/>
            </a:solidFill>
            <a:prstDash val="solid"/>
          </a:ln>
        </p:spPr>
      </p:sp>
      <p:sp>
        <p:nvSpPr>
          <p:cNvPr id="95" name="Shape 93"/>
          <p:cNvSpPr/>
          <p:nvPr/>
        </p:nvSpPr>
        <p:spPr>
          <a:xfrm>
            <a:off x="8961120" y="4722876"/>
            <a:ext cx="109728" cy="109728"/>
          </a:xfrm>
          <a:prstGeom prst="ellipse">
            <a:avLst/>
          </a:prstGeom>
          <a:solidFill>
            <a:srgbClr val="7A1E5A"/>
          </a:solidFill>
          <a:ln w="12700">
            <a:solidFill>
              <a:srgbClr val="7A1E5A"/>
            </a:solidFill>
            <a:prstDash val="solid"/>
          </a:ln>
        </p:spPr>
      </p:sp>
      <p:sp>
        <p:nvSpPr>
          <p:cNvPr id="96" name="Shape 94"/>
          <p:cNvSpPr/>
          <p:nvPr/>
        </p:nvSpPr>
        <p:spPr>
          <a:xfrm>
            <a:off x="9235440" y="4722876"/>
            <a:ext cx="109728" cy="109728"/>
          </a:xfrm>
          <a:prstGeom prst="ellipse">
            <a:avLst/>
          </a:prstGeom>
          <a:solidFill>
            <a:srgbClr val="7A1E5A"/>
          </a:solidFill>
          <a:ln w="12700">
            <a:solidFill>
              <a:srgbClr val="7A1E5A"/>
            </a:solidFill>
            <a:prstDash val="solid"/>
          </a:ln>
        </p:spPr>
      </p:sp>
      <p:sp>
        <p:nvSpPr>
          <p:cNvPr id="97" name="Shape 95"/>
          <p:cNvSpPr/>
          <p:nvPr/>
        </p:nvSpPr>
        <p:spPr>
          <a:xfrm>
            <a:off x="9509760" y="4722876"/>
            <a:ext cx="109728" cy="109728"/>
          </a:xfrm>
          <a:prstGeom prst="ellipse">
            <a:avLst/>
          </a:prstGeom>
          <a:solidFill>
            <a:srgbClr val="7A1E5A"/>
          </a:solidFill>
          <a:ln w="12700">
            <a:solidFill>
              <a:srgbClr val="7A1E5A"/>
            </a:solidFill>
            <a:prstDash val="solid"/>
          </a:ln>
        </p:spPr>
      </p:sp>
      <p:sp>
        <p:nvSpPr>
          <p:cNvPr id="98" name="Shape 96"/>
          <p:cNvSpPr/>
          <p:nvPr/>
        </p:nvSpPr>
        <p:spPr>
          <a:xfrm>
            <a:off x="9784080" y="4722876"/>
            <a:ext cx="109728" cy="109728"/>
          </a:xfrm>
          <a:prstGeom prst="ellipse">
            <a:avLst/>
          </a:prstGeom>
          <a:solidFill>
            <a:srgbClr val="7A1E5A"/>
          </a:solidFill>
          <a:ln w="12700">
            <a:solidFill>
              <a:srgbClr val="7A1E5A"/>
            </a:solidFill>
            <a:prstDash val="solid"/>
          </a:ln>
        </p:spPr>
      </p:sp>
      <p:sp>
        <p:nvSpPr>
          <p:cNvPr id="99" name="Shape 97"/>
          <p:cNvSpPr/>
          <p:nvPr/>
        </p:nvSpPr>
        <p:spPr>
          <a:xfrm>
            <a:off x="10058400" y="4722876"/>
            <a:ext cx="109728" cy="109728"/>
          </a:xfrm>
          <a:prstGeom prst="ellipse">
            <a:avLst/>
          </a:prstGeom>
          <a:solidFill>
            <a:srgbClr val="7A1E5A"/>
          </a:solidFill>
          <a:ln w="12700">
            <a:solidFill>
              <a:srgbClr val="7A1E5A"/>
            </a:solidFill>
            <a:prstDash val="solid"/>
          </a:ln>
        </p:spPr>
      </p:sp>
      <p:sp>
        <p:nvSpPr>
          <p:cNvPr id="100" name="Shape 98"/>
          <p:cNvSpPr/>
          <p:nvPr/>
        </p:nvSpPr>
        <p:spPr>
          <a:xfrm>
            <a:off x="10332720" y="4722876"/>
            <a:ext cx="109728" cy="109728"/>
          </a:xfrm>
          <a:prstGeom prst="ellipse">
            <a:avLst/>
          </a:prstGeom>
          <a:solidFill>
            <a:srgbClr val="7A1E5A"/>
          </a:solidFill>
          <a:ln w="12700">
            <a:solidFill>
              <a:srgbClr val="7A1E5A"/>
            </a:solidFill>
            <a:prstDash val="solid"/>
          </a:ln>
        </p:spPr>
      </p:sp>
      <p:sp>
        <p:nvSpPr>
          <p:cNvPr id="101" name="Shape 99"/>
          <p:cNvSpPr/>
          <p:nvPr/>
        </p:nvSpPr>
        <p:spPr>
          <a:xfrm>
            <a:off x="10607040" y="4722876"/>
            <a:ext cx="109728" cy="109728"/>
          </a:xfrm>
          <a:prstGeom prst="ellipse">
            <a:avLst/>
          </a:prstGeom>
          <a:solidFill>
            <a:srgbClr val="7A1E5A"/>
          </a:solidFill>
          <a:ln w="12700">
            <a:solidFill>
              <a:srgbClr val="7A1E5A"/>
            </a:solidFill>
            <a:prstDash val="solid"/>
          </a:ln>
        </p:spPr>
      </p:sp>
      <p:sp>
        <p:nvSpPr>
          <p:cNvPr id="102" name="Shape 100"/>
          <p:cNvSpPr/>
          <p:nvPr/>
        </p:nvSpPr>
        <p:spPr>
          <a:xfrm>
            <a:off x="10881360" y="4722876"/>
            <a:ext cx="109728" cy="109728"/>
          </a:xfrm>
          <a:prstGeom prst="ellipse">
            <a:avLst/>
          </a:prstGeom>
          <a:solidFill>
            <a:srgbClr val="7A1E5A"/>
          </a:solidFill>
          <a:ln w="12700">
            <a:solidFill>
              <a:srgbClr val="7A1E5A"/>
            </a:solidFill>
            <a:prstDash val="solid"/>
          </a:ln>
        </p:spPr>
      </p:sp>
      <p:sp>
        <p:nvSpPr>
          <p:cNvPr id="103" name="Shape 101"/>
          <p:cNvSpPr/>
          <p:nvPr/>
        </p:nvSpPr>
        <p:spPr>
          <a:xfrm>
            <a:off x="11155680" y="4722876"/>
            <a:ext cx="109728" cy="109728"/>
          </a:xfrm>
          <a:prstGeom prst="ellipse">
            <a:avLst/>
          </a:prstGeom>
          <a:solidFill>
            <a:srgbClr val="7A1E5A"/>
          </a:solidFill>
          <a:ln w="12700">
            <a:solidFill>
              <a:srgbClr val="7A1E5A"/>
            </a:solidFill>
            <a:prstDash val="solid"/>
          </a:ln>
        </p:spPr>
      </p:sp>
      <p:sp>
        <p:nvSpPr>
          <p:cNvPr id="104" name="Text 102"/>
          <p:cNvSpPr/>
          <p:nvPr/>
        </p:nvSpPr>
        <p:spPr>
          <a:xfrm>
            <a:off x="6995160" y="4937760"/>
            <a:ext cx="1645920" cy="320040"/>
          </a:xfrm>
          <a:prstGeom prst="rect">
            <a:avLst/>
          </a:prstGeom>
          <a:noFill/>
          <a:ln/>
        </p:spPr>
        <p:txBody>
          <a:bodyPr wrap="square" lIns="0" tIns="0" rIns="0" bIns="0" rtlCol="0" anchor="ctr"/>
          <a:lstStyle/>
          <a:p>
            <a:pPr indent="0" marL="0">
              <a:buNone/>
            </a:pPr>
            <a:r>
              <a:rPr lang="en-US" sz="800" b="1" dirty="0">
                <a:solidFill>
                  <a:srgbClr val="6A2E2E"/>
                </a:solidFill>
                <a:latin typeface="Cormorant Garamond" pitchFamily="34" charset="0"/>
                <a:ea typeface="Cormorant Garamond" pitchFamily="34" charset="-122"/>
                <a:cs typeface="Cormorant Garamond" pitchFamily="34" charset="-120"/>
              </a:rPr>
              <a:t>Yajña</a:t>
            </a:r>
            <a:endParaRPr lang="en-US" sz="800" dirty="0"/>
          </a:p>
        </p:txBody>
      </p:sp>
      <p:sp>
        <p:nvSpPr>
          <p:cNvPr id="105" name="Shape 103"/>
          <p:cNvSpPr/>
          <p:nvPr/>
        </p:nvSpPr>
        <p:spPr>
          <a:xfrm>
            <a:off x="8686800" y="5042916"/>
            <a:ext cx="109728" cy="109728"/>
          </a:xfrm>
          <a:prstGeom prst="ellipse">
            <a:avLst/>
          </a:prstGeom>
          <a:solidFill>
            <a:srgbClr val="6A2E2E"/>
          </a:solidFill>
          <a:ln w="12700">
            <a:solidFill>
              <a:srgbClr val="6A2E2E"/>
            </a:solidFill>
            <a:prstDash val="solid"/>
          </a:ln>
        </p:spPr>
      </p:sp>
      <p:sp>
        <p:nvSpPr>
          <p:cNvPr id="106" name="Shape 104"/>
          <p:cNvSpPr/>
          <p:nvPr/>
        </p:nvSpPr>
        <p:spPr>
          <a:xfrm>
            <a:off x="8961120" y="5042916"/>
            <a:ext cx="109728" cy="109728"/>
          </a:xfrm>
          <a:prstGeom prst="ellipse">
            <a:avLst/>
          </a:prstGeom>
          <a:solidFill>
            <a:srgbClr val="6A2E2E"/>
          </a:solidFill>
          <a:ln w="12700">
            <a:solidFill>
              <a:srgbClr val="6A2E2E"/>
            </a:solidFill>
            <a:prstDash val="solid"/>
          </a:ln>
        </p:spPr>
      </p:sp>
      <p:sp>
        <p:nvSpPr>
          <p:cNvPr id="107" name="Shape 105"/>
          <p:cNvSpPr/>
          <p:nvPr/>
        </p:nvSpPr>
        <p:spPr>
          <a:xfrm>
            <a:off x="9235440" y="5042916"/>
            <a:ext cx="109728" cy="109728"/>
          </a:xfrm>
          <a:prstGeom prst="ellipse">
            <a:avLst/>
          </a:prstGeom>
          <a:solidFill>
            <a:srgbClr val="6A2E2E"/>
          </a:solidFill>
          <a:ln w="12700">
            <a:solidFill>
              <a:srgbClr val="6A2E2E"/>
            </a:solidFill>
            <a:prstDash val="solid"/>
          </a:ln>
        </p:spPr>
      </p:sp>
      <p:sp>
        <p:nvSpPr>
          <p:cNvPr id="108" name="Shape 106"/>
          <p:cNvSpPr/>
          <p:nvPr/>
        </p:nvSpPr>
        <p:spPr>
          <a:xfrm>
            <a:off x="9509760" y="5042916"/>
            <a:ext cx="109728" cy="109728"/>
          </a:xfrm>
          <a:prstGeom prst="ellipse">
            <a:avLst/>
          </a:prstGeom>
          <a:solidFill>
            <a:srgbClr val="6A2E2E"/>
          </a:solidFill>
          <a:ln w="12700">
            <a:solidFill>
              <a:srgbClr val="6A2E2E"/>
            </a:solidFill>
            <a:prstDash val="solid"/>
          </a:ln>
        </p:spPr>
      </p:sp>
      <p:sp>
        <p:nvSpPr>
          <p:cNvPr id="109" name="Shape 107"/>
          <p:cNvSpPr/>
          <p:nvPr/>
        </p:nvSpPr>
        <p:spPr>
          <a:xfrm>
            <a:off x="9784080" y="5042916"/>
            <a:ext cx="109728" cy="109728"/>
          </a:xfrm>
          <a:prstGeom prst="ellipse">
            <a:avLst/>
          </a:prstGeom>
          <a:solidFill>
            <a:srgbClr val="6A2E2E"/>
          </a:solidFill>
          <a:ln w="12700">
            <a:solidFill>
              <a:srgbClr val="6A2E2E"/>
            </a:solidFill>
            <a:prstDash val="solid"/>
          </a:ln>
        </p:spPr>
      </p:sp>
      <p:sp>
        <p:nvSpPr>
          <p:cNvPr id="110" name="Shape 108"/>
          <p:cNvSpPr/>
          <p:nvPr/>
        </p:nvSpPr>
        <p:spPr>
          <a:xfrm>
            <a:off x="10058400" y="5042916"/>
            <a:ext cx="109728" cy="109728"/>
          </a:xfrm>
          <a:prstGeom prst="ellipse">
            <a:avLst/>
          </a:prstGeom>
          <a:solidFill>
            <a:srgbClr val="6A2E2E"/>
          </a:solidFill>
          <a:ln w="12700">
            <a:solidFill>
              <a:srgbClr val="6A2E2E"/>
            </a:solidFill>
            <a:prstDash val="solid"/>
          </a:ln>
        </p:spPr>
      </p:sp>
      <p:sp>
        <p:nvSpPr>
          <p:cNvPr id="111" name="Text 109"/>
          <p:cNvSpPr/>
          <p:nvPr/>
        </p:nvSpPr>
        <p:spPr>
          <a:xfrm>
            <a:off x="6995160" y="5257800"/>
            <a:ext cx="1645920" cy="320040"/>
          </a:xfrm>
          <a:prstGeom prst="rect">
            <a:avLst/>
          </a:prstGeom>
          <a:noFill/>
          <a:ln/>
        </p:spPr>
        <p:txBody>
          <a:bodyPr wrap="square" lIns="0" tIns="0" rIns="0" bIns="0" rtlCol="0" anchor="ctr"/>
          <a:lstStyle/>
          <a:p>
            <a:pPr indent="0" marL="0">
              <a:buNone/>
            </a:pPr>
            <a:r>
              <a:rPr lang="en-US" sz="800" b="1" dirty="0">
                <a:solidFill>
                  <a:srgbClr val="3E3A32"/>
                </a:solidFill>
                <a:latin typeface="Cormorant Garamond" pitchFamily="34" charset="0"/>
                <a:ea typeface="Cormorant Garamond" pitchFamily="34" charset="-122"/>
                <a:cs typeface="Cormorant Garamond" pitchFamily="34" charset="-120"/>
              </a:rPr>
              <a:t>Pratīka</a:t>
            </a:r>
            <a:endParaRPr lang="en-US" sz="800" dirty="0"/>
          </a:p>
        </p:txBody>
      </p:sp>
      <p:sp>
        <p:nvSpPr>
          <p:cNvPr id="112" name="Shape 110"/>
          <p:cNvSpPr/>
          <p:nvPr/>
        </p:nvSpPr>
        <p:spPr>
          <a:xfrm>
            <a:off x="8686800" y="5362956"/>
            <a:ext cx="109728" cy="109728"/>
          </a:xfrm>
          <a:prstGeom prst="ellipse">
            <a:avLst/>
          </a:prstGeom>
          <a:solidFill>
            <a:srgbClr val="3E3A32"/>
          </a:solidFill>
          <a:ln w="12700">
            <a:solidFill>
              <a:srgbClr val="3E3A32"/>
            </a:solidFill>
            <a:prstDash val="solid"/>
          </a:ln>
        </p:spPr>
      </p:sp>
      <p:sp>
        <p:nvSpPr>
          <p:cNvPr id="113" name="Shape 111"/>
          <p:cNvSpPr/>
          <p:nvPr/>
        </p:nvSpPr>
        <p:spPr>
          <a:xfrm>
            <a:off x="8961120" y="5362956"/>
            <a:ext cx="109728" cy="109728"/>
          </a:xfrm>
          <a:prstGeom prst="ellipse">
            <a:avLst/>
          </a:prstGeom>
          <a:solidFill>
            <a:srgbClr val="3E3A32"/>
          </a:solidFill>
          <a:ln w="12700">
            <a:solidFill>
              <a:srgbClr val="3E3A32"/>
            </a:solidFill>
            <a:prstDash val="solid"/>
          </a:ln>
        </p:spPr>
      </p:sp>
      <p:sp>
        <p:nvSpPr>
          <p:cNvPr id="114" name="Shape 112"/>
          <p:cNvSpPr/>
          <p:nvPr/>
        </p:nvSpPr>
        <p:spPr>
          <a:xfrm>
            <a:off x="9235440" y="5362956"/>
            <a:ext cx="109728" cy="109728"/>
          </a:xfrm>
          <a:prstGeom prst="ellipse">
            <a:avLst/>
          </a:prstGeom>
          <a:solidFill>
            <a:srgbClr val="3E3A32"/>
          </a:solidFill>
          <a:ln w="12700">
            <a:solidFill>
              <a:srgbClr val="3E3A32"/>
            </a:solidFill>
            <a:prstDash val="solid"/>
          </a:ln>
        </p:spPr>
      </p:sp>
      <p:sp>
        <p:nvSpPr>
          <p:cNvPr id="115" name="Shape 113"/>
          <p:cNvSpPr/>
          <p:nvPr/>
        </p:nvSpPr>
        <p:spPr>
          <a:xfrm>
            <a:off x="9509760" y="5362956"/>
            <a:ext cx="109728" cy="109728"/>
          </a:xfrm>
          <a:prstGeom prst="ellipse">
            <a:avLst/>
          </a:prstGeom>
          <a:solidFill>
            <a:srgbClr val="3E3A32"/>
          </a:solidFill>
          <a:ln w="12700">
            <a:solidFill>
              <a:srgbClr val="3E3A32"/>
            </a:solidFill>
            <a:prstDash val="solid"/>
          </a:ln>
        </p:spPr>
      </p:sp>
      <p:sp>
        <p:nvSpPr>
          <p:cNvPr id="116" name="Shape 114"/>
          <p:cNvSpPr/>
          <p:nvPr/>
        </p:nvSpPr>
        <p:spPr>
          <a:xfrm>
            <a:off x="9784080" y="5362956"/>
            <a:ext cx="109728" cy="109728"/>
          </a:xfrm>
          <a:prstGeom prst="ellipse">
            <a:avLst/>
          </a:prstGeom>
          <a:solidFill>
            <a:srgbClr val="3E3A32"/>
          </a:solidFill>
          <a:ln w="12700">
            <a:solidFill>
              <a:srgbClr val="3E3A32"/>
            </a:solidFill>
            <a:prstDash val="solid"/>
          </a:ln>
        </p:spPr>
      </p:sp>
      <p:sp>
        <p:nvSpPr>
          <p:cNvPr id="117" name="Shape 115"/>
          <p:cNvSpPr/>
          <p:nvPr/>
        </p:nvSpPr>
        <p:spPr>
          <a:xfrm>
            <a:off x="10058400" y="5362956"/>
            <a:ext cx="109728" cy="109728"/>
          </a:xfrm>
          <a:prstGeom prst="ellipse">
            <a:avLst/>
          </a:prstGeom>
          <a:solidFill>
            <a:srgbClr val="3E3A32"/>
          </a:solidFill>
          <a:ln w="12700">
            <a:solidFill>
              <a:srgbClr val="3E3A32"/>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B1E1A"/>
                </a:solidFill>
                <a:latin typeface="Cormorant Garamond" pitchFamily="34" charset="0"/>
                <a:ea typeface="Cormorant Garamond" pitchFamily="34" charset="-122"/>
                <a:cs typeface="Cormorant Garamond" pitchFamily="34" charset="-120"/>
              </a:rPr>
              <a:t>MADHVA READING</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Hari's absolute supremacy</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The axiom anchoring tāratamya: Hari is highest, no one his equal or superior. Every other being is strictly subordinate.</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8B1E1A"/>
                </a:solidFill>
                <a:latin typeface="Cormorant Garamond" pitchFamily="34" charset="0"/>
                <a:ea typeface="Cormorant Garamond" pitchFamily="34" charset="-122"/>
                <a:cs typeface="Cormorant Garamond" pitchFamily="34" charset="-120"/>
              </a:rPr>
              <a:t>Foundational Madhva siddhānta — pañca-bheda starts here.</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8B1E1A"/>
          </a:solidFill>
          <a:ln w="12700">
            <a:solidFill>
              <a:srgbClr val="8B1E1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Cormorant Garamond" pitchFamily="34" charset="0"/>
                <a:ea typeface="Cormorant Garamond" pitchFamily="34" charset="-122"/>
                <a:cs typeface="Cormorant Garamond" pitchFamily="34" charset="-120"/>
              </a:rPr>
              <a:t>Anchor verse</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7.7</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Cormorant Garamond" pitchFamily="34" charset="0"/>
                <a:ea typeface="Cormorant Garamond" pitchFamily="34" charset="-122"/>
                <a:cs typeface="Cormorant Garamond" pitchFamily="34" charset="-120"/>
              </a:rPr>
              <a:t>mattaḥ parataraṃ nānyat kiñcid asti dhanañjaya |</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7.7 · 11.43 · 18.65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B1E1A"/>
                </a:solidFill>
                <a:latin typeface="Cormorant Garamond" pitchFamily="34" charset="0"/>
                <a:ea typeface="Cormorant Garamond" pitchFamily="34" charset="-122"/>
                <a:cs typeface="Cormorant Garamond" pitchFamily="34" charset="-120"/>
              </a:rPr>
              <a:t>MADHVA READING</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Five real differences</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Hari-jīva, Hari-jaḍa, jīva-jaḍa, jīva-jīva, jaḍa-jaḍa — five eternal differences that Madhva siddhānta defends as ontologically real.</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8B1E1A"/>
                </a:solidFill>
                <a:latin typeface="Cormorant Garamond" pitchFamily="34" charset="0"/>
                <a:ea typeface="Cormorant Garamond" pitchFamily="34" charset="-122"/>
                <a:cs typeface="Cormorant Garamond" pitchFamily="34" charset="-120"/>
              </a:rPr>
              <a:t>Madhva-defining. Each bheda is anchored in BG (jīva 15.7, jīva-jīva-bheda implicit in svabhāva 18.41ff).</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8B1E1A"/>
          </a:solidFill>
          <a:ln w="12700">
            <a:solidFill>
              <a:srgbClr val="8B1E1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Cormorant Garamond" pitchFamily="34" charset="0"/>
                <a:ea typeface="Cormorant Garamond" pitchFamily="34" charset="-122"/>
                <a:cs typeface="Cormorant Garamond" pitchFamily="34" charset="-120"/>
              </a:rPr>
              <a:t>Anchor verse</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15.7</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Cormorant Garamond" pitchFamily="34" charset="0"/>
                <a:ea typeface="Cormorant Garamond" pitchFamily="34" charset="-122"/>
                <a:cs typeface="Cormorant Garamond" pitchFamily="34" charset="-120"/>
              </a:rPr>
              <a:t>mamaivāṃśo jīva-loke jīva-bhūtaḥ sanātanaḥ |</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7.4–5 · 15.7 · 15.16–18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B1E1A"/>
                </a:solidFill>
                <a:latin typeface="Cormorant Garamond" pitchFamily="34" charset="0"/>
                <a:ea typeface="Cormorant Garamond" pitchFamily="34" charset="-122"/>
                <a:cs typeface="Cormorant Garamond" pitchFamily="34" charset="-120"/>
              </a:rPr>
              <a:t>MADHVA READING</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Gradation of being</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The strict hierarchy of all reality under Hari — every soul has a definite, irreversible rank. The architectural principle of Madhva metaphysics.</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8B1E1A"/>
                </a:solidFill>
                <a:latin typeface="Cormorant Garamond" pitchFamily="34" charset="0"/>
                <a:ea typeface="Cormorant Garamond" pitchFamily="34" charset="-122"/>
                <a:cs typeface="Cormorant Garamond" pitchFamily="34" charset="-120"/>
              </a:rPr>
              <a:t>Distinctively Madhva. Underwrites pañca-bheda and the gradations of mukti.</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8B1E1A"/>
          </a:solidFill>
          <a:ln w="12700">
            <a:solidFill>
              <a:srgbClr val="8B1E1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Cormorant Garamond" pitchFamily="34" charset="0"/>
                <a:ea typeface="Cormorant Garamond" pitchFamily="34" charset="-122"/>
                <a:cs typeface="Cormorant Garamond" pitchFamily="34" charset="-120"/>
              </a:rPr>
              <a:t>Anchor verse</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7.7</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Cormorant Garamond" pitchFamily="34" charset="0"/>
                <a:ea typeface="Cormorant Garamond" pitchFamily="34" charset="-122"/>
                <a:cs typeface="Cormorant Garamond" pitchFamily="34" charset="-120"/>
              </a:rPr>
              <a:t>mattaḥ parataraṃ nānyat kiñcid asti dhanañjaya |</a:t>
            </a:r>
            <a:endParaRPr lang="en-US" sz="1200" dirty="0"/>
          </a:p>
          <a:p>
            <a:pPr algn="l" indent="0" marL="0">
              <a:spcAft>
                <a:spcPts val="400"/>
              </a:spcAft>
              <a:buNone/>
            </a:pPr>
            <a:r>
              <a:rPr lang="en-US" sz="1200" dirty="0">
                <a:solidFill>
                  <a:srgbClr val="3B2A1B"/>
                </a:solidFill>
                <a:latin typeface="Cormorant Garamond" pitchFamily="34" charset="0"/>
                <a:ea typeface="Cormorant Garamond" pitchFamily="34" charset="-122"/>
                <a:cs typeface="Cormorant Garamond" pitchFamily="34" charset="-120"/>
              </a:rPr>
              <a:t>mayi sarvam idaṃ protaṃ sūtre maṇi-gaṇā iva ||</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7.7 · 15.16–18</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7A1E5A"/>
                </a:solidFill>
                <a:latin typeface="Cormorant Garamond" pitchFamily="34" charset="0"/>
                <a:ea typeface="Cormorant Garamond" pitchFamily="34" charset="-122"/>
                <a:cs typeface="Cormorant Garamond" pitchFamily="34" charset="-120"/>
              </a:rPr>
              <a:t>MADHVA READING</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Fruit of surrender</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'I will release you from all sins; do not grieve' — Krishna's guarantee at 18.66. For Madhva, the crown of the Gītā.</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7A1E5A"/>
                </a:solidFill>
                <a:latin typeface="Cormorant Garamond" pitchFamily="34" charset="0"/>
                <a:ea typeface="Cormorant Garamond" pitchFamily="34" charset="-122"/>
                <a:cs typeface="Cormorant Garamond" pitchFamily="34" charset="-120"/>
              </a:rPr>
              <a:t>The carama-śloka — Madhva's direct mokṣa-upadeśa.</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7A1E5A"/>
          </a:solidFill>
          <a:ln w="12700">
            <a:solidFill>
              <a:srgbClr val="7A1E5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Cormorant Garamond" pitchFamily="34" charset="0"/>
                <a:ea typeface="Cormorant Garamond" pitchFamily="34" charset="-122"/>
                <a:cs typeface="Cormorant Garamond" pitchFamily="34" charset="-120"/>
              </a:rPr>
              <a:t>Anchor verse</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18.66</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Cormorant Garamond" pitchFamily="34" charset="0"/>
                <a:ea typeface="Cormorant Garamond" pitchFamily="34" charset="-122"/>
                <a:cs typeface="Cormorant Garamond" pitchFamily="34" charset="-120"/>
              </a:rPr>
              <a:t>sarva-dharmān parityajya mām ekaṃ śaraṇaṃ vraja |</a:t>
            </a:r>
            <a:endParaRPr lang="en-US" sz="1200" dirty="0"/>
          </a:p>
          <a:p>
            <a:pPr algn="l" indent="0" marL="0">
              <a:spcAft>
                <a:spcPts val="400"/>
              </a:spcAft>
              <a:buNone/>
            </a:pPr>
            <a:r>
              <a:rPr lang="en-US" sz="1200" dirty="0">
                <a:solidFill>
                  <a:srgbClr val="3B2A1B"/>
                </a:solidFill>
                <a:latin typeface="Cormorant Garamond" pitchFamily="34" charset="0"/>
                <a:ea typeface="Cormorant Garamond" pitchFamily="34" charset="-122"/>
                <a:cs typeface="Cormorant Garamond" pitchFamily="34" charset="-120"/>
              </a:rPr>
              <a:t>ahaṃ tvā sarva-pāpebhyo mokṣayiṣyāmi mā śucaḥ ||</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18.66</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A83F1A"/>
                </a:solidFill>
                <a:latin typeface="Cormorant Garamond" pitchFamily="34" charset="0"/>
                <a:ea typeface="Cormorant Garamond" pitchFamily="34" charset="-122"/>
                <a:cs typeface="Cormorant Garamond" pitchFamily="34" charset="-120"/>
              </a:rPr>
              <a:t>MADHVA READING</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The embodied self</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Cormorant Garamond" pitchFamily="34" charset="0"/>
                <a:ea typeface="Cormorant Garamond" pitchFamily="34" charset="-122"/>
                <a:cs typeface="Cormorant Garamond" pitchFamily="34" charset="-120"/>
              </a:rPr>
              <a:t>An eternal aṃśa of Hari (BG 15.7) — real, distinct, plural, never merged with Brahman. Bound by avidyā until released.</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A83F1A"/>
                </a:solidFill>
                <a:latin typeface="Cormorant Garamond" pitchFamily="34" charset="0"/>
                <a:ea typeface="Cormorant Garamond" pitchFamily="34" charset="-122"/>
                <a:cs typeface="Cormorant Garamond" pitchFamily="34" charset="-120"/>
              </a:rPr>
              <a:t>Jīva-bheda is real (pañca-bheda #1). Plurality of jīvas is eternal.</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A83F1A"/>
          </a:solidFill>
          <a:ln w="12700">
            <a:solidFill>
              <a:srgbClr val="A83F1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Cormorant Garamond" pitchFamily="34" charset="0"/>
                <a:ea typeface="Cormorant Garamond" pitchFamily="34" charset="-122"/>
                <a:cs typeface="Cormorant Garamond" pitchFamily="34" charset="-120"/>
              </a:rPr>
              <a:t>Anchor verse</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15.7</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Cormorant Garamond" pitchFamily="34" charset="0"/>
                <a:ea typeface="Cormorant Garamond" pitchFamily="34" charset="-122"/>
                <a:cs typeface="Cormorant Garamond" pitchFamily="34" charset="-120"/>
              </a:rPr>
              <a:t>mamaivāṃśo jīva-loke jīva-bhūtaḥ sanātanaḥ |</a:t>
            </a:r>
            <a:endParaRPr lang="en-US" sz="1200" dirty="0"/>
          </a:p>
          <a:p>
            <a:pPr algn="l" indent="0" marL="0">
              <a:spcAft>
                <a:spcPts val="400"/>
              </a:spcAft>
              <a:buNone/>
            </a:pPr>
            <a:r>
              <a:rPr lang="en-US" sz="1200" dirty="0">
                <a:solidFill>
                  <a:srgbClr val="3B2A1B"/>
                </a:solidFill>
                <a:latin typeface="Cormorant Garamond" pitchFamily="34" charset="0"/>
                <a:ea typeface="Cormorant Garamond" pitchFamily="34" charset="-122"/>
                <a:cs typeface="Cormorant Garamond" pitchFamily="34" charset="-120"/>
              </a:rPr>
              <a:t>manaḥ-ṣaṣṭhānīndriyāṇi prakṛti-sthāni karṣati ||</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15.7</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Cormorant Garamond" pitchFamily="34" charset="0"/>
                <a:ea typeface="Cormorant Garamond" pitchFamily="34" charset="-122"/>
                <a:cs typeface="Cormorant Garamond" pitchFamily="34" charset="-120"/>
              </a:rPr>
              <a:t>22</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How to use the viewer</a:t>
            </a:r>
            <a:endParaRPr lang="en-US" sz="3000" dirty="0"/>
          </a:p>
        </p:txBody>
      </p:sp>
      <p:sp>
        <p:nvSpPr>
          <p:cNvPr id="4" name="Text 2"/>
          <p:cNvSpPr/>
          <p:nvPr/>
        </p:nvSpPr>
        <p:spPr>
          <a:xfrm>
            <a:off x="548640" y="1691640"/>
            <a:ext cx="10972800" cy="4114800"/>
          </a:xfrm>
          <a:prstGeom prst="rect">
            <a:avLst/>
          </a:prstGeom>
          <a:noFill/>
          <a:ln/>
        </p:spPr>
        <p:txBody>
          <a:bodyPr wrap="square" rtlCol="0" anchor="t"/>
          <a:lstStyle/>
          <a:p>
            <a:pPr algn="l" indent="0" marL="0">
              <a:spcAft>
                <a:spcPts val="800"/>
              </a:spcAft>
              <a:buNone/>
            </a:pPr>
            <a:r>
              <a:rPr lang="en-US" sz="1500" dirty="0">
                <a:solidFill>
                  <a:srgbClr val="3B2A1B"/>
                </a:solidFill>
                <a:latin typeface="Cormorant Garamond" pitchFamily="34" charset="0"/>
                <a:ea typeface="Cormorant Garamond" pitchFamily="34" charset="-122"/>
                <a:cs typeface="Cormorant Garamond" pitchFamily="34" charset="-120"/>
              </a:rPr>
              <a:t>• Browse — every concept under its tier, with live search</a:t>
            </a:r>
            <a:endParaRPr lang="en-US" sz="1500" dirty="0"/>
          </a:p>
          <a:p>
            <a:pPr algn="l" indent="0" marL="0">
              <a:spcAft>
                <a:spcPts val="800"/>
              </a:spcAft>
              <a:buNone/>
            </a:pPr>
            <a:r>
              <a:rPr lang="en-US" sz="1500" dirty="0">
                <a:solidFill>
                  <a:srgbClr val="3B2A1B"/>
                </a:solidFill>
                <a:latin typeface="Cormorant Garamond" pitchFamily="34" charset="0"/>
                <a:ea typeface="Cormorant Garamond" pitchFamily="34" charset="-122"/>
                <a:cs typeface="Cormorant Garamond" pitchFamily="34" charset="-120"/>
              </a:rPr>
              <a:t>• Focus — verse anchor, doctrinal note, Madhva callout, every relation</a:t>
            </a:r>
            <a:endParaRPr lang="en-US" sz="1500" dirty="0"/>
          </a:p>
          <a:p>
            <a:pPr algn="l" indent="0" marL="0">
              <a:spcAft>
                <a:spcPts val="800"/>
              </a:spcAft>
              <a:buNone/>
            </a:pPr>
            <a:r>
              <a:rPr lang="en-US" sz="1500" dirty="0">
                <a:solidFill>
                  <a:srgbClr val="3B2A1B"/>
                </a:solidFill>
                <a:latin typeface="Cormorant Garamond" pitchFamily="34" charset="0"/>
                <a:ea typeface="Cormorant Garamond" pitchFamily="34" charset="-122"/>
                <a:cs typeface="Cormorant Garamond" pitchFamily="34" charset="-120"/>
              </a:rPr>
              <a:t>• Map — all 112 concepts on one celestial canvas</a:t>
            </a:r>
            <a:endParaRPr lang="en-US" sz="1500" dirty="0"/>
          </a:p>
          <a:p>
            <a:pPr algn="l" indent="0" marL="0">
              <a:spcAft>
                <a:spcPts val="800"/>
              </a:spcAft>
              <a:buNone/>
            </a:pPr>
            <a:r>
              <a:rPr lang="en-US" sz="1500" dirty="0">
                <a:solidFill>
                  <a:srgbClr val="3B2A1B"/>
                </a:solidFill>
                <a:latin typeface="Cormorant Garamond" pitchFamily="34" charset="0"/>
                <a:ea typeface="Cormorant Garamond" pitchFamily="34" charset="-122"/>
                <a:cs typeface="Cormorant Garamond" pitchFamily="34" charset="-120"/>
              </a:rPr>
              <a:t>Quad-script toggle: English · Devanāgarī · Hindi · Kannada — one tap to switch.</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Cormorant Garamond" pitchFamily="34" charset="0"/>
                <a:ea typeface="Cormorant Garamond" pitchFamily="34" charset="-122"/>
                <a:cs typeface="Cormorant Garamond" pitchFamily="34" charset="-120"/>
              </a:rPr>
              <a:t>23</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Sources</a:t>
            </a:r>
            <a:endParaRPr lang="en-US" sz="3000" dirty="0"/>
          </a:p>
        </p:txBody>
      </p:sp>
      <p:sp>
        <p:nvSpPr>
          <p:cNvPr id="4" name="Text 2"/>
          <p:cNvSpPr/>
          <p:nvPr/>
        </p:nvSpPr>
        <p:spPr>
          <a:xfrm>
            <a:off x="548640" y="1691640"/>
            <a:ext cx="10972800" cy="4389120"/>
          </a:xfrm>
          <a:prstGeom prst="rect">
            <a:avLst/>
          </a:prstGeom>
          <a:noFill/>
          <a:ln/>
        </p:spPr>
        <p:txBody>
          <a:bodyPr wrap="square" rtlCol="0" anchor="t"/>
          <a:lstStyle/>
          <a:p>
            <a:pPr algn="l" marL="342900" indent="-342900">
              <a:spcAft>
                <a:spcPts val="600"/>
              </a:spcAft>
              <a:buSzPct val="100000"/>
              <a:buChar char="•"/>
            </a:pPr>
            <a:r>
              <a:rPr lang="en-US" sz="1400" dirty="0">
                <a:solidFill>
                  <a:srgbClr val="3B2A1B"/>
                </a:solidFill>
                <a:latin typeface="Cormorant Garamond" pitchFamily="34" charset="0"/>
                <a:ea typeface="Cormorant Garamond" pitchFamily="34" charset="-122"/>
                <a:cs typeface="Cormorant Garamond" pitchFamily="34" charset="-120"/>
              </a:rPr>
              <a:t>Primary — Bhagavad Gītā (Sanskrit verse, every concept anchored)</a:t>
            </a:r>
            <a:endParaRPr lang="en-US" sz="1400" dirty="0"/>
          </a:p>
          <a:p>
            <a:pPr algn="l" marL="342900" indent="-342900">
              <a:spcAft>
                <a:spcPts val="600"/>
              </a:spcAft>
              <a:buSzPct val="100000"/>
              <a:buChar char="•"/>
            </a:pPr>
            <a:r>
              <a:rPr lang="en-US" sz="1400" dirty="0">
                <a:solidFill>
                  <a:srgbClr val="3B2A1B"/>
                </a:solidFill>
                <a:latin typeface="Cormorant Garamond" pitchFamily="34" charset="0"/>
                <a:ea typeface="Cormorant Garamond" pitchFamily="34" charset="-122"/>
                <a:cs typeface="Cormorant Garamond" pitchFamily="34" charset="-120"/>
              </a:rPr>
              <a:t>Commentary — Madhva, Gītā-bhāṣya</a:t>
            </a:r>
            <a:endParaRPr lang="en-US" sz="1400" dirty="0"/>
          </a:p>
          <a:p>
            <a:pPr algn="l" marL="342900" indent="-342900">
              <a:spcAft>
                <a:spcPts val="600"/>
              </a:spcAft>
              <a:buSzPct val="100000"/>
              <a:buChar char="•"/>
            </a:pPr>
            <a:r>
              <a:rPr lang="en-US" sz="1400" dirty="0">
                <a:solidFill>
                  <a:srgbClr val="3B2A1B"/>
                </a:solidFill>
                <a:latin typeface="Cormorant Garamond" pitchFamily="34" charset="0"/>
                <a:ea typeface="Cormorant Garamond" pitchFamily="34" charset="-122"/>
                <a:cs typeface="Cormorant Garamond" pitchFamily="34" charset="-120"/>
              </a:rPr>
              <a:t>Modern exposition — Bannanje Govindacharya, Gītā-bhāṣya (4 vols, Kannada)</a:t>
            </a:r>
            <a:endParaRPr lang="en-US" sz="1400" dirty="0"/>
          </a:p>
          <a:p>
            <a:pPr algn="l" marL="342900" indent="-342900">
              <a:spcAft>
                <a:spcPts val="600"/>
              </a:spcAft>
              <a:buSzPct val="100000"/>
              <a:buChar char="•"/>
            </a:pPr>
            <a:r>
              <a:rPr lang="en-US" sz="1400" dirty="0">
                <a:solidFill>
                  <a:srgbClr val="3B2A1B"/>
                </a:solidFill>
                <a:latin typeface="Cormorant Garamond" pitchFamily="34" charset="0"/>
                <a:ea typeface="Cormorant Garamond" pitchFamily="34" charset="-122"/>
                <a:cs typeface="Cormorant Garamond" pitchFamily="34" charset="-120"/>
              </a:rPr>
              <a:t>Doctrinal lens — BNK Sharma, Philosophy of Śrī Madhvācārya</a:t>
            </a:r>
            <a:endParaRPr lang="en-US" sz="1400" dirty="0"/>
          </a:p>
          <a:p>
            <a:pPr algn="l" marL="342900" indent="-342900">
              <a:spcAft>
                <a:spcPts val="600"/>
              </a:spcAft>
              <a:buSzPct val="100000"/>
              <a:buChar char="•"/>
            </a:pPr>
            <a:r>
              <a:rPr lang="en-US" sz="1400" dirty="0">
                <a:solidFill>
                  <a:srgbClr val="3B2A1B"/>
                </a:solidFill>
                <a:latin typeface="Cormorant Garamond" pitchFamily="34" charset="0"/>
                <a:ea typeface="Cormorant Garamond" pitchFamily="34" charset="-122"/>
                <a:cs typeface="Cormorant Garamond" pitchFamily="34" charset="-120"/>
              </a:rPr>
              <a:t>Standard — every node grounded in verse + tradition; no editorial gloss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Cormorant Garamond" pitchFamily="34" charset="0"/>
                <a:ea typeface="Cormorant Garamond" pitchFamily="34" charset="-122"/>
                <a:cs typeface="Cormorant Garamond" pitchFamily="34" charset="-120"/>
              </a:rPr>
              <a:t>24</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Cormorant Garamond" pitchFamily="34" charset="0"/>
                <a:ea typeface="Cormorant Garamond" pitchFamily="34" charset="-122"/>
                <a:cs typeface="Cormorant Garamond" pitchFamily="34" charset="-120"/>
              </a:rPr>
              <a:t>What's in the graph</a:t>
            </a:r>
            <a:endParaRPr lang="en-US" sz="3000" dirty="0"/>
          </a:p>
        </p:txBody>
      </p:sp>
      <p:sp>
        <p:nvSpPr>
          <p:cNvPr id="4" name="Shape 2"/>
          <p:cNvSpPr/>
          <p:nvPr/>
        </p:nvSpPr>
        <p:spPr>
          <a:xfrm>
            <a:off x="548640" y="1828800"/>
            <a:ext cx="2651760" cy="2011680"/>
          </a:xfrm>
          <a:prstGeom prst="rect">
            <a:avLst/>
          </a:prstGeom>
          <a:solidFill>
            <a:srgbClr val="FBF5E6"/>
          </a:solidFill>
          <a:ln w="6350">
            <a:solidFill>
              <a:srgbClr val="C9B58A"/>
            </a:solidFill>
            <a:prstDash val="solid"/>
          </a:ln>
        </p:spPr>
      </p:sp>
      <p:sp>
        <p:nvSpPr>
          <p:cNvPr id="5" name="Text 3"/>
          <p:cNvSpPr/>
          <p:nvPr/>
        </p:nvSpPr>
        <p:spPr>
          <a:xfrm>
            <a:off x="548640" y="2057400"/>
            <a:ext cx="2651760" cy="1097280"/>
          </a:xfrm>
          <a:prstGeom prst="rect">
            <a:avLst/>
          </a:prstGeom>
          <a:noFill/>
          <a:ln/>
        </p:spPr>
        <p:txBody>
          <a:bodyPr wrap="square" lIns="0" tIns="0" rIns="0" bIns="0" rtlCol="0" anchor="ctr"/>
          <a:lstStyle/>
          <a:p>
            <a:pPr algn="ctr" indent="0" marL="0">
              <a:buNone/>
            </a:pPr>
            <a:r>
              <a:rPr lang="en-US" sz="6000" b="1" dirty="0">
                <a:solidFill>
                  <a:srgbClr val="3B2A1B"/>
                </a:solidFill>
                <a:latin typeface="Cormorant Garamond" pitchFamily="34" charset="0"/>
                <a:ea typeface="Cormorant Garamond" pitchFamily="34" charset="-122"/>
                <a:cs typeface="Cormorant Garamond" pitchFamily="34" charset="-120"/>
              </a:rPr>
              <a:t>112</a:t>
            </a:r>
            <a:endParaRPr lang="en-US" sz="6000" dirty="0"/>
          </a:p>
        </p:txBody>
      </p:sp>
      <p:sp>
        <p:nvSpPr>
          <p:cNvPr id="6" name="Text 4"/>
          <p:cNvSpPr/>
          <p:nvPr/>
        </p:nvSpPr>
        <p:spPr>
          <a:xfrm>
            <a:off x="548640" y="3154680"/>
            <a:ext cx="2651760" cy="502920"/>
          </a:xfrm>
          <a:prstGeom prst="rect">
            <a:avLst/>
          </a:prstGeom>
          <a:noFill/>
          <a:ln/>
        </p:spPr>
        <p:txBody>
          <a:bodyPr wrap="square" lIns="0" tIns="0" rIns="0" bIns="0" rtlCol="0" anchor="ctr"/>
          <a:lstStyle/>
          <a:p>
            <a:pPr algn="ctr" indent="0" marL="0">
              <a:buNone/>
            </a:pPr>
            <a:r>
              <a:rPr lang="en-US" sz="1300" spc="200" kern="0" dirty="0">
                <a:solidFill>
                  <a:srgbClr val="5A4632"/>
                </a:solidFill>
                <a:latin typeface="Cormorant Garamond" pitchFamily="34" charset="0"/>
                <a:ea typeface="Cormorant Garamond" pitchFamily="34" charset="-122"/>
                <a:cs typeface="Cormorant Garamond" pitchFamily="34" charset="-120"/>
              </a:rPr>
              <a:t>Concepts</a:t>
            </a:r>
            <a:endParaRPr lang="en-US" sz="1300" dirty="0"/>
          </a:p>
        </p:txBody>
      </p:sp>
      <p:sp>
        <p:nvSpPr>
          <p:cNvPr id="7" name="Shape 5"/>
          <p:cNvSpPr/>
          <p:nvPr/>
        </p:nvSpPr>
        <p:spPr>
          <a:xfrm>
            <a:off x="3383280" y="1828800"/>
            <a:ext cx="2651760" cy="2011680"/>
          </a:xfrm>
          <a:prstGeom prst="rect">
            <a:avLst/>
          </a:prstGeom>
          <a:solidFill>
            <a:srgbClr val="FBF5E6"/>
          </a:solidFill>
          <a:ln w="6350">
            <a:solidFill>
              <a:srgbClr val="C9B58A"/>
            </a:solidFill>
            <a:prstDash val="solid"/>
          </a:ln>
        </p:spPr>
      </p:sp>
      <p:sp>
        <p:nvSpPr>
          <p:cNvPr id="8" name="Text 6"/>
          <p:cNvSpPr/>
          <p:nvPr/>
        </p:nvSpPr>
        <p:spPr>
          <a:xfrm>
            <a:off x="3383280" y="2057400"/>
            <a:ext cx="2651760" cy="1097280"/>
          </a:xfrm>
          <a:prstGeom prst="rect">
            <a:avLst/>
          </a:prstGeom>
          <a:noFill/>
          <a:ln/>
        </p:spPr>
        <p:txBody>
          <a:bodyPr wrap="square" lIns="0" tIns="0" rIns="0" bIns="0" rtlCol="0" anchor="ctr"/>
          <a:lstStyle/>
          <a:p>
            <a:pPr algn="ctr" indent="0" marL="0">
              <a:buNone/>
            </a:pPr>
            <a:r>
              <a:rPr lang="en-US" sz="6000" b="1" dirty="0">
                <a:solidFill>
                  <a:srgbClr val="3B2A1B"/>
                </a:solidFill>
                <a:latin typeface="Cormorant Garamond" pitchFamily="34" charset="0"/>
                <a:ea typeface="Cormorant Garamond" pitchFamily="34" charset="-122"/>
                <a:cs typeface="Cormorant Garamond" pitchFamily="34" charset="-120"/>
              </a:rPr>
              <a:t>124</a:t>
            </a:r>
            <a:endParaRPr lang="en-US" sz="6000" dirty="0"/>
          </a:p>
        </p:txBody>
      </p:sp>
      <p:sp>
        <p:nvSpPr>
          <p:cNvPr id="9" name="Text 7"/>
          <p:cNvSpPr/>
          <p:nvPr/>
        </p:nvSpPr>
        <p:spPr>
          <a:xfrm>
            <a:off x="3383280" y="3154680"/>
            <a:ext cx="2651760" cy="502920"/>
          </a:xfrm>
          <a:prstGeom prst="rect">
            <a:avLst/>
          </a:prstGeom>
          <a:noFill/>
          <a:ln/>
        </p:spPr>
        <p:txBody>
          <a:bodyPr wrap="square" lIns="0" tIns="0" rIns="0" bIns="0" rtlCol="0" anchor="ctr"/>
          <a:lstStyle/>
          <a:p>
            <a:pPr algn="ctr" indent="0" marL="0">
              <a:buNone/>
            </a:pPr>
            <a:r>
              <a:rPr lang="en-US" sz="1300" spc="200" kern="0" dirty="0">
                <a:solidFill>
                  <a:srgbClr val="5A4632"/>
                </a:solidFill>
                <a:latin typeface="Cormorant Garamond" pitchFamily="34" charset="0"/>
                <a:ea typeface="Cormorant Garamond" pitchFamily="34" charset="-122"/>
                <a:cs typeface="Cormorant Garamond" pitchFamily="34" charset="-120"/>
              </a:rPr>
              <a:t>Relations</a:t>
            </a:r>
            <a:endParaRPr lang="en-US" sz="1300" dirty="0"/>
          </a:p>
        </p:txBody>
      </p:sp>
      <p:sp>
        <p:nvSpPr>
          <p:cNvPr id="10" name="Shape 8"/>
          <p:cNvSpPr/>
          <p:nvPr/>
        </p:nvSpPr>
        <p:spPr>
          <a:xfrm>
            <a:off x="6217920" y="1828800"/>
            <a:ext cx="2651760" cy="2011680"/>
          </a:xfrm>
          <a:prstGeom prst="rect">
            <a:avLst/>
          </a:prstGeom>
          <a:solidFill>
            <a:srgbClr val="FBF5E6"/>
          </a:solidFill>
          <a:ln w="6350">
            <a:solidFill>
              <a:srgbClr val="C9B58A"/>
            </a:solidFill>
            <a:prstDash val="solid"/>
          </a:ln>
        </p:spPr>
      </p:sp>
      <p:sp>
        <p:nvSpPr>
          <p:cNvPr id="11" name="Text 9"/>
          <p:cNvSpPr/>
          <p:nvPr/>
        </p:nvSpPr>
        <p:spPr>
          <a:xfrm>
            <a:off x="6217920" y="2057400"/>
            <a:ext cx="2651760" cy="1097280"/>
          </a:xfrm>
          <a:prstGeom prst="rect">
            <a:avLst/>
          </a:prstGeom>
          <a:noFill/>
          <a:ln/>
        </p:spPr>
        <p:txBody>
          <a:bodyPr wrap="square" lIns="0" tIns="0" rIns="0" bIns="0" rtlCol="0" anchor="ctr"/>
          <a:lstStyle/>
          <a:p>
            <a:pPr algn="ctr" indent="0" marL="0">
              <a:buNone/>
            </a:pPr>
            <a:r>
              <a:rPr lang="en-US" sz="6000" b="1" dirty="0">
                <a:solidFill>
                  <a:srgbClr val="3B2A1B"/>
                </a:solidFill>
                <a:latin typeface="Cormorant Garamond" pitchFamily="34" charset="0"/>
                <a:ea typeface="Cormorant Garamond" pitchFamily="34" charset="-122"/>
                <a:cs typeface="Cormorant Garamond" pitchFamily="34" charset="-120"/>
              </a:rPr>
              <a:t>12</a:t>
            </a:r>
            <a:endParaRPr lang="en-US" sz="6000" dirty="0"/>
          </a:p>
        </p:txBody>
      </p:sp>
      <p:sp>
        <p:nvSpPr>
          <p:cNvPr id="12" name="Text 10"/>
          <p:cNvSpPr/>
          <p:nvPr/>
        </p:nvSpPr>
        <p:spPr>
          <a:xfrm>
            <a:off x="6217920" y="3154680"/>
            <a:ext cx="2651760" cy="502920"/>
          </a:xfrm>
          <a:prstGeom prst="rect">
            <a:avLst/>
          </a:prstGeom>
          <a:noFill/>
          <a:ln/>
        </p:spPr>
        <p:txBody>
          <a:bodyPr wrap="square" lIns="0" tIns="0" rIns="0" bIns="0" rtlCol="0" anchor="ctr"/>
          <a:lstStyle/>
          <a:p>
            <a:pPr algn="ctr" indent="0" marL="0">
              <a:buNone/>
            </a:pPr>
            <a:r>
              <a:rPr lang="en-US" sz="1300" spc="200" kern="0" dirty="0">
                <a:solidFill>
                  <a:srgbClr val="5A4632"/>
                </a:solidFill>
                <a:latin typeface="Cormorant Garamond" pitchFamily="34" charset="0"/>
                <a:ea typeface="Cormorant Garamond" pitchFamily="34" charset="-122"/>
                <a:cs typeface="Cormorant Garamond" pitchFamily="34" charset="-120"/>
              </a:rPr>
              <a:t>Tiers</a:t>
            </a:r>
            <a:endParaRPr lang="en-US" sz="1300" dirty="0"/>
          </a:p>
        </p:txBody>
      </p:sp>
      <p:sp>
        <p:nvSpPr>
          <p:cNvPr id="13" name="Shape 11"/>
          <p:cNvSpPr/>
          <p:nvPr/>
        </p:nvSpPr>
        <p:spPr>
          <a:xfrm>
            <a:off x="9052560" y="1828800"/>
            <a:ext cx="2651760" cy="2011680"/>
          </a:xfrm>
          <a:prstGeom prst="rect">
            <a:avLst/>
          </a:prstGeom>
          <a:solidFill>
            <a:srgbClr val="FBF5E6"/>
          </a:solidFill>
          <a:ln w="6350">
            <a:solidFill>
              <a:srgbClr val="C9B58A"/>
            </a:solidFill>
            <a:prstDash val="solid"/>
          </a:ln>
        </p:spPr>
      </p:sp>
      <p:sp>
        <p:nvSpPr>
          <p:cNvPr id="14" name="Text 12"/>
          <p:cNvSpPr/>
          <p:nvPr/>
        </p:nvSpPr>
        <p:spPr>
          <a:xfrm>
            <a:off x="9052560" y="2057400"/>
            <a:ext cx="2651760" cy="1097280"/>
          </a:xfrm>
          <a:prstGeom prst="rect">
            <a:avLst/>
          </a:prstGeom>
          <a:noFill/>
          <a:ln/>
        </p:spPr>
        <p:txBody>
          <a:bodyPr wrap="square" lIns="0" tIns="0" rIns="0" bIns="0" rtlCol="0" anchor="ctr"/>
          <a:lstStyle/>
          <a:p>
            <a:pPr algn="ctr" indent="0" marL="0">
              <a:buNone/>
            </a:pPr>
            <a:r>
              <a:rPr lang="en-US" sz="6000" b="1" dirty="0">
                <a:solidFill>
                  <a:srgbClr val="3B2A1B"/>
                </a:solidFill>
                <a:latin typeface="Cormorant Garamond" pitchFamily="34" charset="0"/>
                <a:ea typeface="Cormorant Garamond" pitchFamily="34" charset="-122"/>
                <a:cs typeface="Cormorant Garamond" pitchFamily="34" charset="-120"/>
              </a:rPr>
              <a:t>112</a:t>
            </a:r>
            <a:endParaRPr lang="en-US" sz="6000" dirty="0"/>
          </a:p>
        </p:txBody>
      </p:sp>
      <p:sp>
        <p:nvSpPr>
          <p:cNvPr id="15" name="Text 13"/>
          <p:cNvSpPr/>
          <p:nvPr/>
        </p:nvSpPr>
        <p:spPr>
          <a:xfrm>
            <a:off x="9052560" y="3154680"/>
            <a:ext cx="2651760" cy="502920"/>
          </a:xfrm>
          <a:prstGeom prst="rect">
            <a:avLst/>
          </a:prstGeom>
          <a:noFill/>
          <a:ln/>
        </p:spPr>
        <p:txBody>
          <a:bodyPr wrap="square" lIns="0" tIns="0" rIns="0" bIns="0" rtlCol="0" anchor="ctr"/>
          <a:lstStyle/>
          <a:p>
            <a:pPr algn="ctr" indent="0" marL="0">
              <a:buNone/>
            </a:pPr>
            <a:r>
              <a:rPr lang="en-US" sz="1300" spc="200" kern="0" dirty="0">
                <a:solidFill>
                  <a:srgbClr val="5A4632"/>
                </a:solidFill>
                <a:latin typeface="Cormorant Garamond" pitchFamily="34" charset="0"/>
                <a:ea typeface="Cormorant Garamond" pitchFamily="34" charset="-122"/>
                <a:cs typeface="Cormorant Garamond" pitchFamily="34" charset="-120"/>
              </a:rPr>
              <a:t>Verse anchors</a:t>
            </a:r>
            <a:endParaRPr lang="en-US" sz="1300" dirty="0"/>
          </a:p>
        </p:txBody>
      </p:sp>
      <p:sp>
        <p:nvSpPr>
          <p:cNvPr id="16" name="Text 14"/>
          <p:cNvSpPr/>
          <p:nvPr/>
        </p:nvSpPr>
        <p:spPr>
          <a:xfrm>
            <a:off x="548640" y="4572000"/>
            <a:ext cx="10972800" cy="457200"/>
          </a:xfrm>
          <a:prstGeom prst="rect">
            <a:avLst/>
          </a:prstGeom>
          <a:noFill/>
          <a:ln/>
        </p:spPr>
        <p:txBody>
          <a:bodyPr wrap="square" rtlCol="0" anchor="ctr"/>
          <a:lstStyle/>
          <a:p>
            <a:pPr algn="ctr" indent="0" marL="0">
              <a:buNone/>
            </a:pPr>
            <a:r>
              <a:rPr lang="en-US" sz="1800" i="1" dirty="0">
                <a:solidFill>
                  <a:srgbClr val="5A4632"/>
                </a:solidFill>
                <a:latin typeface="Cormorant Garamond" pitchFamily="34" charset="0"/>
                <a:ea typeface="Cormorant Garamond" pitchFamily="34" charset="-122"/>
                <a:cs typeface="Cormorant Garamond" pitchFamily="34" charset="-120"/>
              </a:rPr>
              <a:t>github.com/kvinayakpai/Bhagavadgita</a:t>
            </a:r>
            <a:endParaRPr lang="en-US" sz="1800" dirty="0"/>
          </a:p>
        </p:txBody>
      </p:sp>
      <p:sp>
        <p:nvSpPr>
          <p:cNvPr id="17" name="Text 15"/>
          <p:cNvSpPr/>
          <p:nvPr/>
        </p:nvSpPr>
        <p:spPr>
          <a:xfrm>
            <a:off x="548640" y="5074920"/>
            <a:ext cx="10972800" cy="365760"/>
          </a:xfrm>
          <a:prstGeom prst="rect">
            <a:avLst/>
          </a:prstGeom>
          <a:noFill/>
          <a:ln/>
        </p:spPr>
        <p:txBody>
          <a:bodyPr wrap="square" rtlCol="0" anchor="ctr"/>
          <a:lstStyle/>
          <a:p>
            <a:pPr algn="ctr" indent="0" marL="0">
              <a:buNone/>
            </a:pPr>
            <a:r>
              <a:rPr lang="en-US" sz="1100" i="1" dirty="0">
                <a:solidFill>
                  <a:srgbClr val="8A7558"/>
                </a:solidFill>
                <a:latin typeface="Cormorant Garamond" pitchFamily="34" charset="0"/>
                <a:ea typeface="Cormorant Garamond" pitchFamily="34" charset="-122"/>
                <a:cs typeface="Cormorant Garamond" pitchFamily="34" charset="-120"/>
              </a:rPr>
              <a:t>MIT · open source · build-decks.js generates this deck</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457200" y="2286000"/>
            <a:ext cx="11247120" cy="914400"/>
          </a:xfrm>
          <a:prstGeom prst="rect">
            <a:avLst/>
          </a:prstGeom>
          <a:noFill/>
          <a:ln/>
        </p:spPr>
        <p:txBody>
          <a:bodyPr wrap="square" rtlCol="0" anchor="ctr"/>
          <a:lstStyle/>
          <a:p>
            <a:pPr algn="ctr" indent="0" marL="0">
              <a:buNone/>
            </a:pPr>
            <a:r>
              <a:rPr lang="en-US" sz="4400" b="1" dirty="0">
                <a:solidFill>
                  <a:srgbClr val="3B2A1B"/>
                </a:solidFill>
                <a:latin typeface="Cormorant Garamond" pitchFamily="34" charset="0"/>
                <a:ea typeface="Cormorant Garamond" pitchFamily="34" charset="-122"/>
                <a:cs typeface="Cormorant Garamond" pitchFamily="34" charset="-120"/>
              </a:rPr>
              <a:t>namaḥ pārtha-sārathaye</a:t>
            </a:r>
            <a:endParaRPr lang="en-US" sz="4400" dirty="0"/>
          </a:p>
        </p:txBody>
      </p:sp>
      <p:sp>
        <p:nvSpPr>
          <p:cNvPr id="3" name="Shape 1"/>
          <p:cNvSpPr/>
          <p:nvPr/>
        </p:nvSpPr>
        <p:spPr>
          <a:xfrm>
            <a:off x="5394960" y="3337560"/>
            <a:ext cx="1371600" cy="18288"/>
          </a:xfrm>
          <a:prstGeom prst="rect">
            <a:avLst/>
          </a:prstGeom>
          <a:solidFill>
            <a:srgbClr val="C9B58A"/>
          </a:solidFill>
          <a:ln w="6350">
            <a:solidFill>
              <a:srgbClr val="C9B58A"/>
            </a:solidFill>
            <a:prstDash val="solid"/>
          </a:ln>
        </p:spPr>
      </p:sp>
      <p:sp>
        <p:nvSpPr>
          <p:cNvPr id="4" name="Text 2"/>
          <p:cNvSpPr/>
          <p:nvPr/>
        </p:nvSpPr>
        <p:spPr>
          <a:xfrm>
            <a:off x="457200" y="3520440"/>
            <a:ext cx="11247120" cy="640080"/>
          </a:xfrm>
          <a:prstGeom prst="rect">
            <a:avLst/>
          </a:prstGeom>
          <a:noFill/>
          <a:ln/>
        </p:spPr>
        <p:txBody>
          <a:bodyPr wrap="square" rtlCol="0" anchor="ctr"/>
          <a:lstStyle/>
          <a:p>
            <a:pPr algn="ctr" indent="0" marL="0">
              <a:buNone/>
            </a:pPr>
            <a:r>
              <a:rPr lang="en-US" sz="1800" i="1" dirty="0">
                <a:solidFill>
                  <a:srgbClr val="5A4632"/>
                </a:solidFill>
                <a:latin typeface="Cormorant Garamond" pitchFamily="34" charset="0"/>
                <a:ea typeface="Cormorant Garamond" pitchFamily="34" charset="-122"/>
                <a:cs typeface="Cormorant Garamond" pitchFamily="34" charset="-120"/>
              </a:rPr>
              <a:t>śrī-kṛṣṇārpaṇam astu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Bhagavad Gītā Concept KG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Bhagavad Gītā · Concept KG</dc:title>
  <dc:subject>Madhva siddhānta · concept knowledge graph of the BG</dc:subject>
  <dc:creator>kvinayakpai</dc:creator>
  <cp:lastModifiedBy>kvinayakpai</cp:lastModifiedBy>
  <cp:revision>1</cp:revision>
  <dcterms:created xsi:type="dcterms:W3CDTF">2026-05-17T16:09:51Z</dcterms:created>
  <dcterms:modified xsi:type="dcterms:W3CDTF">2026-05-17T16:09:51Z</dcterms:modified>
</cp:coreProperties>
</file>