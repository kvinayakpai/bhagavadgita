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457200" y="1463040"/>
            <a:ext cx="11247120" cy="1280160"/>
          </a:xfrm>
          <a:prstGeom prst="rect">
            <a:avLst/>
          </a:prstGeom>
          <a:noFill/>
          <a:ln/>
        </p:spPr>
        <p:txBody>
          <a:bodyPr wrap="square" rtlCol="0" anchor="ctr"/>
          <a:lstStyle/>
          <a:p>
            <a:pPr algn="ctr" indent="0" marL="0">
              <a:buNone/>
            </a:pPr>
            <a:r>
              <a:rPr lang="en-US" sz="4800" b="1" dirty="0">
                <a:solidFill>
                  <a:srgbClr val="3B2A1B"/>
                </a:solidFill>
                <a:latin typeface="Tiro Devanagari Hindi" pitchFamily="34" charset="0"/>
                <a:ea typeface="Tiro Devanagari Hindi" pitchFamily="34" charset="-122"/>
                <a:cs typeface="Tiro Devanagari Hindi" pitchFamily="34" charset="-120"/>
              </a:rPr>
              <a:t>भगवद्गीता · संकल्पना ज्ञान-ग्राफ</a:t>
            </a:r>
            <a:endParaRPr lang="en-US" sz="4800" dirty="0"/>
          </a:p>
        </p:txBody>
      </p:sp>
      <p:sp>
        <p:nvSpPr>
          <p:cNvPr id="3" name="Text 1"/>
          <p:cNvSpPr/>
          <p:nvPr/>
        </p:nvSpPr>
        <p:spPr>
          <a:xfrm>
            <a:off x="457200" y="2788920"/>
            <a:ext cx="11247120" cy="548640"/>
          </a:xfrm>
          <a:prstGeom prst="rect">
            <a:avLst/>
          </a:prstGeom>
          <a:noFill/>
          <a:ln/>
        </p:spPr>
        <p:txBody>
          <a:bodyPr wrap="square" rtlCol="0" anchor="ctr"/>
          <a:lstStyle/>
          <a:p>
            <a:pPr algn="ctr" indent="0" marL="0">
              <a:buNone/>
            </a:pPr>
            <a:r>
              <a:rPr lang="en-US" sz="2200" i="1" dirty="0">
                <a:solidFill>
                  <a:srgbClr val="5A4632"/>
                </a:solidFill>
                <a:latin typeface="Tiro Devanagari Hindi" pitchFamily="34" charset="0"/>
                <a:ea typeface="Tiro Devanagari Hindi" pitchFamily="34" charset="-122"/>
                <a:cs typeface="Tiro Devanagari Hindi" pitchFamily="34" charset="-120"/>
              </a:rPr>
              <a:t>मध्व-सिद्धांत के अनुसार पाठ</a:t>
            </a:r>
            <a:endParaRPr lang="en-US" sz="2200" dirty="0"/>
          </a:p>
        </p:txBody>
      </p:sp>
      <p:sp>
        <p:nvSpPr>
          <p:cNvPr id="4" name="Shape 2"/>
          <p:cNvSpPr/>
          <p:nvPr/>
        </p:nvSpPr>
        <p:spPr>
          <a:xfrm>
            <a:off x="5166360" y="3520440"/>
            <a:ext cx="1828800" cy="18288"/>
          </a:xfrm>
          <a:prstGeom prst="rect">
            <a:avLst/>
          </a:prstGeom>
          <a:solidFill>
            <a:srgbClr val="C9B58A"/>
          </a:solidFill>
          <a:ln w="6350">
            <a:solidFill>
              <a:srgbClr val="C9B58A"/>
            </a:solidFill>
            <a:prstDash val="solid"/>
          </a:ln>
        </p:spPr>
      </p:sp>
      <p:sp>
        <p:nvSpPr>
          <p:cNvPr id="5" name="Text 3"/>
          <p:cNvSpPr/>
          <p:nvPr/>
        </p:nvSpPr>
        <p:spPr>
          <a:xfrm>
            <a:off x="457200" y="3749040"/>
            <a:ext cx="11247120" cy="457200"/>
          </a:xfrm>
          <a:prstGeom prst="rect">
            <a:avLst/>
          </a:prstGeom>
          <a:noFill/>
          <a:ln/>
        </p:spPr>
        <p:txBody>
          <a:bodyPr wrap="square" rtlCol="0" anchor="ctr"/>
          <a:lstStyle/>
          <a:p>
            <a:pPr algn="ctr" indent="0" marL="0">
              <a:buNone/>
            </a:pPr>
            <a:r>
              <a:rPr lang="en-US" sz="1400" dirty="0">
                <a:solidFill>
                  <a:srgbClr val="8A7558"/>
                </a:solidFill>
                <a:latin typeface="Tiro Devanagari Hindi" pitchFamily="34" charset="0"/>
                <a:ea typeface="Tiro Devanagari Hindi" pitchFamily="34" charset="-122"/>
                <a:cs typeface="Tiro Devanagari Hindi" pitchFamily="34" charset="-120"/>
              </a:rPr>
              <a:t>संकल्पना ग्राफ · मध्व</a:t>
            </a:r>
            <a:endParaRPr lang="en-US" sz="1400" dirty="0"/>
          </a:p>
        </p:txBody>
      </p:sp>
      <p:sp>
        <p:nvSpPr>
          <p:cNvPr id="6" name="Text 4"/>
          <p:cNvSpPr/>
          <p:nvPr/>
        </p:nvSpPr>
        <p:spPr>
          <a:xfrm>
            <a:off x="457200" y="6263640"/>
            <a:ext cx="11247120" cy="365760"/>
          </a:xfrm>
          <a:prstGeom prst="rect">
            <a:avLst/>
          </a:prstGeom>
          <a:noFill/>
          <a:ln/>
        </p:spPr>
        <p:txBody>
          <a:bodyPr wrap="square" rtlCol="0" anchor="ctr"/>
          <a:lstStyle/>
          <a:p>
            <a:pPr algn="ctr" indent="0" marL="0">
              <a:buNone/>
            </a:pPr>
            <a:r>
              <a:rPr lang="en-US" sz="1000" dirty="0">
                <a:solidFill>
                  <a:srgbClr val="8A7558"/>
                </a:solidFill>
                <a:latin typeface="Tiro Devanagari Hindi" pitchFamily="34" charset="0"/>
                <a:ea typeface="Tiro Devanagari Hindi" pitchFamily="34" charset="-122"/>
                <a:cs typeface="Tiro Devanagari Hindi" pitchFamily="34" charset="-120"/>
              </a:rPr>
              <a:t>Concept KG · github.com/kvinayakpai/Bhagavadgita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Tiro Devanagari Hindi" pitchFamily="34" charset="0"/>
                <a:ea typeface="Tiro Devanagari Hindi" pitchFamily="34" charset="-122"/>
                <a:cs typeface="Tiro Devanagari Hindi" pitchFamily="34" charset="-120"/>
              </a:rPr>
              <a:t>01</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यह क्यों बनाया गया</a:t>
            </a:r>
            <a:endParaRPr lang="en-US" sz="3000" dirty="0"/>
          </a:p>
        </p:txBody>
      </p:sp>
      <p:sp>
        <p:nvSpPr>
          <p:cNvPr id="4" name="Text 2"/>
          <p:cNvSpPr/>
          <p:nvPr/>
        </p:nvSpPr>
        <p:spPr>
          <a:xfrm>
            <a:off x="548640" y="1600200"/>
            <a:ext cx="10972800" cy="4114800"/>
          </a:xfrm>
          <a:prstGeom prst="rect">
            <a:avLst/>
          </a:prstGeom>
          <a:noFill/>
          <a:ln/>
        </p:spPr>
        <p:txBody>
          <a:bodyPr wrap="square" rtlCol="0" anchor="t"/>
          <a:lstStyle/>
          <a:p>
            <a:pPr algn="l" indent="0" marL="0">
              <a:spcAft>
                <a:spcPts val="800"/>
              </a:spcAft>
              <a:buNone/>
            </a:pPr>
            <a:r>
              <a:rPr lang="en-US" sz="1800" dirty="0">
                <a:solidFill>
                  <a:srgbClr val="3B2A1B"/>
                </a:solidFill>
                <a:latin typeface="Tiro Devanagari Hindi" pitchFamily="34" charset="0"/>
                <a:ea typeface="Tiro Devanagari Hindi" pitchFamily="34" charset="-122"/>
                <a:cs typeface="Tiro Devanagari Hindi" pitchFamily="34" charset="-120"/>
              </a:rPr>
              <a:t>गीता के ७०० श्लोक ब्रह्मांड, धर्म और तत्त्व-विद्या को सैकड़ों संकल्पनाओं में बुनते हैं। एक बार क्रम से पढ़ना तो हो जाता है, परंतु सभी योगों, दोषों, यज्ञों और फलों के बीच की रचनात्मक कड़ियाँ धुंधली पड़ जाती हैं। यह संकल्पना ज्ञान-ग्राफ पूरा जाल खोलकर रखता है — हर संकल्पना एक श्लोक से जुड़ी, हर संबंध वर्गीकृत और चिह्नित, और सबकुछ मध्व-सिद्धांत की दृष्टि से पढ़ा हुआ।</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Tiro Devanagari Hindi" pitchFamily="34" charset="0"/>
                <a:ea typeface="Tiro Devanagari Hindi" pitchFamily="34" charset="-122"/>
                <a:cs typeface="Tiro Devanagari Hindi" pitchFamily="34" charset="-120"/>
              </a:rPr>
              <a:t>02</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बारह स्तर</a:t>
            </a:r>
            <a:endParaRPr lang="en-US" sz="3000" dirty="0"/>
          </a:p>
        </p:txBody>
      </p:sp>
      <p:sp>
        <p:nvSpPr>
          <p:cNvPr id="4" name="Text 2"/>
          <p:cNvSpPr/>
          <p:nvPr/>
        </p:nvSpPr>
        <p:spPr>
          <a:xfrm>
            <a:off x="548640" y="1600200"/>
            <a:ext cx="10972800" cy="1188720"/>
          </a:xfrm>
          <a:prstGeom prst="rect">
            <a:avLst/>
          </a:prstGeom>
          <a:noFill/>
          <a:ln/>
        </p:spPr>
        <p:txBody>
          <a:bodyPr wrap="square" rtlCol="0" anchor="t"/>
          <a:lstStyle/>
          <a:p>
            <a:pPr algn="l" indent="0" marL="0">
              <a:spcAft>
                <a:spcPts val="400"/>
              </a:spcAft>
              <a:buNone/>
            </a:pPr>
            <a:r>
              <a:rPr lang="en-US" sz="1300" i="1" dirty="0">
                <a:solidFill>
                  <a:srgbClr val="5A4632"/>
                </a:solidFill>
                <a:latin typeface="Tiro Devanagari Hindi" pitchFamily="34" charset="0"/>
                <a:ea typeface="Tiro Devanagari Hindi" pitchFamily="34" charset="-122"/>
                <a:cs typeface="Tiro Devanagari Hindi" pitchFamily="34" charset="-120"/>
              </a:rPr>
              <a:t>संकल्पनाओं को बारह तारतम्य-स्तरों में बाँटा गया है — परमार्थ से लेकर प्रतीक तक एक सीढ़ी। हर स्तर एक ही प्रकार की संकल्पनाओं को साथ लाता है। संबंध (is-a, leads-to, antidote-to, arises-from, opposite-of, includes, predicates-on, transforms-into) उन्हें श्लोक-दर-श्लोक उसी ढंग से जोड़ते हैं जैसा गीता स्वयं करती है।</a:t>
            </a:r>
            <a:endParaRPr lang="en-US" sz="1300" dirty="0"/>
          </a:p>
        </p:txBody>
      </p:sp>
      <p:sp>
        <p:nvSpPr>
          <p:cNvPr id="5" name="Shape 3"/>
          <p:cNvSpPr/>
          <p:nvPr/>
        </p:nvSpPr>
        <p:spPr>
          <a:xfrm>
            <a:off x="548640" y="2958084"/>
            <a:ext cx="164592" cy="164592"/>
          </a:xfrm>
          <a:prstGeom prst="ellipse">
            <a:avLst/>
          </a:prstGeom>
          <a:solidFill>
            <a:srgbClr val="8B1E1A"/>
          </a:solidFill>
          <a:ln w="12700">
            <a:solidFill>
              <a:srgbClr val="8B1E1A"/>
            </a:solidFill>
            <a:prstDash val="solid"/>
          </a:ln>
        </p:spPr>
      </p:sp>
      <p:sp>
        <p:nvSpPr>
          <p:cNvPr id="6" name="Text 4"/>
          <p:cNvSpPr/>
          <p:nvPr/>
        </p:nvSpPr>
        <p:spPr>
          <a:xfrm>
            <a:off x="822960" y="288036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à¤ªà¤°à¤®à¤¾à¤°à¥à¤¥</a:t>
            </a:r>
            <a:endParaRPr lang="en-US" sz="1300" dirty="0"/>
          </a:p>
        </p:txBody>
      </p:sp>
      <p:sp>
        <p:nvSpPr>
          <p:cNvPr id="7" name="Text 5"/>
          <p:cNvSpPr/>
          <p:nvPr/>
        </p:nvSpPr>
        <p:spPr>
          <a:xfrm>
            <a:off x="2514600" y="288036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Ultimate reality â€” Hari, the sarvottama</a:t>
            </a:r>
            <a:endParaRPr lang="en-US" sz="1100" dirty="0"/>
          </a:p>
        </p:txBody>
      </p:sp>
      <p:sp>
        <p:nvSpPr>
          <p:cNvPr id="8" name="Shape 6"/>
          <p:cNvSpPr/>
          <p:nvPr/>
        </p:nvSpPr>
        <p:spPr>
          <a:xfrm>
            <a:off x="6263640" y="2958084"/>
            <a:ext cx="164592" cy="164592"/>
          </a:xfrm>
          <a:prstGeom prst="ellipse">
            <a:avLst/>
          </a:prstGeom>
          <a:solidFill>
            <a:srgbClr val="A83F1A"/>
          </a:solidFill>
          <a:ln w="12700">
            <a:solidFill>
              <a:srgbClr val="A83F1A"/>
            </a:solidFill>
            <a:prstDash val="solid"/>
          </a:ln>
        </p:spPr>
      </p:sp>
      <p:sp>
        <p:nvSpPr>
          <p:cNvPr id="9" name="Text 7"/>
          <p:cNvSpPr/>
          <p:nvPr/>
        </p:nvSpPr>
        <p:spPr>
          <a:xfrm>
            <a:off x="6537960" y="288036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à¤¤à¤¤à¥à¤¤à¥à¤µ</a:t>
            </a:r>
            <a:endParaRPr lang="en-US" sz="1300" dirty="0"/>
          </a:p>
        </p:txBody>
      </p:sp>
      <p:sp>
        <p:nvSpPr>
          <p:cNvPr id="10" name="Text 8"/>
          <p:cNvSpPr/>
          <p:nvPr/>
        </p:nvSpPr>
        <p:spPr>
          <a:xfrm>
            <a:off x="8229600" y="288036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Metaphysical categories â€” jÄ«va, praká¹›ti, kÄla</a:t>
            </a:r>
            <a:endParaRPr lang="en-US" sz="1100" dirty="0"/>
          </a:p>
        </p:txBody>
      </p:sp>
      <p:sp>
        <p:nvSpPr>
          <p:cNvPr id="11" name="Shape 9"/>
          <p:cNvSpPr/>
          <p:nvPr/>
        </p:nvSpPr>
        <p:spPr>
          <a:xfrm>
            <a:off x="548640" y="3287268"/>
            <a:ext cx="164592" cy="164592"/>
          </a:xfrm>
          <a:prstGeom prst="ellipse">
            <a:avLst/>
          </a:prstGeom>
          <a:solidFill>
            <a:srgbClr val="B8702A"/>
          </a:solidFill>
          <a:ln w="12700">
            <a:solidFill>
              <a:srgbClr val="B8702A"/>
            </a:solidFill>
            <a:prstDash val="solid"/>
          </a:ln>
        </p:spPr>
      </p:sp>
      <p:sp>
        <p:nvSpPr>
          <p:cNvPr id="12" name="Text 10"/>
          <p:cNvSpPr/>
          <p:nvPr/>
        </p:nvSpPr>
        <p:spPr>
          <a:xfrm>
            <a:off x="822960" y="3209544"/>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à¤•à¥à¤·à¥‡à¤¤à¥à¤°-à¤•à¥à¤·à¥‡à¤¤à¥à¤°à¤œà¥à¤ž</a:t>
            </a:r>
            <a:endParaRPr lang="en-US" sz="1300" dirty="0"/>
          </a:p>
        </p:txBody>
      </p:sp>
      <p:sp>
        <p:nvSpPr>
          <p:cNvPr id="13" name="Text 11"/>
          <p:cNvSpPr/>
          <p:nvPr/>
        </p:nvSpPr>
        <p:spPr>
          <a:xfrm>
            <a:off x="2514600" y="3209544"/>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Field &amp; field-knower â€” body, knower, 24 elements (Ch 13)</a:t>
            </a:r>
            <a:endParaRPr lang="en-US" sz="1100" dirty="0"/>
          </a:p>
        </p:txBody>
      </p:sp>
      <p:sp>
        <p:nvSpPr>
          <p:cNvPr id="14" name="Shape 12"/>
          <p:cNvSpPr/>
          <p:nvPr/>
        </p:nvSpPr>
        <p:spPr>
          <a:xfrm>
            <a:off x="6263640" y="3287268"/>
            <a:ext cx="164592" cy="164592"/>
          </a:xfrm>
          <a:prstGeom prst="ellipse">
            <a:avLst/>
          </a:prstGeom>
          <a:solidFill>
            <a:srgbClr val="C69E2A"/>
          </a:solidFill>
          <a:ln w="12700">
            <a:solidFill>
              <a:srgbClr val="C69E2A"/>
            </a:solidFill>
            <a:prstDash val="solid"/>
          </a:ln>
        </p:spPr>
      </p:sp>
      <p:sp>
        <p:nvSpPr>
          <p:cNvPr id="15" name="Text 13"/>
          <p:cNvSpPr/>
          <p:nvPr/>
        </p:nvSpPr>
        <p:spPr>
          <a:xfrm>
            <a:off x="6537960" y="3209544"/>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a:t>
            </a:r>
            <a:endParaRPr lang="en-US" sz="1300" dirty="0"/>
          </a:p>
        </p:txBody>
      </p:sp>
      <p:sp>
        <p:nvSpPr>
          <p:cNvPr id="16" name="Text 14"/>
          <p:cNvSpPr/>
          <p:nvPr/>
        </p:nvSpPr>
        <p:spPr>
          <a:xfrm>
            <a:off x="8229600" y="3209544"/>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The three modes of praká¹›ti â€” sattva, rajas, tamas</a:t>
            </a:r>
            <a:endParaRPr lang="en-US" sz="1100" dirty="0"/>
          </a:p>
        </p:txBody>
      </p:sp>
      <p:sp>
        <p:nvSpPr>
          <p:cNvPr id="17" name="Shape 15"/>
          <p:cNvSpPr/>
          <p:nvPr/>
        </p:nvSpPr>
        <p:spPr>
          <a:xfrm>
            <a:off x="548640" y="3616452"/>
            <a:ext cx="164592" cy="164592"/>
          </a:xfrm>
          <a:prstGeom prst="ellipse">
            <a:avLst/>
          </a:prstGeom>
          <a:solidFill>
            <a:srgbClr val="7B8D2E"/>
          </a:solidFill>
          <a:ln w="12700">
            <a:solidFill>
              <a:srgbClr val="7B8D2E"/>
            </a:solidFill>
            <a:prstDash val="solid"/>
          </a:ln>
        </p:spPr>
      </p:sp>
      <p:sp>
        <p:nvSpPr>
          <p:cNvPr id="18" name="Text 16"/>
          <p:cNvSpPr/>
          <p:nvPr/>
        </p:nvSpPr>
        <p:spPr>
          <a:xfrm>
            <a:off x="822960" y="3538728"/>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a:t>
            </a:r>
            <a:endParaRPr lang="en-US" sz="1300" dirty="0"/>
          </a:p>
        </p:txBody>
      </p:sp>
      <p:sp>
        <p:nvSpPr>
          <p:cNvPr id="19" name="Text 17"/>
          <p:cNvSpPr/>
          <p:nvPr/>
        </p:nvSpPr>
        <p:spPr>
          <a:xfrm>
            <a:off x="2514600" y="3538728"/>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Paths â€” karma, jÃ±Äna, bhakti, dhyÄna, sannyÄsa</a:t>
            </a:r>
            <a:endParaRPr lang="en-US" sz="1100" dirty="0"/>
          </a:p>
        </p:txBody>
      </p:sp>
      <p:sp>
        <p:nvSpPr>
          <p:cNvPr id="20" name="Shape 18"/>
          <p:cNvSpPr/>
          <p:nvPr/>
        </p:nvSpPr>
        <p:spPr>
          <a:xfrm>
            <a:off x="6263640" y="3616452"/>
            <a:ext cx="164592" cy="164592"/>
          </a:xfrm>
          <a:prstGeom prst="ellipse">
            <a:avLst/>
          </a:prstGeom>
          <a:solidFill>
            <a:srgbClr val="3F7A4A"/>
          </a:solidFill>
          <a:ln w="12700">
            <a:solidFill>
              <a:srgbClr val="3F7A4A"/>
            </a:solidFill>
            <a:prstDash val="solid"/>
          </a:ln>
        </p:spPr>
      </p:sp>
      <p:sp>
        <p:nvSpPr>
          <p:cNvPr id="21" name="Text 19"/>
          <p:cNvSpPr/>
          <p:nvPr/>
        </p:nvSpPr>
        <p:spPr>
          <a:xfrm>
            <a:off x="6537960" y="3538728"/>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à¤¸à¤¾à¤§à¤¨à¤¾</a:t>
            </a:r>
            <a:endParaRPr lang="en-US" sz="1300" dirty="0"/>
          </a:p>
        </p:txBody>
      </p:sp>
      <p:sp>
        <p:nvSpPr>
          <p:cNvPr id="22" name="Text 20"/>
          <p:cNvSpPr/>
          <p:nvPr/>
        </p:nvSpPr>
        <p:spPr>
          <a:xfrm>
            <a:off x="8229600" y="3538728"/>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Practices â€” Å›raddhÄ, vairÄgya, yajÃ±a, tapas, tyÄga</a:t>
            </a:r>
            <a:endParaRPr lang="en-US" sz="1100" dirty="0"/>
          </a:p>
        </p:txBody>
      </p:sp>
      <p:sp>
        <p:nvSpPr>
          <p:cNvPr id="23" name="Shape 21"/>
          <p:cNvSpPr/>
          <p:nvPr/>
        </p:nvSpPr>
        <p:spPr>
          <a:xfrm>
            <a:off x="548640" y="3945636"/>
            <a:ext cx="164592" cy="164592"/>
          </a:xfrm>
          <a:prstGeom prst="ellipse">
            <a:avLst/>
          </a:prstGeom>
          <a:solidFill>
            <a:srgbClr val="2F6E7A"/>
          </a:solidFill>
          <a:ln w="12700">
            <a:solidFill>
              <a:srgbClr val="2F6E7A"/>
            </a:solidFill>
            <a:prstDash val="solid"/>
          </a:ln>
        </p:spPr>
      </p:sp>
      <p:sp>
        <p:nvSpPr>
          <p:cNvPr id="24" name="Text 22"/>
          <p:cNvSpPr/>
          <p:nvPr/>
        </p:nvSpPr>
        <p:spPr>
          <a:xfrm>
            <a:off x="822960" y="3867912"/>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à¤…à¤‚à¤¤à¤ƒà¤•à¤°à¤£</a:t>
            </a:r>
            <a:endParaRPr lang="en-US" sz="1300" dirty="0"/>
          </a:p>
        </p:txBody>
      </p:sp>
      <p:sp>
        <p:nvSpPr>
          <p:cNvPr id="25" name="Text 23"/>
          <p:cNvSpPr/>
          <p:nvPr/>
        </p:nvSpPr>
        <p:spPr>
          <a:xfrm>
            <a:off x="2514600" y="3867912"/>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Inner instrument â€” manas, buddhi, ahaá¹…kÄra, indriyas</a:t>
            </a:r>
            <a:endParaRPr lang="en-US" sz="1100" dirty="0"/>
          </a:p>
        </p:txBody>
      </p:sp>
      <p:sp>
        <p:nvSpPr>
          <p:cNvPr id="26" name="Shape 24"/>
          <p:cNvSpPr/>
          <p:nvPr/>
        </p:nvSpPr>
        <p:spPr>
          <a:xfrm>
            <a:off x="6263640" y="3945636"/>
            <a:ext cx="164592" cy="164592"/>
          </a:xfrm>
          <a:prstGeom prst="ellipse">
            <a:avLst/>
          </a:prstGeom>
          <a:solidFill>
            <a:srgbClr val="3A4A7A"/>
          </a:solidFill>
          <a:ln w="12700">
            <a:solidFill>
              <a:srgbClr val="3A4A7A"/>
            </a:solidFill>
            <a:prstDash val="solid"/>
          </a:ln>
        </p:spPr>
      </p:sp>
      <p:sp>
        <p:nvSpPr>
          <p:cNvPr id="27" name="Text 25"/>
          <p:cNvSpPr/>
          <p:nvPr/>
        </p:nvSpPr>
        <p:spPr>
          <a:xfrm>
            <a:off x="6537960" y="3867912"/>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a:t>
            </a:r>
            <a:endParaRPr lang="en-US" sz="1300" dirty="0"/>
          </a:p>
        </p:txBody>
      </p:sp>
      <p:sp>
        <p:nvSpPr>
          <p:cNvPr id="28" name="Text 26"/>
          <p:cNvSpPr/>
          <p:nvPr/>
        </p:nvSpPr>
        <p:spPr>
          <a:xfrm>
            <a:off x="8229600" y="3867912"/>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Ethics â€” svadharma, niá¹£kÄma-karma, sthita-prajÃ±a</a:t>
            </a:r>
            <a:endParaRPr lang="en-US" sz="1100" dirty="0"/>
          </a:p>
        </p:txBody>
      </p:sp>
      <p:sp>
        <p:nvSpPr>
          <p:cNvPr id="29" name="Shape 27"/>
          <p:cNvSpPr/>
          <p:nvPr/>
        </p:nvSpPr>
        <p:spPr>
          <a:xfrm>
            <a:off x="548640" y="4274820"/>
            <a:ext cx="164592" cy="164592"/>
          </a:xfrm>
          <a:prstGeom prst="ellipse">
            <a:avLst/>
          </a:prstGeom>
          <a:solidFill>
            <a:srgbClr val="5A3E6A"/>
          </a:solidFill>
          <a:ln w="12700">
            <a:solidFill>
              <a:srgbClr val="5A3E6A"/>
            </a:solidFill>
            <a:prstDash val="solid"/>
          </a:ln>
        </p:spPr>
      </p:sp>
      <p:sp>
        <p:nvSpPr>
          <p:cNvPr id="30" name="Text 28"/>
          <p:cNvSpPr/>
          <p:nvPr/>
        </p:nvSpPr>
        <p:spPr>
          <a:xfrm>
            <a:off x="822960" y="4197096"/>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a:t>
            </a:r>
            <a:endParaRPr lang="en-US" sz="1300" dirty="0"/>
          </a:p>
        </p:txBody>
      </p:sp>
      <p:sp>
        <p:nvSpPr>
          <p:cNvPr id="31" name="Text 29"/>
          <p:cNvSpPr/>
          <p:nvPr/>
        </p:nvSpPr>
        <p:spPr>
          <a:xfrm>
            <a:off x="2514600" y="4197096"/>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Defects â€” kÄma, krodha, lobha, moha, asat-saá¹…ga</a:t>
            </a:r>
            <a:endParaRPr lang="en-US" sz="1100" dirty="0"/>
          </a:p>
        </p:txBody>
      </p:sp>
      <p:sp>
        <p:nvSpPr>
          <p:cNvPr id="32" name="Shape 30"/>
          <p:cNvSpPr/>
          <p:nvPr/>
        </p:nvSpPr>
        <p:spPr>
          <a:xfrm>
            <a:off x="6263640" y="4274820"/>
            <a:ext cx="164592" cy="164592"/>
          </a:xfrm>
          <a:prstGeom prst="ellipse">
            <a:avLst/>
          </a:prstGeom>
          <a:solidFill>
            <a:srgbClr val="7A1E5A"/>
          </a:solidFill>
          <a:ln w="12700">
            <a:solidFill>
              <a:srgbClr val="7A1E5A"/>
            </a:solidFill>
            <a:prstDash val="solid"/>
          </a:ln>
        </p:spPr>
      </p:sp>
      <p:sp>
        <p:nvSpPr>
          <p:cNvPr id="33" name="Text 31"/>
          <p:cNvSpPr/>
          <p:nvPr/>
        </p:nvSpPr>
        <p:spPr>
          <a:xfrm>
            <a:off x="6537960" y="4197096"/>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à¤«à¤²</a:t>
            </a:r>
            <a:endParaRPr lang="en-US" sz="1300" dirty="0"/>
          </a:p>
        </p:txBody>
      </p:sp>
      <p:sp>
        <p:nvSpPr>
          <p:cNvPr id="34" name="Text 32"/>
          <p:cNvSpPr/>
          <p:nvPr/>
        </p:nvSpPr>
        <p:spPr>
          <a:xfrm>
            <a:off x="8229600" y="4197096"/>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Goals &amp; states â€” moká¹£a, paramagati, brÄhmÄ«-sthiti</a:t>
            </a:r>
            <a:endParaRPr lang="en-US" sz="1100" dirty="0"/>
          </a:p>
        </p:txBody>
      </p:sp>
      <p:sp>
        <p:nvSpPr>
          <p:cNvPr id="35" name="Shape 33"/>
          <p:cNvSpPr/>
          <p:nvPr/>
        </p:nvSpPr>
        <p:spPr>
          <a:xfrm>
            <a:off x="548640" y="4604004"/>
            <a:ext cx="164592" cy="164592"/>
          </a:xfrm>
          <a:prstGeom prst="ellipse">
            <a:avLst/>
          </a:prstGeom>
          <a:solidFill>
            <a:srgbClr val="6A2E2E"/>
          </a:solidFill>
          <a:ln w="12700">
            <a:solidFill>
              <a:srgbClr val="6A2E2E"/>
            </a:solidFill>
            <a:prstDash val="solid"/>
          </a:ln>
        </p:spPr>
      </p:sp>
      <p:sp>
        <p:nvSpPr>
          <p:cNvPr id="36" name="Text 34"/>
          <p:cNvSpPr/>
          <p:nvPr/>
        </p:nvSpPr>
        <p:spPr>
          <a:xfrm>
            <a:off x="822960" y="452628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à¤¯à¤œà¥à¤ž</a:t>
            </a:r>
            <a:endParaRPr lang="en-US" sz="1300" dirty="0"/>
          </a:p>
        </p:txBody>
      </p:sp>
      <p:sp>
        <p:nvSpPr>
          <p:cNvPr id="37" name="Text 35"/>
          <p:cNvSpPr/>
          <p:nvPr/>
        </p:nvSpPr>
        <p:spPr>
          <a:xfrm>
            <a:off x="2514600" y="452628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Sacrifice varieties â€” dravya, tapo, jÃ±Äna, svÄdhyÄya</a:t>
            </a:r>
            <a:endParaRPr lang="en-US" sz="1100" dirty="0"/>
          </a:p>
        </p:txBody>
      </p:sp>
      <p:sp>
        <p:nvSpPr>
          <p:cNvPr id="38" name="Shape 36"/>
          <p:cNvSpPr/>
          <p:nvPr/>
        </p:nvSpPr>
        <p:spPr>
          <a:xfrm>
            <a:off x="6263640" y="4604004"/>
            <a:ext cx="164592" cy="164592"/>
          </a:xfrm>
          <a:prstGeom prst="ellipse">
            <a:avLst/>
          </a:prstGeom>
          <a:solidFill>
            <a:srgbClr val="3E3A32"/>
          </a:solidFill>
          <a:ln w="12700">
            <a:solidFill>
              <a:srgbClr val="3E3A32"/>
            </a:solidFill>
            <a:prstDash val="solid"/>
          </a:ln>
        </p:spPr>
      </p:sp>
      <p:sp>
        <p:nvSpPr>
          <p:cNvPr id="39" name="Text 37"/>
          <p:cNvSpPr/>
          <p:nvPr/>
        </p:nvSpPr>
        <p:spPr>
          <a:xfrm>
            <a:off x="6537960" y="4526280"/>
            <a:ext cx="1691640" cy="329184"/>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à¤ªà¥à¤°à¤¤à¥€à¤•</a:t>
            </a:r>
            <a:endParaRPr lang="en-US" sz="1300" dirty="0"/>
          </a:p>
        </p:txBody>
      </p:sp>
      <p:sp>
        <p:nvSpPr>
          <p:cNvPr id="40" name="Text 38"/>
          <p:cNvSpPr/>
          <p:nvPr/>
        </p:nvSpPr>
        <p:spPr>
          <a:xfrm>
            <a:off x="8229600" y="4526280"/>
            <a:ext cx="3474720" cy="329184"/>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Symbols &amp; metaphors â€” aÅ›vattha, ratha, praá¹‡ava</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à¤ªà¤°à¤®à¤¾à¤°à¥à¤¥</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परम तत्त्व। गीता की सबसे ऊँची संकल्पना कोई निर्विशेष निरपेक्ष नहीं, बल्कि हरि हैं — विष्णु, जो क्षर (नश्वर जीव) और अक्षर (कूटस्थ, लक्ष्मी) दोनों से परे पुरुषोत्तम हैं। कृष्ण पंद्रहवें अध्याय में इसे पुरुषोत्तम-योग के रूप में स्पष्ट करते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8B1E1A"/>
          </a:solidFill>
          <a:ln w="12700">
            <a:solidFill>
              <a:srgbClr val="8B1E1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à¤¬à¥à¤°à¤¹à¥à¤® â€” à¤ªà¤°à¤® à¤¤à¤¤à¥à¤¤à¥à¤µ</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8.3 Â· 14.27 Â· 15.18</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à¤®à¤§à¥à¤µ-à¤¸à¤¿à¤¦à¥à¤§à¤¾à¤‚à¤¤ à¤®à¥‡à¤‚ 'à¤¬à¥à¤°à¤¹à¥à¤®' à¤¶à¤¬à¥à¤¦ à¤•à¥‡à¤µà¤² à¤µà¤¿à¤·à¥à¤£à¥/à¤¨à¤¾à¤°à¤¾à¤¯à¤£ à¤•à¤¾ à¤¨à¤¾à¤® à¤¹à¥ˆ â€” à¤¸à¤°à¥à¤µà¥‹à¤¤à¥à¤¤à¤®, à¤•à¥à¤·à¤° à¤”à¤° à¤…à¤•à¥à¤·à¤° à¤¸à¥‡ à¤ªà¤°à¥‡ à¤ªà¥à¤°à¥à¤·…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8B1E1A"/>
          </a:solidFill>
          <a:ln w="12700">
            <a:solidFill>
              <a:srgbClr val="8B1E1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à¤ªà¤°à¤®à¤¾à¤¤à¥à¤®à¤¾ â€” à¤…à¤‚à¤¤à¤°à¥à¤¯à¤¾à¤®à¥€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13.22 Â· 15.17</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'à¤ªà¤°à¤® à¤†à¤¤à¥à¤®à¤¾' â€” à¤¹à¤° à¤¶à¤°à¥€à¤° à¤®à¥‡à¤‚ à¤¸à¤¾à¤•à¥à¤·à¥€, à¤­à¤°à¥à¤¤à¤¾ à¤”à¤° à¤¨à¤¿à¤¯à¤¾à¤®à¤• à¤•à¥‡ à¤°à¥‚à¤ª à¤®à¥‡à¤‚ à¤¸à¥à¤¥à¤¿à¤¤à¥¤ à¤œà¥€à¤µ à¤¸à¥‡ à¤…à¤¤à¥à¤¯à¤‚à¤¤ à¤­à¤¿à¤¨à¥à¤¨ (à¤—à¥€à¤¤à¤¾ à¥§à¥«.à¥§à¥­)à¥¤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8B1E1A"/>
          </a:solidFill>
          <a:ln w="12700">
            <a:solidFill>
              <a:srgbClr val="8B1E1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à¤ªà¥à¤°à¥à¤·à¥‹à¤¤à¥à¤¤à¤® â€” à¤¸à¤°à¥à¤µà¥‹à¤šà¥à¤š à¤ªà¥à¤°à¥à¤·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15.18â€“19</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à¤•à¥ƒà¤·à¥à¤£ à¤•à¤¾ à¤¸à¥à¤µà¤¯à¤‚ à¤•à¥‹ à¤•à¥à¤·à¤° à¤”à¤° à¤…à¤•à¥à¤·à¤° à¤¦à¥‹à¤¨à¥‹à¤‚ à¤¸à¥‡ à¤ªà¤°à¥‡ â€˜à¤ªà¥à¤°à¥à¤·à¥‹à¤¤à¥à¤¤à¤®â€™ à¤•à¤¹à¤¨à¤¾ â€” à¤ªà¤‚à¤¦à¥à¤°à¤¹à¤µà¥‡à¤‚ à¤…à¤§à¥à¤¯à¤¾à¤¯ à¤•à¤¾ à¤¸à¤¾à¤° à¤¬à¤¿à¤‚à¤¦à¥à¥¤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8B1E1A"/>
          </a:solidFill>
          <a:ln w="12700">
            <a:solidFill>
              <a:srgbClr val="8B1E1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 à¤ªà¥à¤°à¥à¤· â€” à¤•à¥‚à¤Ÿà¤¸à¥à¤¥</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15.16</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à¤•à¥‚à¤Ÿà¤¸à¥à¤¥ à¤…à¤•à¥à¤·à¤° â€” à¤®à¤§à¥à¤µ à¤•à¥‡ à¤…à¤¨à¥à¤¸à¤¾à¤° à¤¯à¤¹ à¤²à¤•à¥à¤·à¥à¤®à¥€ à¤¹à¥ˆà¤‚, à¤¨à¤¿à¤¤à¥à¤¯-à¤®à¥à¤•à¥à¤¤ à¤œà¥€à¤µà¥‹à¤‚ à¤•à¥€ à¤®à¥à¤–à¥à¤¯à¤¾à¥¤ à¤¹à¤°à¤¿ à¤•à¥‡ à¤¬à¤¾à¤¦ à¤¸à¤°à¥à¤µà¥‹à¤¤à¥à¤¤à¤®à¥¤</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A83F1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à¤¤à¤¤à¥à¤¤à¥à¤µ</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तत्त्व-श्रेणियाँ। आठ अंगों वाली अपरा प्रकृति और जीव-भूत परा प्रकृति — ये वास्तविकता के स्तंभ हैं। काल, कर्म और स्वभाव भी इन्हीं के साथ हैं। मध्व हर श्रेणी को वास्तविक, स्वतंत्र तत्त्व मानते हैं — किसी एक ब्रह्म में नहीं घोलते।</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A83F1A"/>
          </a:solidFill>
          <a:ln w="12700">
            <a:solidFill>
              <a:srgbClr val="A83F1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à¤œà¥€à¤µ â€” à¤¦à¥‡à¤¹à¤§à¤¾à¤°à¥€ à¤†à¤¤à¥à¤®à¤¾</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15.7</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à¤¹à¤°à¤¿ à¤•à¤¾ à¤¨à¤¿à¤¤à¥à¤¯ à¤…à¤‚à¤¶ (à¤—à¥€à¤¤à¤¾ à¥§à¥«.à¥­) â€” à¤…à¤¸à¤²à¥€, à¤…à¤²à¤—, à¤…à¤¨à¥‡à¤•, à¤¬à¥à¤°à¤¹à¥à¤® à¤®à¥‡à¤‚ à¤•à¤­à¥€ à¤µà¤¿à¤²à¥€à¤¨ à¤¨à¤¹à¥€à¤‚à¥¤ à¤…à¤µà¤¿à¤¦à¥à¤¯à¤¾ à¤¸à¥‡ à¤¬à¤à¤§à¤¾ à¤°à¤¹à¤¤à¤¾ à¤¹à¥ˆ, à¤®à¥à¤•à¥…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A83F1A"/>
          </a:solidFill>
          <a:ln w="12700">
            <a:solidFill>
              <a:srgbClr val="A83F1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à¤ªà¥à¤°à¤•à¥ƒà¤¤à¤¿ â€” à¤­à¥Œà¤¤à¤¿à¤• à¤ªà¥à¤°à¤•à¥ƒà¤¤à¤¿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7.4â€“5 Â· 9.10</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à¤¹à¤°à¤¿ à¤•à¥€ à¤…à¤ªà¤¨à¥€ à¤¨à¤¿à¤®à¥à¤¨ à¤ªà¥à¤°à¤•à¥ƒà¤¤à¤¿ â€” à¤…à¤·à¥à¤Ÿà¤§à¤¾: à¤ªà¥ƒà¤¥à¥à¤µà¥€, à¤œà¤², à¤…à¤—à¥à¤¨à¤¿, à¤µà¤¾à¤¯à¥, à¤†à¤•à¤¾à¤¶, à¤®à¤¨, à¤¬à¥à¤¦à¥à¤§à¤¿, à¤…à¤¹à¤‚à¤•à¤¾à¤°à¥¤ à¤¸à¤¬ à¤°à¥‚à¤ªà¥‹à¤‚ à¤•à¥€ à¤•à¥‹à¤–à¥¤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A83F1A"/>
          </a:solidFill>
          <a:ln w="12700">
            <a:solidFill>
              <a:srgbClr val="A83F1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à¤¸à¥à¤µà¤­à¤¾à¤µ â€” à¤…à¤‚à¤¤à¤°à¥à¤¨à¤¿à¤¹à¤¿à¤¤ à¤ªà¥à¤°à¤•à¥ƒà¤¤à¤¿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5.14 Â· 8.3 Â· 18.41</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à¤¹à¤° à¤œà¥€à¤µ à¤•à¥€ à¤…à¤¨à¤¾à¤¦à¤¿ à¤…à¤‚à¤¤à¤°à¥à¤¨à¤¿à¤¹à¤¿à¤¤ à¤ªà¥à¤°à¤•à¥ƒà¤¤à¤¿ (à¤®à¤§à¥à¤µ à¤®à¥‡à¤‚ â€˜à¤¸à¥à¤µà¤°à¥‚à¤ª-à¤¯à¥‹à¤—à¥à¤¯à¤¤à¤¾â€™)à¥¤ à¤¯à¤¹ à¤µà¤°à¥à¤£, à¤¸à¤¾à¤®à¤°à¥à¤¥à¥à¤¯ à¤”à¤° à¤…à¤‚à¤¤à¤¿à¤® à¤—à¤¤à¤¿ à¤¨à¤¿à¤°à¥…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A83F1A"/>
          </a:solidFill>
          <a:ln w="12700">
            <a:solidFill>
              <a:srgbClr val="A83F1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à¤ˆà¤¶à¥à¤µà¤° â€” à¤µà¤¿à¤§à¤¾à¤¤à¤¾</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18.61</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à¤¹à¤°à¤¿ à¤…à¤‚à¤¤à¤°à¥à¤¯à¤¾à¤®à¥€ à¤°à¥‚à¤ª à¤®à¥‡à¤‚ â€” à¤¹à¤° à¤¹à¥ƒà¤¦à¤¯ à¤®à¥‡à¤‚ à¤¬à¥ˆà¤ à¤•à¤° à¤œà¥€à¤µà¥‹à¤‚ à¤•à¥‹ â€˜à¤¯à¤‚à¤¤à¥à¤° à¤ªà¤° à¤šà¤¢à¤¼à¥‡â€™ à¤•à¥€ à¤¤à¤°à¤¹ à¤®à¤¾à¤¯à¤¾ à¤¦à¥à¤µà¤¾à¤°à¤¾ à¤˜à¥à¤®à¤¾à¤¤à¥‡ à¤¹à¥ˆà¤‚à¥¤</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B8702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à¤•à¥à¤·à¥‡à¤¤à¥à¤°-à¤•à¥à¤·à¥‡à¤¤à¥à¤°à¤œà¥à¤ž</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क्षेत्र और क्षेत्रज्ञ। शरीर क्षेत्र है; उसके भीतर का जीव क्षेत्रज्ञ है; और हर शरीर में परम क्षेत्रज्ञ स्वयं कृष्ण विराजते हैं। तेरहवें अध्याय में क्षेत्र के २४ तत्त्व और सात विकार स्पष्ट किए गए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B8702A"/>
          </a:solidFill>
          <a:ln w="12700">
            <a:solidFill>
              <a:srgbClr val="B8702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à¤•à¥à¤·à¥‡à¤¤à¥à¤°à¤œà¥à¤ž â€” à¤¶à¤°à¥€à¤° à¤•à¤¾ à¤œà¥à¤žà¤¾à¤¤à¤¾</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13.2</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à¤•à¥à¤·à¥‡à¤¤à¥à¤° à¤•à¥‹ à¤œà¤¾à¤¨à¤¨à¥‡ à¤µà¤¾à¤²à¤¾ à¤¸à¤¾à¤•à¥à¤·à¥€à¥¤ à¤•à¥ƒà¤·à¥à¤£ à¤•à¤¹à¤¤à¥‡ à¤¹à¥ˆà¤‚: â€˜à¤•à¥à¤·à¥‡à¤¤à¥à¤°à¤œà¥à¤žà¤‚ à¤šà¤¾à¤ªà¤¿ à¤®à¤¾à¤‚ à¤µà¤¿à¤¦à¥à¤§à¤¿ à¤¸à¤°à¥à¤µ-à¤•à¥à¤·à¥‡à¤¤à¥à¤°à¥‡à¤·à¥ à¤­à¤¾à¤°à¤¤â€™…</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B8702A"/>
          </a:solidFill>
          <a:ln w="12700">
            <a:solidFill>
              <a:srgbClr val="B8702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 â€” à¤¶à¤°à¥€à¤°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13.1 Â· 13.5â€“6</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à¤¯à¤¹ à¤¶à¤°à¥€à¤° à¤…à¤ªà¤¨à¥‡ à¥¨à¥ª à¤¤à¤¤à¥à¤¤à¥à¤µà¥‹à¤‚ (à¤®à¤¹à¤¾à¤­à¥‚à¤¤, à¤…à¤¹à¤‚à¤•à¤¾à¤°, à¤¬à¥à¤¦à¥à¤§à¤¿, à¤…à¤µà¥à¤¯à¤•à¥à¤¤, à¤‡à¤‚à¤¦à¥à¤°à¤¿à¤¯à¤¾à¤, à¤®à¤¨, à¤µà¤¿à¤·à¤¯, à¤‡à¤šà¥à¤›à¤¾, à¤¦à¥à¤µà¥‡à¤·, à¤¸à¥à¤–, à¤¦à¥à¤– 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B8702A"/>
          </a:solidFill>
          <a:ln w="12700">
            <a:solidFill>
              <a:srgbClr val="B8702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à¤ªà¤¾à¤à¤š à¤®à¤¹à¤¾à¤­à¥‚à¤¤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13.5</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à¤ªà¥ƒà¤¥à¥à¤µà¥€, à¤œà¤², à¤…à¤—à¥à¤¨à¤¿, à¤µà¤¾à¤¯à¥, à¤†à¤•à¤¾à¤¶ â€” à¥¨à¥ª à¤•à¥à¤·à¥‡à¤¤à¥à¤°-à¤˜à¤Ÿà¤•à¥‹à¤‚ à¤®à¥‡à¤‚ à¤ªà¤¹à¤²à¥‡ à¤ªà¤¾à¤à¤šà¥¤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B8702A"/>
          </a:solidFill>
          <a:ln w="12700">
            <a:solidFill>
              <a:srgbClr val="B8702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à¤…à¤µà¥à¤¯à¤•à¥à¤¤</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13.5 Â· 8.18</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à¤µà¤¿à¤•à¤¾à¤¸ à¤¸à¥‡ à¤ªà¤¹à¤²à¥‡ à¤•à¥€ à¤®à¥‚à¤² à¤ªà¥à¤°à¤•à¥ƒà¤¤à¤¿à¥¤ à¤‡à¤¸à¥€ à¤¸à¥‡ à¤®à¤¹à¤¤à¥, à¤…à¤¹à¤‚à¤•à¤¾à¤° à¤”à¤° à¤¤à¤¨à¥à¤®à¤¾à¤¤à¥à¤°à¤¾à¤à¤ à¤¨à¤¿à¤•à¤²à¤¤à¥€ à¤¹à¥ˆà¤‚à¥¤</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C69E2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प्रकृति के तीन गुण — सत्त्व (प्रकाश, ज्ञान), रजस् (राग, क्रिया), तमस् (जड़ता, मोह)। १४, १७, १८वें अध्याय हर कर्म, आहार, यज्ञ और ज्ञान को इन्हीं तीन गुणों में पहचानते हैं। मोक्ष को गुणातीत कहा गया है — तीनों गुणों के पार।</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C69E2A"/>
          </a:solidFill>
          <a:ln w="12700">
            <a:solidFill>
              <a:srgbClr val="C69E2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à¤¸à¤¤à¥à¤¤à¥à¤µ â€” à¤ªà¥à¤°à¤•à¤¾à¤¶ à¤•à¤¾ à¤—à¥à¤£</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14.6 Â· 14.11</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à¤¹à¤²à¥à¤•à¤¾, à¤ªà¥à¤°à¤•à¤¾à¤¶à¤®à¤¯, à¤¸à¥à¤µà¤¸à¥à¤¥ â€” à¤œà¥€à¤µ à¤•à¥‹ à¤¸à¥à¤– à¤”à¤° à¤œà¥à¤žà¤¾à¤¨ à¤•à¥€ à¤†à¤¸à¤•à¥à¤¤à¤¿ à¤¸à¥‡ à¤¬à¤¾à¤à¤§à¤¤à¤¾ à¤¹à¥ˆà¥¤ à¤µà¤¿à¤¦à¥à¤µà¤¾à¤¨à¥‹à¤‚ à¤®à¥‡à¤‚ à¤ªà¥à¤°à¤®à¥à¤–à¥¤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C69E2A"/>
          </a:solidFill>
          <a:ln w="12700">
            <a:solidFill>
              <a:srgbClr val="C69E2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à¤°à¤œà¤¸à¥ â€” à¤°à¤¾à¤—à¤¾à¤¤à¥à¤®à¤• à¤—à¥à¤£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14.7 Â· 14.12</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à¤²à¤¾à¤²à¤¸à¤¾ à¤”à¤° à¤†à¤¸à¤•à¥à¤¤à¤¿ à¤•à¥€ à¤ªà¥à¤°à¤•à¥ƒà¤¤à¤¿ à¤•à¤¾; à¤¤à¥ƒà¤·à¥à¤£à¤¾ à¤”à¤° à¤¸à¤‚à¤— à¤¸à¥‡ à¤‰à¤¤à¥à¤ªà¤¨à¥à¤¨à¥¤ à¤¨à¤¿à¤°à¤‚à¤¤à¤° à¤•à¤°à¥à¤® à¤•à¥€ à¤ªà¥à¤°à¥‡à¤°à¤£à¤¾ à¤¦à¥‡à¤¤à¤¾ à¤¹à¥ˆà¥¤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C69E2A"/>
          </a:solidFill>
          <a:ln w="12700">
            <a:solidFill>
              <a:srgbClr val="C69E2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 â€” à¤…à¤‚à¤§à¤•à¤¾à¤° à¤•à¤¾ 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14.8 Â· 14.13</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à¤…à¤œà¥à¤žà¤¾à¤¨ à¤¸à¥‡ à¤œà¤¨à¥à¤®à¤¾ â€” à¤¸à¤¬ à¤¦à¥‡à¤¹à¤§à¤¾à¤°à¤¿à¤¯à¥‹à¤‚ à¤•à¥‹ à¤®à¥‹à¤¹ à¤®à¥‡à¤‚ à¤¡à¤¾à¤²à¤¤à¤¾ à¤¹à¥ˆ; à¤ªà¥à¤°à¤®à¤¾à¤¦, à¤†à¤²à¤¸à¥à¤¯ à¤”à¤° à¤¨à¥€à¤‚à¤¦ à¤¸à¥‡ à¤¬à¤¾à¤à¤§à¤¤à¤¾ à¤¹à¥ˆà¥¤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C69E2A"/>
          </a:solidFill>
          <a:ln w="12700">
            <a:solidFill>
              <a:srgbClr val="C69E2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à¤—à¥à¤£à¤¾à¤¤à¥€à¤¤</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14.22â€“25</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à¤œà¤¿à¤¸à¤®à¥‡à¤‚ à¤†à¤¸à¤•à¥à¤¤à¤¿ à¤¸à¥‡ à¤•à¥‹à¤ˆ à¤—à¥à¤£-à¤†à¤µà¥‡à¤— à¤¨à¤¹à¥€à¤‚ à¤‰à¤ à¤¤à¤¾; à¤œà¥‹ à¤®à¤¿à¤¤à¥à¤° à¤”à¤° à¤¶à¤¤à¥à¤°à¥ à¤•à¥‹ à¤¸à¤®à¤¾à¤¨ à¤¦à¥‡à¤–à¤¤à¤¾ à¤¹à¥ˆ; à¤œà¥‹ à¤¸à¤­à¥€ à¤ªà¥à¤°à¤¯à¤¾à¤¸à¥‹à¤‚ à¤•à¥‹ à¤¤à¥à¤¯à¤¾à¤…</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7B8D2E"/>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मार्ग। कर्म-योग (निष्काम कर्म), ज्ञान-योग, भक्ति-योग, ध्यान-योग, संन्यास। मध्व के अनुसार भक्ति केवल एक मार्ग नहीं — वह अनिवार्य साधन है और मोक्ष का अंग भी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7B8D2E"/>
          </a:solidFill>
          <a:ln w="12700">
            <a:solidFill>
              <a:srgbClr val="7B8D2E"/>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à¤­à¤•à¥à¤¤à¤¿-à¤¯à¥‹à¤— â€” à¤ªà¥à¤°à¥‡à¤® à¤•à¤¾ à¤®à¤¾à¤°à¥à¤—</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9.22 Â· 11.54 Â· 18.55</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à¤¹à¤°à¤¿ à¤•à¤¾ à¤ªà¥à¤°à¥‡à¤®à¤®à¤¯ à¤œà¥à¤žà¤¾à¤¨, à¤œà¥‹ à¤…à¤¨à¥à¤¯ à¤¸à¤­à¥€ à¤œà¥à¤žà¤¾à¤¨à¥‹à¤‚ à¤¸à¥‡ à¤Šà¤ªà¤° à¤¹à¥ˆà¥¤ à¤®à¤§à¥à¤µ à¤•à¥‡ à¤…à¤¨à¥à¤¸à¤¾à¤° à¤­à¤•à¥à¤¤à¤¿ â€˜à¤¸à¥à¤¥à¤¿à¤°-à¤œà¥à¤žà¤¾à¤¨-à¤ªà¥‚à¤°à¥à¤µà¤¿à¤•à¤¾-à¤ªà¥à¤…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7B8D2E"/>
          </a:solidFill>
          <a:ln w="12700">
            <a:solidFill>
              <a:srgbClr val="7B8D2E"/>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à¤¶à¤°à¤£à¤¾à¤—à¤¤à¤¿ â€” à¤¹à¤°à¤¿ à¤•à¥‡ à¤ªà¥à¤°à¤¤à¤¿ à¤†à¤¤à¥à¤®à¤¸à¤®à¤°à¥à¤ªà¤£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18.66</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â€˜à¤¸à¤°à¥à¤µ-à¤§à¤°à¥à¤®à¤¾à¤¨à¥ à¤ªà¤°à¤¿à¤¤à¥à¤¯à¤œà¥à¤¯ à¤®à¤¾à¤®à¥‡à¤•à¤‚ à¤¶à¤°à¤£à¤‚ à¤µà¥à¤°à¤œâ€™ â€” à¤¸à¤®à¤¾à¤ªà¤¨-à¤‰à¤ªà¤¦à¥‡à¤¶à¥¤ à¤¹à¤°à¤¿ à¤•à¥€ à¤ªà¥‚à¤°à¥à¤£ à¤¶à¤°à¤£, à¤œà¥‹ à¤«à¤¿à¤° à¤¸à¤¬ à¤ªà¤¾à¤ªà¥‹à¤‚ à¤¸à¥‡ à¤›à¥à¤¡à¤¼à¤…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7B8D2E"/>
          </a:solidFill>
          <a:ln w="12700">
            <a:solidFill>
              <a:srgbClr val="7B8D2E"/>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 â€” à¤¨à¤¿à¤·à¥à¤•à¤¾à¤® à¤•à¤°à¥à¤® à¤•à¤¾ à¤®à¤¾à¤°à¥à¤—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 Â· 3.19 Â· 5.2</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à¤…à¤ªà¤¨à¥‡ à¤•à¤°à¥à¤¤à¤µà¥à¤¯ à¤•à¥‹ à¤¹à¤°à¤¿ à¤•à¥‹ à¤…à¤°à¥à¤ªà¤£ à¤•à¤°à¤¤à¥‡ à¤¹à¥à¤, à¤«à¤² à¤•à¤¾ à¤¤à¥à¤¯à¤¾à¤— à¤•à¤°à¤•à¥‡ à¤¨à¤¿à¤­à¤¾à¤¨à¤¾à¥¤ à¤¯à¤¹ à¤µà¤¹ à¤®à¤¾à¤°à¥à¤— à¤¹à¥ˆ à¤œà¥‹ à¤•à¥ƒà¤·à¥à¤£ à¤…à¤°à¥à¤œà¥à¤¨ à¤•à¥‹ à¤¸à¤¬à¤…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7B8D2E"/>
          </a:solidFill>
          <a:ln w="12700">
            <a:solidFill>
              <a:srgbClr val="7B8D2E"/>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à¤œà¥à¤žà¤¾à¤¨-à¤¯à¥‹à¤— â€” à¤µà¤¿à¤µà¥‡à¤• à¤•à¤¾ à¤®à¤¾à¤°à¥à¤—</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 Â· 4.33â€“38</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à¤¹à¤°à¤¿ à¤•à¥‹ à¤ªà¤°à¤® à¤œà¤¾à¤¨à¤¨à¤¾, à¤œà¥€à¤µ à¤•à¥‹ à¤‰à¤¨à¤•à¤¾ à¤…à¤‚à¤¶ à¤®à¤¾à¤¨à¤¨à¤¾, à¤œà¤—à¤¤ à¤•à¥‹ à¤‰à¤¨à¤•à¥€ à¤¨à¤¿à¤°à¥à¤­à¤° à¤µà¤¾à¤¸à¥à¤¤à¤µà¤¿à¤•à¤¤à¤¾ à¤¸à¤®à¤à¤¨à¤¾à¥¤ à¤…à¤§à¤¿à¤•à¤¾à¤°à¥€ à¤¸à¤¾à¤§à¤• à¤•à¥‡ à¤²à¤¿à¤ à¤¯à¤¹…</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3F7A4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à¤¸à¤¾à¤§à¤¨à¤¾</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साधनाएँ। श्रद्धा, वैराग्य, अभ्यास, तप, दान, सत्संग, जप, स्मरण, शरणागति। गीता इन्हें अपना कर्तृत्व नहीं मानती — ये भगवान् द्वारा नियत वे माध्यम हैं जिनसे अनुग्रह बहता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3F7A4A"/>
          </a:solidFill>
          <a:ln w="12700">
            <a:solidFill>
              <a:srgbClr val="3F7A4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à¤¶à¥à¤°à¤¦à¥à¤§à¤¾</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17.2â€“3</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à¤¶à¥à¤°à¤¦à¥à¤§à¤¾ à¤¸à¥à¤µà¤­à¤¾à¤µ à¤¸à¥‡ à¤‰à¤ à¤¤à¥€ à¤¹à¥ˆ; à¤®à¤¨à¥à¤·à¥à¤¯ à¤œà¥ˆà¤¸à¥€ à¤¶à¥à¤°à¤¦à¥à¤§à¤¾ à¤°à¤–à¤¤à¤¾ à¤¹à¥ˆ, à¤µà¥ˆà¤¸à¤¾ à¤¹à¥€ à¤¹à¥‹à¤¤à¤¾ à¤¹à¥ˆà¥¤ à¤—à¥à¤£ à¤•à¥‡ à¤…à¤¨à¥à¤¸à¤¾à¤° à¤¤à¥€à¤¨ â€” à¤¸à¤¾à¤¤à¥à¤¤à¥à¤µ…</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3F7A4A"/>
          </a:solidFill>
          <a:ln w="12700">
            <a:solidFill>
              <a:srgbClr val="3F7A4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à¤µà¥ˆà¤°à¤¾à¤—à¥à¤¯ â€” à¤…à¤¨à¤¾à¤¸à¤•à¥à¤¤à¤¿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6.35 Â· 13.8â€“11</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à¤µà¤¿à¤·à¤¯à¥‹à¤‚ à¤¸à¥‡ à¤…à¤¨à¤¾à¤¸à¤•à¥à¤¤à¤¿ â€” à¤œà¥€à¤µà¤¨ à¤•à¤¾ à¤¤à¥à¤¯à¤¾à¤— à¤¨à¤¹à¥€à¤‚, à¤¬à¤²à¥à¤•à¤¿ à¤¬à¤‚à¤§à¤¨ à¤°à¤šà¤¨à¥‡ à¤µà¤¾à¤²à¥‡ à¤†à¤•à¤°à¥à¤·à¤£à¥‹à¤‚ à¤•à¥‹ à¤ à¥€à¤• à¤¸à¥‡ à¤ªà¤¹à¤šà¤¾à¤¨ à¤²à¥‡à¤¨à¤¾à¥¤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3F7A4A"/>
          </a:solidFill>
          <a:ln w="12700">
            <a:solidFill>
              <a:srgbClr val="3F7A4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à¤…à¤­à¥à¤¯à¤¾à¤¸ â€” à¤ªà¥à¤¨à¤ƒ-à¤ªà¥à¤¨à¤ƒ à¤¸à¤¾à¤§à¤¨à¤¾</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6.26 Â· 12.9</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â€˜à¤¸à¤®à¤¾à¤§à¤¿-à¤…à¤­à¥à¤¯à¤¾à¤¸â€™ â€” à¤­à¤Ÿà¤•à¤¤à¥‡ à¤®à¤¨ à¤•à¥‹ à¤¬à¤¾à¤°-à¤¬à¤¾à¤° à¤¹à¤°à¤¿ à¤•à¥€ à¤“à¤° à¤µà¤¾à¤ªà¤¸ à¤²à¤¾à¤¨à¤¾à¥¤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3F7A4A"/>
          </a:solidFill>
          <a:ln w="12700">
            <a:solidFill>
              <a:srgbClr val="3F7A4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à¤¤à¤ªà¤¸à¥ â€” à¤¤à¥€à¤¨ à¤ªà¥à¤°à¤•à¤¾à¤° à¤•à¤¾</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17.14â€“19</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 à¤•à¤¾ à¤¤à¤ª (à¤ªà¥‚à¤œà¤¾/à¤¶à¥à¤¦à¥à¤§à¤¤à¤¾/à¤¬à¥à¤°à¤¹à¥à¤®à¤šà¤°à¥à¤¯), à¤µà¤¾à¤£à¥€ à¤•à¤¾ à¤¤à¤ª (à¤¸à¤¤à¥à¤¯/à¤®à¤§à¥à¤°à¤¤à¤¾/à¤¸à¥à¤µà¤¾à¤§à¥à¤¯à¤¾à¤¯), à¤®à¤¨ à¤•à¤¾ à¤¤à¤ª (à¤¶à¤¾à¤‚à¤¤à¤¿/à¤®à¥Œà¤¨/à¤†à¤¤à¥à¤®-à¤¸à¤‚à¤¯à¤…</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2F6E7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à¤…à¤‚à¤¤à¤ƒà¤•à¤°à¤£</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अंतःकरण। मन, बुद्धि, अहंकार और ग्यारह इंद्रियाँ (ज्ञान + कर्म)। छठे अध्याय में कृष्ण इनके संयम की बात करते हैं और २.६७ में अनियंत्रित इंद्रियों के खतरे को उजागर करते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2F6E7A"/>
          </a:solidFill>
          <a:ln w="12700">
            <a:solidFill>
              <a:srgbClr val="2F6E7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à¤…à¤‚à¤¤à¤°à¥à¤¯à¤¾à¤®à¥€ â€” à¤¹à¥ƒà¤¦à¤¯-à¤¸à¥à¤¥à¤¿à¤¤ à¤¹à¤°à¤¿</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18.61</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â€˜à¤ˆà¤¶à¥à¤µà¤°à¤ƒ à¤¸à¤°à¥à¤µ-à¤­à¥‚à¤¤à¤¾à¤¨à¤¾à¤‚ à¤¹à¥ƒà¤¦à¥-à¤¦à¥‡à¤¶à¥‡ à¤¤à¤¿à¤·à¥à¤ à¤¤à¤¿â€™ â€” à¤¹à¤°à¤¿ à¤¹à¤° à¤ªà¥à¤°à¤¾à¤£à¥€ à¤•à¥‡ à¤¹à¥ƒà¤¦à¤¯ à¤®à¥‡à¤‚ à¤¸à¥à¤¥à¤¿à¤¤ à¤¹à¥‹à¤•à¤° à¤‰à¤¸à¥‡ à¤šà¤²à¤¾à¤¤à¥‡ à¤¹à¥ˆà¤‚à¥¤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2F6E7A"/>
          </a:solidFill>
          <a:ln w="12700">
            <a:solidFill>
              <a:srgbClr val="2F6E7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 â€” à¤—à¥à¤¯à¤¾à¤°à¤¹à¤µà¥€à¤‚ à¤‡à¤‚à¤¦à¥à¤°à¤¿à¤¯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6.34â€“35 Â· 3.6â€“7</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à¤—à¥à¤¯à¤¾à¤°à¤¹à¤µà¥€à¤‚ à¤‡à¤‚à¤¦à¥à¤°à¤¿à¤¯à¥¤ à¤šà¤‚à¤šà¤², à¤…à¤¶à¤¾à¤‚à¤¤, à¤µà¤¶ à¤®à¥‡à¤‚ à¤²à¤¾à¤¨à¤¾ à¤•à¤ à¤¿à¤¨ â€” à¤ªà¤° à¤•à¥ƒà¤·à¥à¤£ à¤•à¤¹à¤¤à¥‡ à¤¹à¥ˆà¤‚ à¤•à¤¿ à¤…à¤­à¥à¤¯à¤¾à¤¸ à¤”à¤° à¤µà¥ˆà¤°à¤¾à¤—à¥à¤¯ à¤¸à¥‡ à¤‡à¤¸à¥‡ à¤œà¥€à¤¤…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2F6E7A"/>
          </a:solidFill>
          <a:ln w="12700">
            <a:solidFill>
              <a:srgbClr val="2F6E7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 â€” à¤µà¤¿à¤µà¥‡à¤•-à¤¶à¤•à¥à¤¤à¤¿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18.30â€“32</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à¤µà¤¹ à¤¶à¤•à¥à¤¤à¤¿ à¤œà¥‹ à¤•à¤°à¥à¤¤à¤µà¥à¤¯ à¤”à¤° à¤…à¤•à¤°à¥à¤¤à¤µà¥à¤¯, à¤•à¤°à¤¨à¥‡ à¤¯à¥‹à¤—à¥à¤¯ à¤”à¤° à¤¨ à¤•à¤°à¤¨à¥‡ à¤¯à¥‹à¤—à¥à¤¯ à¤•à¤¾ à¤µà¤¿à¤µà¥‡à¤• à¤•à¤°à¤¤à¥€ à¤¹à¥ˆà¥¤ à¤¸à¤¾à¤¤à¥à¤¤à¥à¤µà¤¿à¤• à¤¬à¥à¤¦à¥à¤§à¤¿ à¤ªà¥à¤°à¤…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2F6E7A"/>
          </a:solidFill>
          <a:ln w="12700">
            <a:solidFill>
              <a:srgbClr val="2F6E7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à¤…à¤¹à¤‚à¤•à¤¾à¤° â€” à¤®à¥ˆà¤‚à¤ªà¤¨</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3.27 Â· 7.4</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à¤•à¤°à¥à¤¤à¤¾ à¤¹à¥‹à¤¨à¥‡ à¤•à¤¾ à¤¬à¥‹à¤§à¥¤ â€˜à¤•à¤°à¥à¤¤à¤¾à¤¹à¤®à¥ à¤‡à¤¤à¤¿ à¤®à¤¨à¥à¤¯à¤¤à¥‡â€™ â€” à¤œà¤¬ à¤ªà¥à¤°à¥à¤· à¤…à¤¹à¤‚à¤•à¤¾à¤° à¤¸à¥‡ à¤®à¥‹à¤¹à¤¿à¤¤ à¤¹à¥‹à¤¤à¤¾ à¤¹à¥ˆ, à¤¤à¤¬ à¤µà¤¹ à¤¸à¥à¤µà¤¯à¤‚ à¤•à¥‹ à¤•à¤°à¥à¤¤à¤¾ à¤®à¤¾…</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3A4A7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à¤§à¤°à¥à¤®</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धर्म। स्वधर्म, निष्काम-कर्म, स्थित-प्रज्ञता, अभय, अहिंसा, सम-दर्शन। मोक्ष के लिए धर्म छोड़ा नहीं जाता — वही मोक्ष का रास्ता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3A4A7A"/>
          </a:solidFill>
          <a:ln w="12700">
            <a:solidFill>
              <a:srgbClr val="3A4A7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à¤¸à¥à¤µà¤§à¤°à¥à¤® â€” à¤…à¤ªà¤¨à¤¾ à¤§à¤°à¥à¤®</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3.35 Â· 18.47</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â€˜à¤…à¤ªà¤¨à¤¾ à¤§à¤°à¥à¤® à¤ à¥€à¤• à¤¸à¥‡ à¤¨ à¤¨à¤¿à¤­à¤¾à¤¨à¥‡ à¤ªà¤° à¤­à¥€ à¤ªà¤°à¤¾à¤¯à¥‡ à¤§à¤°à¥à¤® à¤¸à¥‡ à¤…à¤šà¥à¤›à¤¾ à¤¹à¥ˆâ€™ â€” à¤¸à¥à¤µà¤­à¤¾à¤µ à¤¸à¥‡ à¤‰à¤¤à¥à¤ªà¤¨à¥à¤¨ à¤•à¤°à¥à¤¤à¤µà¥à¤¯ à¤•à¤¾ à¤ªà¤¾à¤²à¤¨à¥¤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3A4A7A"/>
          </a:solidFill>
          <a:ln w="12700">
            <a:solidFill>
              <a:srgbClr val="3A4A7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à¤µà¤°à¥à¤£à¤¾à¤¶à¥à¤°à¤®-à¤§à¤°à¥à¤®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4.13 Â· 18.41â€“44</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à¤¬à¥à¤°à¤¾à¤¹à¥à¤®à¤£, à¤•à¥à¤·à¤¤à¥à¤°à¤¿à¤¯, à¤µà¥ˆà¤¶à¥à¤¯, à¤¶à¥‚à¤¦à¥à¤° â€” à¤—à¥à¤£-à¤•à¤°à¥à¤®-à¤µà¤¿à¤­à¤¾à¤— à¤¸à¥‡ à¤‰à¤¤à¥à¤ªà¤¨à¥à¤¨ à¤•à¤°à¥à¤¤à¤µà¥à¤¯à¥¤ à¤®à¤§à¥à¤µ: à¤¯à¤¹ à¤¨à¤¿à¤¤à¥à¤¯ à¤¸à¥à¤µà¤°à¥‚à¤ª-à¤¯à¥‹à¤—à¥à¤¯à¤¤à¤…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3A4A7A"/>
          </a:solidFill>
          <a:ln w="12700">
            <a:solidFill>
              <a:srgbClr val="3A4A7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à¤¨à¤¿à¤·à¥à¤•à¤¾à¤® à¤•à¤°à¥à¤®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2.47 Â· 4.20</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à¤«à¤² à¤•à¥€ à¤•à¤¾à¤®à¤¨à¤¾ à¤•à¥‡ à¤¬à¤¿à¤¨à¤¾ à¤•à¤¿à¤¯à¤¾ à¤—à¤¯à¤¾ à¤•à¤°à¥à¤®à¥¤ à¤—à¥€à¤¤à¤¾ à¤•à¥€ à¤¸à¤¬à¤¸à¥‡ à¤µà¤¿à¤¶à¤¿à¤·à¥à¤Ÿ à¤¨à¥ˆà¤¤à¤¿à¤• à¤®à¤¾à¤à¤—à¥¤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3A4A7A"/>
          </a:solidFill>
          <a:ln w="12700">
            <a:solidFill>
              <a:srgbClr val="3A4A7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à¤¸à¥à¤¥à¤¿à¤¤à¤ªà¥à¤°à¤œà¥à¤ž â€” à¤¸à¥à¤¥à¤¿à¤° à¤œà¥à¤žà¤¾à¤¨ à¤µà¤¾à¤²à¤¾</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2.55â€“72</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à¤¸à¥à¤–-à¤¦à¥à¤– à¤®à¥‡à¤‚ à¤‰à¤¦à¤¾à¤¸à¥€à¤¨, à¤†à¤¸à¤•à¥à¤¤à¤¿, à¤­à¤¯ à¤”à¤° à¤•à¥à¤°à¥‹à¤§ à¤¸à¥‡ à¤®à¥à¤•à¥à¤¤; à¤‡à¤‚à¤¦à¥à¤°à¤¿à¤¯à¤¾à¤ à¤ªà¥‚à¤°à¥€ à¤¤à¤°à¤¹ à¤…à¤‚à¤¤à¤°à¥à¤®à¥à¤–à¥¤ à¤¦à¥‚à¤¸à¤°à¥‡ à¤…à¤§à¥à¤¯à¤¾à¤¯ à¤•à¤¾ à¤¸à¤®à¤¾à¤ªà…</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5A3E6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दोष। काम, क्रोध, लोभ — नरक के तीन द्वार (१६.२१)। मोह, अहंकार-ममता, असत्-संग, आसुरी-सम्पत्। गीता हर दोष के कारण और प्रतिकार को स्पष्ट करती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5A3E6A"/>
          </a:solidFill>
          <a:ln w="12700">
            <a:solidFill>
              <a:srgbClr val="5A3E6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 à¤¸à¤®à¥à¤ªà¤¦à¥ â€” à¤†à¤¸à¥à¤°à¥€ à¤—à¥à¤£</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16.4 Â· 16.7â€“20</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 à¤¦à¤°à¥à¤ª, à¤…à¤­à¤¿à¤®à¤¾à¤¨, à¤•à¥à¤°à¥‹à¤§, à¤•à¤ à¥‹à¤°à¤¤à¤¾, à¤…à¤œà¥à¤žà¤¾à¤¨ â€” à¤¦à¥ˆà¤µà¥€ à¤¸à¤®à¥à¤ªà¤¦à¥ à¤•à¥‡ à¤µà¤¿à¤ªà¤°à¥€à¤¤à¥¤ à¤¬à¤‚à¤§à¤¨ à¤•à¥€ à¤“à¤° à¤²à¥‡ à¤œà¤¾à¤¤à¥€ à¤¹à¥ˆà¥¤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5A3E6A"/>
          </a:solidFill>
          <a:ln w="12700">
            <a:solidFill>
              <a:srgbClr val="5A3E6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à¤•à¤¾à¤® â€” à¤‡à¤šà¥à¤›à¤¾</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3.37â€“39</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â€˜à¤¯à¤¹ à¤°à¤œà¥‹à¤—à¥à¤£ à¤¸à¥‡ à¤‰à¤¤à¥à¤ªà¤¨à¥à¤¨, à¤¸à¤¬ à¤•à¥à¤› à¤¨à¤¿à¤—à¤²à¤¨à¥‡ à¤µà¤¾à¤²à¤¾, à¤®à¤¹à¤¾à¤¨ à¤ªà¤¾à¤ªà¥€ â€” à¤‡à¤¸à¥‡ à¤¹à¥€ à¤¯à¤¹à¤¾à¤ à¤¶à¤¤à¥à¤°à¥ à¤œà¤¾à¤¨â€™ (à¤—à¥€à¤¤à¤¾ à¥©.à¥©à¥­) â€” à¤•à¥ƒà¤·à¥à¤£ à¤•à¤¾à¤® à¤•à…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5A3E6A"/>
          </a:solidFill>
          <a:ln w="12700">
            <a:solidFill>
              <a:srgbClr val="5A3E6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2.62â€“63 Â· 3.37</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à¤•à¤¾à¤® à¤•à¥‡ à¤µà¤¿à¤˜à¤¾à¤¤ (à¤‡à¤šà¥à¤›à¤¾ à¤•à¥‡ à¤…à¤§à¥‚à¤°à¥‡ à¤°à¤¹à¤¨à¥‡) à¤¸à¥‡ à¤•à¥à¤°à¥‹à¤§ à¤œà¤¨à¥à¤® à¤²à¥‡à¤¤à¤¾ à¤¹à¥ˆ; à¤•à¥à¤°à¥‹à¤§ à¤¸à¥‡ à¤¸à¤®à¥à¤®à¥‹à¤¹; à¤¸à¤®à¥à¤®à¥‹à¤¹ à¤¸à¥‡ à¤¸à¥à¤®à¥ƒà¤¤à¤¿ à¤•à¤¾ à¤­à¥à¤°à¤®; 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5A3E6A"/>
          </a:solidFill>
          <a:ln w="12700">
            <a:solidFill>
              <a:srgbClr val="5A3E6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à¤²à¥‹à¤­</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16.21</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à¤•à¤¾à¤®, à¤•à¥à¤°à¥‹à¤§ à¤•à¥‡ à¤¸à¤¾à¤¥ â€” à¤¨à¤°à¤• à¤•à¥‡ à¤¤à¥€à¤¨ à¤¦à¥à¤µà¤¾à¤°à¥‹à¤‚ à¤®à¥‡à¤‚ à¤¸à¥‡ à¤à¤•à¥¤ à¤®à¤¾à¤°à¥à¤— à¤•à¥€ à¤¦à¤¹à¤²à¥€à¤œà¤¼ à¤ªà¤° à¤¹à¥€ à¤‡à¤¸à¥‡ à¤›à¥‹à¤¡à¤¼ à¤¦à¥‡à¤¨à¤¾ à¤¹à¥ˆà¥¤</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7A1E5A"/>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à¤«à¤²</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फल और अवस्थाएँ। मोक्ष, परमा-गति, ब्राह्मी-स्थिति, चार मुक्ति-श्रेणियाँ (सालोक्य, सामीप्य, सारूप्य, सायुज्य)। मध्व के अनुसार मोक्ष वास्तविक है पर तारतम्य-युक्त है — कोई एकसमान आनंद-मात्र नहीं।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7A1E5A"/>
          </a:solidFill>
          <a:ln w="12700">
            <a:solidFill>
              <a:srgbClr val="7A1E5A"/>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 â€” à¤®à¥à¤•à¥à¤¤à¤¿</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5.24â€“26 Â· 18.66</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à¤¸à¤‚à¤¸à¤¾à¤° à¤¸à¥‡ à¤›à¥à¤Ÿà¤•à¤¾à¤°à¤¾ à¤”à¤° à¤¹à¤°à¤¿ à¤•à¥€ à¤¨à¤¿à¤¤à¥à¤¯ à¤¸à¤¨à¥à¤¨à¤¿à¤§à¤¿ à¤•à¥€ à¤ªà¥à¤°à¤¾à¤ªà¥à¤¤à¤¿à¥¤ à¤®à¤§à¥à¤µ à¤•à¥‡ à¤…à¤¨à¥à¤¸à¤¾à¤°: à¤®à¥‹à¤•à¥à¤· à¤•à¥€ à¤•à¥à¤°à¤®à¤¿à¤• à¤¶à¥à¤°à¥‡à¤£à¤¿à¤¯à¤¾à¤ à¤¹à¥ˆ…</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7A1E5A"/>
          </a:solidFill>
          <a:ln w="12700">
            <a:solidFill>
              <a:srgbClr val="7A1E5A"/>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à¤¸à¤°à¥à¤µ-à¤§à¤°à¥à¤®à¤¾à¤¨à¥ à¤ªà¤°à¤¿à¤¤à¥à¤¯à¤œà¥à¤¯ â€” à¤¶à¤°à¤£ à¤•à¤¾ à¤«à¤²</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18.66</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â€˜à¤®à¥ˆà¤‚ à¤¤à¥à¤à¥‡ à¤¸à¤¬ à¤ªà¤¾à¤ªà¥‹à¤‚ à¤¸à¥‡ à¤›à¥à¤¡à¤¼à¤¾ à¤¦à¥‚à¤à¤—à¤¾; à¤¶à¥‹à¤• à¤®à¤¤ à¤•à¤°â€™ â€” à¤—à¥€à¤¤à¤¾ à¥§à¥®.à¥¬à¥¬ à¤ªà¤° à¤•à¥ƒà¤·à¥à¤£ à¤•à¥€ à¤ªà¥à¤°à¤¤à¤¿à¤œà¥à¤žà¤¾à¥¤ à¤®à¤§à¥à¤µ à¤•à¥‡ à¤²à¤¿à¤ à¤¯à¤¹ à¤—à¥€à¤¤à¤¾ …</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7A1E5A"/>
          </a:solidFill>
          <a:ln w="12700">
            <a:solidFill>
              <a:srgbClr val="7A1E5A"/>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à¤¸à¤¾à¤²à¥‹à¤•à¥à¤¯ â€” à¤¹à¤°à¤¿ à¤•à¥‡ à¤²à¥‹à¤• à¤®à¥‡à¤‚ à¤¸à¤¹à¤µà¤¾à¤¸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8.21 Â· 15.6</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à¤®à¥‹à¤•à¥à¤· à¤•à¥€ à¤ªà¤¹à¤²à¥€ à¤¶à¥à¤°à¥‡à¤£à¥€: à¤¹à¤°à¤¿ à¤•à¥‡ à¤¹à¥€ à¤²à¥‹à¤• (à¤µà¥ˆà¤•à¥à¤‚à¤ ) à¤®à¥‡à¤‚ à¤¨à¤¿à¤µà¤¾à¤¸ â€” à¤ªà¤° à¤…à¤­à¥€ à¤‰à¤¨à¤•à¥€ à¤¸à¤¨à¥à¤¨à¤¿à¤§à¤¿ à¤®à¥‡à¤‚ à¤¨à¤¹à¥€à¤‚à¥¤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7A1E5A"/>
          </a:solidFill>
          <a:ln w="12700">
            <a:solidFill>
              <a:srgbClr val="7A1E5A"/>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à¤¸à¤¾à¤®à¥€à¤ªà¥à¤¯ â€” à¤¹à¤°à¤¿ à¤•à¥‡ à¤¸à¤®à¥€à¤ª</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11.55</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à¤¦à¥‚à¤¸à¤°à¥€ à¤¶à¥à¤°à¥‡à¤£à¥€: à¤¹à¤°à¤¿ à¤•à¥‡ à¤…à¤ªà¤¨à¥‡ à¤§à¤¾à¤® à¤®à¥‡à¤‚ à¤‰à¤¨à¤•à¥€ à¤¨à¤¿à¤•à¤Ÿà¤¤à¤¾à¥¤ à¤¸à¤¾à¤²à¥‹à¤•à¥à¤¯ à¤¸à¥‡ à¤Šà¤ªà¤°, à¤¸à¤¾à¤°à¥‚à¤ªà¥à¤¯ à¤¸à¥‡ à¤¨à¥€à¤šà¥‡à¥¤</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6A2E2E"/>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à¤¯à¤œà¥à¤ž</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यज्ञ। द्रव्य-यज्ञ, तपो-यज्ञ, ज्ञान-यज्ञ, स्वाध्याय-यज्ञ, प्राणायाम-यज्ञ, इंद्रिय-संयम। चौथे अध्याय में हरि को अर्पित किया गया हर कर्म यज्ञ बन जाता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6A2E2E"/>
          </a:solidFill>
          <a:ln w="12700">
            <a:solidFill>
              <a:srgbClr val="6A2E2E"/>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à¤¦à¥à¤°à¤µà¥à¤¯-à¤¯à¤œà¥à¤ž â€” à¤µà¤¸à¥à¤¤à¥ à¤•à¤¾ à¤¯à¤œà¥à¤ž</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à¤­à¥Œà¤¤à¤¿à¤• à¤¸à¤‚à¤ªà¤¤à¥à¤¤à¤¿ à¤•à¤¾ à¤…à¤°à¥à¤ªà¤£ â€” à¤•à¥ƒà¤·à¥à¤£ à¤•à¥€ à¤—à¥€à¤¤à¤¾ à¥ª.à¥¨à¥® à¤•à¥€ à¤¯à¤œà¥à¤ž-à¤¸à¥‚à¤šà¥€ à¤®à¥‡à¤‚ à¤ªà¤¹à¤²à¤¾à¥¤</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6A2E2E"/>
          </a:solidFill>
          <a:ln w="12700">
            <a:solidFill>
              <a:srgbClr val="6A2E2E"/>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à¤¤à¤ªà¥‹-à¤¯à¤œà¥à¤ž â€” à¤¤à¤ª à¤•à¤¾ à¤¯à¤œà¥à¤ž</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à¤…à¤ªà¤¨à¥‡ à¤¤à¤ª â€” à¤¶à¤°à¥€à¤°, à¤µà¤¾à¤£à¥€ à¤”à¤° à¤®à¤¨ à¤•à¤¾ â€” à¤•à¥‹ à¤ªà¥‚à¤œà¤¾ à¤•à¥‡ à¤°à¥‚à¤ª à¤®à¥‡à¤‚ à¤…à¤°à¥à¤ªà¤£ à¤•à¤°à¤¨à¤¾à¥¤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6A2E2E"/>
          </a:solidFill>
          <a:ln w="12700">
            <a:solidFill>
              <a:srgbClr val="6A2E2E"/>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à¤¯à¥‹à¤—-à¤¯à¤œà¥à¤ž</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4.28â€“30</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à¤…à¤ªà¤¨à¥€ à¤¯à¥‹à¤—-à¤¸à¤¾à¤§à¤¨à¤¾ â€” à¤ªà¥à¤°à¤¾à¤£-à¤…à¤ªà¤¾à¤¨ à¤•à¤¾ à¤¸à¤‚à¤¯à¤®, à¤…à¤·à¥à¤Ÿà¤¾à¤‚à¤— à¤¯à¥‹à¤— â€” à¤•à¥‹ à¤¹à¤°à¤¿ à¤•à¥€ à¤‰à¤ªà¤¾à¤¸à¤¨à¤¾ à¤•à¥‡ à¤°à¥‚à¤ª à¤®à¥‡à¤‚ à¤…à¤°à¥à¤ªà¤£ à¤•à¤°à¤¨à¤¾à¥¤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6A2E2E"/>
          </a:solidFill>
          <a:ln w="12700">
            <a:solidFill>
              <a:srgbClr val="6A2E2E"/>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à¤¸à¥à¤µà¤¾à¤§à¥à¤¯à¤¾à¤¯-à¤¯à¤œà¥à¤ž</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4.28</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à¤¶à¤¾à¤¸à¥à¤¤à¥à¤°-à¤ªà¤¾à¤  à¤”à¤° à¤‰à¤¸à¤¸à¥‡ à¤ªà¥à¤°à¤•à¤Ÿ à¤¹à¥‹à¤¨à¥‡ à¤µà¤¾à¤²à¤¾ à¤œà¥à¤žà¤¾à¤¨ à¤¦à¥‹à¤¨à¥‹à¤‚ à¤®à¤¿à¤²à¤•à¤° â€” à¤¸à¤°à¥à¤µà¥‹à¤šà¥à¤š à¤µà¤¾à¤•à¥-à¤¯à¤œà¥à¤žà¥¤</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3E3A32"/>
                </a:solidFill>
                <a:latin typeface="Tiro Devanagari Hindi" pitchFamily="34" charset="0"/>
                <a:ea typeface="Tiro Devanagari Hindi" pitchFamily="34" charset="-122"/>
                <a:cs typeface="Tiro Devanagari Hindi" pitchFamily="34" charset="-120"/>
              </a:rPr>
              <a:t>इस स्तर की कहानी</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à¤ªà¥à¤°à¤¤à¥€à¤•</a:t>
            </a:r>
            <a:endParaRPr lang="en-US" sz="3000" dirty="0"/>
          </a:p>
        </p:txBody>
      </p:sp>
      <p:sp>
        <p:nvSpPr>
          <p:cNvPr id="4" name="Text 2"/>
          <p:cNvSpPr/>
          <p:nvPr/>
        </p:nvSpPr>
        <p:spPr>
          <a:xfrm>
            <a:off x="548640" y="1600200"/>
            <a:ext cx="493776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प्रतीक और उपमाएँ। अश्वत्थ (पंद्रहवें अध्याय का उल्टा संसार-वृक्ष), रथ (शरीर-रथ), प्रणव (ॐ), गीता-माहात्म्य, विभूति। प्रतिमा की भाषा जिससे अमूर्त तत्त्व हृदय में प्रवेश करता है।</a:t>
            </a:r>
            <a:endParaRPr lang="en-US" sz="1300" dirty="0"/>
          </a:p>
        </p:txBody>
      </p:sp>
      <p:sp>
        <p:nvSpPr>
          <p:cNvPr id="5" name="Shape 3"/>
          <p:cNvSpPr/>
          <p:nvPr/>
        </p:nvSpPr>
        <p:spPr>
          <a:xfrm>
            <a:off x="5715000" y="1600200"/>
            <a:ext cx="5943600" cy="1078992"/>
          </a:xfrm>
          <a:prstGeom prst="rect">
            <a:avLst/>
          </a:prstGeom>
          <a:solidFill>
            <a:srgbClr val="FBF5E6"/>
          </a:solidFill>
          <a:ln w="6350">
            <a:solidFill>
              <a:srgbClr val="C9B58A"/>
            </a:solidFill>
            <a:prstDash val="solid"/>
          </a:ln>
        </p:spPr>
      </p:sp>
      <p:sp>
        <p:nvSpPr>
          <p:cNvPr id="6" name="Shape 4"/>
          <p:cNvSpPr/>
          <p:nvPr/>
        </p:nvSpPr>
        <p:spPr>
          <a:xfrm>
            <a:off x="5715000" y="1600200"/>
            <a:ext cx="73152" cy="1078992"/>
          </a:xfrm>
          <a:prstGeom prst="rect">
            <a:avLst/>
          </a:prstGeom>
          <a:solidFill>
            <a:srgbClr val="3E3A32"/>
          </a:solidFill>
          <a:ln w="12700">
            <a:solidFill>
              <a:srgbClr val="3E3A32"/>
            </a:solidFill>
            <a:prstDash val="solid"/>
          </a:ln>
        </p:spPr>
      </p:sp>
      <p:sp>
        <p:nvSpPr>
          <p:cNvPr id="7" name="Text 5"/>
          <p:cNvSpPr/>
          <p:nvPr/>
        </p:nvSpPr>
        <p:spPr>
          <a:xfrm>
            <a:off x="5897880" y="165506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à¤…à¤¶à¥à¤µà¤¤à¥à¤¥ â€” à¤‰à¤²à¥à¤Ÿà¤¾ à¤ªà¥€à¤ªà¤²</a:t>
            </a:r>
            <a:endParaRPr lang="en-US" sz="1300" dirty="0"/>
          </a:p>
        </p:txBody>
      </p:sp>
      <p:sp>
        <p:nvSpPr>
          <p:cNvPr id="8" name="Text 6"/>
          <p:cNvSpPr/>
          <p:nvPr/>
        </p:nvSpPr>
        <p:spPr>
          <a:xfrm>
            <a:off x="10515600" y="165506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15.1â€“3</a:t>
            </a:r>
            <a:endParaRPr lang="en-US" sz="950" dirty="0"/>
          </a:p>
        </p:txBody>
      </p:sp>
      <p:sp>
        <p:nvSpPr>
          <p:cNvPr id="9" name="Text 7"/>
          <p:cNvSpPr/>
          <p:nvPr/>
        </p:nvSpPr>
        <p:spPr>
          <a:xfrm>
            <a:off x="5897880" y="192938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à¤œà¤¡à¤¼à¥‡à¤‚ à¤Šà¤ªà¤° (à¤¹à¤°à¤¿), à¤¶à¤¾à¤–à¤¾à¤à¤ à¤¨à¥€à¤šà¥‡ (à¤²à¥‹à¤•); à¤—à¥à¤£à¥‹à¤‚ à¤¸à¥‡ à¤ªà¥‹à¤·à¤¿à¤¤, à¤‡à¤‚à¤¦à¥à¤°à¤¿à¤¯-à¤µà¤¿à¤·à¤¯à¥‹à¤‚ à¤•à¥‡ à¤ªà¤¤à¥à¤¤à¥‡ à¤‰à¤—à¤¾à¤¤à¤¾à¥¤ à¤‡à¤¸à¥‡ à¤…à¤¨à¤¾à¤¸à¤•à¥à¤¤à¤¿ à¤•à¥‡ à¤•à¥à¤ …</a:t>
            </a:r>
            <a:endParaRPr lang="en-US" sz="1050" dirty="0"/>
          </a:p>
        </p:txBody>
      </p:sp>
      <p:sp>
        <p:nvSpPr>
          <p:cNvPr id="10" name="Shape 8"/>
          <p:cNvSpPr/>
          <p:nvPr/>
        </p:nvSpPr>
        <p:spPr>
          <a:xfrm>
            <a:off x="5715000" y="2788920"/>
            <a:ext cx="5943600" cy="1078992"/>
          </a:xfrm>
          <a:prstGeom prst="rect">
            <a:avLst/>
          </a:prstGeom>
          <a:solidFill>
            <a:srgbClr val="FBF5E6"/>
          </a:solidFill>
          <a:ln w="6350">
            <a:solidFill>
              <a:srgbClr val="C9B58A"/>
            </a:solidFill>
            <a:prstDash val="solid"/>
          </a:ln>
        </p:spPr>
      </p:sp>
      <p:sp>
        <p:nvSpPr>
          <p:cNvPr id="11" name="Shape 9"/>
          <p:cNvSpPr/>
          <p:nvPr/>
        </p:nvSpPr>
        <p:spPr>
          <a:xfrm>
            <a:off x="5715000" y="2788920"/>
            <a:ext cx="73152" cy="1078992"/>
          </a:xfrm>
          <a:prstGeom prst="rect">
            <a:avLst/>
          </a:prstGeom>
          <a:solidFill>
            <a:srgbClr val="3E3A32"/>
          </a:solidFill>
          <a:ln w="12700">
            <a:solidFill>
              <a:srgbClr val="3E3A32"/>
            </a:solidFill>
            <a:prstDash val="solid"/>
          </a:ln>
        </p:spPr>
      </p:sp>
      <p:sp>
        <p:nvSpPr>
          <p:cNvPr id="12" name="Text 10"/>
          <p:cNvSpPr/>
          <p:nvPr/>
        </p:nvSpPr>
        <p:spPr>
          <a:xfrm>
            <a:off x="5897880" y="284378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à¤°à¤¥-à¤°à¥‚à¤ªà¤• â€” à¤°à¤¥ à¤•à¤¾ à¤¦à¥ƒà¤·à¥à¤Ÿà¤¾à¤‚à¤¤</a:t>
            </a:r>
            <a:endParaRPr lang="en-US" sz="1300" dirty="0"/>
          </a:p>
        </p:txBody>
      </p:sp>
      <p:sp>
        <p:nvSpPr>
          <p:cNvPr id="13" name="Text 11"/>
          <p:cNvSpPr/>
          <p:nvPr/>
        </p:nvSpPr>
        <p:spPr>
          <a:xfrm>
            <a:off x="10515600" y="284378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1.21â€“25 Â· 18.78</a:t>
            </a:r>
            <a:endParaRPr lang="en-US" sz="950" dirty="0"/>
          </a:p>
        </p:txBody>
      </p:sp>
      <p:sp>
        <p:nvSpPr>
          <p:cNvPr id="14" name="Text 12"/>
          <p:cNvSpPr/>
          <p:nvPr/>
        </p:nvSpPr>
        <p:spPr>
          <a:xfrm>
            <a:off x="5897880" y="311810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à¤—à¥€à¤¤à¤¾ à¤•à¥‡ à¥§â€“à¥¨ à¤…à¤§à¥à¤¯à¤¾à¤¯ à¤®à¥‡à¤‚ à¤…à¤¨à¥à¤•à¥à¤¤ à¤°à¥‚à¤ª à¤¸à¥‡ à¤‰à¤ªà¤¸à¥à¤¥à¤¿à¤¤: à¤•à¥ƒà¤·à¥à¤£ à¤¸à¤¾à¤°à¤¥à¥€, à¤…à¤°à¥à¤œà¥à¤¨ à¤°à¤¥à¥€à¥¤ à¤•à¤  à¤‰à¤ªà¤¨à¤¿à¤·à¤¦à¥ à¤•à¥‡ à¤°à¤¥-à¤°à¥‚à¤ªà¤• à¤•à¥€ à¤ªà¥à¤°à¤¤…</a:t>
            </a:r>
            <a:endParaRPr lang="en-US" sz="1050" dirty="0"/>
          </a:p>
        </p:txBody>
      </p:sp>
      <p:sp>
        <p:nvSpPr>
          <p:cNvPr id="15" name="Shape 13"/>
          <p:cNvSpPr/>
          <p:nvPr/>
        </p:nvSpPr>
        <p:spPr>
          <a:xfrm>
            <a:off x="5715000" y="3977640"/>
            <a:ext cx="5943600" cy="1078992"/>
          </a:xfrm>
          <a:prstGeom prst="rect">
            <a:avLst/>
          </a:prstGeom>
          <a:solidFill>
            <a:srgbClr val="FBF5E6"/>
          </a:solidFill>
          <a:ln w="6350">
            <a:solidFill>
              <a:srgbClr val="C9B58A"/>
            </a:solidFill>
            <a:prstDash val="solid"/>
          </a:ln>
        </p:spPr>
      </p:sp>
      <p:sp>
        <p:nvSpPr>
          <p:cNvPr id="16" name="Shape 14"/>
          <p:cNvSpPr/>
          <p:nvPr/>
        </p:nvSpPr>
        <p:spPr>
          <a:xfrm>
            <a:off x="5715000" y="3977640"/>
            <a:ext cx="73152" cy="1078992"/>
          </a:xfrm>
          <a:prstGeom prst="rect">
            <a:avLst/>
          </a:prstGeom>
          <a:solidFill>
            <a:srgbClr val="3E3A32"/>
          </a:solidFill>
          <a:ln w="12700">
            <a:solidFill>
              <a:srgbClr val="3E3A32"/>
            </a:solidFill>
            <a:prstDash val="solid"/>
          </a:ln>
        </p:spPr>
      </p:sp>
      <p:sp>
        <p:nvSpPr>
          <p:cNvPr id="17" name="Text 15"/>
          <p:cNvSpPr/>
          <p:nvPr/>
        </p:nvSpPr>
        <p:spPr>
          <a:xfrm>
            <a:off x="5897880" y="403250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à¤ªà¥à¤°à¤£à¤µ à¤“à¤®à¥</a:t>
            </a:r>
            <a:endParaRPr lang="en-US" sz="1300" dirty="0"/>
          </a:p>
        </p:txBody>
      </p:sp>
      <p:sp>
        <p:nvSpPr>
          <p:cNvPr id="18" name="Text 16"/>
          <p:cNvSpPr/>
          <p:nvPr/>
        </p:nvSpPr>
        <p:spPr>
          <a:xfrm>
            <a:off x="10515600" y="403250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8.13 Â· 17.23</a:t>
            </a:r>
            <a:endParaRPr lang="en-US" sz="950" dirty="0"/>
          </a:p>
        </p:txBody>
      </p:sp>
      <p:sp>
        <p:nvSpPr>
          <p:cNvPr id="19" name="Text 17"/>
          <p:cNvSpPr/>
          <p:nvPr/>
        </p:nvSpPr>
        <p:spPr>
          <a:xfrm>
            <a:off x="5897880" y="430682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â€˜à¤“à¤®à¥ à¤‡à¤¤à¥à¤¯à¥‡à¤•à¤¾à¤•à¥à¤·à¤°à¤‚ à¤¬à¥à¤°à¤¹à¥à¤®â€™ â€” à¤®à¥ƒà¤¤à¥à¤¯à¥ à¤•à¥‡ à¤•à¥à¤·à¤£ à¤®à¥‡à¤‚ â€˜à¤“à¤®à¥â€™ à¤•à¤¾ à¤‰à¤šà¥à¤šà¤¾à¤°à¤£ à¤”à¤° à¤¹à¤°à¤¿ à¤•à¤¾ à¤¸à¥à¤®à¤°à¤£ à¤•à¤°à¤¨à¥‡ à¤µà¤¾à¤²à¤¾ à¤ªà¤°à¤® à¤ªà¤¦ à¤•à¥…</a:t>
            </a:r>
            <a:endParaRPr lang="en-US" sz="1050" dirty="0"/>
          </a:p>
        </p:txBody>
      </p:sp>
      <p:sp>
        <p:nvSpPr>
          <p:cNvPr id="20" name="Shape 18"/>
          <p:cNvSpPr/>
          <p:nvPr/>
        </p:nvSpPr>
        <p:spPr>
          <a:xfrm>
            <a:off x="5715000" y="5166360"/>
            <a:ext cx="5943600" cy="1078992"/>
          </a:xfrm>
          <a:prstGeom prst="rect">
            <a:avLst/>
          </a:prstGeom>
          <a:solidFill>
            <a:srgbClr val="FBF5E6"/>
          </a:solidFill>
          <a:ln w="6350">
            <a:solidFill>
              <a:srgbClr val="C9B58A"/>
            </a:solidFill>
            <a:prstDash val="solid"/>
          </a:ln>
        </p:spPr>
      </p:sp>
      <p:sp>
        <p:nvSpPr>
          <p:cNvPr id="21" name="Shape 19"/>
          <p:cNvSpPr/>
          <p:nvPr/>
        </p:nvSpPr>
        <p:spPr>
          <a:xfrm>
            <a:off x="5715000" y="5166360"/>
            <a:ext cx="73152" cy="1078992"/>
          </a:xfrm>
          <a:prstGeom prst="rect">
            <a:avLst/>
          </a:prstGeom>
          <a:solidFill>
            <a:srgbClr val="3E3A32"/>
          </a:solidFill>
          <a:ln w="12700">
            <a:solidFill>
              <a:srgbClr val="3E3A32"/>
            </a:solidFill>
            <a:prstDash val="solid"/>
          </a:ln>
        </p:spPr>
      </p:sp>
      <p:sp>
        <p:nvSpPr>
          <p:cNvPr id="22" name="Text 20"/>
          <p:cNvSpPr/>
          <p:nvPr/>
        </p:nvSpPr>
        <p:spPr>
          <a:xfrm>
            <a:off x="5897880" y="5221224"/>
            <a:ext cx="4572000" cy="292608"/>
          </a:xfrm>
          <a:prstGeom prst="rect">
            <a:avLst/>
          </a:prstGeom>
          <a:noFill/>
          <a:ln/>
        </p:spPr>
        <p:txBody>
          <a:bodyPr wrap="square" lIns="0" tIns="0" rIns="0" bIns="0" rtlCol="0" anchor="ctr"/>
          <a:lstStyle/>
          <a:p>
            <a:pPr indent="0" marL="0">
              <a:buNone/>
            </a:pPr>
            <a:r>
              <a:rPr lang="en-US" sz="1300" b="1" dirty="0">
                <a:solidFill>
                  <a:srgbClr val="3B2A1B"/>
                </a:solidFill>
                <a:latin typeface="Tiro Devanagari Hindi" pitchFamily="34" charset="0"/>
                <a:ea typeface="Tiro Devanagari Hindi" pitchFamily="34" charset="-122"/>
                <a:cs typeface="Tiro Devanagari Hindi" pitchFamily="34" charset="-120"/>
              </a:rPr>
              <a:t>à¤…à¤•à¥à¤·à¤°à¥‹à¤‚ à¤®à¥‡à¤‚ à¤…</a:t>
            </a:r>
            <a:endParaRPr lang="en-US" sz="1300" dirty="0"/>
          </a:p>
        </p:txBody>
      </p:sp>
      <p:sp>
        <p:nvSpPr>
          <p:cNvPr id="23" name="Text 21"/>
          <p:cNvSpPr/>
          <p:nvPr/>
        </p:nvSpPr>
        <p:spPr>
          <a:xfrm>
            <a:off x="10515600" y="5221224"/>
            <a:ext cx="1097280" cy="292608"/>
          </a:xfrm>
          <a:prstGeom prst="rect">
            <a:avLst/>
          </a:prstGeom>
          <a:noFill/>
          <a:ln/>
        </p:spPr>
        <p:txBody>
          <a:bodyPr wrap="square" lIns="0" tIns="0" rIns="0" bIns="0" rtlCol="0" anchor="ctr"/>
          <a:lstStyle/>
          <a:p>
            <a:pPr algn="r" indent="0" marL="0">
              <a:buNone/>
            </a:pPr>
            <a:r>
              <a:rPr lang="en-US" sz="950" i="1" dirty="0">
                <a:solidFill>
                  <a:srgbClr val="8A7558"/>
                </a:solidFill>
                <a:latin typeface="Cormorant Garamond" pitchFamily="34" charset="0"/>
                <a:ea typeface="Cormorant Garamond" pitchFamily="34" charset="-122"/>
                <a:cs typeface="Cormorant Garamond" pitchFamily="34" charset="-120"/>
              </a:rPr>
              <a:t>BG 10.33</a:t>
            </a:r>
            <a:endParaRPr lang="en-US" sz="950" dirty="0"/>
          </a:p>
        </p:txBody>
      </p:sp>
      <p:sp>
        <p:nvSpPr>
          <p:cNvPr id="24" name="Text 22"/>
          <p:cNvSpPr/>
          <p:nvPr/>
        </p:nvSpPr>
        <p:spPr>
          <a:xfrm>
            <a:off x="5897880" y="5495544"/>
            <a:ext cx="5669280" cy="694944"/>
          </a:xfrm>
          <a:prstGeom prst="rect">
            <a:avLst/>
          </a:prstGeom>
          <a:noFill/>
          <a:ln/>
        </p:spPr>
        <p:txBody>
          <a:bodyPr wrap="square" lIns="0" tIns="0" rIns="0" bIns="0" rtlCol="0" anchor="t"/>
          <a:lstStyle/>
          <a:p>
            <a:pPr algn="l" indent="0" marL="0">
              <a:spcAft>
                <a:spcPts val="200"/>
              </a:spcAft>
              <a:buNone/>
            </a:pPr>
            <a:r>
              <a:rPr lang="en-US" sz="1050" dirty="0">
                <a:solidFill>
                  <a:srgbClr val="5A4632"/>
                </a:solidFill>
                <a:latin typeface="Tiro Devanagari Hindi" pitchFamily="34" charset="0"/>
                <a:ea typeface="Tiro Devanagari Hindi" pitchFamily="34" charset="-122"/>
                <a:cs typeface="Tiro Devanagari Hindi" pitchFamily="34" charset="-120"/>
              </a:rPr>
              <a:t>â€˜à¤…à¤•à¥à¤·à¤°à¥‹à¤‚ à¤®à¥‡à¤‚ à¤®à¥ˆà¤‚ à¤… à¤¹à¥‚à¤â€™ â€” à¤¸à¤¬ à¤µà¤°à¥à¤£à¥‹à¤‚ à¤•à¤¾ à¤¸à¥à¤°à¥‹à¤¤; à¤¸à¤®à¤¾à¤¸à¥‹à¤‚ à¤®à¥‡à¤‚ à¤¦à¥à¤µà¤‚à¤¦à¥à¤µ à¤¸à¤¬à¤¸à¥‡ à¤¶à¥à¤°à¥‡à¤·à¥à¤ à¥¤</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Tiro Devanagari Hindi" pitchFamily="34" charset="0"/>
                <a:ea typeface="Tiro Devanagari Hindi" pitchFamily="34" charset="-122"/>
                <a:cs typeface="Tiro Devanagari Hindi" pitchFamily="34" charset="-120"/>
              </a:rPr>
              <a:t>15</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संबंधों की शब्दावली</a:t>
            </a:r>
            <a:endParaRPr lang="en-US" sz="3000" dirty="0"/>
          </a:p>
        </p:txBody>
      </p:sp>
      <p:sp>
        <p:nvSpPr>
          <p:cNvPr id="4" name="Text 2"/>
          <p:cNvSpPr/>
          <p:nvPr/>
        </p:nvSpPr>
        <p:spPr>
          <a:xfrm>
            <a:off x="548640" y="1600200"/>
            <a:ext cx="10972800" cy="502920"/>
          </a:xfrm>
          <a:prstGeom prst="rect">
            <a:avLst/>
          </a:prstGeom>
          <a:noFill/>
          <a:ln/>
        </p:spPr>
        <p:txBody>
          <a:bodyPr wrap="square" lIns="0" tIns="0" rIns="0" bIns="0" rtlCol="0" anchor="t"/>
          <a:lstStyle/>
          <a:p>
            <a:pPr algn="l" indent="0" marL="0">
              <a:buNone/>
            </a:pPr>
            <a:r>
              <a:rPr lang="en-US" sz="1400" i="1" dirty="0">
                <a:solidFill>
                  <a:srgbClr val="5A4632"/>
                </a:solidFill>
                <a:latin typeface="Tiro Devanagari Hindi" pitchFamily="34" charset="0"/>
                <a:ea typeface="Tiro Devanagari Hindi" pitchFamily="34" charset="-122"/>
                <a:cs typeface="Tiro Devanagari Hindi" pitchFamily="34" charset="-120"/>
              </a:rPr>
              <a:t>आठ वर्गीकृत संबंध गीता-विचार की रचना को थामे रखते हैं —</a:t>
            </a:r>
            <a:endParaRPr lang="en-US" sz="1400" dirty="0"/>
          </a:p>
        </p:txBody>
      </p:sp>
      <p:sp>
        <p:nvSpPr>
          <p:cNvPr id="5" name="Shape 3"/>
          <p:cNvSpPr/>
          <p:nvPr/>
        </p:nvSpPr>
        <p:spPr>
          <a:xfrm>
            <a:off x="548640" y="2350008"/>
            <a:ext cx="201168" cy="201168"/>
          </a:xfrm>
          <a:prstGeom prst="rect">
            <a:avLst/>
          </a:prstGeom>
          <a:solidFill>
            <a:srgbClr val="8B6914"/>
          </a:solidFill>
          <a:ln w="12700">
            <a:solidFill>
              <a:srgbClr val="8B6914"/>
            </a:solidFill>
            <a:prstDash val="solid"/>
          </a:ln>
        </p:spPr>
      </p:sp>
      <p:sp>
        <p:nvSpPr>
          <p:cNvPr id="6" name="Text 4"/>
          <p:cNvSpPr/>
          <p:nvPr/>
        </p:nvSpPr>
        <p:spPr>
          <a:xfrm>
            <a:off x="914400" y="22402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is-a — एक विषय / सदस्यता · ब्रह्म = परमात्मा</a:t>
            </a:r>
            <a:endParaRPr lang="en-US" sz="1250" dirty="0"/>
          </a:p>
        </p:txBody>
      </p:sp>
      <p:sp>
        <p:nvSpPr>
          <p:cNvPr id="7" name="Shape 5"/>
          <p:cNvSpPr/>
          <p:nvPr/>
        </p:nvSpPr>
        <p:spPr>
          <a:xfrm>
            <a:off x="6263640" y="2350008"/>
            <a:ext cx="201168" cy="201168"/>
          </a:xfrm>
          <a:prstGeom prst="rect">
            <a:avLst/>
          </a:prstGeom>
          <a:solidFill>
            <a:srgbClr val="3F7A4A"/>
          </a:solidFill>
          <a:ln w="12700">
            <a:solidFill>
              <a:srgbClr val="3F7A4A"/>
            </a:solidFill>
            <a:prstDash val="solid"/>
          </a:ln>
        </p:spPr>
      </p:sp>
      <p:sp>
        <p:nvSpPr>
          <p:cNvPr id="8" name="Text 6"/>
          <p:cNvSpPr/>
          <p:nvPr/>
        </p:nvSpPr>
        <p:spPr>
          <a:xfrm>
            <a:off x="6629400" y="22402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leads-to — साधन → फल · कर्मयोग → चित्त-शुद्धि</a:t>
            </a:r>
            <a:endParaRPr lang="en-US" sz="1250" dirty="0"/>
          </a:p>
        </p:txBody>
      </p:sp>
      <p:sp>
        <p:nvSpPr>
          <p:cNvPr id="9" name="Shape 7"/>
          <p:cNvSpPr/>
          <p:nvPr/>
        </p:nvSpPr>
        <p:spPr>
          <a:xfrm>
            <a:off x="548640" y="2807208"/>
            <a:ext cx="201168" cy="201168"/>
          </a:xfrm>
          <a:prstGeom prst="rect">
            <a:avLst/>
          </a:prstGeom>
          <a:solidFill>
            <a:srgbClr val="7B8D2E"/>
          </a:solidFill>
          <a:ln w="12700">
            <a:solidFill>
              <a:srgbClr val="7B8D2E"/>
            </a:solidFill>
            <a:prstDash val="solid"/>
          </a:ln>
        </p:spPr>
      </p:sp>
      <p:sp>
        <p:nvSpPr>
          <p:cNvPr id="10" name="Text 8"/>
          <p:cNvSpPr/>
          <p:nvPr/>
        </p:nvSpPr>
        <p:spPr>
          <a:xfrm>
            <a:off x="914400" y="26974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antidote-to — दोष का प्रतिकार · ज्ञान → अज्ञान</a:t>
            </a:r>
            <a:endParaRPr lang="en-US" sz="1250" dirty="0"/>
          </a:p>
        </p:txBody>
      </p:sp>
      <p:sp>
        <p:nvSpPr>
          <p:cNvPr id="11" name="Shape 9"/>
          <p:cNvSpPr/>
          <p:nvPr/>
        </p:nvSpPr>
        <p:spPr>
          <a:xfrm>
            <a:off x="6263640" y="2807208"/>
            <a:ext cx="201168" cy="201168"/>
          </a:xfrm>
          <a:prstGeom prst="rect">
            <a:avLst/>
          </a:prstGeom>
          <a:solidFill>
            <a:srgbClr val="B85042"/>
          </a:solidFill>
          <a:ln w="12700">
            <a:solidFill>
              <a:srgbClr val="B85042"/>
            </a:solidFill>
            <a:prstDash val="solid"/>
          </a:ln>
        </p:spPr>
      </p:sp>
      <p:sp>
        <p:nvSpPr>
          <p:cNvPr id="12" name="Text 10"/>
          <p:cNvSpPr/>
          <p:nvPr/>
        </p:nvSpPr>
        <p:spPr>
          <a:xfrm>
            <a:off x="6629400" y="26974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arises-from — कारण से उत्पन्न · क्रोध ← काम से</a:t>
            </a:r>
            <a:endParaRPr lang="en-US" sz="1250" dirty="0"/>
          </a:p>
        </p:txBody>
      </p:sp>
      <p:sp>
        <p:nvSpPr>
          <p:cNvPr id="13" name="Shape 11"/>
          <p:cNvSpPr/>
          <p:nvPr/>
        </p:nvSpPr>
        <p:spPr>
          <a:xfrm>
            <a:off x="548640" y="3264408"/>
            <a:ext cx="201168" cy="201168"/>
          </a:xfrm>
          <a:prstGeom prst="rect">
            <a:avLst/>
          </a:prstGeom>
          <a:solidFill>
            <a:srgbClr val="5A3E6A"/>
          </a:solidFill>
          <a:ln w="12700">
            <a:solidFill>
              <a:srgbClr val="5A3E6A"/>
            </a:solidFill>
            <a:prstDash val="solid"/>
          </a:ln>
        </p:spPr>
      </p:sp>
      <p:sp>
        <p:nvSpPr>
          <p:cNvPr id="14" name="Text 12"/>
          <p:cNvSpPr/>
          <p:nvPr/>
        </p:nvSpPr>
        <p:spPr>
          <a:xfrm>
            <a:off x="914400" y="31546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opposite-of — विपरीत जोड़ी · सत्त्व ↔ तमस्</a:t>
            </a:r>
            <a:endParaRPr lang="en-US" sz="1250" dirty="0"/>
          </a:p>
        </p:txBody>
      </p:sp>
      <p:sp>
        <p:nvSpPr>
          <p:cNvPr id="15" name="Shape 13"/>
          <p:cNvSpPr/>
          <p:nvPr/>
        </p:nvSpPr>
        <p:spPr>
          <a:xfrm>
            <a:off x="6263640" y="3264408"/>
            <a:ext cx="201168" cy="201168"/>
          </a:xfrm>
          <a:prstGeom prst="rect">
            <a:avLst/>
          </a:prstGeom>
          <a:solidFill>
            <a:srgbClr val="2F6E7A"/>
          </a:solidFill>
          <a:ln w="12700">
            <a:solidFill>
              <a:srgbClr val="2F6E7A"/>
            </a:solidFill>
            <a:prstDash val="solid"/>
          </a:ln>
        </p:spPr>
      </p:sp>
      <p:sp>
        <p:nvSpPr>
          <p:cNvPr id="16" name="Text 14"/>
          <p:cNvSpPr/>
          <p:nvPr/>
        </p:nvSpPr>
        <p:spPr>
          <a:xfrm>
            <a:off x="6629400" y="31546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includes — अंग-समावेश · क्षेत्र → महाभूत</a:t>
            </a:r>
            <a:endParaRPr lang="en-US" sz="1250" dirty="0"/>
          </a:p>
        </p:txBody>
      </p:sp>
      <p:sp>
        <p:nvSpPr>
          <p:cNvPr id="17" name="Shape 15"/>
          <p:cNvSpPr/>
          <p:nvPr/>
        </p:nvSpPr>
        <p:spPr>
          <a:xfrm>
            <a:off x="548640" y="3721608"/>
            <a:ext cx="201168" cy="201168"/>
          </a:xfrm>
          <a:prstGeom prst="rect">
            <a:avLst/>
          </a:prstGeom>
          <a:solidFill>
            <a:srgbClr val="3A4A7A"/>
          </a:solidFill>
          <a:ln w="12700">
            <a:solidFill>
              <a:srgbClr val="3A4A7A"/>
            </a:solidFill>
            <a:prstDash val="solid"/>
          </a:ln>
        </p:spPr>
      </p:sp>
      <p:sp>
        <p:nvSpPr>
          <p:cNvPr id="18" name="Text 16"/>
          <p:cNvSpPr/>
          <p:nvPr/>
        </p:nvSpPr>
        <p:spPr>
          <a:xfrm>
            <a:off x="914400" y="36118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predicates-on — आश्रित · क्षेत्रज्ञ ← क्षेत्र</a:t>
            </a:r>
            <a:endParaRPr lang="en-US" sz="1250" dirty="0"/>
          </a:p>
        </p:txBody>
      </p:sp>
      <p:sp>
        <p:nvSpPr>
          <p:cNvPr id="19" name="Shape 17"/>
          <p:cNvSpPr/>
          <p:nvPr/>
        </p:nvSpPr>
        <p:spPr>
          <a:xfrm>
            <a:off x="6263640" y="3721608"/>
            <a:ext cx="201168" cy="201168"/>
          </a:xfrm>
          <a:prstGeom prst="rect">
            <a:avLst/>
          </a:prstGeom>
          <a:solidFill>
            <a:srgbClr val="C69E2A"/>
          </a:solidFill>
          <a:ln w="12700">
            <a:solidFill>
              <a:srgbClr val="C69E2A"/>
            </a:solidFill>
            <a:prstDash val="solid"/>
          </a:ln>
        </p:spPr>
      </p:sp>
      <p:sp>
        <p:nvSpPr>
          <p:cNvPr id="20" name="Text 18"/>
          <p:cNvSpPr/>
          <p:nvPr/>
        </p:nvSpPr>
        <p:spPr>
          <a:xfrm>
            <a:off x="6629400" y="3611880"/>
            <a:ext cx="5074920" cy="457200"/>
          </a:xfrm>
          <a:prstGeom prst="rect">
            <a:avLst/>
          </a:prstGeom>
          <a:noFill/>
          <a:ln/>
        </p:spPr>
        <p:txBody>
          <a:bodyPr wrap="square" lIns="0" tIns="0" rIns="0" bIns="0" rtlCol="0" anchor="ctr"/>
          <a:lstStyle/>
          <a:p>
            <a:pPr indent="0" marL="0">
              <a:buNone/>
            </a:pPr>
            <a:r>
              <a:rPr lang="en-US" sz="1250" dirty="0">
                <a:solidFill>
                  <a:srgbClr val="3B2A1B"/>
                </a:solidFill>
                <a:latin typeface="Tiro Devanagari Hindi" pitchFamily="34" charset="0"/>
                <a:ea typeface="Tiro Devanagari Hindi" pitchFamily="34" charset="-122"/>
                <a:cs typeface="Tiro Devanagari Hindi" pitchFamily="34" charset="-120"/>
              </a:rPr>
              <a:t>transforms-into — रूपांतर · सत्त्व → सात्त्विक ज्ञान</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Tiro Devanagari Hindi" pitchFamily="34" charset="0"/>
                <a:ea typeface="Tiro Devanagari Hindi" pitchFamily="34" charset="-122"/>
                <a:cs typeface="Tiro Devanagari Hindi" pitchFamily="34" charset="-120"/>
              </a:rPr>
              <a:t>16</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मानचित्र</a:t>
            </a:r>
            <a:endParaRPr lang="en-US" sz="3000" dirty="0"/>
          </a:p>
        </p:txBody>
      </p:sp>
      <p:sp>
        <p:nvSpPr>
          <p:cNvPr id="4" name="Text 2"/>
          <p:cNvSpPr/>
          <p:nvPr/>
        </p:nvSpPr>
        <p:spPr>
          <a:xfrm>
            <a:off x="548640" y="1600200"/>
            <a:ext cx="5943600" cy="438912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बारह क्षैतिज पट्टियाँ — सबसे ऊपर परमार्थ, सबसे नीचे प्रतीक। हर नोड अपने स्तर पर, हर संबंध अपनी श्रेणी के रंग में। गीता-विचार की रचना को ऊपर से देखना।</a:t>
            </a:r>
            <a:endParaRPr lang="en-US" sz="1300" dirty="0"/>
          </a:p>
        </p:txBody>
      </p:sp>
      <p:sp>
        <p:nvSpPr>
          <p:cNvPr id="5" name="Shape 3"/>
          <p:cNvSpPr/>
          <p:nvPr/>
        </p:nvSpPr>
        <p:spPr>
          <a:xfrm>
            <a:off x="6903720" y="1600200"/>
            <a:ext cx="4754880" cy="4114800"/>
          </a:xfrm>
          <a:prstGeom prst="rect">
            <a:avLst/>
          </a:prstGeom>
          <a:solidFill>
            <a:srgbClr val="FBF5E6"/>
          </a:solidFill>
          <a:ln w="6350">
            <a:solidFill>
              <a:srgbClr val="C9B58A"/>
            </a:solidFill>
            <a:prstDash val="solid"/>
          </a:ln>
        </p:spPr>
      </p:sp>
      <p:sp>
        <p:nvSpPr>
          <p:cNvPr id="6" name="Text 4"/>
          <p:cNvSpPr/>
          <p:nvPr/>
        </p:nvSpPr>
        <p:spPr>
          <a:xfrm>
            <a:off x="6995160" y="1737360"/>
            <a:ext cx="1645920" cy="320040"/>
          </a:xfrm>
          <a:prstGeom prst="rect">
            <a:avLst/>
          </a:prstGeom>
          <a:noFill/>
          <a:ln/>
        </p:spPr>
        <p:txBody>
          <a:bodyPr wrap="square" lIns="0" tIns="0" rIns="0" bIns="0" rtlCol="0" anchor="ctr"/>
          <a:lstStyle/>
          <a:p>
            <a:pPr indent="0" marL="0">
              <a:buNone/>
            </a:pPr>
            <a:r>
              <a:rPr lang="en-US" sz="800" b="1" dirty="0">
                <a:solidFill>
                  <a:srgbClr val="8B1E1A"/>
                </a:solidFill>
                <a:latin typeface="Tiro Devanagari Hindi" pitchFamily="34" charset="0"/>
                <a:ea typeface="Tiro Devanagari Hindi" pitchFamily="34" charset="-122"/>
                <a:cs typeface="Tiro Devanagari Hindi" pitchFamily="34" charset="-120"/>
              </a:rPr>
              <a:t>à¤ªà¤°à¤®à¤¾à¤°à¥à¤¥</a:t>
            </a:r>
            <a:endParaRPr lang="en-US" sz="800" dirty="0"/>
          </a:p>
        </p:txBody>
      </p:sp>
      <p:sp>
        <p:nvSpPr>
          <p:cNvPr id="7" name="Shape 5"/>
          <p:cNvSpPr/>
          <p:nvPr/>
        </p:nvSpPr>
        <p:spPr>
          <a:xfrm>
            <a:off x="8686800" y="1842516"/>
            <a:ext cx="109728" cy="109728"/>
          </a:xfrm>
          <a:prstGeom prst="ellipse">
            <a:avLst/>
          </a:prstGeom>
          <a:solidFill>
            <a:srgbClr val="8B1E1A"/>
          </a:solidFill>
          <a:ln w="12700">
            <a:solidFill>
              <a:srgbClr val="8B1E1A"/>
            </a:solidFill>
            <a:prstDash val="solid"/>
          </a:ln>
        </p:spPr>
      </p:sp>
      <p:sp>
        <p:nvSpPr>
          <p:cNvPr id="8" name="Shape 6"/>
          <p:cNvSpPr/>
          <p:nvPr/>
        </p:nvSpPr>
        <p:spPr>
          <a:xfrm>
            <a:off x="8961120" y="1842516"/>
            <a:ext cx="109728" cy="109728"/>
          </a:xfrm>
          <a:prstGeom prst="ellipse">
            <a:avLst/>
          </a:prstGeom>
          <a:solidFill>
            <a:srgbClr val="8B1E1A"/>
          </a:solidFill>
          <a:ln w="12700">
            <a:solidFill>
              <a:srgbClr val="8B1E1A"/>
            </a:solidFill>
            <a:prstDash val="solid"/>
          </a:ln>
        </p:spPr>
      </p:sp>
      <p:sp>
        <p:nvSpPr>
          <p:cNvPr id="9" name="Shape 7"/>
          <p:cNvSpPr/>
          <p:nvPr/>
        </p:nvSpPr>
        <p:spPr>
          <a:xfrm>
            <a:off x="9235440" y="1842516"/>
            <a:ext cx="109728" cy="109728"/>
          </a:xfrm>
          <a:prstGeom prst="ellipse">
            <a:avLst/>
          </a:prstGeom>
          <a:solidFill>
            <a:srgbClr val="8B1E1A"/>
          </a:solidFill>
          <a:ln w="12700">
            <a:solidFill>
              <a:srgbClr val="8B1E1A"/>
            </a:solidFill>
            <a:prstDash val="solid"/>
          </a:ln>
        </p:spPr>
      </p:sp>
      <p:sp>
        <p:nvSpPr>
          <p:cNvPr id="10" name="Shape 8"/>
          <p:cNvSpPr/>
          <p:nvPr/>
        </p:nvSpPr>
        <p:spPr>
          <a:xfrm>
            <a:off x="9509760" y="1842516"/>
            <a:ext cx="109728" cy="109728"/>
          </a:xfrm>
          <a:prstGeom prst="ellipse">
            <a:avLst/>
          </a:prstGeom>
          <a:solidFill>
            <a:srgbClr val="8B1E1A"/>
          </a:solidFill>
          <a:ln w="12700">
            <a:solidFill>
              <a:srgbClr val="8B1E1A"/>
            </a:solidFill>
            <a:prstDash val="solid"/>
          </a:ln>
        </p:spPr>
      </p:sp>
      <p:sp>
        <p:nvSpPr>
          <p:cNvPr id="11" name="Shape 9"/>
          <p:cNvSpPr/>
          <p:nvPr/>
        </p:nvSpPr>
        <p:spPr>
          <a:xfrm>
            <a:off x="9784080" y="1842516"/>
            <a:ext cx="109728" cy="109728"/>
          </a:xfrm>
          <a:prstGeom prst="ellipse">
            <a:avLst/>
          </a:prstGeom>
          <a:solidFill>
            <a:srgbClr val="8B1E1A"/>
          </a:solidFill>
          <a:ln w="12700">
            <a:solidFill>
              <a:srgbClr val="8B1E1A"/>
            </a:solidFill>
            <a:prstDash val="solid"/>
          </a:ln>
        </p:spPr>
      </p:sp>
      <p:sp>
        <p:nvSpPr>
          <p:cNvPr id="12" name="Shape 10"/>
          <p:cNvSpPr/>
          <p:nvPr/>
        </p:nvSpPr>
        <p:spPr>
          <a:xfrm>
            <a:off x="10058400" y="1842516"/>
            <a:ext cx="109728" cy="109728"/>
          </a:xfrm>
          <a:prstGeom prst="ellipse">
            <a:avLst/>
          </a:prstGeom>
          <a:solidFill>
            <a:srgbClr val="8B1E1A"/>
          </a:solidFill>
          <a:ln w="12700">
            <a:solidFill>
              <a:srgbClr val="8B1E1A"/>
            </a:solidFill>
            <a:prstDash val="solid"/>
          </a:ln>
        </p:spPr>
      </p:sp>
      <p:sp>
        <p:nvSpPr>
          <p:cNvPr id="13" name="Shape 11"/>
          <p:cNvSpPr/>
          <p:nvPr/>
        </p:nvSpPr>
        <p:spPr>
          <a:xfrm>
            <a:off x="10332720" y="1842516"/>
            <a:ext cx="109728" cy="109728"/>
          </a:xfrm>
          <a:prstGeom prst="ellipse">
            <a:avLst/>
          </a:prstGeom>
          <a:solidFill>
            <a:srgbClr val="8B1E1A"/>
          </a:solidFill>
          <a:ln w="12700">
            <a:solidFill>
              <a:srgbClr val="8B1E1A"/>
            </a:solidFill>
            <a:prstDash val="solid"/>
          </a:ln>
        </p:spPr>
      </p:sp>
      <p:sp>
        <p:nvSpPr>
          <p:cNvPr id="14" name="Shape 12"/>
          <p:cNvSpPr/>
          <p:nvPr/>
        </p:nvSpPr>
        <p:spPr>
          <a:xfrm>
            <a:off x="10607040" y="1842516"/>
            <a:ext cx="109728" cy="109728"/>
          </a:xfrm>
          <a:prstGeom prst="ellipse">
            <a:avLst/>
          </a:prstGeom>
          <a:solidFill>
            <a:srgbClr val="8B1E1A"/>
          </a:solidFill>
          <a:ln w="12700">
            <a:solidFill>
              <a:srgbClr val="8B1E1A"/>
            </a:solidFill>
            <a:prstDash val="solid"/>
          </a:ln>
        </p:spPr>
      </p:sp>
      <p:sp>
        <p:nvSpPr>
          <p:cNvPr id="15" name="Shape 13"/>
          <p:cNvSpPr/>
          <p:nvPr/>
        </p:nvSpPr>
        <p:spPr>
          <a:xfrm>
            <a:off x="10881360" y="1842516"/>
            <a:ext cx="109728" cy="109728"/>
          </a:xfrm>
          <a:prstGeom prst="ellipse">
            <a:avLst/>
          </a:prstGeom>
          <a:solidFill>
            <a:srgbClr val="8B1E1A"/>
          </a:solidFill>
          <a:ln w="12700">
            <a:solidFill>
              <a:srgbClr val="8B1E1A"/>
            </a:solidFill>
            <a:prstDash val="solid"/>
          </a:ln>
        </p:spPr>
      </p:sp>
      <p:sp>
        <p:nvSpPr>
          <p:cNvPr id="16" name="Shape 14"/>
          <p:cNvSpPr/>
          <p:nvPr/>
        </p:nvSpPr>
        <p:spPr>
          <a:xfrm>
            <a:off x="11155680" y="1842516"/>
            <a:ext cx="109728" cy="109728"/>
          </a:xfrm>
          <a:prstGeom prst="ellipse">
            <a:avLst/>
          </a:prstGeom>
          <a:solidFill>
            <a:srgbClr val="8B1E1A"/>
          </a:solidFill>
          <a:ln w="12700">
            <a:solidFill>
              <a:srgbClr val="8B1E1A"/>
            </a:solidFill>
            <a:prstDash val="solid"/>
          </a:ln>
        </p:spPr>
      </p:sp>
      <p:sp>
        <p:nvSpPr>
          <p:cNvPr id="17" name="Text 15"/>
          <p:cNvSpPr/>
          <p:nvPr/>
        </p:nvSpPr>
        <p:spPr>
          <a:xfrm>
            <a:off x="6995160" y="2057400"/>
            <a:ext cx="1645920" cy="320040"/>
          </a:xfrm>
          <a:prstGeom prst="rect">
            <a:avLst/>
          </a:prstGeom>
          <a:noFill/>
          <a:ln/>
        </p:spPr>
        <p:txBody>
          <a:bodyPr wrap="square" lIns="0" tIns="0" rIns="0" bIns="0" rtlCol="0" anchor="ctr"/>
          <a:lstStyle/>
          <a:p>
            <a:pPr indent="0" marL="0">
              <a:buNone/>
            </a:pPr>
            <a:r>
              <a:rPr lang="en-US" sz="800" b="1" dirty="0">
                <a:solidFill>
                  <a:srgbClr val="A83F1A"/>
                </a:solidFill>
                <a:latin typeface="Tiro Devanagari Hindi" pitchFamily="34" charset="0"/>
                <a:ea typeface="Tiro Devanagari Hindi" pitchFamily="34" charset="-122"/>
                <a:cs typeface="Tiro Devanagari Hindi" pitchFamily="34" charset="-120"/>
              </a:rPr>
              <a:t>à¤¤à¤¤à¥à¤¤à¥à¤µ</a:t>
            </a:r>
            <a:endParaRPr lang="en-US" sz="800" dirty="0"/>
          </a:p>
        </p:txBody>
      </p:sp>
      <p:sp>
        <p:nvSpPr>
          <p:cNvPr id="18" name="Shape 16"/>
          <p:cNvSpPr/>
          <p:nvPr/>
        </p:nvSpPr>
        <p:spPr>
          <a:xfrm>
            <a:off x="8686800" y="2162556"/>
            <a:ext cx="109728" cy="109728"/>
          </a:xfrm>
          <a:prstGeom prst="ellipse">
            <a:avLst/>
          </a:prstGeom>
          <a:solidFill>
            <a:srgbClr val="A83F1A"/>
          </a:solidFill>
          <a:ln w="12700">
            <a:solidFill>
              <a:srgbClr val="A83F1A"/>
            </a:solidFill>
            <a:prstDash val="solid"/>
          </a:ln>
        </p:spPr>
      </p:sp>
      <p:sp>
        <p:nvSpPr>
          <p:cNvPr id="19" name="Shape 17"/>
          <p:cNvSpPr/>
          <p:nvPr/>
        </p:nvSpPr>
        <p:spPr>
          <a:xfrm>
            <a:off x="8961120" y="2162556"/>
            <a:ext cx="109728" cy="109728"/>
          </a:xfrm>
          <a:prstGeom prst="ellipse">
            <a:avLst/>
          </a:prstGeom>
          <a:solidFill>
            <a:srgbClr val="A83F1A"/>
          </a:solidFill>
          <a:ln w="12700">
            <a:solidFill>
              <a:srgbClr val="A83F1A"/>
            </a:solidFill>
            <a:prstDash val="solid"/>
          </a:ln>
        </p:spPr>
      </p:sp>
      <p:sp>
        <p:nvSpPr>
          <p:cNvPr id="20" name="Shape 18"/>
          <p:cNvSpPr/>
          <p:nvPr/>
        </p:nvSpPr>
        <p:spPr>
          <a:xfrm>
            <a:off x="9235440" y="2162556"/>
            <a:ext cx="109728" cy="109728"/>
          </a:xfrm>
          <a:prstGeom prst="ellipse">
            <a:avLst/>
          </a:prstGeom>
          <a:solidFill>
            <a:srgbClr val="A83F1A"/>
          </a:solidFill>
          <a:ln w="12700">
            <a:solidFill>
              <a:srgbClr val="A83F1A"/>
            </a:solidFill>
            <a:prstDash val="solid"/>
          </a:ln>
        </p:spPr>
      </p:sp>
      <p:sp>
        <p:nvSpPr>
          <p:cNvPr id="21" name="Shape 19"/>
          <p:cNvSpPr/>
          <p:nvPr/>
        </p:nvSpPr>
        <p:spPr>
          <a:xfrm>
            <a:off x="9509760" y="2162556"/>
            <a:ext cx="109728" cy="109728"/>
          </a:xfrm>
          <a:prstGeom prst="ellipse">
            <a:avLst/>
          </a:prstGeom>
          <a:solidFill>
            <a:srgbClr val="A83F1A"/>
          </a:solidFill>
          <a:ln w="12700">
            <a:solidFill>
              <a:srgbClr val="A83F1A"/>
            </a:solidFill>
            <a:prstDash val="solid"/>
          </a:ln>
        </p:spPr>
      </p:sp>
      <p:sp>
        <p:nvSpPr>
          <p:cNvPr id="22" name="Shape 20"/>
          <p:cNvSpPr/>
          <p:nvPr/>
        </p:nvSpPr>
        <p:spPr>
          <a:xfrm>
            <a:off x="9784080" y="2162556"/>
            <a:ext cx="109728" cy="109728"/>
          </a:xfrm>
          <a:prstGeom prst="ellipse">
            <a:avLst/>
          </a:prstGeom>
          <a:solidFill>
            <a:srgbClr val="A83F1A"/>
          </a:solidFill>
          <a:ln w="12700">
            <a:solidFill>
              <a:srgbClr val="A83F1A"/>
            </a:solidFill>
            <a:prstDash val="solid"/>
          </a:ln>
        </p:spPr>
      </p:sp>
      <p:sp>
        <p:nvSpPr>
          <p:cNvPr id="23" name="Shape 21"/>
          <p:cNvSpPr/>
          <p:nvPr/>
        </p:nvSpPr>
        <p:spPr>
          <a:xfrm>
            <a:off x="10058400" y="2162556"/>
            <a:ext cx="109728" cy="109728"/>
          </a:xfrm>
          <a:prstGeom prst="ellipse">
            <a:avLst/>
          </a:prstGeom>
          <a:solidFill>
            <a:srgbClr val="A83F1A"/>
          </a:solidFill>
          <a:ln w="12700">
            <a:solidFill>
              <a:srgbClr val="A83F1A"/>
            </a:solidFill>
            <a:prstDash val="solid"/>
          </a:ln>
        </p:spPr>
      </p:sp>
      <p:sp>
        <p:nvSpPr>
          <p:cNvPr id="24" name="Shape 22"/>
          <p:cNvSpPr/>
          <p:nvPr/>
        </p:nvSpPr>
        <p:spPr>
          <a:xfrm>
            <a:off x="10332720" y="2162556"/>
            <a:ext cx="109728" cy="109728"/>
          </a:xfrm>
          <a:prstGeom prst="ellipse">
            <a:avLst/>
          </a:prstGeom>
          <a:solidFill>
            <a:srgbClr val="A83F1A"/>
          </a:solidFill>
          <a:ln w="12700">
            <a:solidFill>
              <a:srgbClr val="A83F1A"/>
            </a:solidFill>
            <a:prstDash val="solid"/>
          </a:ln>
        </p:spPr>
      </p:sp>
      <p:sp>
        <p:nvSpPr>
          <p:cNvPr id="25" name="Shape 23"/>
          <p:cNvSpPr/>
          <p:nvPr/>
        </p:nvSpPr>
        <p:spPr>
          <a:xfrm>
            <a:off x="10607040" y="2162556"/>
            <a:ext cx="109728" cy="109728"/>
          </a:xfrm>
          <a:prstGeom prst="ellipse">
            <a:avLst/>
          </a:prstGeom>
          <a:solidFill>
            <a:srgbClr val="A83F1A"/>
          </a:solidFill>
          <a:ln w="12700">
            <a:solidFill>
              <a:srgbClr val="A83F1A"/>
            </a:solidFill>
            <a:prstDash val="solid"/>
          </a:ln>
        </p:spPr>
      </p:sp>
      <p:sp>
        <p:nvSpPr>
          <p:cNvPr id="26" name="Text 24"/>
          <p:cNvSpPr/>
          <p:nvPr/>
        </p:nvSpPr>
        <p:spPr>
          <a:xfrm>
            <a:off x="6995160" y="2377440"/>
            <a:ext cx="1645920" cy="320040"/>
          </a:xfrm>
          <a:prstGeom prst="rect">
            <a:avLst/>
          </a:prstGeom>
          <a:noFill/>
          <a:ln/>
        </p:spPr>
        <p:txBody>
          <a:bodyPr wrap="square" lIns="0" tIns="0" rIns="0" bIns="0" rtlCol="0" anchor="ctr"/>
          <a:lstStyle/>
          <a:p>
            <a:pPr indent="0" marL="0">
              <a:buNone/>
            </a:pPr>
            <a:r>
              <a:rPr lang="en-US" sz="800" b="1" dirty="0">
                <a:solidFill>
                  <a:srgbClr val="B8702A"/>
                </a:solidFill>
                <a:latin typeface="Tiro Devanagari Hindi" pitchFamily="34" charset="0"/>
                <a:ea typeface="Tiro Devanagari Hindi" pitchFamily="34" charset="-122"/>
                <a:cs typeface="Tiro Devanagari Hindi" pitchFamily="34" charset="-120"/>
              </a:rPr>
              <a:t>à¤•à¥à¤·à¥‡à¤¤à¥à¤°-à¤•à¥à¤·à¥‡à¤¤à¥à¤°à¤œà¥à¤ž</a:t>
            </a:r>
            <a:endParaRPr lang="en-US" sz="800" dirty="0"/>
          </a:p>
        </p:txBody>
      </p:sp>
      <p:sp>
        <p:nvSpPr>
          <p:cNvPr id="27" name="Shape 25"/>
          <p:cNvSpPr/>
          <p:nvPr/>
        </p:nvSpPr>
        <p:spPr>
          <a:xfrm>
            <a:off x="8686800" y="2482596"/>
            <a:ext cx="109728" cy="109728"/>
          </a:xfrm>
          <a:prstGeom prst="ellipse">
            <a:avLst/>
          </a:prstGeom>
          <a:solidFill>
            <a:srgbClr val="B8702A"/>
          </a:solidFill>
          <a:ln w="12700">
            <a:solidFill>
              <a:srgbClr val="B8702A"/>
            </a:solidFill>
            <a:prstDash val="solid"/>
          </a:ln>
        </p:spPr>
      </p:sp>
      <p:sp>
        <p:nvSpPr>
          <p:cNvPr id="28" name="Shape 26"/>
          <p:cNvSpPr/>
          <p:nvPr/>
        </p:nvSpPr>
        <p:spPr>
          <a:xfrm>
            <a:off x="8961120" y="2482596"/>
            <a:ext cx="109728" cy="109728"/>
          </a:xfrm>
          <a:prstGeom prst="ellipse">
            <a:avLst/>
          </a:prstGeom>
          <a:solidFill>
            <a:srgbClr val="B8702A"/>
          </a:solidFill>
          <a:ln w="12700">
            <a:solidFill>
              <a:srgbClr val="B8702A"/>
            </a:solidFill>
            <a:prstDash val="solid"/>
          </a:ln>
        </p:spPr>
      </p:sp>
      <p:sp>
        <p:nvSpPr>
          <p:cNvPr id="29" name="Shape 27"/>
          <p:cNvSpPr/>
          <p:nvPr/>
        </p:nvSpPr>
        <p:spPr>
          <a:xfrm>
            <a:off x="9235440" y="2482596"/>
            <a:ext cx="109728" cy="109728"/>
          </a:xfrm>
          <a:prstGeom prst="ellipse">
            <a:avLst/>
          </a:prstGeom>
          <a:solidFill>
            <a:srgbClr val="B8702A"/>
          </a:solidFill>
          <a:ln w="12700">
            <a:solidFill>
              <a:srgbClr val="B8702A"/>
            </a:solidFill>
            <a:prstDash val="solid"/>
          </a:ln>
        </p:spPr>
      </p:sp>
      <p:sp>
        <p:nvSpPr>
          <p:cNvPr id="30" name="Shape 28"/>
          <p:cNvSpPr/>
          <p:nvPr/>
        </p:nvSpPr>
        <p:spPr>
          <a:xfrm>
            <a:off x="9509760" y="2482596"/>
            <a:ext cx="109728" cy="109728"/>
          </a:xfrm>
          <a:prstGeom prst="ellipse">
            <a:avLst/>
          </a:prstGeom>
          <a:solidFill>
            <a:srgbClr val="B8702A"/>
          </a:solidFill>
          <a:ln w="12700">
            <a:solidFill>
              <a:srgbClr val="B8702A"/>
            </a:solidFill>
            <a:prstDash val="solid"/>
          </a:ln>
        </p:spPr>
      </p:sp>
      <p:sp>
        <p:nvSpPr>
          <p:cNvPr id="31" name="Shape 29"/>
          <p:cNvSpPr/>
          <p:nvPr/>
        </p:nvSpPr>
        <p:spPr>
          <a:xfrm>
            <a:off x="9784080" y="2482596"/>
            <a:ext cx="109728" cy="109728"/>
          </a:xfrm>
          <a:prstGeom prst="ellipse">
            <a:avLst/>
          </a:prstGeom>
          <a:solidFill>
            <a:srgbClr val="B8702A"/>
          </a:solidFill>
          <a:ln w="12700">
            <a:solidFill>
              <a:srgbClr val="B8702A"/>
            </a:solidFill>
            <a:prstDash val="solid"/>
          </a:ln>
        </p:spPr>
      </p:sp>
      <p:sp>
        <p:nvSpPr>
          <p:cNvPr id="32" name="Shape 30"/>
          <p:cNvSpPr/>
          <p:nvPr/>
        </p:nvSpPr>
        <p:spPr>
          <a:xfrm>
            <a:off x="10058400" y="2482596"/>
            <a:ext cx="109728" cy="109728"/>
          </a:xfrm>
          <a:prstGeom prst="ellipse">
            <a:avLst/>
          </a:prstGeom>
          <a:solidFill>
            <a:srgbClr val="B8702A"/>
          </a:solidFill>
          <a:ln w="12700">
            <a:solidFill>
              <a:srgbClr val="B8702A"/>
            </a:solidFill>
            <a:prstDash val="solid"/>
          </a:ln>
        </p:spPr>
      </p:sp>
      <p:sp>
        <p:nvSpPr>
          <p:cNvPr id="33" name="Shape 31"/>
          <p:cNvSpPr/>
          <p:nvPr/>
        </p:nvSpPr>
        <p:spPr>
          <a:xfrm>
            <a:off x="10332720" y="2482596"/>
            <a:ext cx="109728" cy="109728"/>
          </a:xfrm>
          <a:prstGeom prst="ellipse">
            <a:avLst/>
          </a:prstGeom>
          <a:solidFill>
            <a:srgbClr val="B8702A"/>
          </a:solidFill>
          <a:ln w="12700">
            <a:solidFill>
              <a:srgbClr val="B8702A"/>
            </a:solidFill>
            <a:prstDash val="solid"/>
          </a:ln>
        </p:spPr>
      </p:sp>
      <p:sp>
        <p:nvSpPr>
          <p:cNvPr id="34" name="Shape 32"/>
          <p:cNvSpPr/>
          <p:nvPr/>
        </p:nvSpPr>
        <p:spPr>
          <a:xfrm>
            <a:off x="10607040" y="2482596"/>
            <a:ext cx="109728" cy="109728"/>
          </a:xfrm>
          <a:prstGeom prst="ellipse">
            <a:avLst/>
          </a:prstGeom>
          <a:solidFill>
            <a:srgbClr val="B8702A"/>
          </a:solidFill>
          <a:ln w="12700">
            <a:solidFill>
              <a:srgbClr val="B8702A"/>
            </a:solidFill>
            <a:prstDash val="solid"/>
          </a:ln>
        </p:spPr>
      </p:sp>
      <p:sp>
        <p:nvSpPr>
          <p:cNvPr id="35" name="Text 33"/>
          <p:cNvSpPr/>
          <p:nvPr/>
        </p:nvSpPr>
        <p:spPr>
          <a:xfrm>
            <a:off x="6995160" y="2697480"/>
            <a:ext cx="1645920" cy="320040"/>
          </a:xfrm>
          <a:prstGeom prst="rect">
            <a:avLst/>
          </a:prstGeom>
          <a:noFill/>
          <a:ln/>
        </p:spPr>
        <p:txBody>
          <a:bodyPr wrap="square" lIns="0" tIns="0" rIns="0" bIns="0" rtlCol="0" anchor="ctr"/>
          <a:lstStyle/>
          <a:p>
            <a:pPr indent="0" marL="0">
              <a:buNone/>
            </a:pPr>
            <a:r>
              <a:rPr lang="en-US" sz="800" b="1" dirty="0">
                <a:solidFill>
                  <a:srgbClr val="C69E2A"/>
                </a:solidFill>
                <a:latin typeface="Tiro Devanagari Hindi" pitchFamily="34" charset="0"/>
                <a:ea typeface="Tiro Devanagari Hindi" pitchFamily="34" charset="-122"/>
                <a:cs typeface="Tiro Devanagari Hindi" pitchFamily="34" charset="-120"/>
              </a:rPr>
              <a:t>à¤—à¥à¤£</a:t>
            </a:r>
            <a:endParaRPr lang="en-US" sz="800" dirty="0"/>
          </a:p>
        </p:txBody>
      </p:sp>
      <p:sp>
        <p:nvSpPr>
          <p:cNvPr id="36" name="Shape 34"/>
          <p:cNvSpPr/>
          <p:nvPr/>
        </p:nvSpPr>
        <p:spPr>
          <a:xfrm>
            <a:off x="8686800" y="2802636"/>
            <a:ext cx="109728" cy="109728"/>
          </a:xfrm>
          <a:prstGeom prst="ellipse">
            <a:avLst/>
          </a:prstGeom>
          <a:solidFill>
            <a:srgbClr val="C69E2A"/>
          </a:solidFill>
          <a:ln w="12700">
            <a:solidFill>
              <a:srgbClr val="C69E2A"/>
            </a:solidFill>
            <a:prstDash val="solid"/>
          </a:ln>
        </p:spPr>
      </p:sp>
      <p:sp>
        <p:nvSpPr>
          <p:cNvPr id="37" name="Shape 35"/>
          <p:cNvSpPr/>
          <p:nvPr/>
        </p:nvSpPr>
        <p:spPr>
          <a:xfrm>
            <a:off x="8961120" y="2802636"/>
            <a:ext cx="109728" cy="109728"/>
          </a:xfrm>
          <a:prstGeom prst="ellipse">
            <a:avLst/>
          </a:prstGeom>
          <a:solidFill>
            <a:srgbClr val="C69E2A"/>
          </a:solidFill>
          <a:ln w="12700">
            <a:solidFill>
              <a:srgbClr val="C69E2A"/>
            </a:solidFill>
            <a:prstDash val="solid"/>
          </a:ln>
        </p:spPr>
      </p:sp>
      <p:sp>
        <p:nvSpPr>
          <p:cNvPr id="38" name="Shape 36"/>
          <p:cNvSpPr/>
          <p:nvPr/>
        </p:nvSpPr>
        <p:spPr>
          <a:xfrm>
            <a:off x="9235440" y="2802636"/>
            <a:ext cx="109728" cy="109728"/>
          </a:xfrm>
          <a:prstGeom prst="ellipse">
            <a:avLst/>
          </a:prstGeom>
          <a:solidFill>
            <a:srgbClr val="C69E2A"/>
          </a:solidFill>
          <a:ln w="12700">
            <a:solidFill>
              <a:srgbClr val="C69E2A"/>
            </a:solidFill>
            <a:prstDash val="solid"/>
          </a:ln>
        </p:spPr>
      </p:sp>
      <p:sp>
        <p:nvSpPr>
          <p:cNvPr id="39" name="Shape 37"/>
          <p:cNvSpPr/>
          <p:nvPr/>
        </p:nvSpPr>
        <p:spPr>
          <a:xfrm>
            <a:off x="9509760" y="2802636"/>
            <a:ext cx="109728" cy="109728"/>
          </a:xfrm>
          <a:prstGeom prst="ellipse">
            <a:avLst/>
          </a:prstGeom>
          <a:solidFill>
            <a:srgbClr val="C69E2A"/>
          </a:solidFill>
          <a:ln w="12700">
            <a:solidFill>
              <a:srgbClr val="C69E2A"/>
            </a:solidFill>
            <a:prstDash val="solid"/>
          </a:ln>
        </p:spPr>
      </p:sp>
      <p:sp>
        <p:nvSpPr>
          <p:cNvPr id="40" name="Shape 38"/>
          <p:cNvSpPr/>
          <p:nvPr/>
        </p:nvSpPr>
        <p:spPr>
          <a:xfrm>
            <a:off x="9784080" y="2802636"/>
            <a:ext cx="109728" cy="109728"/>
          </a:xfrm>
          <a:prstGeom prst="ellipse">
            <a:avLst/>
          </a:prstGeom>
          <a:solidFill>
            <a:srgbClr val="C69E2A"/>
          </a:solidFill>
          <a:ln w="12700">
            <a:solidFill>
              <a:srgbClr val="C69E2A"/>
            </a:solidFill>
            <a:prstDash val="solid"/>
          </a:ln>
        </p:spPr>
      </p:sp>
      <p:sp>
        <p:nvSpPr>
          <p:cNvPr id="41" name="Shape 39"/>
          <p:cNvSpPr/>
          <p:nvPr/>
        </p:nvSpPr>
        <p:spPr>
          <a:xfrm>
            <a:off x="10058400" y="2802636"/>
            <a:ext cx="109728" cy="109728"/>
          </a:xfrm>
          <a:prstGeom prst="ellipse">
            <a:avLst/>
          </a:prstGeom>
          <a:solidFill>
            <a:srgbClr val="C69E2A"/>
          </a:solidFill>
          <a:ln w="12700">
            <a:solidFill>
              <a:srgbClr val="C69E2A"/>
            </a:solidFill>
            <a:prstDash val="solid"/>
          </a:ln>
        </p:spPr>
      </p:sp>
      <p:sp>
        <p:nvSpPr>
          <p:cNvPr id="42" name="Shape 40"/>
          <p:cNvSpPr/>
          <p:nvPr/>
        </p:nvSpPr>
        <p:spPr>
          <a:xfrm>
            <a:off x="10332720" y="2802636"/>
            <a:ext cx="109728" cy="109728"/>
          </a:xfrm>
          <a:prstGeom prst="ellipse">
            <a:avLst/>
          </a:prstGeom>
          <a:solidFill>
            <a:srgbClr val="C69E2A"/>
          </a:solidFill>
          <a:ln w="12700">
            <a:solidFill>
              <a:srgbClr val="C69E2A"/>
            </a:solidFill>
            <a:prstDash val="solid"/>
          </a:ln>
        </p:spPr>
      </p:sp>
      <p:sp>
        <p:nvSpPr>
          <p:cNvPr id="43" name="Shape 41"/>
          <p:cNvSpPr/>
          <p:nvPr/>
        </p:nvSpPr>
        <p:spPr>
          <a:xfrm>
            <a:off x="10607040" y="2802636"/>
            <a:ext cx="109728" cy="109728"/>
          </a:xfrm>
          <a:prstGeom prst="ellipse">
            <a:avLst/>
          </a:prstGeom>
          <a:solidFill>
            <a:srgbClr val="C69E2A"/>
          </a:solidFill>
          <a:ln w="12700">
            <a:solidFill>
              <a:srgbClr val="C69E2A"/>
            </a:solidFill>
            <a:prstDash val="solid"/>
          </a:ln>
        </p:spPr>
      </p:sp>
      <p:sp>
        <p:nvSpPr>
          <p:cNvPr id="44" name="Shape 42"/>
          <p:cNvSpPr/>
          <p:nvPr/>
        </p:nvSpPr>
        <p:spPr>
          <a:xfrm>
            <a:off x="10881360" y="2802636"/>
            <a:ext cx="109728" cy="109728"/>
          </a:xfrm>
          <a:prstGeom prst="ellipse">
            <a:avLst/>
          </a:prstGeom>
          <a:solidFill>
            <a:srgbClr val="C69E2A"/>
          </a:solidFill>
          <a:ln w="12700">
            <a:solidFill>
              <a:srgbClr val="C69E2A"/>
            </a:solidFill>
            <a:prstDash val="solid"/>
          </a:ln>
        </p:spPr>
      </p:sp>
      <p:sp>
        <p:nvSpPr>
          <p:cNvPr id="45" name="Shape 43"/>
          <p:cNvSpPr/>
          <p:nvPr/>
        </p:nvSpPr>
        <p:spPr>
          <a:xfrm>
            <a:off x="11155680" y="2802636"/>
            <a:ext cx="109728" cy="109728"/>
          </a:xfrm>
          <a:prstGeom prst="ellipse">
            <a:avLst/>
          </a:prstGeom>
          <a:solidFill>
            <a:srgbClr val="C69E2A"/>
          </a:solidFill>
          <a:ln w="12700">
            <a:solidFill>
              <a:srgbClr val="C69E2A"/>
            </a:solidFill>
            <a:prstDash val="solid"/>
          </a:ln>
        </p:spPr>
      </p:sp>
      <p:sp>
        <p:nvSpPr>
          <p:cNvPr id="46" name="Text 44"/>
          <p:cNvSpPr/>
          <p:nvPr/>
        </p:nvSpPr>
        <p:spPr>
          <a:xfrm>
            <a:off x="6995160" y="3017520"/>
            <a:ext cx="1645920" cy="320040"/>
          </a:xfrm>
          <a:prstGeom prst="rect">
            <a:avLst/>
          </a:prstGeom>
          <a:noFill/>
          <a:ln/>
        </p:spPr>
        <p:txBody>
          <a:bodyPr wrap="square" lIns="0" tIns="0" rIns="0" bIns="0" rtlCol="0" anchor="ctr"/>
          <a:lstStyle/>
          <a:p>
            <a:pPr indent="0" marL="0">
              <a:buNone/>
            </a:pPr>
            <a:r>
              <a:rPr lang="en-US" sz="800" b="1" dirty="0">
                <a:solidFill>
                  <a:srgbClr val="7B8D2E"/>
                </a:solidFill>
                <a:latin typeface="Tiro Devanagari Hindi" pitchFamily="34" charset="0"/>
                <a:ea typeface="Tiro Devanagari Hindi" pitchFamily="34" charset="-122"/>
                <a:cs typeface="Tiro Devanagari Hindi" pitchFamily="34" charset="-120"/>
              </a:rPr>
              <a:t>à¤¯à¥‹à¤—</a:t>
            </a:r>
            <a:endParaRPr lang="en-US" sz="800" dirty="0"/>
          </a:p>
        </p:txBody>
      </p:sp>
      <p:sp>
        <p:nvSpPr>
          <p:cNvPr id="47" name="Shape 45"/>
          <p:cNvSpPr/>
          <p:nvPr/>
        </p:nvSpPr>
        <p:spPr>
          <a:xfrm>
            <a:off x="8686800" y="3122676"/>
            <a:ext cx="109728" cy="109728"/>
          </a:xfrm>
          <a:prstGeom prst="ellipse">
            <a:avLst/>
          </a:prstGeom>
          <a:solidFill>
            <a:srgbClr val="7B8D2E"/>
          </a:solidFill>
          <a:ln w="12700">
            <a:solidFill>
              <a:srgbClr val="7B8D2E"/>
            </a:solidFill>
            <a:prstDash val="solid"/>
          </a:ln>
        </p:spPr>
      </p:sp>
      <p:sp>
        <p:nvSpPr>
          <p:cNvPr id="48" name="Shape 46"/>
          <p:cNvSpPr/>
          <p:nvPr/>
        </p:nvSpPr>
        <p:spPr>
          <a:xfrm>
            <a:off x="8961120" y="3122676"/>
            <a:ext cx="109728" cy="109728"/>
          </a:xfrm>
          <a:prstGeom prst="ellipse">
            <a:avLst/>
          </a:prstGeom>
          <a:solidFill>
            <a:srgbClr val="7B8D2E"/>
          </a:solidFill>
          <a:ln w="12700">
            <a:solidFill>
              <a:srgbClr val="7B8D2E"/>
            </a:solidFill>
            <a:prstDash val="solid"/>
          </a:ln>
        </p:spPr>
      </p:sp>
      <p:sp>
        <p:nvSpPr>
          <p:cNvPr id="49" name="Shape 47"/>
          <p:cNvSpPr/>
          <p:nvPr/>
        </p:nvSpPr>
        <p:spPr>
          <a:xfrm>
            <a:off x="9235440" y="3122676"/>
            <a:ext cx="109728" cy="109728"/>
          </a:xfrm>
          <a:prstGeom prst="ellipse">
            <a:avLst/>
          </a:prstGeom>
          <a:solidFill>
            <a:srgbClr val="7B8D2E"/>
          </a:solidFill>
          <a:ln w="12700">
            <a:solidFill>
              <a:srgbClr val="7B8D2E"/>
            </a:solidFill>
            <a:prstDash val="solid"/>
          </a:ln>
        </p:spPr>
      </p:sp>
      <p:sp>
        <p:nvSpPr>
          <p:cNvPr id="50" name="Shape 48"/>
          <p:cNvSpPr/>
          <p:nvPr/>
        </p:nvSpPr>
        <p:spPr>
          <a:xfrm>
            <a:off x="9509760" y="3122676"/>
            <a:ext cx="109728" cy="109728"/>
          </a:xfrm>
          <a:prstGeom prst="ellipse">
            <a:avLst/>
          </a:prstGeom>
          <a:solidFill>
            <a:srgbClr val="7B8D2E"/>
          </a:solidFill>
          <a:ln w="12700">
            <a:solidFill>
              <a:srgbClr val="7B8D2E"/>
            </a:solidFill>
            <a:prstDash val="solid"/>
          </a:ln>
        </p:spPr>
      </p:sp>
      <p:sp>
        <p:nvSpPr>
          <p:cNvPr id="51" name="Shape 49"/>
          <p:cNvSpPr/>
          <p:nvPr/>
        </p:nvSpPr>
        <p:spPr>
          <a:xfrm>
            <a:off x="9784080" y="3122676"/>
            <a:ext cx="109728" cy="109728"/>
          </a:xfrm>
          <a:prstGeom prst="ellipse">
            <a:avLst/>
          </a:prstGeom>
          <a:solidFill>
            <a:srgbClr val="7B8D2E"/>
          </a:solidFill>
          <a:ln w="12700">
            <a:solidFill>
              <a:srgbClr val="7B8D2E"/>
            </a:solidFill>
            <a:prstDash val="solid"/>
          </a:ln>
        </p:spPr>
      </p:sp>
      <p:sp>
        <p:nvSpPr>
          <p:cNvPr id="52" name="Shape 50"/>
          <p:cNvSpPr/>
          <p:nvPr/>
        </p:nvSpPr>
        <p:spPr>
          <a:xfrm>
            <a:off x="10058400" y="3122676"/>
            <a:ext cx="109728" cy="109728"/>
          </a:xfrm>
          <a:prstGeom prst="ellipse">
            <a:avLst/>
          </a:prstGeom>
          <a:solidFill>
            <a:srgbClr val="7B8D2E"/>
          </a:solidFill>
          <a:ln w="12700">
            <a:solidFill>
              <a:srgbClr val="7B8D2E"/>
            </a:solidFill>
            <a:prstDash val="solid"/>
          </a:ln>
        </p:spPr>
      </p:sp>
      <p:sp>
        <p:nvSpPr>
          <p:cNvPr id="53" name="Shape 51"/>
          <p:cNvSpPr/>
          <p:nvPr/>
        </p:nvSpPr>
        <p:spPr>
          <a:xfrm>
            <a:off x="10332720" y="3122676"/>
            <a:ext cx="109728" cy="109728"/>
          </a:xfrm>
          <a:prstGeom prst="ellipse">
            <a:avLst/>
          </a:prstGeom>
          <a:solidFill>
            <a:srgbClr val="7B8D2E"/>
          </a:solidFill>
          <a:ln w="12700">
            <a:solidFill>
              <a:srgbClr val="7B8D2E"/>
            </a:solidFill>
            <a:prstDash val="solid"/>
          </a:ln>
        </p:spPr>
      </p:sp>
      <p:sp>
        <p:nvSpPr>
          <p:cNvPr id="54" name="Shape 52"/>
          <p:cNvSpPr/>
          <p:nvPr/>
        </p:nvSpPr>
        <p:spPr>
          <a:xfrm>
            <a:off x="10607040" y="3122676"/>
            <a:ext cx="109728" cy="109728"/>
          </a:xfrm>
          <a:prstGeom prst="ellipse">
            <a:avLst/>
          </a:prstGeom>
          <a:solidFill>
            <a:srgbClr val="7B8D2E"/>
          </a:solidFill>
          <a:ln w="12700">
            <a:solidFill>
              <a:srgbClr val="7B8D2E"/>
            </a:solidFill>
            <a:prstDash val="solid"/>
          </a:ln>
        </p:spPr>
      </p:sp>
      <p:sp>
        <p:nvSpPr>
          <p:cNvPr id="55" name="Shape 53"/>
          <p:cNvSpPr/>
          <p:nvPr/>
        </p:nvSpPr>
        <p:spPr>
          <a:xfrm>
            <a:off x="10881360" y="3122676"/>
            <a:ext cx="109728" cy="109728"/>
          </a:xfrm>
          <a:prstGeom prst="ellipse">
            <a:avLst/>
          </a:prstGeom>
          <a:solidFill>
            <a:srgbClr val="7B8D2E"/>
          </a:solidFill>
          <a:ln w="12700">
            <a:solidFill>
              <a:srgbClr val="7B8D2E"/>
            </a:solidFill>
            <a:prstDash val="solid"/>
          </a:ln>
        </p:spPr>
      </p:sp>
      <p:sp>
        <p:nvSpPr>
          <p:cNvPr id="56" name="Text 54"/>
          <p:cNvSpPr/>
          <p:nvPr/>
        </p:nvSpPr>
        <p:spPr>
          <a:xfrm>
            <a:off x="6995160" y="3337560"/>
            <a:ext cx="1645920" cy="320040"/>
          </a:xfrm>
          <a:prstGeom prst="rect">
            <a:avLst/>
          </a:prstGeom>
          <a:noFill/>
          <a:ln/>
        </p:spPr>
        <p:txBody>
          <a:bodyPr wrap="square" lIns="0" tIns="0" rIns="0" bIns="0" rtlCol="0" anchor="ctr"/>
          <a:lstStyle/>
          <a:p>
            <a:pPr indent="0" marL="0">
              <a:buNone/>
            </a:pPr>
            <a:r>
              <a:rPr lang="en-US" sz="800" b="1" dirty="0">
                <a:solidFill>
                  <a:srgbClr val="3F7A4A"/>
                </a:solidFill>
                <a:latin typeface="Tiro Devanagari Hindi" pitchFamily="34" charset="0"/>
                <a:ea typeface="Tiro Devanagari Hindi" pitchFamily="34" charset="-122"/>
                <a:cs typeface="Tiro Devanagari Hindi" pitchFamily="34" charset="-120"/>
              </a:rPr>
              <a:t>à¤¸à¤¾à¤§à¤¨à¤¾</a:t>
            </a:r>
            <a:endParaRPr lang="en-US" sz="800" dirty="0"/>
          </a:p>
        </p:txBody>
      </p:sp>
      <p:sp>
        <p:nvSpPr>
          <p:cNvPr id="57" name="Shape 55"/>
          <p:cNvSpPr/>
          <p:nvPr/>
        </p:nvSpPr>
        <p:spPr>
          <a:xfrm>
            <a:off x="8686800" y="3442716"/>
            <a:ext cx="109728" cy="109728"/>
          </a:xfrm>
          <a:prstGeom prst="ellipse">
            <a:avLst/>
          </a:prstGeom>
          <a:solidFill>
            <a:srgbClr val="3F7A4A"/>
          </a:solidFill>
          <a:ln w="12700">
            <a:solidFill>
              <a:srgbClr val="3F7A4A"/>
            </a:solidFill>
            <a:prstDash val="solid"/>
          </a:ln>
        </p:spPr>
      </p:sp>
      <p:sp>
        <p:nvSpPr>
          <p:cNvPr id="58" name="Shape 56"/>
          <p:cNvSpPr/>
          <p:nvPr/>
        </p:nvSpPr>
        <p:spPr>
          <a:xfrm>
            <a:off x="8961120" y="3442716"/>
            <a:ext cx="109728" cy="109728"/>
          </a:xfrm>
          <a:prstGeom prst="ellipse">
            <a:avLst/>
          </a:prstGeom>
          <a:solidFill>
            <a:srgbClr val="3F7A4A"/>
          </a:solidFill>
          <a:ln w="12700">
            <a:solidFill>
              <a:srgbClr val="3F7A4A"/>
            </a:solidFill>
            <a:prstDash val="solid"/>
          </a:ln>
        </p:spPr>
      </p:sp>
      <p:sp>
        <p:nvSpPr>
          <p:cNvPr id="59" name="Shape 57"/>
          <p:cNvSpPr/>
          <p:nvPr/>
        </p:nvSpPr>
        <p:spPr>
          <a:xfrm>
            <a:off x="9235440" y="3442716"/>
            <a:ext cx="109728" cy="109728"/>
          </a:xfrm>
          <a:prstGeom prst="ellipse">
            <a:avLst/>
          </a:prstGeom>
          <a:solidFill>
            <a:srgbClr val="3F7A4A"/>
          </a:solidFill>
          <a:ln w="12700">
            <a:solidFill>
              <a:srgbClr val="3F7A4A"/>
            </a:solidFill>
            <a:prstDash val="solid"/>
          </a:ln>
        </p:spPr>
      </p:sp>
      <p:sp>
        <p:nvSpPr>
          <p:cNvPr id="60" name="Shape 58"/>
          <p:cNvSpPr/>
          <p:nvPr/>
        </p:nvSpPr>
        <p:spPr>
          <a:xfrm>
            <a:off x="9509760" y="3442716"/>
            <a:ext cx="109728" cy="109728"/>
          </a:xfrm>
          <a:prstGeom prst="ellipse">
            <a:avLst/>
          </a:prstGeom>
          <a:solidFill>
            <a:srgbClr val="3F7A4A"/>
          </a:solidFill>
          <a:ln w="12700">
            <a:solidFill>
              <a:srgbClr val="3F7A4A"/>
            </a:solidFill>
            <a:prstDash val="solid"/>
          </a:ln>
        </p:spPr>
      </p:sp>
      <p:sp>
        <p:nvSpPr>
          <p:cNvPr id="61" name="Shape 59"/>
          <p:cNvSpPr/>
          <p:nvPr/>
        </p:nvSpPr>
        <p:spPr>
          <a:xfrm>
            <a:off x="9784080" y="3442716"/>
            <a:ext cx="109728" cy="109728"/>
          </a:xfrm>
          <a:prstGeom prst="ellipse">
            <a:avLst/>
          </a:prstGeom>
          <a:solidFill>
            <a:srgbClr val="3F7A4A"/>
          </a:solidFill>
          <a:ln w="12700">
            <a:solidFill>
              <a:srgbClr val="3F7A4A"/>
            </a:solidFill>
            <a:prstDash val="solid"/>
          </a:ln>
        </p:spPr>
      </p:sp>
      <p:sp>
        <p:nvSpPr>
          <p:cNvPr id="62" name="Shape 60"/>
          <p:cNvSpPr/>
          <p:nvPr/>
        </p:nvSpPr>
        <p:spPr>
          <a:xfrm>
            <a:off x="10058400" y="3442716"/>
            <a:ext cx="109728" cy="109728"/>
          </a:xfrm>
          <a:prstGeom prst="ellipse">
            <a:avLst/>
          </a:prstGeom>
          <a:solidFill>
            <a:srgbClr val="3F7A4A"/>
          </a:solidFill>
          <a:ln w="12700">
            <a:solidFill>
              <a:srgbClr val="3F7A4A"/>
            </a:solidFill>
            <a:prstDash val="solid"/>
          </a:ln>
        </p:spPr>
      </p:sp>
      <p:sp>
        <p:nvSpPr>
          <p:cNvPr id="63" name="Shape 61"/>
          <p:cNvSpPr/>
          <p:nvPr/>
        </p:nvSpPr>
        <p:spPr>
          <a:xfrm>
            <a:off x="10332720" y="3442716"/>
            <a:ext cx="109728" cy="109728"/>
          </a:xfrm>
          <a:prstGeom prst="ellipse">
            <a:avLst/>
          </a:prstGeom>
          <a:solidFill>
            <a:srgbClr val="3F7A4A"/>
          </a:solidFill>
          <a:ln w="12700">
            <a:solidFill>
              <a:srgbClr val="3F7A4A"/>
            </a:solidFill>
            <a:prstDash val="solid"/>
          </a:ln>
        </p:spPr>
      </p:sp>
      <p:sp>
        <p:nvSpPr>
          <p:cNvPr id="64" name="Shape 62"/>
          <p:cNvSpPr/>
          <p:nvPr/>
        </p:nvSpPr>
        <p:spPr>
          <a:xfrm>
            <a:off x="10607040" y="3442716"/>
            <a:ext cx="109728" cy="109728"/>
          </a:xfrm>
          <a:prstGeom prst="ellipse">
            <a:avLst/>
          </a:prstGeom>
          <a:solidFill>
            <a:srgbClr val="3F7A4A"/>
          </a:solidFill>
          <a:ln w="12700">
            <a:solidFill>
              <a:srgbClr val="3F7A4A"/>
            </a:solidFill>
            <a:prstDash val="solid"/>
          </a:ln>
        </p:spPr>
      </p:sp>
      <p:sp>
        <p:nvSpPr>
          <p:cNvPr id="65" name="Shape 63"/>
          <p:cNvSpPr/>
          <p:nvPr/>
        </p:nvSpPr>
        <p:spPr>
          <a:xfrm>
            <a:off x="10881360" y="3442716"/>
            <a:ext cx="109728" cy="109728"/>
          </a:xfrm>
          <a:prstGeom prst="ellipse">
            <a:avLst/>
          </a:prstGeom>
          <a:solidFill>
            <a:srgbClr val="3F7A4A"/>
          </a:solidFill>
          <a:ln w="12700">
            <a:solidFill>
              <a:srgbClr val="3F7A4A"/>
            </a:solidFill>
            <a:prstDash val="solid"/>
          </a:ln>
        </p:spPr>
      </p:sp>
      <p:sp>
        <p:nvSpPr>
          <p:cNvPr id="66" name="Shape 64"/>
          <p:cNvSpPr/>
          <p:nvPr/>
        </p:nvSpPr>
        <p:spPr>
          <a:xfrm>
            <a:off x="11155680" y="3442716"/>
            <a:ext cx="109728" cy="109728"/>
          </a:xfrm>
          <a:prstGeom prst="ellipse">
            <a:avLst/>
          </a:prstGeom>
          <a:solidFill>
            <a:srgbClr val="3F7A4A"/>
          </a:solidFill>
          <a:ln w="12700">
            <a:solidFill>
              <a:srgbClr val="3F7A4A"/>
            </a:solidFill>
            <a:prstDash val="solid"/>
          </a:ln>
        </p:spPr>
      </p:sp>
      <p:sp>
        <p:nvSpPr>
          <p:cNvPr id="67" name="Text 65"/>
          <p:cNvSpPr/>
          <p:nvPr/>
        </p:nvSpPr>
        <p:spPr>
          <a:xfrm>
            <a:off x="6995160" y="3657600"/>
            <a:ext cx="1645920" cy="320040"/>
          </a:xfrm>
          <a:prstGeom prst="rect">
            <a:avLst/>
          </a:prstGeom>
          <a:noFill/>
          <a:ln/>
        </p:spPr>
        <p:txBody>
          <a:bodyPr wrap="square" lIns="0" tIns="0" rIns="0" bIns="0" rtlCol="0" anchor="ctr"/>
          <a:lstStyle/>
          <a:p>
            <a:pPr indent="0" marL="0">
              <a:buNone/>
            </a:pPr>
            <a:r>
              <a:rPr lang="en-US" sz="800" b="1" dirty="0">
                <a:solidFill>
                  <a:srgbClr val="2F6E7A"/>
                </a:solidFill>
                <a:latin typeface="Tiro Devanagari Hindi" pitchFamily="34" charset="0"/>
                <a:ea typeface="Tiro Devanagari Hindi" pitchFamily="34" charset="-122"/>
                <a:cs typeface="Tiro Devanagari Hindi" pitchFamily="34" charset="-120"/>
              </a:rPr>
              <a:t>à¤…à¤‚à¤¤à¤ƒà¤•à¤°à¤£</a:t>
            </a:r>
            <a:endParaRPr lang="en-US" sz="800" dirty="0"/>
          </a:p>
        </p:txBody>
      </p:sp>
      <p:sp>
        <p:nvSpPr>
          <p:cNvPr id="68" name="Shape 66"/>
          <p:cNvSpPr/>
          <p:nvPr/>
        </p:nvSpPr>
        <p:spPr>
          <a:xfrm>
            <a:off x="8686800" y="3762756"/>
            <a:ext cx="109728" cy="109728"/>
          </a:xfrm>
          <a:prstGeom prst="ellipse">
            <a:avLst/>
          </a:prstGeom>
          <a:solidFill>
            <a:srgbClr val="2F6E7A"/>
          </a:solidFill>
          <a:ln w="12700">
            <a:solidFill>
              <a:srgbClr val="2F6E7A"/>
            </a:solidFill>
            <a:prstDash val="solid"/>
          </a:ln>
        </p:spPr>
      </p:sp>
      <p:sp>
        <p:nvSpPr>
          <p:cNvPr id="69" name="Shape 67"/>
          <p:cNvSpPr/>
          <p:nvPr/>
        </p:nvSpPr>
        <p:spPr>
          <a:xfrm>
            <a:off x="8961120" y="3762756"/>
            <a:ext cx="109728" cy="109728"/>
          </a:xfrm>
          <a:prstGeom prst="ellipse">
            <a:avLst/>
          </a:prstGeom>
          <a:solidFill>
            <a:srgbClr val="2F6E7A"/>
          </a:solidFill>
          <a:ln w="12700">
            <a:solidFill>
              <a:srgbClr val="2F6E7A"/>
            </a:solidFill>
            <a:prstDash val="solid"/>
          </a:ln>
        </p:spPr>
      </p:sp>
      <p:sp>
        <p:nvSpPr>
          <p:cNvPr id="70" name="Shape 68"/>
          <p:cNvSpPr/>
          <p:nvPr/>
        </p:nvSpPr>
        <p:spPr>
          <a:xfrm>
            <a:off x="9235440" y="3762756"/>
            <a:ext cx="109728" cy="109728"/>
          </a:xfrm>
          <a:prstGeom prst="ellipse">
            <a:avLst/>
          </a:prstGeom>
          <a:solidFill>
            <a:srgbClr val="2F6E7A"/>
          </a:solidFill>
          <a:ln w="12700">
            <a:solidFill>
              <a:srgbClr val="2F6E7A"/>
            </a:solidFill>
            <a:prstDash val="solid"/>
          </a:ln>
        </p:spPr>
      </p:sp>
      <p:sp>
        <p:nvSpPr>
          <p:cNvPr id="71" name="Shape 69"/>
          <p:cNvSpPr/>
          <p:nvPr/>
        </p:nvSpPr>
        <p:spPr>
          <a:xfrm>
            <a:off x="9509760" y="3762756"/>
            <a:ext cx="109728" cy="109728"/>
          </a:xfrm>
          <a:prstGeom prst="ellipse">
            <a:avLst/>
          </a:prstGeom>
          <a:solidFill>
            <a:srgbClr val="2F6E7A"/>
          </a:solidFill>
          <a:ln w="12700">
            <a:solidFill>
              <a:srgbClr val="2F6E7A"/>
            </a:solidFill>
            <a:prstDash val="solid"/>
          </a:ln>
        </p:spPr>
      </p:sp>
      <p:sp>
        <p:nvSpPr>
          <p:cNvPr id="72" name="Shape 70"/>
          <p:cNvSpPr/>
          <p:nvPr/>
        </p:nvSpPr>
        <p:spPr>
          <a:xfrm>
            <a:off x="9784080" y="3762756"/>
            <a:ext cx="109728" cy="109728"/>
          </a:xfrm>
          <a:prstGeom prst="ellipse">
            <a:avLst/>
          </a:prstGeom>
          <a:solidFill>
            <a:srgbClr val="2F6E7A"/>
          </a:solidFill>
          <a:ln w="12700">
            <a:solidFill>
              <a:srgbClr val="2F6E7A"/>
            </a:solidFill>
            <a:prstDash val="solid"/>
          </a:ln>
        </p:spPr>
      </p:sp>
      <p:sp>
        <p:nvSpPr>
          <p:cNvPr id="73" name="Shape 71"/>
          <p:cNvSpPr/>
          <p:nvPr/>
        </p:nvSpPr>
        <p:spPr>
          <a:xfrm>
            <a:off x="10058400" y="3762756"/>
            <a:ext cx="109728" cy="109728"/>
          </a:xfrm>
          <a:prstGeom prst="ellipse">
            <a:avLst/>
          </a:prstGeom>
          <a:solidFill>
            <a:srgbClr val="2F6E7A"/>
          </a:solidFill>
          <a:ln w="12700">
            <a:solidFill>
              <a:srgbClr val="2F6E7A"/>
            </a:solidFill>
            <a:prstDash val="solid"/>
          </a:ln>
        </p:spPr>
      </p:sp>
      <p:sp>
        <p:nvSpPr>
          <p:cNvPr id="74" name="Text 72"/>
          <p:cNvSpPr/>
          <p:nvPr/>
        </p:nvSpPr>
        <p:spPr>
          <a:xfrm>
            <a:off x="6995160" y="3977640"/>
            <a:ext cx="1645920" cy="320040"/>
          </a:xfrm>
          <a:prstGeom prst="rect">
            <a:avLst/>
          </a:prstGeom>
          <a:noFill/>
          <a:ln/>
        </p:spPr>
        <p:txBody>
          <a:bodyPr wrap="square" lIns="0" tIns="0" rIns="0" bIns="0" rtlCol="0" anchor="ctr"/>
          <a:lstStyle/>
          <a:p>
            <a:pPr indent="0" marL="0">
              <a:buNone/>
            </a:pPr>
            <a:r>
              <a:rPr lang="en-US" sz="800" b="1" dirty="0">
                <a:solidFill>
                  <a:srgbClr val="3A4A7A"/>
                </a:solidFill>
                <a:latin typeface="Tiro Devanagari Hindi" pitchFamily="34" charset="0"/>
                <a:ea typeface="Tiro Devanagari Hindi" pitchFamily="34" charset="-122"/>
                <a:cs typeface="Tiro Devanagari Hindi" pitchFamily="34" charset="-120"/>
              </a:rPr>
              <a:t>à¤§à¤°à¥à¤®</a:t>
            </a:r>
            <a:endParaRPr lang="en-US" sz="800" dirty="0"/>
          </a:p>
        </p:txBody>
      </p:sp>
      <p:sp>
        <p:nvSpPr>
          <p:cNvPr id="75" name="Shape 73"/>
          <p:cNvSpPr/>
          <p:nvPr/>
        </p:nvSpPr>
        <p:spPr>
          <a:xfrm>
            <a:off x="8686800" y="4082796"/>
            <a:ext cx="109728" cy="109728"/>
          </a:xfrm>
          <a:prstGeom prst="ellipse">
            <a:avLst/>
          </a:prstGeom>
          <a:solidFill>
            <a:srgbClr val="3A4A7A"/>
          </a:solidFill>
          <a:ln w="12700">
            <a:solidFill>
              <a:srgbClr val="3A4A7A"/>
            </a:solidFill>
            <a:prstDash val="solid"/>
          </a:ln>
        </p:spPr>
      </p:sp>
      <p:sp>
        <p:nvSpPr>
          <p:cNvPr id="76" name="Shape 74"/>
          <p:cNvSpPr/>
          <p:nvPr/>
        </p:nvSpPr>
        <p:spPr>
          <a:xfrm>
            <a:off x="8961120" y="4082796"/>
            <a:ext cx="109728" cy="109728"/>
          </a:xfrm>
          <a:prstGeom prst="ellipse">
            <a:avLst/>
          </a:prstGeom>
          <a:solidFill>
            <a:srgbClr val="3A4A7A"/>
          </a:solidFill>
          <a:ln w="12700">
            <a:solidFill>
              <a:srgbClr val="3A4A7A"/>
            </a:solidFill>
            <a:prstDash val="solid"/>
          </a:ln>
        </p:spPr>
      </p:sp>
      <p:sp>
        <p:nvSpPr>
          <p:cNvPr id="77" name="Shape 75"/>
          <p:cNvSpPr/>
          <p:nvPr/>
        </p:nvSpPr>
        <p:spPr>
          <a:xfrm>
            <a:off x="9235440" y="4082796"/>
            <a:ext cx="109728" cy="109728"/>
          </a:xfrm>
          <a:prstGeom prst="ellipse">
            <a:avLst/>
          </a:prstGeom>
          <a:solidFill>
            <a:srgbClr val="3A4A7A"/>
          </a:solidFill>
          <a:ln w="12700">
            <a:solidFill>
              <a:srgbClr val="3A4A7A"/>
            </a:solidFill>
            <a:prstDash val="solid"/>
          </a:ln>
        </p:spPr>
      </p:sp>
      <p:sp>
        <p:nvSpPr>
          <p:cNvPr id="78" name="Shape 76"/>
          <p:cNvSpPr/>
          <p:nvPr/>
        </p:nvSpPr>
        <p:spPr>
          <a:xfrm>
            <a:off x="9509760" y="4082796"/>
            <a:ext cx="109728" cy="109728"/>
          </a:xfrm>
          <a:prstGeom prst="ellipse">
            <a:avLst/>
          </a:prstGeom>
          <a:solidFill>
            <a:srgbClr val="3A4A7A"/>
          </a:solidFill>
          <a:ln w="12700">
            <a:solidFill>
              <a:srgbClr val="3A4A7A"/>
            </a:solidFill>
            <a:prstDash val="solid"/>
          </a:ln>
        </p:spPr>
      </p:sp>
      <p:sp>
        <p:nvSpPr>
          <p:cNvPr id="79" name="Shape 77"/>
          <p:cNvSpPr/>
          <p:nvPr/>
        </p:nvSpPr>
        <p:spPr>
          <a:xfrm>
            <a:off x="9784080" y="4082796"/>
            <a:ext cx="109728" cy="109728"/>
          </a:xfrm>
          <a:prstGeom prst="ellipse">
            <a:avLst/>
          </a:prstGeom>
          <a:solidFill>
            <a:srgbClr val="3A4A7A"/>
          </a:solidFill>
          <a:ln w="12700">
            <a:solidFill>
              <a:srgbClr val="3A4A7A"/>
            </a:solidFill>
            <a:prstDash val="solid"/>
          </a:ln>
        </p:spPr>
      </p:sp>
      <p:sp>
        <p:nvSpPr>
          <p:cNvPr id="80" name="Shape 78"/>
          <p:cNvSpPr/>
          <p:nvPr/>
        </p:nvSpPr>
        <p:spPr>
          <a:xfrm>
            <a:off x="10058400" y="4082796"/>
            <a:ext cx="109728" cy="109728"/>
          </a:xfrm>
          <a:prstGeom prst="ellipse">
            <a:avLst/>
          </a:prstGeom>
          <a:solidFill>
            <a:srgbClr val="3A4A7A"/>
          </a:solidFill>
          <a:ln w="12700">
            <a:solidFill>
              <a:srgbClr val="3A4A7A"/>
            </a:solidFill>
            <a:prstDash val="solid"/>
          </a:ln>
        </p:spPr>
      </p:sp>
      <p:sp>
        <p:nvSpPr>
          <p:cNvPr id="81" name="Shape 79"/>
          <p:cNvSpPr/>
          <p:nvPr/>
        </p:nvSpPr>
        <p:spPr>
          <a:xfrm>
            <a:off x="10332720" y="4082796"/>
            <a:ext cx="109728" cy="109728"/>
          </a:xfrm>
          <a:prstGeom prst="ellipse">
            <a:avLst/>
          </a:prstGeom>
          <a:solidFill>
            <a:srgbClr val="3A4A7A"/>
          </a:solidFill>
          <a:ln w="12700">
            <a:solidFill>
              <a:srgbClr val="3A4A7A"/>
            </a:solidFill>
            <a:prstDash val="solid"/>
          </a:ln>
        </p:spPr>
      </p:sp>
      <p:sp>
        <p:nvSpPr>
          <p:cNvPr id="82" name="Shape 80"/>
          <p:cNvSpPr/>
          <p:nvPr/>
        </p:nvSpPr>
        <p:spPr>
          <a:xfrm>
            <a:off x="10607040" y="4082796"/>
            <a:ext cx="109728" cy="109728"/>
          </a:xfrm>
          <a:prstGeom prst="ellipse">
            <a:avLst/>
          </a:prstGeom>
          <a:solidFill>
            <a:srgbClr val="3A4A7A"/>
          </a:solidFill>
          <a:ln w="12700">
            <a:solidFill>
              <a:srgbClr val="3A4A7A"/>
            </a:solidFill>
            <a:prstDash val="solid"/>
          </a:ln>
        </p:spPr>
      </p:sp>
      <p:sp>
        <p:nvSpPr>
          <p:cNvPr id="83" name="Shape 81"/>
          <p:cNvSpPr/>
          <p:nvPr/>
        </p:nvSpPr>
        <p:spPr>
          <a:xfrm>
            <a:off x="10881360" y="4082796"/>
            <a:ext cx="109728" cy="109728"/>
          </a:xfrm>
          <a:prstGeom prst="ellipse">
            <a:avLst/>
          </a:prstGeom>
          <a:solidFill>
            <a:srgbClr val="3A4A7A"/>
          </a:solidFill>
          <a:ln w="12700">
            <a:solidFill>
              <a:srgbClr val="3A4A7A"/>
            </a:solidFill>
            <a:prstDash val="solid"/>
          </a:ln>
        </p:spPr>
      </p:sp>
      <p:sp>
        <p:nvSpPr>
          <p:cNvPr id="84" name="Text 82"/>
          <p:cNvSpPr/>
          <p:nvPr/>
        </p:nvSpPr>
        <p:spPr>
          <a:xfrm>
            <a:off x="6995160" y="4297680"/>
            <a:ext cx="1645920" cy="320040"/>
          </a:xfrm>
          <a:prstGeom prst="rect">
            <a:avLst/>
          </a:prstGeom>
          <a:noFill/>
          <a:ln/>
        </p:spPr>
        <p:txBody>
          <a:bodyPr wrap="square" lIns="0" tIns="0" rIns="0" bIns="0" rtlCol="0" anchor="ctr"/>
          <a:lstStyle/>
          <a:p>
            <a:pPr indent="0" marL="0">
              <a:buNone/>
            </a:pPr>
            <a:r>
              <a:rPr lang="en-US" sz="800" b="1" dirty="0">
                <a:solidFill>
                  <a:srgbClr val="5A3E6A"/>
                </a:solidFill>
                <a:latin typeface="Tiro Devanagari Hindi" pitchFamily="34" charset="0"/>
                <a:ea typeface="Tiro Devanagari Hindi" pitchFamily="34" charset="-122"/>
                <a:cs typeface="Tiro Devanagari Hindi" pitchFamily="34" charset="-120"/>
              </a:rPr>
              <a:t>à¤¦à¥‹à¤·</a:t>
            </a:r>
            <a:endParaRPr lang="en-US" sz="800" dirty="0"/>
          </a:p>
        </p:txBody>
      </p:sp>
      <p:sp>
        <p:nvSpPr>
          <p:cNvPr id="85" name="Shape 83"/>
          <p:cNvSpPr/>
          <p:nvPr/>
        </p:nvSpPr>
        <p:spPr>
          <a:xfrm>
            <a:off x="8686800" y="4402836"/>
            <a:ext cx="109728" cy="109728"/>
          </a:xfrm>
          <a:prstGeom prst="ellipse">
            <a:avLst/>
          </a:prstGeom>
          <a:solidFill>
            <a:srgbClr val="5A3E6A"/>
          </a:solidFill>
          <a:ln w="12700">
            <a:solidFill>
              <a:srgbClr val="5A3E6A"/>
            </a:solidFill>
            <a:prstDash val="solid"/>
          </a:ln>
        </p:spPr>
      </p:sp>
      <p:sp>
        <p:nvSpPr>
          <p:cNvPr id="86" name="Shape 84"/>
          <p:cNvSpPr/>
          <p:nvPr/>
        </p:nvSpPr>
        <p:spPr>
          <a:xfrm>
            <a:off x="8961120" y="4402836"/>
            <a:ext cx="109728" cy="109728"/>
          </a:xfrm>
          <a:prstGeom prst="ellipse">
            <a:avLst/>
          </a:prstGeom>
          <a:solidFill>
            <a:srgbClr val="5A3E6A"/>
          </a:solidFill>
          <a:ln w="12700">
            <a:solidFill>
              <a:srgbClr val="5A3E6A"/>
            </a:solidFill>
            <a:prstDash val="solid"/>
          </a:ln>
        </p:spPr>
      </p:sp>
      <p:sp>
        <p:nvSpPr>
          <p:cNvPr id="87" name="Shape 85"/>
          <p:cNvSpPr/>
          <p:nvPr/>
        </p:nvSpPr>
        <p:spPr>
          <a:xfrm>
            <a:off x="9235440" y="4402836"/>
            <a:ext cx="109728" cy="109728"/>
          </a:xfrm>
          <a:prstGeom prst="ellipse">
            <a:avLst/>
          </a:prstGeom>
          <a:solidFill>
            <a:srgbClr val="5A3E6A"/>
          </a:solidFill>
          <a:ln w="12700">
            <a:solidFill>
              <a:srgbClr val="5A3E6A"/>
            </a:solidFill>
            <a:prstDash val="solid"/>
          </a:ln>
        </p:spPr>
      </p:sp>
      <p:sp>
        <p:nvSpPr>
          <p:cNvPr id="88" name="Shape 86"/>
          <p:cNvSpPr/>
          <p:nvPr/>
        </p:nvSpPr>
        <p:spPr>
          <a:xfrm>
            <a:off x="9509760" y="4402836"/>
            <a:ext cx="109728" cy="109728"/>
          </a:xfrm>
          <a:prstGeom prst="ellipse">
            <a:avLst/>
          </a:prstGeom>
          <a:solidFill>
            <a:srgbClr val="5A3E6A"/>
          </a:solidFill>
          <a:ln w="12700">
            <a:solidFill>
              <a:srgbClr val="5A3E6A"/>
            </a:solidFill>
            <a:prstDash val="solid"/>
          </a:ln>
        </p:spPr>
      </p:sp>
      <p:sp>
        <p:nvSpPr>
          <p:cNvPr id="89" name="Shape 87"/>
          <p:cNvSpPr/>
          <p:nvPr/>
        </p:nvSpPr>
        <p:spPr>
          <a:xfrm>
            <a:off x="9784080" y="4402836"/>
            <a:ext cx="109728" cy="109728"/>
          </a:xfrm>
          <a:prstGeom prst="ellipse">
            <a:avLst/>
          </a:prstGeom>
          <a:solidFill>
            <a:srgbClr val="5A3E6A"/>
          </a:solidFill>
          <a:ln w="12700">
            <a:solidFill>
              <a:srgbClr val="5A3E6A"/>
            </a:solidFill>
            <a:prstDash val="solid"/>
          </a:ln>
        </p:spPr>
      </p:sp>
      <p:sp>
        <p:nvSpPr>
          <p:cNvPr id="90" name="Shape 88"/>
          <p:cNvSpPr/>
          <p:nvPr/>
        </p:nvSpPr>
        <p:spPr>
          <a:xfrm>
            <a:off x="10058400" y="4402836"/>
            <a:ext cx="109728" cy="109728"/>
          </a:xfrm>
          <a:prstGeom prst="ellipse">
            <a:avLst/>
          </a:prstGeom>
          <a:solidFill>
            <a:srgbClr val="5A3E6A"/>
          </a:solidFill>
          <a:ln w="12700">
            <a:solidFill>
              <a:srgbClr val="5A3E6A"/>
            </a:solidFill>
            <a:prstDash val="solid"/>
          </a:ln>
        </p:spPr>
      </p:sp>
      <p:sp>
        <p:nvSpPr>
          <p:cNvPr id="91" name="Shape 89"/>
          <p:cNvSpPr/>
          <p:nvPr/>
        </p:nvSpPr>
        <p:spPr>
          <a:xfrm>
            <a:off x="10332720" y="4402836"/>
            <a:ext cx="109728" cy="109728"/>
          </a:xfrm>
          <a:prstGeom prst="ellipse">
            <a:avLst/>
          </a:prstGeom>
          <a:solidFill>
            <a:srgbClr val="5A3E6A"/>
          </a:solidFill>
          <a:ln w="12700">
            <a:solidFill>
              <a:srgbClr val="5A3E6A"/>
            </a:solidFill>
            <a:prstDash val="solid"/>
          </a:ln>
        </p:spPr>
      </p:sp>
      <p:sp>
        <p:nvSpPr>
          <p:cNvPr id="92" name="Shape 90"/>
          <p:cNvSpPr/>
          <p:nvPr/>
        </p:nvSpPr>
        <p:spPr>
          <a:xfrm>
            <a:off x="10607040" y="4402836"/>
            <a:ext cx="109728" cy="109728"/>
          </a:xfrm>
          <a:prstGeom prst="ellipse">
            <a:avLst/>
          </a:prstGeom>
          <a:solidFill>
            <a:srgbClr val="5A3E6A"/>
          </a:solidFill>
          <a:ln w="12700">
            <a:solidFill>
              <a:srgbClr val="5A3E6A"/>
            </a:solidFill>
            <a:prstDash val="solid"/>
          </a:ln>
        </p:spPr>
      </p:sp>
      <p:sp>
        <p:nvSpPr>
          <p:cNvPr id="93" name="Text 91"/>
          <p:cNvSpPr/>
          <p:nvPr/>
        </p:nvSpPr>
        <p:spPr>
          <a:xfrm>
            <a:off x="6995160" y="4617720"/>
            <a:ext cx="1645920" cy="320040"/>
          </a:xfrm>
          <a:prstGeom prst="rect">
            <a:avLst/>
          </a:prstGeom>
          <a:noFill/>
          <a:ln/>
        </p:spPr>
        <p:txBody>
          <a:bodyPr wrap="square" lIns="0" tIns="0" rIns="0" bIns="0" rtlCol="0" anchor="ctr"/>
          <a:lstStyle/>
          <a:p>
            <a:pPr indent="0" marL="0">
              <a:buNone/>
            </a:pPr>
            <a:r>
              <a:rPr lang="en-US" sz="800" b="1" dirty="0">
                <a:solidFill>
                  <a:srgbClr val="7A1E5A"/>
                </a:solidFill>
                <a:latin typeface="Tiro Devanagari Hindi" pitchFamily="34" charset="0"/>
                <a:ea typeface="Tiro Devanagari Hindi" pitchFamily="34" charset="-122"/>
                <a:cs typeface="Tiro Devanagari Hindi" pitchFamily="34" charset="-120"/>
              </a:rPr>
              <a:t>à¤«à¤²</a:t>
            </a:r>
            <a:endParaRPr lang="en-US" sz="800" dirty="0"/>
          </a:p>
        </p:txBody>
      </p:sp>
      <p:sp>
        <p:nvSpPr>
          <p:cNvPr id="94" name="Shape 92"/>
          <p:cNvSpPr/>
          <p:nvPr/>
        </p:nvSpPr>
        <p:spPr>
          <a:xfrm>
            <a:off x="8686800" y="4722876"/>
            <a:ext cx="109728" cy="109728"/>
          </a:xfrm>
          <a:prstGeom prst="ellipse">
            <a:avLst/>
          </a:prstGeom>
          <a:solidFill>
            <a:srgbClr val="7A1E5A"/>
          </a:solidFill>
          <a:ln w="12700">
            <a:solidFill>
              <a:srgbClr val="7A1E5A"/>
            </a:solidFill>
            <a:prstDash val="solid"/>
          </a:ln>
        </p:spPr>
      </p:sp>
      <p:sp>
        <p:nvSpPr>
          <p:cNvPr id="95" name="Shape 93"/>
          <p:cNvSpPr/>
          <p:nvPr/>
        </p:nvSpPr>
        <p:spPr>
          <a:xfrm>
            <a:off x="8961120" y="4722876"/>
            <a:ext cx="109728" cy="109728"/>
          </a:xfrm>
          <a:prstGeom prst="ellipse">
            <a:avLst/>
          </a:prstGeom>
          <a:solidFill>
            <a:srgbClr val="7A1E5A"/>
          </a:solidFill>
          <a:ln w="12700">
            <a:solidFill>
              <a:srgbClr val="7A1E5A"/>
            </a:solidFill>
            <a:prstDash val="solid"/>
          </a:ln>
        </p:spPr>
      </p:sp>
      <p:sp>
        <p:nvSpPr>
          <p:cNvPr id="96" name="Shape 94"/>
          <p:cNvSpPr/>
          <p:nvPr/>
        </p:nvSpPr>
        <p:spPr>
          <a:xfrm>
            <a:off x="9235440" y="4722876"/>
            <a:ext cx="109728" cy="109728"/>
          </a:xfrm>
          <a:prstGeom prst="ellipse">
            <a:avLst/>
          </a:prstGeom>
          <a:solidFill>
            <a:srgbClr val="7A1E5A"/>
          </a:solidFill>
          <a:ln w="12700">
            <a:solidFill>
              <a:srgbClr val="7A1E5A"/>
            </a:solidFill>
            <a:prstDash val="solid"/>
          </a:ln>
        </p:spPr>
      </p:sp>
      <p:sp>
        <p:nvSpPr>
          <p:cNvPr id="97" name="Shape 95"/>
          <p:cNvSpPr/>
          <p:nvPr/>
        </p:nvSpPr>
        <p:spPr>
          <a:xfrm>
            <a:off x="9509760" y="4722876"/>
            <a:ext cx="109728" cy="109728"/>
          </a:xfrm>
          <a:prstGeom prst="ellipse">
            <a:avLst/>
          </a:prstGeom>
          <a:solidFill>
            <a:srgbClr val="7A1E5A"/>
          </a:solidFill>
          <a:ln w="12700">
            <a:solidFill>
              <a:srgbClr val="7A1E5A"/>
            </a:solidFill>
            <a:prstDash val="solid"/>
          </a:ln>
        </p:spPr>
      </p:sp>
      <p:sp>
        <p:nvSpPr>
          <p:cNvPr id="98" name="Shape 96"/>
          <p:cNvSpPr/>
          <p:nvPr/>
        </p:nvSpPr>
        <p:spPr>
          <a:xfrm>
            <a:off x="9784080" y="4722876"/>
            <a:ext cx="109728" cy="109728"/>
          </a:xfrm>
          <a:prstGeom prst="ellipse">
            <a:avLst/>
          </a:prstGeom>
          <a:solidFill>
            <a:srgbClr val="7A1E5A"/>
          </a:solidFill>
          <a:ln w="12700">
            <a:solidFill>
              <a:srgbClr val="7A1E5A"/>
            </a:solidFill>
            <a:prstDash val="solid"/>
          </a:ln>
        </p:spPr>
      </p:sp>
      <p:sp>
        <p:nvSpPr>
          <p:cNvPr id="99" name="Shape 97"/>
          <p:cNvSpPr/>
          <p:nvPr/>
        </p:nvSpPr>
        <p:spPr>
          <a:xfrm>
            <a:off x="10058400" y="4722876"/>
            <a:ext cx="109728" cy="109728"/>
          </a:xfrm>
          <a:prstGeom prst="ellipse">
            <a:avLst/>
          </a:prstGeom>
          <a:solidFill>
            <a:srgbClr val="7A1E5A"/>
          </a:solidFill>
          <a:ln w="12700">
            <a:solidFill>
              <a:srgbClr val="7A1E5A"/>
            </a:solidFill>
            <a:prstDash val="solid"/>
          </a:ln>
        </p:spPr>
      </p:sp>
      <p:sp>
        <p:nvSpPr>
          <p:cNvPr id="100" name="Shape 98"/>
          <p:cNvSpPr/>
          <p:nvPr/>
        </p:nvSpPr>
        <p:spPr>
          <a:xfrm>
            <a:off x="10332720" y="4722876"/>
            <a:ext cx="109728" cy="109728"/>
          </a:xfrm>
          <a:prstGeom prst="ellipse">
            <a:avLst/>
          </a:prstGeom>
          <a:solidFill>
            <a:srgbClr val="7A1E5A"/>
          </a:solidFill>
          <a:ln w="12700">
            <a:solidFill>
              <a:srgbClr val="7A1E5A"/>
            </a:solidFill>
            <a:prstDash val="solid"/>
          </a:ln>
        </p:spPr>
      </p:sp>
      <p:sp>
        <p:nvSpPr>
          <p:cNvPr id="101" name="Shape 99"/>
          <p:cNvSpPr/>
          <p:nvPr/>
        </p:nvSpPr>
        <p:spPr>
          <a:xfrm>
            <a:off x="10607040" y="4722876"/>
            <a:ext cx="109728" cy="109728"/>
          </a:xfrm>
          <a:prstGeom prst="ellipse">
            <a:avLst/>
          </a:prstGeom>
          <a:solidFill>
            <a:srgbClr val="7A1E5A"/>
          </a:solidFill>
          <a:ln w="12700">
            <a:solidFill>
              <a:srgbClr val="7A1E5A"/>
            </a:solidFill>
            <a:prstDash val="solid"/>
          </a:ln>
        </p:spPr>
      </p:sp>
      <p:sp>
        <p:nvSpPr>
          <p:cNvPr id="102" name="Shape 100"/>
          <p:cNvSpPr/>
          <p:nvPr/>
        </p:nvSpPr>
        <p:spPr>
          <a:xfrm>
            <a:off x="10881360" y="4722876"/>
            <a:ext cx="109728" cy="109728"/>
          </a:xfrm>
          <a:prstGeom prst="ellipse">
            <a:avLst/>
          </a:prstGeom>
          <a:solidFill>
            <a:srgbClr val="7A1E5A"/>
          </a:solidFill>
          <a:ln w="12700">
            <a:solidFill>
              <a:srgbClr val="7A1E5A"/>
            </a:solidFill>
            <a:prstDash val="solid"/>
          </a:ln>
        </p:spPr>
      </p:sp>
      <p:sp>
        <p:nvSpPr>
          <p:cNvPr id="103" name="Shape 101"/>
          <p:cNvSpPr/>
          <p:nvPr/>
        </p:nvSpPr>
        <p:spPr>
          <a:xfrm>
            <a:off x="11155680" y="4722876"/>
            <a:ext cx="109728" cy="109728"/>
          </a:xfrm>
          <a:prstGeom prst="ellipse">
            <a:avLst/>
          </a:prstGeom>
          <a:solidFill>
            <a:srgbClr val="7A1E5A"/>
          </a:solidFill>
          <a:ln w="12700">
            <a:solidFill>
              <a:srgbClr val="7A1E5A"/>
            </a:solidFill>
            <a:prstDash val="solid"/>
          </a:ln>
        </p:spPr>
      </p:sp>
      <p:sp>
        <p:nvSpPr>
          <p:cNvPr id="104" name="Text 102"/>
          <p:cNvSpPr/>
          <p:nvPr/>
        </p:nvSpPr>
        <p:spPr>
          <a:xfrm>
            <a:off x="6995160" y="4937760"/>
            <a:ext cx="1645920" cy="320040"/>
          </a:xfrm>
          <a:prstGeom prst="rect">
            <a:avLst/>
          </a:prstGeom>
          <a:noFill/>
          <a:ln/>
        </p:spPr>
        <p:txBody>
          <a:bodyPr wrap="square" lIns="0" tIns="0" rIns="0" bIns="0" rtlCol="0" anchor="ctr"/>
          <a:lstStyle/>
          <a:p>
            <a:pPr indent="0" marL="0">
              <a:buNone/>
            </a:pPr>
            <a:r>
              <a:rPr lang="en-US" sz="800" b="1" dirty="0">
                <a:solidFill>
                  <a:srgbClr val="6A2E2E"/>
                </a:solidFill>
                <a:latin typeface="Tiro Devanagari Hindi" pitchFamily="34" charset="0"/>
                <a:ea typeface="Tiro Devanagari Hindi" pitchFamily="34" charset="-122"/>
                <a:cs typeface="Tiro Devanagari Hindi" pitchFamily="34" charset="-120"/>
              </a:rPr>
              <a:t>à¤¯à¤œà¥à¤ž</a:t>
            </a:r>
            <a:endParaRPr lang="en-US" sz="800" dirty="0"/>
          </a:p>
        </p:txBody>
      </p:sp>
      <p:sp>
        <p:nvSpPr>
          <p:cNvPr id="105" name="Shape 103"/>
          <p:cNvSpPr/>
          <p:nvPr/>
        </p:nvSpPr>
        <p:spPr>
          <a:xfrm>
            <a:off x="8686800" y="5042916"/>
            <a:ext cx="109728" cy="109728"/>
          </a:xfrm>
          <a:prstGeom prst="ellipse">
            <a:avLst/>
          </a:prstGeom>
          <a:solidFill>
            <a:srgbClr val="6A2E2E"/>
          </a:solidFill>
          <a:ln w="12700">
            <a:solidFill>
              <a:srgbClr val="6A2E2E"/>
            </a:solidFill>
            <a:prstDash val="solid"/>
          </a:ln>
        </p:spPr>
      </p:sp>
      <p:sp>
        <p:nvSpPr>
          <p:cNvPr id="106" name="Shape 104"/>
          <p:cNvSpPr/>
          <p:nvPr/>
        </p:nvSpPr>
        <p:spPr>
          <a:xfrm>
            <a:off x="8961120" y="5042916"/>
            <a:ext cx="109728" cy="109728"/>
          </a:xfrm>
          <a:prstGeom prst="ellipse">
            <a:avLst/>
          </a:prstGeom>
          <a:solidFill>
            <a:srgbClr val="6A2E2E"/>
          </a:solidFill>
          <a:ln w="12700">
            <a:solidFill>
              <a:srgbClr val="6A2E2E"/>
            </a:solidFill>
            <a:prstDash val="solid"/>
          </a:ln>
        </p:spPr>
      </p:sp>
      <p:sp>
        <p:nvSpPr>
          <p:cNvPr id="107" name="Shape 105"/>
          <p:cNvSpPr/>
          <p:nvPr/>
        </p:nvSpPr>
        <p:spPr>
          <a:xfrm>
            <a:off x="9235440" y="5042916"/>
            <a:ext cx="109728" cy="109728"/>
          </a:xfrm>
          <a:prstGeom prst="ellipse">
            <a:avLst/>
          </a:prstGeom>
          <a:solidFill>
            <a:srgbClr val="6A2E2E"/>
          </a:solidFill>
          <a:ln w="12700">
            <a:solidFill>
              <a:srgbClr val="6A2E2E"/>
            </a:solidFill>
            <a:prstDash val="solid"/>
          </a:ln>
        </p:spPr>
      </p:sp>
      <p:sp>
        <p:nvSpPr>
          <p:cNvPr id="108" name="Shape 106"/>
          <p:cNvSpPr/>
          <p:nvPr/>
        </p:nvSpPr>
        <p:spPr>
          <a:xfrm>
            <a:off x="9509760" y="5042916"/>
            <a:ext cx="109728" cy="109728"/>
          </a:xfrm>
          <a:prstGeom prst="ellipse">
            <a:avLst/>
          </a:prstGeom>
          <a:solidFill>
            <a:srgbClr val="6A2E2E"/>
          </a:solidFill>
          <a:ln w="12700">
            <a:solidFill>
              <a:srgbClr val="6A2E2E"/>
            </a:solidFill>
            <a:prstDash val="solid"/>
          </a:ln>
        </p:spPr>
      </p:sp>
      <p:sp>
        <p:nvSpPr>
          <p:cNvPr id="109" name="Shape 107"/>
          <p:cNvSpPr/>
          <p:nvPr/>
        </p:nvSpPr>
        <p:spPr>
          <a:xfrm>
            <a:off x="9784080" y="5042916"/>
            <a:ext cx="109728" cy="109728"/>
          </a:xfrm>
          <a:prstGeom prst="ellipse">
            <a:avLst/>
          </a:prstGeom>
          <a:solidFill>
            <a:srgbClr val="6A2E2E"/>
          </a:solidFill>
          <a:ln w="12700">
            <a:solidFill>
              <a:srgbClr val="6A2E2E"/>
            </a:solidFill>
            <a:prstDash val="solid"/>
          </a:ln>
        </p:spPr>
      </p:sp>
      <p:sp>
        <p:nvSpPr>
          <p:cNvPr id="110" name="Shape 108"/>
          <p:cNvSpPr/>
          <p:nvPr/>
        </p:nvSpPr>
        <p:spPr>
          <a:xfrm>
            <a:off x="10058400" y="5042916"/>
            <a:ext cx="109728" cy="109728"/>
          </a:xfrm>
          <a:prstGeom prst="ellipse">
            <a:avLst/>
          </a:prstGeom>
          <a:solidFill>
            <a:srgbClr val="6A2E2E"/>
          </a:solidFill>
          <a:ln w="12700">
            <a:solidFill>
              <a:srgbClr val="6A2E2E"/>
            </a:solidFill>
            <a:prstDash val="solid"/>
          </a:ln>
        </p:spPr>
      </p:sp>
      <p:sp>
        <p:nvSpPr>
          <p:cNvPr id="111" name="Text 109"/>
          <p:cNvSpPr/>
          <p:nvPr/>
        </p:nvSpPr>
        <p:spPr>
          <a:xfrm>
            <a:off x="6995160" y="5257800"/>
            <a:ext cx="1645920" cy="320040"/>
          </a:xfrm>
          <a:prstGeom prst="rect">
            <a:avLst/>
          </a:prstGeom>
          <a:noFill/>
          <a:ln/>
        </p:spPr>
        <p:txBody>
          <a:bodyPr wrap="square" lIns="0" tIns="0" rIns="0" bIns="0" rtlCol="0" anchor="ctr"/>
          <a:lstStyle/>
          <a:p>
            <a:pPr indent="0" marL="0">
              <a:buNone/>
            </a:pPr>
            <a:r>
              <a:rPr lang="en-US" sz="800" b="1" dirty="0">
                <a:solidFill>
                  <a:srgbClr val="3E3A32"/>
                </a:solidFill>
                <a:latin typeface="Tiro Devanagari Hindi" pitchFamily="34" charset="0"/>
                <a:ea typeface="Tiro Devanagari Hindi" pitchFamily="34" charset="-122"/>
                <a:cs typeface="Tiro Devanagari Hindi" pitchFamily="34" charset="-120"/>
              </a:rPr>
              <a:t>à¤ªà¥à¤°à¤¤à¥€à¤•</a:t>
            </a:r>
            <a:endParaRPr lang="en-US" sz="800" dirty="0"/>
          </a:p>
        </p:txBody>
      </p:sp>
      <p:sp>
        <p:nvSpPr>
          <p:cNvPr id="112" name="Shape 110"/>
          <p:cNvSpPr/>
          <p:nvPr/>
        </p:nvSpPr>
        <p:spPr>
          <a:xfrm>
            <a:off x="8686800" y="5362956"/>
            <a:ext cx="109728" cy="109728"/>
          </a:xfrm>
          <a:prstGeom prst="ellipse">
            <a:avLst/>
          </a:prstGeom>
          <a:solidFill>
            <a:srgbClr val="3E3A32"/>
          </a:solidFill>
          <a:ln w="12700">
            <a:solidFill>
              <a:srgbClr val="3E3A32"/>
            </a:solidFill>
            <a:prstDash val="solid"/>
          </a:ln>
        </p:spPr>
      </p:sp>
      <p:sp>
        <p:nvSpPr>
          <p:cNvPr id="113" name="Shape 111"/>
          <p:cNvSpPr/>
          <p:nvPr/>
        </p:nvSpPr>
        <p:spPr>
          <a:xfrm>
            <a:off x="8961120" y="5362956"/>
            <a:ext cx="109728" cy="109728"/>
          </a:xfrm>
          <a:prstGeom prst="ellipse">
            <a:avLst/>
          </a:prstGeom>
          <a:solidFill>
            <a:srgbClr val="3E3A32"/>
          </a:solidFill>
          <a:ln w="12700">
            <a:solidFill>
              <a:srgbClr val="3E3A32"/>
            </a:solidFill>
            <a:prstDash val="solid"/>
          </a:ln>
        </p:spPr>
      </p:sp>
      <p:sp>
        <p:nvSpPr>
          <p:cNvPr id="114" name="Shape 112"/>
          <p:cNvSpPr/>
          <p:nvPr/>
        </p:nvSpPr>
        <p:spPr>
          <a:xfrm>
            <a:off x="9235440" y="5362956"/>
            <a:ext cx="109728" cy="109728"/>
          </a:xfrm>
          <a:prstGeom prst="ellipse">
            <a:avLst/>
          </a:prstGeom>
          <a:solidFill>
            <a:srgbClr val="3E3A32"/>
          </a:solidFill>
          <a:ln w="12700">
            <a:solidFill>
              <a:srgbClr val="3E3A32"/>
            </a:solidFill>
            <a:prstDash val="solid"/>
          </a:ln>
        </p:spPr>
      </p:sp>
      <p:sp>
        <p:nvSpPr>
          <p:cNvPr id="115" name="Shape 113"/>
          <p:cNvSpPr/>
          <p:nvPr/>
        </p:nvSpPr>
        <p:spPr>
          <a:xfrm>
            <a:off x="9509760" y="5362956"/>
            <a:ext cx="109728" cy="109728"/>
          </a:xfrm>
          <a:prstGeom prst="ellipse">
            <a:avLst/>
          </a:prstGeom>
          <a:solidFill>
            <a:srgbClr val="3E3A32"/>
          </a:solidFill>
          <a:ln w="12700">
            <a:solidFill>
              <a:srgbClr val="3E3A32"/>
            </a:solidFill>
            <a:prstDash val="solid"/>
          </a:ln>
        </p:spPr>
      </p:sp>
      <p:sp>
        <p:nvSpPr>
          <p:cNvPr id="116" name="Shape 114"/>
          <p:cNvSpPr/>
          <p:nvPr/>
        </p:nvSpPr>
        <p:spPr>
          <a:xfrm>
            <a:off x="9784080" y="5362956"/>
            <a:ext cx="109728" cy="109728"/>
          </a:xfrm>
          <a:prstGeom prst="ellipse">
            <a:avLst/>
          </a:prstGeom>
          <a:solidFill>
            <a:srgbClr val="3E3A32"/>
          </a:solidFill>
          <a:ln w="12700">
            <a:solidFill>
              <a:srgbClr val="3E3A32"/>
            </a:solidFill>
            <a:prstDash val="solid"/>
          </a:ln>
        </p:spPr>
      </p:sp>
      <p:sp>
        <p:nvSpPr>
          <p:cNvPr id="117" name="Shape 115"/>
          <p:cNvSpPr/>
          <p:nvPr/>
        </p:nvSpPr>
        <p:spPr>
          <a:xfrm>
            <a:off x="10058400" y="5362956"/>
            <a:ext cx="109728" cy="109728"/>
          </a:xfrm>
          <a:prstGeom prst="ellipse">
            <a:avLst/>
          </a:prstGeom>
          <a:solidFill>
            <a:srgbClr val="3E3A32"/>
          </a:solidFill>
          <a:ln w="12700">
            <a:solidFill>
              <a:srgbClr val="3E3A32"/>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Tiro Devanagari Hindi" pitchFamily="34" charset="0"/>
                <a:ea typeface="Tiro Devanagari Hindi" pitchFamily="34" charset="-122"/>
                <a:cs typeface="Tiro Devanagari Hindi" pitchFamily="34" charset="-120"/>
              </a:rPr>
              <a:t>मध्व-पाठ</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à¤¹à¤°à¤¿ à¤•à¥€ à¤ªà¥‚à¤°à¥à¤£ à¤¸à¤°à¥à¤µà¥‹à¤šà¥à¤šà¤¤à¤¾</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à¤¤à¤¾à¤°à¤¤à¤®à¥à¤¯ à¤•à¥€ à¤®à¥‚à¤² à¤§à¥à¤°à¥€: à¤¹à¤°à¤¿ à¤¸à¤°à¥à¤µà¥‹à¤šà¥à¤š à¤¹à¥ˆà¤‚, à¤‰à¤¨à¤•à¥‡ à¤¬à¤°à¤¾à¤¬à¤° à¤¯à¤¾ à¤‰à¤¨à¤¸à¥‡ à¤Šà¤ªà¤° à¤•à¥‹à¤ˆ à¤¨à¤¹à¥€à¤‚à¥¤ à¤¬à¤¾à¤•à¥€ à¤¸à¤¬ à¤‰à¤¨ à¤ªà¤° à¤¨à¤¿à¤°à¥à¤­à¤°à¥¤</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8B1E1A"/>
                </a:solidFill>
                <a:latin typeface="Tiro Devanagari Hindi" pitchFamily="34" charset="0"/>
                <a:ea typeface="Tiro Devanagari Hindi" pitchFamily="34" charset="-122"/>
                <a:cs typeface="Tiro Devanagari Hindi" pitchFamily="34" charset="-120"/>
              </a:rPr>
              <a:t>à¤®à¤§à¥à¤µ-à¤¸à¤¿à¤¦à¥à¤§à¤¾à¤‚à¤¤ à¤•à¥€ à¤¨à¥€à¤‚à¤µ â€” à¤ªà¤‚à¤šà¤­à¥‡à¤¦ à¤¯à¤¹à¥€à¤‚ à¤¸à¥‡ à¤¶à¥à¤°à¥‚ à¤¹à¥‹à¤¤à¤¾ à¤¹à¥ˆà¥¤</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8B1E1A"/>
          </a:solidFill>
          <a:ln w="12700">
            <a:solidFill>
              <a:srgbClr val="8B1E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Tiro Devanagari Hindi" pitchFamily="34" charset="0"/>
                <a:ea typeface="Tiro Devanagari Hindi" pitchFamily="34" charset="-122"/>
                <a:cs typeface="Tiro Devanagari Hindi" pitchFamily="34" charset="-120"/>
              </a:rPr>
              <a:t>आधार-श्लोक</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7.7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à¤®à¤¤à¥à¤¤à¤ƒ à¤ªà¤°à¤¤à¤°à¤‚ à¤¨à¤¾à¤¨à¥à¤¯à¤¤à¥à¤•à¤¿à¤žà¥à¤šà¤¿à¤¦à¤¸à¥à¤¤à¤¿ à¤§à¤¨à¤žà¥à¤œà¤¯à¥¤</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7.7 Â· 11.43 Â· 18.65</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Tiro Devanagari Hindi" pitchFamily="34" charset="0"/>
                <a:ea typeface="Tiro Devanagari Hindi" pitchFamily="34" charset="-122"/>
                <a:cs typeface="Tiro Devanagari Hindi" pitchFamily="34" charset="-120"/>
              </a:rPr>
              <a:t>मध्व-पाठ</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à¤ªà¤¾à¤à¤š à¤…à¤¸à¤²à¥€ à¤­à¥‡à¤¦</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à¤¹à¤°à¤¿-à¤œà¥€à¤µ, à¤¹à¤°à¤¿-à¤œà¤¡à¤¼, à¤œà¥€à¤µ-à¤œà¤¡à¤¼, à¤œà¥€à¤µ-à¤œà¥€à¤µ, à¤œà¤¡à¤¼-à¤œà¤¡à¤¼ â€” à¤ªà¤¾à¤à¤š à¤¨à¤¿à¤¤à¥à¤¯ à¤­à¥‡à¤¦, à¤œà¤¿à¤¨à¥à¤¹à¥‡à¤‚ à¤®à¤§à¥à¤µ-à¤¸à¤¿à¤¦à¥à¤§à¤¾à¤‚à¤¤ à¤µà¥ˆà¤šà¤¾à¤°à¤¿à¤• à¤¸à¤¤à¥à¤¯ à¤•à¥‡ à¤°à¥‚à¤ª à¤®à¥‡à¤‚ à¤¸à¥à¤¥à¤¾à¤ªà¤¿à¤¤ à¤•à¤°à¤¤à¤¾ à¤¹à¥ˆà¥¤</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8B1E1A"/>
                </a:solidFill>
                <a:latin typeface="Tiro Devanagari Hindi" pitchFamily="34" charset="0"/>
                <a:ea typeface="Tiro Devanagari Hindi" pitchFamily="34" charset="-122"/>
                <a:cs typeface="Tiro Devanagari Hindi" pitchFamily="34" charset="-120"/>
              </a:rPr>
              <a:t>à¤®à¤§à¥à¤µ-à¤ªà¤°à¤¿à¤­à¤¾à¤·à¤¾-à¤¸à¥‚à¤¤à¥à¤°à¥¤ à¤¹à¤° à¤­à¥‡à¤¦ à¤—à¥€à¤¤à¤¾ à¤®à¥‡à¤‚ à¤¨à¤¿à¤¹à¤¿à¤¤ à¤¹à¥ˆ (à¤œà¥€à¤µ à¥§à¥«.à¥­; à¤œà¥€à¤µ-à¤œà¥€à¤µ-à¤­à¥‡à¤¦ à¥§à¥®.à¥ªà¥§ à¤•à¥‡ à¤¸à¥à¤µà¤­à¤¾à¤µ-à¤µà¤°à¥à¤£à¤¨ à¤®à¥‡à¤‚)à¥¤</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8B1E1A"/>
          </a:solidFill>
          <a:ln w="12700">
            <a:solidFill>
              <a:srgbClr val="8B1E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Tiro Devanagari Hindi" pitchFamily="34" charset="0"/>
                <a:ea typeface="Tiro Devanagari Hindi" pitchFamily="34" charset="-122"/>
                <a:cs typeface="Tiro Devanagari Hindi" pitchFamily="34" charset="-120"/>
              </a:rPr>
              <a:t>आधार-श्लोक</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15.7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à¤®à¤®à¥ˆà¤µà¤¾à¤‚à¤¶à¥‹ à¤œà¥€à¤µà¤²à¥‹à¤•à¥‡ à¤œà¥€à¤µà¤­à¥‚à¤¤à¤ƒ à¤¸à¤¨à¤¾à¤¤à¤¨à¤ƒà¥¤</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7.4â€“5 Â· 15.7 Â· 15.16â€“18</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B1E1A"/>
                </a:solidFill>
                <a:latin typeface="Tiro Devanagari Hindi" pitchFamily="34" charset="0"/>
                <a:ea typeface="Tiro Devanagari Hindi" pitchFamily="34" charset="-122"/>
                <a:cs typeface="Tiro Devanagari Hindi" pitchFamily="34" charset="-120"/>
              </a:rPr>
              <a:t>मध्व-पाठ</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à¤¸à¤¤à¥à¤¤à¤¾ à¤•à¥€ à¤•à¥à¤°à¤®à¤¿à¤•à¤¤à¤¾</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à¤¹à¤°à¤¿ à¤•à¥‡ à¤…à¤§à¥€à¤¨ à¤¸à¤®à¤¸à¥à¤¤ à¤¸à¤¤à¥à¤¤à¤¾ à¤•à¤¾ à¤¸à¤–à¥à¤¤ à¤•à¥à¤°à¤® â€” à¤¹à¤° à¤†à¤¤à¥à¤®à¤¾ à¤•à¤¾ à¤à¤• à¤¨à¤¿à¤¶à¥à¤šà¤¿à¤¤, à¤…à¤ªà¤°à¤¿à¤µà¤°à¥à¤¤à¤¨à¥€à¤¯ à¤¸à¥à¤¥à¤¾à¤¨à¥¤ à¤®à¤§à¥à¤µ-à¤¤à¤¤à¥à¤¤à¥à¤µà¤¶à¤¾à¤¸à¥à¤¤à¥à¤° à¤•à¤¾ à¤¸à¥à¤¥à¤¾à¤ªà¤¤à¥à¤¯ à¤¸à¤¿à¤¦à¥à¤§à¤¾à¤‚à¤¤à¥¤</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8B1E1A"/>
                </a:solidFill>
                <a:latin typeface="Tiro Devanagari Hindi" pitchFamily="34" charset="0"/>
                <a:ea typeface="Tiro Devanagari Hindi" pitchFamily="34" charset="-122"/>
                <a:cs typeface="Tiro Devanagari Hindi" pitchFamily="34" charset="-120"/>
              </a:rPr>
              <a:t>à¤µà¤¿à¤¶à¥‡à¤· à¤°à¥‚à¤ª à¤¸à¥‡ à¤®à¤§à¥à¤µ à¤•à¤¾à¥¤ à¤ªà¤‚à¤šà¤­à¥‡à¤¦ à¤”à¤° à¤®à¥à¤•à¥à¤¤à¤¿ à¤•à¥€ à¤¶à¥à¤°à¥‡à¤£à¤¿à¤¯à¥‹à¤‚ à¤•à¤¾ à¤†à¤§à¤¾à¤°à¥¤</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8B1E1A"/>
          </a:solidFill>
          <a:ln w="12700">
            <a:solidFill>
              <a:srgbClr val="8B1E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Tiro Devanagari Hindi" pitchFamily="34" charset="0"/>
                <a:ea typeface="Tiro Devanagari Hindi" pitchFamily="34" charset="-122"/>
                <a:cs typeface="Tiro Devanagari Hindi" pitchFamily="34" charset="-120"/>
              </a:rPr>
              <a:t>आधार-श्लोक</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7.7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à¤®à¤¤à¥à¤¤à¤ƒ à¤ªà¤°à¤¤à¤°à¤‚ à¤¨à¤¾à¤¨à¥à¤¯à¤¤à¥à¤•à¤¿à¤žà¥à¤šà¤¿à¤¦à¤¸à¥à¤¤à¤¿ à¤§à¤¨à¤žà¥à¤œà¤¯à¥¤</a:t>
            </a:r>
            <a:endParaRPr lang="en-US" sz="1200" dirty="0"/>
          </a:p>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à¤®à¤¯à¤¿ à¤¸à¤°à¥à¤µà¤®à¤¿à¤¦à¤‚ à¤ªà¥à¤°à¥‹à¤¤à¤‚ à¤¸à¥‚à¤¤à¥à¤°à¥‡ à¤®à¤£à¤¿à¤—à¤£à¤¾ à¤‡à¤µà¥¥</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7.7 Â· 15.16â€“18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7A1E5A"/>
                </a:solidFill>
                <a:latin typeface="Tiro Devanagari Hindi" pitchFamily="34" charset="0"/>
                <a:ea typeface="Tiro Devanagari Hindi" pitchFamily="34" charset="-122"/>
                <a:cs typeface="Tiro Devanagari Hindi" pitchFamily="34" charset="-120"/>
              </a:rPr>
              <a:t>मध्व-पाठ</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à¤¸à¤°à¥à¤µ-à¤§à¤°à¥à¤®à¤¾à¤¨à¥ à¤ªà¤°à¤¿à¤¤à¥à¤¯à¤œà¥à¤¯ â€” à¤¶à¤°à¤£ à¤•à¤¾ à¤«à¤²</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â€˜à¤®à¥ˆà¤‚ à¤¤à¥à¤à¥‡ à¤¸à¤¬ à¤ªà¤¾à¤ªà¥‹à¤‚ à¤¸à¥‡ à¤›à¥à¤¡à¤¼à¤¾ à¤¦à¥‚à¤à¤—à¤¾; à¤¶à¥‹à¤• à¤®à¤¤ à¤•à¤°â€™ â€” à¤—à¥€à¤¤à¤¾ à¥§à¥®.à¥¬à¥¬ à¤ªà¤° à¤•à¥ƒà¤·à¥à¤£ à¤•à¥€ à¤ªà¥à¤°à¤¤à¤¿à¤œà¥à¤žà¤¾à¥¤ à¤®à¤§à¥à¤µ à¤•à¥‡ à¤²à¤¿à¤ à¤¯à¤¹ à¤—à¥€à¤¤à¤¾ à¤•à¤¾ à¤šà¥‚à¤¡à¤¼à¤¾à¤‚à¤¤-à¤¶à¥à¤²à¥‹à¤• à¤¹à¥ˆà¥¤</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7A1E5A"/>
                </a:solidFill>
                <a:latin typeface="Tiro Devanagari Hindi" pitchFamily="34" charset="0"/>
                <a:ea typeface="Tiro Devanagari Hindi" pitchFamily="34" charset="-122"/>
                <a:cs typeface="Tiro Devanagari Hindi" pitchFamily="34" charset="-120"/>
              </a:rPr>
              <a:t>à¤šà¤°à¤®-à¤¶à¥à¤²à¥‹à¤• â€” à¤®à¤§à¥à¤µ-à¤ªà¤°à¤‚à¤ªà¤°à¤¾ à¤•à¤¾ à¤¸à¤¬à¤¸à¥‡ à¤•à¥‡à¤‚à¤¦à¥à¤°à¥€à¤¯ à¤¶à¥à¤²à¥‹à¤•, à¤¸à¥à¤µà¤¯à¤‚ à¤¹à¤°à¤¿ à¤•à¥€ à¤ªà¥à¤°à¤¤à¥à¤¯à¤•à¥à¤· à¤ªà¥à¤°à¤¤à¤¿à¤œà¥à¤žà¤¾à¥¤</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7A1E5A"/>
          </a:solidFill>
          <a:ln w="12700">
            <a:solidFill>
              <a:srgbClr val="7A1E5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Tiro Devanagari Hindi" pitchFamily="34" charset="0"/>
                <a:ea typeface="Tiro Devanagari Hindi" pitchFamily="34" charset="-122"/>
                <a:cs typeface="Tiro Devanagari Hindi" pitchFamily="34" charset="-120"/>
              </a:rPr>
              <a:t>आधार-श्लोक</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18.66</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à¤¸à¤°à¥à¤µà¤§à¤°à¥à¤®à¤¾à¤¨à¥à¤ªà¤°à¤¿à¤¤à¥à¤¯à¤œà¥à¤¯ à¤®à¤¾à¤®à¥‡à¤•à¤‚ à¤¶à¤°à¤£à¤‚ à¤µà¥à¤°à¤œà¥¤</a:t>
            </a:r>
            <a:endParaRPr lang="en-US" sz="1200" dirty="0"/>
          </a:p>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à¤…à¤¹à¤‚ à¤¤à¥à¤µà¤¾ à¤¸à¤°à¥à¤µà¤ªà¤¾à¤ªà¥‡à¤­à¥à¤¯à¥‹ à¤®à¥‹à¤•à¥à¤·à¤¯à¤¿à¤·à¥à¤¯à¤¾à¤®à¤¿ à¤®à¤¾ à¤¶à¥à¤šà¤ƒà¥¥</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18.66</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A83F1A"/>
                </a:solidFill>
                <a:latin typeface="Tiro Devanagari Hindi" pitchFamily="34" charset="0"/>
                <a:ea typeface="Tiro Devanagari Hindi" pitchFamily="34" charset="-122"/>
                <a:cs typeface="Tiro Devanagari Hindi" pitchFamily="34" charset="-120"/>
              </a:rPr>
              <a:t>मध्व-पाठ</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à¤œà¥€à¤µ â€” à¤¦à¥‡à¤¹à¤§à¤¾à¤°à¥€ à¤†à¤¤à¥à¤®à¤¾</a:t>
            </a:r>
            <a:endParaRPr lang="en-US" sz="3000" dirty="0"/>
          </a:p>
        </p:txBody>
      </p:sp>
      <p:sp>
        <p:nvSpPr>
          <p:cNvPr id="4" name="Text 2"/>
          <p:cNvSpPr/>
          <p:nvPr/>
        </p:nvSpPr>
        <p:spPr>
          <a:xfrm>
            <a:off x="548640" y="1600200"/>
            <a:ext cx="6949440" cy="2011680"/>
          </a:xfrm>
          <a:prstGeom prst="rect">
            <a:avLst/>
          </a:prstGeom>
          <a:noFill/>
          <a:ln/>
        </p:spPr>
        <p:txBody>
          <a:bodyPr wrap="square" rtlCol="0" anchor="t"/>
          <a:lstStyle/>
          <a:p>
            <a:pPr algn="l" indent="0" marL="0">
              <a:spcAft>
                <a:spcPts val="600"/>
              </a:spcAft>
              <a:buNone/>
            </a:pPr>
            <a:r>
              <a:rPr lang="en-US" sz="1300" dirty="0">
                <a:solidFill>
                  <a:srgbClr val="3B2A1B"/>
                </a:solidFill>
                <a:latin typeface="Tiro Devanagari Hindi" pitchFamily="34" charset="0"/>
                <a:ea typeface="Tiro Devanagari Hindi" pitchFamily="34" charset="-122"/>
                <a:cs typeface="Tiro Devanagari Hindi" pitchFamily="34" charset="-120"/>
              </a:rPr>
              <a:t>à¤¹à¤°à¤¿ à¤•à¤¾ à¤¨à¤¿à¤¤à¥à¤¯ à¤…à¤‚à¤¶ (à¤—à¥€à¤¤à¤¾ à¥§à¥«.à¥­) â€” à¤…à¤¸à¤²à¥€, à¤…à¤²à¤—, à¤…à¤¨à¥‡à¤•, à¤¬à¥à¤°à¤¹à¥à¤® à¤®à¥‡à¤‚ à¤•à¤­à¥€ à¤µà¤¿à¤²à¥€à¤¨ à¤¨à¤¹à¥€à¤‚à¥¤ à¤…à¤µà¤¿à¤¦à¥à¤¯à¤¾ à¤¸à¥‡ à¤¬à¤à¤§à¤¾ à¤°à¤¹à¤¤à¤¾ à¤¹à¥ˆ, à¤®à¥à¤•à¥à¤¤à¤¿ à¤¤à¤•à¥¤</a:t>
            </a:r>
            <a:endParaRPr lang="en-US" sz="1300" dirty="0"/>
          </a:p>
        </p:txBody>
      </p:sp>
      <p:sp>
        <p:nvSpPr>
          <p:cNvPr id="5" name="Text 3"/>
          <p:cNvSpPr/>
          <p:nvPr/>
        </p:nvSpPr>
        <p:spPr>
          <a:xfrm>
            <a:off x="548640" y="3703320"/>
            <a:ext cx="6949440" cy="1645920"/>
          </a:xfrm>
          <a:prstGeom prst="rect">
            <a:avLst/>
          </a:prstGeom>
          <a:noFill/>
          <a:ln/>
        </p:spPr>
        <p:txBody>
          <a:bodyPr wrap="square" rtlCol="0" anchor="t"/>
          <a:lstStyle/>
          <a:p>
            <a:pPr algn="l" indent="0" marL="0">
              <a:spcAft>
                <a:spcPts val="600"/>
              </a:spcAft>
              <a:buNone/>
            </a:pPr>
            <a:r>
              <a:rPr lang="en-US" sz="1300" i="1" dirty="0">
                <a:solidFill>
                  <a:srgbClr val="A83F1A"/>
                </a:solidFill>
                <a:latin typeface="Tiro Devanagari Hindi" pitchFamily="34" charset="0"/>
                <a:ea typeface="Tiro Devanagari Hindi" pitchFamily="34" charset="-122"/>
                <a:cs typeface="Tiro Devanagari Hindi" pitchFamily="34" charset="-120"/>
              </a:rPr>
              <a:t>à¤œà¥€à¤µ-à¤­à¥‡à¤¦ à¤µà¤¾à¤¸à¥à¤¤à¤µà¤¿à¤• à¤¹à¥ˆ (à¤ªà¤‚à¤šà¤­à¥‡à¤¦ à¤•à¤¾ à¤ªà¤¹à¤²à¤¾)à¥¤ à¤œà¥€à¤µà¥‹à¤‚ à¤•à¥€ à¤¬à¤¹à¥à¤²à¤¤à¤¾ à¤¨à¤¿à¤¤à¥à¤¯ à¤¹à¥ˆà¥¤</a:t>
            </a:r>
            <a:endParaRPr lang="en-US" sz="1300" dirty="0"/>
          </a:p>
        </p:txBody>
      </p:sp>
      <p:sp>
        <p:nvSpPr>
          <p:cNvPr id="6" name="Shape 4"/>
          <p:cNvSpPr/>
          <p:nvPr/>
        </p:nvSpPr>
        <p:spPr>
          <a:xfrm>
            <a:off x="7772400" y="1600200"/>
            <a:ext cx="3886200" cy="4572000"/>
          </a:xfrm>
          <a:prstGeom prst="rect">
            <a:avLst/>
          </a:prstGeom>
          <a:solidFill>
            <a:srgbClr val="FBF5E6"/>
          </a:solidFill>
          <a:ln w="6350">
            <a:solidFill>
              <a:srgbClr val="C9B58A"/>
            </a:solidFill>
            <a:prstDash val="solid"/>
          </a:ln>
        </p:spPr>
      </p:sp>
      <p:sp>
        <p:nvSpPr>
          <p:cNvPr id="7" name="Shape 5"/>
          <p:cNvSpPr/>
          <p:nvPr/>
        </p:nvSpPr>
        <p:spPr>
          <a:xfrm>
            <a:off x="7772400" y="1600200"/>
            <a:ext cx="73152" cy="4572000"/>
          </a:xfrm>
          <a:prstGeom prst="rect">
            <a:avLst/>
          </a:prstGeom>
          <a:solidFill>
            <a:srgbClr val="A83F1A"/>
          </a:solidFill>
          <a:ln w="12700">
            <a:solidFill>
              <a:srgbClr val="A83F1A"/>
            </a:solidFill>
            <a:prstDash val="solid"/>
          </a:ln>
        </p:spPr>
      </p:sp>
      <p:sp>
        <p:nvSpPr>
          <p:cNvPr id="8" name="Text 6"/>
          <p:cNvSpPr/>
          <p:nvPr/>
        </p:nvSpPr>
        <p:spPr>
          <a:xfrm>
            <a:off x="7955280" y="1691640"/>
            <a:ext cx="3657600" cy="274320"/>
          </a:xfrm>
          <a:prstGeom prst="rect">
            <a:avLst/>
          </a:prstGeom>
          <a:noFill/>
          <a:ln/>
        </p:spPr>
        <p:txBody>
          <a:bodyPr wrap="square" lIns="0" tIns="0" rIns="0" bIns="0" rtlCol="0" anchor="ctr"/>
          <a:lstStyle/>
          <a:p>
            <a:pPr indent="0" marL="0">
              <a:buNone/>
            </a:pPr>
            <a:r>
              <a:rPr lang="en-US" sz="1000" b="1" spc="300" kern="0" dirty="0">
                <a:solidFill>
                  <a:srgbClr val="8A7558"/>
                </a:solidFill>
                <a:latin typeface="Tiro Devanagari Hindi" pitchFamily="34" charset="0"/>
                <a:ea typeface="Tiro Devanagari Hindi" pitchFamily="34" charset="-122"/>
                <a:cs typeface="Tiro Devanagari Hindi" pitchFamily="34" charset="-120"/>
              </a:rPr>
              <a:t>आधार-श्लोक</a:t>
            </a:r>
            <a:endParaRPr lang="en-US" sz="1000" dirty="0"/>
          </a:p>
        </p:txBody>
      </p:sp>
      <p:sp>
        <p:nvSpPr>
          <p:cNvPr id="9" name="Text 7"/>
          <p:cNvSpPr/>
          <p:nvPr/>
        </p:nvSpPr>
        <p:spPr>
          <a:xfrm>
            <a:off x="7955280" y="1965960"/>
            <a:ext cx="3657600" cy="274320"/>
          </a:xfrm>
          <a:prstGeom prst="rect">
            <a:avLst/>
          </a:prstGeom>
          <a:noFill/>
          <a:ln/>
        </p:spPr>
        <p:txBody>
          <a:bodyPr wrap="square" lIns="0" tIns="0" rIns="0" bIns="0" rtlCol="0" anchor="ctr"/>
          <a:lstStyle/>
          <a:p>
            <a:pPr indent="0" marL="0">
              <a:buNone/>
            </a:pPr>
            <a:r>
              <a:rPr lang="en-US" sz="1100" i="1" dirty="0">
                <a:solidFill>
                  <a:srgbClr val="5A4632"/>
                </a:solidFill>
                <a:latin typeface="Cormorant Garamond" pitchFamily="34" charset="0"/>
                <a:ea typeface="Cormorant Garamond" pitchFamily="34" charset="-122"/>
                <a:cs typeface="Cormorant Garamond" pitchFamily="34" charset="-120"/>
              </a:rPr>
              <a:t>BG 15.7</a:t>
            </a:r>
            <a:endParaRPr lang="en-US" sz="1100" dirty="0"/>
          </a:p>
        </p:txBody>
      </p:sp>
      <p:sp>
        <p:nvSpPr>
          <p:cNvPr id="10" name="Text 8"/>
          <p:cNvSpPr/>
          <p:nvPr/>
        </p:nvSpPr>
        <p:spPr>
          <a:xfrm>
            <a:off x="7955280" y="2331720"/>
            <a:ext cx="3657600" cy="2743200"/>
          </a:xfrm>
          <a:prstGeom prst="rect">
            <a:avLst/>
          </a:prstGeom>
          <a:noFill/>
          <a:ln/>
        </p:spPr>
        <p:txBody>
          <a:bodyPr wrap="square" rtlCol="0" anchor="t"/>
          <a:lstStyle/>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à¤®à¤®à¥ˆà¤µà¤¾à¤‚à¤¶à¥‹ à¤œà¥€à¤µà¤²à¥‹à¤•à¥‡ à¤œà¥€à¤µà¤­à¥‚à¤¤à¤ƒ à¤¸à¤¨à¤¾à¤¤à¤¨à¤ƒà¥¤</a:t>
            </a:r>
            <a:endParaRPr lang="en-US" sz="1200" dirty="0"/>
          </a:p>
          <a:p>
            <a:pPr algn="l" indent="0" marL="0">
              <a:spcAft>
                <a:spcPts val="400"/>
              </a:spcAft>
              <a:buNone/>
            </a:pPr>
            <a:r>
              <a:rPr lang="en-US" sz="1200" dirty="0">
                <a:solidFill>
                  <a:srgbClr val="3B2A1B"/>
                </a:solidFill>
                <a:latin typeface="Tiro Devanagari Hindi" pitchFamily="34" charset="0"/>
                <a:ea typeface="Tiro Devanagari Hindi" pitchFamily="34" charset="-122"/>
                <a:cs typeface="Tiro Devanagari Hindi" pitchFamily="34" charset="-120"/>
              </a:rPr>
              <a:t>à¤®à¤¨à¤ƒà¤·à¤·à¥à¤ à¤¾à¤¨à¥€à¤¨à¥à¤¦à¥à¤°à¤¿à¤¯à¤¾à¤£à¤¿ à¤ªà¥à¤°à¤•à¥ƒà¤¤à¤¿à¤¸à¥à¤¥à¤¾à¤¨à¤¿ à¤•à¤°à¥à¤·à¤¤à¤¿à¥¥</a:t>
            </a:r>
            <a:endParaRPr lang="en-US" sz="1200" dirty="0"/>
          </a:p>
        </p:txBody>
      </p:sp>
      <p:sp>
        <p:nvSpPr>
          <p:cNvPr id="11" name="Text 9"/>
          <p:cNvSpPr/>
          <p:nvPr/>
        </p:nvSpPr>
        <p:spPr>
          <a:xfrm>
            <a:off x="7955280" y="5715000"/>
            <a:ext cx="3657600" cy="320040"/>
          </a:xfrm>
          <a:prstGeom prst="rect">
            <a:avLst/>
          </a:prstGeom>
          <a:noFill/>
          <a:ln/>
        </p:spPr>
        <p:txBody>
          <a:bodyPr wrap="square" lIns="0" tIns="0" rIns="0" bIns="0" rtlCol="0" anchor="ctr"/>
          <a:lstStyle/>
          <a:p>
            <a:pPr indent="0" marL="0">
              <a:buNone/>
            </a:pPr>
            <a:r>
              <a:rPr lang="en-US" sz="1000" i="1" dirty="0">
                <a:solidFill>
                  <a:srgbClr val="8A7558"/>
                </a:solidFill>
                <a:latin typeface="Cormorant Garamond" pitchFamily="34" charset="0"/>
                <a:ea typeface="Cormorant Garamond" pitchFamily="34" charset="-122"/>
                <a:cs typeface="Cormorant Garamond" pitchFamily="34" charset="-120"/>
              </a:rPr>
              <a:t>BG 15.7</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Tiro Devanagari Hindi" pitchFamily="34" charset="0"/>
                <a:ea typeface="Tiro Devanagari Hindi" pitchFamily="34" charset="-122"/>
                <a:cs typeface="Tiro Devanagari Hindi" pitchFamily="34" charset="-120"/>
              </a:rPr>
              <a:t>22</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व्यूअर का उपयोग</a:t>
            </a:r>
            <a:endParaRPr lang="en-US" sz="3000" dirty="0"/>
          </a:p>
        </p:txBody>
      </p:sp>
      <p:sp>
        <p:nvSpPr>
          <p:cNvPr id="4" name="Text 2"/>
          <p:cNvSpPr/>
          <p:nvPr/>
        </p:nvSpPr>
        <p:spPr>
          <a:xfrm>
            <a:off x="548640" y="1691640"/>
            <a:ext cx="10972800" cy="4114800"/>
          </a:xfrm>
          <a:prstGeom prst="rect">
            <a:avLst/>
          </a:prstGeom>
          <a:noFill/>
          <a:ln/>
        </p:spPr>
        <p:txBody>
          <a:bodyPr wrap="square" rtlCol="0" anchor="t"/>
          <a:lstStyle/>
          <a:p>
            <a:pPr algn="l" indent="0" marL="0">
              <a:spcAft>
                <a:spcPts val="800"/>
              </a:spcAft>
              <a:buNone/>
            </a:pPr>
            <a:r>
              <a:rPr lang="en-US" sz="1500" dirty="0">
                <a:solidFill>
                  <a:srgbClr val="3B2A1B"/>
                </a:solidFill>
                <a:latin typeface="Tiro Devanagari Hindi" pitchFamily="34" charset="0"/>
                <a:ea typeface="Tiro Devanagari Hindi" pitchFamily="34" charset="-122"/>
                <a:cs typeface="Tiro Devanagari Hindi" pitchFamily="34" charset="-120"/>
              </a:rPr>
              <a:t>• Browse — हर संकल्पना अपने स्तर पर, जीवित खोज सहित</a:t>
            </a:r>
            <a:endParaRPr lang="en-US" sz="1500" dirty="0"/>
          </a:p>
          <a:p>
            <a:pPr algn="l" indent="0" marL="0">
              <a:spcAft>
                <a:spcPts val="800"/>
              </a:spcAft>
              <a:buNone/>
            </a:pPr>
            <a:r>
              <a:rPr lang="en-US" sz="1500" dirty="0">
                <a:solidFill>
                  <a:srgbClr val="3B2A1B"/>
                </a:solidFill>
                <a:latin typeface="Tiro Devanagari Hindi" pitchFamily="34" charset="0"/>
                <a:ea typeface="Tiro Devanagari Hindi" pitchFamily="34" charset="-122"/>
                <a:cs typeface="Tiro Devanagari Hindi" pitchFamily="34" charset="-120"/>
              </a:rPr>
              <a:t>• Focus — श्लोक-आधार, सिद्धांत-टिप्पणी, मध्व-टिप्पणी, सब संबंध</a:t>
            </a:r>
            <a:endParaRPr lang="en-US" sz="1500" dirty="0"/>
          </a:p>
          <a:p>
            <a:pPr algn="l" indent="0" marL="0">
              <a:spcAft>
                <a:spcPts val="800"/>
              </a:spcAft>
              <a:buNone/>
            </a:pPr>
            <a:r>
              <a:rPr lang="en-US" sz="1500" dirty="0">
                <a:solidFill>
                  <a:srgbClr val="3B2A1B"/>
                </a:solidFill>
                <a:latin typeface="Tiro Devanagari Hindi" pitchFamily="34" charset="0"/>
                <a:ea typeface="Tiro Devanagari Hindi" pitchFamily="34" charset="-122"/>
                <a:cs typeface="Tiro Devanagari Hindi" pitchFamily="34" charset="-120"/>
              </a:rPr>
              <a:t>• Map — सभी ११२ संकल्पनाएँ एक खगोलीय पट पर</a:t>
            </a:r>
            <a:endParaRPr lang="en-US" sz="1500" dirty="0"/>
          </a:p>
          <a:p>
            <a:pPr algn="l" indent="0" marL="0">
              <a:spcAft>
                <a:spcPts val="800"/>
              </a:spcAft>
              <a:buNone/>
            </a:pPr>
            <a:r>
              <a:rPr lang="en-US" sz="1500" dirty="0">
                <a:solidFill>
                  <a:srgbClr val="3B2A1B"/>
                </a:solidFill>
                <a:latin typeface="Tiro Devanagari Hindi" pitchFamily="34" charset="0"/>
                <a:ea typeface="Tiro Devanagari Hindi" pitchFamily="34" charset="-122"/>
                <a:cs typeface="Tiro Devanagari Hindi" pitchFamily="34" charset="-120"/>
              </a:rPr>
              <a:t>चार-लिपि स्विच: English · देवनागरी · हिंदी · ಕನ್ನಡ — एक स्पर्श में बदलाव।</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Tiro Devanagari Hindi" pitchFamily="34" charset="0"/>
                <a:ea typeface="Tiro Devanagari Hindi" pitchFamily="34" charset="-122"/>
                <a:cs typeface="Tiro Devanagari Hindi" pitchFamily="34" charset="-120"/>
              </a:rPr>
              <a:t>23</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स्रोत</a:t>
            </a:r>
            <a:endParaRPr lang="en-US" sz="3000" dirty="0"/>
          </a:p>
        </p:txBody>
      </p:sp>
      <p:sp>
        <p:nvSpPr>
          <p:cNvPr id="4" name="Text 2"/>
          <p:cNvSpPr/>
          <p:nvPr/>
        </p:nvSpPr>
        <p:spPr>
          <a:xfrm>
            <a:off x="548640" y="1691640"/>
            <a:ext cx="10972800" cy="4389120"/>
          </a:xfrm>
          <a:prstGeom prst="rect">
            <a:avLst/>
          </a:prstGeom>
          <a:noFill/>
          <a:ln/>
        </p:spPr>
        <p:txBody>
          <a:bodyPr wrap="square" rtlCol="0" anchor="t"/>
          <a:lstStyle/>
          <a:p>
            <a:pPr algn="l" marL="342900" indent="-342900">
              <a:spcAft>
                <a:spcPts val="600"/>
              </a:spcAft>
              <a:buSzPct val="100000"/>
              <a:buChar char="•"/>
            </a:pPr>
            <a:r>
              <a:rPr lang="en-US" sz="1400" dirty="0">
                <a:solidFill>
                  <a:srgbClr val="3B2A1B"/>
                </a:solidFill>
                <a:latin typeface="Tiro Devanagari Hindi" pitchFamily="34" charset="0"/>
                <a:ea typeface="Tiro Devanagari Hindi" pitchFamily="34" charset="-122"/>
                <a:cs typeface="Tiro Devanagari Hindi" pitchFamily="34" charset="-120"/>
              </a:rPr>
              <a:t>मूल — भगवद्गीता (संस्कृत श्लोक, हर संकल्पना श्लोक में आधारित)</a:t>
            </a:r>
            <a:endParaRPr lang="en-US" sz="1400" dirty="0"/>
          </a:p>
          <a:p>
            <a:pPr algn="l" marL="342900" indent="-342900">
              <a:spcAft>
                <a:spcPts val="600"/>
              </a:spcAft>
              <a:buSzPct val="100000"/>
              <a:buChar char="•"/>
            </a:pPr>
            <a:r>
              <a:rPr lang="en-US" sz="1400" dirty="0">
                <a:solidFill>
                  <a:srgbClr val="3B2A1B"/>
                </a:solidFill>
                <a:latin typeface="Tiro Devanagari Hindi" pitchFamily="34" charset="0"/>
                <a:ea typeface="Tiro Devanagari Hindi" pitchFamily="34" charset="-122"/>
                <a:cs typeface="Tiro Devanagari Hindi" pitchFamily="34" charset="-120"/>
              </a:rPr>
              <a:t>भाष्य — मध्व, गीता-भाष्य</a:t>
            </a:r>
            <a:endParaRPr lang="en-US" sz="1400" dirty="0"/>
          </a:p>
          <a:p>
            <a:pPr algn="l" marL="342900" indent="-342900">
              <a:spcAft>
                <a:spcPts val="600"/>
              </a:spcAft>
              <a:buSzPct val="100000"/>
              <a:buChar char="•"/>
            </a:pPr>
            <a:r>
              <a:rPr lang="en-US" sz="1400" dirty="0">
                <a:solidFill>
                  <a:srgbClr val="3B2A1B"/>
                </a:solidFill>
                <a:latin typeface="Tiro Devanagari Hindi" pitchFamily="34" charset="0"/>
                <a:ea typeface="Tiro Devanagari Hindi" pitchFamily="34" charset="-122"/>
                <a:cs typeface="Tiro Devanagari Hindi" pitchFamily="34" charset="-120"/>
              </a:rPr>
              <a:t>आधुनिक व्याख्या — बन्नंजे गोविंदाचार्य, गीता-भाष्य (४ खंड, कन्नड़)</a:t>
            </a:r>
            <a:endParaRPr lang="en-US" sz="1400" dirty="0"/>
          </a:p>
          <a:p>
            <a:pPr algn="l" marL="342900" indent="-342900">
              <a:spcAft>
                <a:spcPts val="600"/>
              </a:spcAft>
              <a:buSzPct val="100000"/>
              <a:buChar char="•"/>
            </a:pPr>
            <a:r>
              <a:rPr lang="en-US" sz="1400" dirty="0">
                <a:solidFill>
                  <a:srgbClr val="3B2A1B"/>
                </a:solidFill>
                <a:latin typeface="Tiro Devanagari Hindi" pitchFamily="34" charset="0"/>
                <a:ea typeface="Tiro Devanagari Hindi" pitchFamily="34" charset="-122"/>
                <a:cs typeface="Tiro Devanagari Hindi" pitchFamily="34" charset="-120"/>
              </a:rPr>
              <a:t>सिद्धांत-दृष्टि — BNK शर्मा, श्री-मध्वाचार्य का दर्शन</a:t>
            </a:r>
            <a:endParaRPr lang="en-US" sz="1400" dirty="0"/>
          </a:p>
          <a:p>
            <a:pPr algn="l" marL="342900" indent="-342900">
              <a:spcAft>
                <a:spcPts val="600"/>
              </a:spcAft>
              <a:buSzPct val="100000"/>
              <a:buChar char="•"/>
            </a:pPr>
            <a:r>
              <a:rPr lang="en-US" sz="1400" dirty="0">
                <a:solidFill>
                  <a:srgbClr val="3B2A1B"/>
                </a:solidFill>
                <a:latin typeface="Tiro Devanagari Hindi" pitchFamily="34" charset="0"/>
                <a:ea typeface="Tiro Devanagari Hindi" pitchFamily="34" charset="-122"/>
                <a:cs typeface="Tiro Devanagari Hindi" pitchFamily="34" charset="-120"/>
              </a:rPr>
              <a:t>मानदंड — हर नोड श्लोक + परंपरा पर आधारित; कोई संपादकीय कल्पना नहीं</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548640" y="320040"/>
            <a:ext cx="10972800" cy="320040"/>
          </a:xfrm>
          <a:prstGeom prst="rect">
            <a:avLst/>
          </a:prstGeom>
          <a:noFill/>
          <a:ln/>
        </p:spPr>
        <p:txBody>
          <a:bodyPr wrap="square" lIns="0" tIns="0" rIns="0" bIns="0" rtlCol="0" anchor="ctr"/>
          <a:lstStyle/>
          <a:p>
            <a:pPr algn="l" indent="0" marL="0">
              <a:buNone/>
            </a:pPr>
            <a:r>
              <a:rPr lang="en-US" sz="1100" b="1" spc="400" kern="0" dirty="0">
                <a:solidFill>
                  <a:srgbClr val="8A7558"/>
                </a:solidFill>
                <a:latin typeface="Tiro Devanagari Hindi" pitchFamily="34" charset="0"/>
                <a:ea typeface="Tiro Devanagari Hindi" pitchFamily="34" charset="-122"/>
                <a:cs typeface="Tiro Devanagari Hindi" pitchFamily="34" charset="-120"/>
              </a:rPr>
              <a:t>24</a:t>
            </a:r>
            <a:endParaRPr lang="en-US" sz="1100" dirty="0"/>
          </a:p>
        </p:txBody>
      </p:sp>
      <p:sp>
        <p:nvSpPr>
          <p:cNvPr id="3" name="Text 1"/>
          <p:cNvSpPr/>
          <p:nvPr/>
        </p:nvSpPr>
        <p:spPr>
          <a:xfrm>
            <a:off x="548640" y="640080"/>
            <a:ext cx="10972800" cy="777240"/>
          </a:xfrm>
          <a:prstGeom prst="rect">
            <a:avLst/>
          </a:prstGeom>
          <a:noFill/>
          <a:ln/>
        </p:spPr>
        <p:txBody>
          <a:bodyPr wrap="square" lIns="0" tIns="0" rIns="0" bIns="0" rtlCol="0" anchor="ctr"/>
          <a:lstStyle/>
          <a:p>
            <a:pPr algn="l" indent="0" marL="0">
              <a:buNone/>
            </a:pPr>
            <a:r>
              <a:rPr lang="en-US" sz="3000" b="1" dirty="0">
                <a:solidFill>
                  <a:srgbClr val="3B2A1B"/>
                </a:solidFill>
                <a:latin typeface="Tiro Devanagari Hindi" pitchFamily="34" charset="0"/>
                <a:ea typeface="Tiro Devanagari Hindi" pitchFamily="34" charset="-122"/>
                <a:cs typeface="Tiro Devanagari Hindi" pitchFamily="34" charset="-120"/>
              </a:rPr>
              <a:t>इस ग्राफ में क्या है</a:t>
            </a:r>
            <a:endParaRPr lang="en-US" sz="3000" dirty="0"/>
          </a:p>
        </p:txBody>
      </p:sp>
      <p:sp>
        <p:nvSpPr>
          <p:cNvPr id="4" name="Shape 2"/>
          <p:cNvSpPr/>
          <p:nvPr/>
        </p:nvSpPr>
        <p:spPr>
          <a:xfrm>
            <a:off x="548640" y="1828800"/>
            <a:ext cx="2651760" cy="2011680"/>
          </a:xfrm>
          <a:prstGeom prst="rect">
            <a:avLst/>
          </a:prstGeom>
          <a:solidFill>
            <a:srgbClr val="FBF5E6"/>
          </a:solidFill>
          <a:ln w="6350">
            <a:solidFill>
              <a:srgbClr val="C9B58A"/>
            </a:solidFill>
            <a:prstDash val="solid"/>
          </a:ln>
        </p:spPr>
      </p:sp>
      <p:sp>
        <p:nvSpPr>
          <p:cNvPr id="5" name="Text 3"/>
          <p:cNvSpPr/>
          <p:nvPr/>
        </p:nvSpPr>
        <p:spPr>
          <a:xfrm>
            <a:off x="54864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112</a:t>
            </a:r>
            <a:endParaRPr lang="en-US" sz="6000" dirty="0"/>
          </a:p>
        </p:txBody>
      </p:sp>
      <p:sp>
        <p:nvSpPr>
          <p:cNvPr id="6" name="Text 4"/>
          <p:cNvSpPr/>
          <p:nvPr/>
        </p:nvSpPr>
        <p:spPr>
          <a:xfrm>
            <a:off x="54864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Tiro Devanagari Hindi" pitchFamily="34" charset="0"/>
                <a:ea typeface="Tiro Devanagari Hindi" pitchFamily="34" charset="-122"/>
                <a:cs typeface="Tiro Devanagari Hindi" pitchFamily="34" charset="-120"/>
              </a:rPr>
              <a:t>Concepts</a:t>
            </a:r>
            <a:endParaRPr lang="en-US" sz="1300" dirty="0"/>
          </a:p>
        </p:txBody>
      </p:sp>
      <p:sp>
        <p:nvSpPr>
          <p:cNvPr id="7" name="Shape 5"/>
          <p:cNvSpPr/>
          <p:nvPr/>
        </p:nvSpPr>
        <p:spPr>
          <a:xfrm>
            <a:off x="3383280" y="1828800"/>
            <a:ext cx="2651760" cy="2011680"/>
          </a:xfrm>
          <a:prstGeom prst="rect">
            <a:avLst/>
          </a:prstGeom>
          <a:solidFill>
            <a:srgbClr val="FBF5E6"/>
          </a:solidFill>
          <a:ln w="6350">
            <a:solidFill>
              <a:srgbClr val="C9B58A"/>
            </a:solidFill>
            <a:prstDash val="solid"/>
          </a:ln>
        </p:spPr>
      </p:sp>
      <p:sp>
        <p:nvSpPr>
          <p:cNvPr id="8" name="Text 6"/>
          <p:cNvSpPr/>
          <p:nvPr/>
        </p:nvSpPr>
        <p:spPr>
          <a:xfrm>
            <a:off x="338328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241</a:t>
            </a:r>
            <a:endParaRPr lang="en-US" sz="6000" dirty="0"/>
          </a:p>
        </p:txBody>
      </p:sp>
      <p:sp>
        <p:nvSpPr>
          <p:cNvPr id="9" name="Text 7"/>
          <p:cNvSpPr/>
          <p:nvPr/>
        </p:nvSpPr>
        <p:spPr>
          <a:xfrm>
            <a:off x="338328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Tiro Devanagari Hindi" pitchFamily="34" charset="0"/>
                <a:ea typeface="Tiro Devanagari Hindi" pitchFamily="34" charset="-122"/>
                <a:cs typeface="Tiro Devanagari Hindi" pitchFamily="34" charset="-120"/>
              </a:rPr>
              <a:t>Relations</a:t>
            </a:r>
            <a:endParaRPr lang="en-US" sz="1300" dirty="0"/>
          </a:p>
        </p:txBody>
      </p:sp>
      <p:sp>
        <p:nvSpPr>
          <p:cNvPr id="10" name="Shape 8"/>
          <p:cNvSpPr/>
          <p:nvPr/>
        </p:nvSpPr>
        <p:spPr>
          <a:xfrm>
            <a:off x="6217920" y="1828800"/>
            <a:ext cx="2651760" cy="2011680"/>
          </a:xfrm>
          <a:prstGeom prst="rect">
            <a:avLst/>
          </a:prstGeom>
          <a:solidFill>
            <a:srgbClr val="FBF5E6"/>
          </a:solidFill>
          <a:ln w="6350">
            <a:solidFill>
              <a:srgbClr val="C9B58A"/>
            </a:solidFill>
            <a:prstDash val="solid"/>
          </a:ln>
        </p:spPr>
      </p:sp>
      <p:sp>
        <p:nvSpPr>
          <p:cNvPr id="11" name="Text 9"/>
          <p:cNvSpPr/>
          <p:nvPr/>
        </p:nvSpPr>
        <p:spPr>
          <a:xfrm>
            <a:off x="621792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12</a:t>
            </a:r>
            <a:endParaRPr lang="en-US" sz="6000" dirty="0"/>
          </a:p>
        </p:txBody>
      </p:sp>
      <p:sp>
        <p:nvSpPr>
          <p:cNvPr id="12" name="Text 10"/>
          <p:cNvSpPr/>
          <p:nvPr/>
        </p:nvSpPr>
        <p:spPr>
          <a:xfrm>
            <a:off x="621792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Tiro Devanagari Hindi" pitchFamily="34" charset="0"/>
                <a:ea typeface="Tiro Devanagari Hindi" pitchFamily="34" charset="-122"/>
                <a:cs typeface="Tiro Devanagari Hindi" pitchFamily="34" charset="-120"/>
              </a:rPr>
              <a:t>Tiers</a:t>
            </a:r>
            <a:endParaRPr lang="en-US" sz="1300" dirty="0"/>
          </a:p>
        </p:txBody>
      </p:sp>
      <p:sp>
        <p:nvSpPr>
          <p:cNvPr id="13" name="Shape 11"/>
          <p:cNvSpPr/>
          <p:nvPr/>
        </p:nvSpPr>
        <p:spPr>
          <a:xfrm>
            <a:off x="9052560" y="1828800"/>
            <a:ext cx="2651760" cy="2011680"/>
          </a:xfrm>
          <a:prstGeom prst="rect">
            <a:avLst/>
          </a:prstGeom>
          <a:solidFill>
            <a:srgbClr val="FBF5E6"/>
          </a:solidFill>
          <a:ln w="6350">
            <a:solidFill>
              <a:srgbClr val="C9B58A"/>
            </a:solidFill>
            <a:prstDash val="solid"/>
          </a:ln>
        </p:spPr>
      </p:sp>
      <p:sp>
        <p:nvSpPr>
          <p:cNvPr id="14" name="Text 12"/>
          <p:cNvSpPr/>
          <p:nvPr/>
        </p:nvSpPr>
        <p:spPr>
          <a:xfrm>
            <a:off x="9052560" y="2057400"/>
            <a:ext cx="2651760" cy="1097280"/>
          </a:xfrm>
          <a:prstGeom prst="rect">
            <a:avLst/>
          </a:prstGeom>
          <a:noFill/>
          <a:ln/>
        </p:spPr>
        <p:txBody>
          <a:bodyPr wrap="square" lIns="0" tIns="0" rIns="0" bIns="0" rtlCol="0" anchor="ctr"/>
          <a:lstStyle/>
          <a:p>
            <a:pPr algn="ctr" indent="0" marL="0">
              <a:buNone/>
            </a:pPr>
            <a:r>
              <a:rPr lang="en-US" sz="6000" b="1" dirty="0">
                <a:solidFill>
                  <a:srgbClr val="3B2A1B"/>
                </a:solidFill>
                <a:latin typeface="Cormorant Garamond" pitchFamily="34" charset="0"/>
                <a:ea typeface="Cormorant Garamond" pitchFamily="34" charset="-122"/>
                <a:cs typeface="Cormorant Garamond" pitchFamily="34" charset="-120"/>
              </a:rPr>
              <a:t>124</a:t>
            </a:r>
            <a:endParaRPr lang="en-US" sz="6000" dirty="0"/>
          </a:p>
        </p:txBody>
      </p:sp>
      <p:sp>
        <p:nvSpPr>
          <p:cNvPr id="15" name="Text 13"/>
          <p:cNvSpPr/>
          <p:nvPr/>
        </p:nvSpPr>
        <p:spPr>
          <a:xfrm>
            <a:off x="9052560" y="3154680"/>
            <a:ext cx="2651760" cy="502920"/>
          </a:xfrm>
          <a:prstGeom prst="rect">
            <a:avLst/>
          </a:prstGeom>
          <a:noFill/>
          <a:ln/>
        </p:spPr>
        <p:txBody>
          <a:bodyPr wrap="square" lIns="0" tIns="0" rIns="0" bIns="0" rtlCol="0" anchor="ctr"/>
          <a:lstStyle/>
          <a:p>
            <a:pPr algn="ctr" indent="0" marL="0">
              <a:buNone/>
            </a:pPr>
            <a:r>
              <a:rPr lang="en-US" sz="1300" spc="200" kern="0" dirty="0">
                <a:solidFill>
                  <a:srgbClr val="5A4632"/>
                </a:solidFill>
                <a:latin typeface="Tiro Devanagari Hindi" pitchFamily="34" charset="0"/>
                <a:ea typeface="Tiro Devanagari Hindi" pitchFamily="34" charset="-122"/>
                <a:cs typeface="Tiro Devanagari Hindi" pitchFamily="34" charset="-120"/>
              </a:rPr>
              <a:t>Verse anchors</a:t>
            </a:r>
            <a:endParaRPr lang="en-US" sz="1300" dirty="0"/>
          </a:p>
        </p:txBody>
      </p:sp>
      <p:sp>
        <p:nvSpPr>
          <p:cNvPr id="16" name="Text 14"/>
          <p:cNvSpPr/>
          <p:nvPr/>
        </p:nvSpPr>
        <p:spPr>
          <a:xfrm>
            <a:off x="548640" y="4572000"/>
            <a:ext cx="10972800" cy="457200"/>
          </a:xfrm>
          <a:prstGeom prst="rect">
            <a:avLst/>
          </a:prstGeom>
          <a:noFill/>
          <a:ln/>
        </p:spPr>
        <p:txBody>
          <a:bodyPr wrap="square" rtlCol="0" anchor="ctr"/>
          <a:lstStyle/>
          <a:p>
            <a:pPr algn="ctr" indent="0" marL="0">
              <a:buNone/>
            </a:pPr>
            <a:r>
              <a:rPr lang="en-US" sz="1800" i="1" dirty="0">
                <a:solidFill>
                  <a:srgbClr val="5A4632"/>
                </a:solidFill>
                <a:latin typeface="Cormorant Garamond" pitchFamily="34" charset="0"/>
                <a:ea typeface="Cormorant Garamond" pitchFamily="34" charset="-122"/>
                <a:cs typeface="Cormorant Garamond" pitchFamily="34" charset="-120"/>
              </a:rPr>
              <a:t>github.com/kvinayakpai/Bhagavadgita</a:t>
            </a:r>
            <a:endParaRPr lang="en-US" sz="1800" dirty="0"/>
          </a:p>
        </p:txBody>
      </p:sp>
      <p:sp>
        <p:nvSpPr>
          <p:cNvPr id="17" name="Text 15"/>
          <p:cNvSpPr/>
          <p:nvPr/>
        </p:nvSpPr>
        <p:spPr>
          <a:xfrm>
            <a:off x="548640" y="5074920"/>
            <a:ext cx="10972800" cy="365760"/>
          </a:xfrm>
          <a:prstGeom prst="rect">
            <a:avLst/>
          </a:prstGeom>
          <a:noFill/>
          <a:ln/>
        </p:spPr>
        <p:txBody>
          <a:bodyPr wrap="square" rtlCol="0" anchor="ctr"/>
          <a:lstStyle/>
          <a:p>
            <a:pPr algn="ctr" indent="0" marL="0">
              <a:buNone/>
            </a:pPr>
            <a:r>
              <a:rPr lang="en-US" sz="1100" i="1" dirty="0">
                <a:solidFill>
                  <a:srgbClr val="8A7558"/>
                </a:solidFill>
                <a:latin typeface="Cormorant Garamond" pitchFamily="34" charset="0"/>
                <a:ea typeface="Cormorant Garamond" pitchFamily="34" charset="-122"/>
                <a:cs typeface="Cormorant Garamond" pitchFamily="34" charset="-120"/>
              </a:rPr>
              <a:t>MIT · open source · build-decks.js generates this deck</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EAD8"/>
        </a:solidFill>
      </p:bgPr>
    </p:bg>
    <p:spTree>
      <p:nvGrpSpPr>
        <p:cNvPr id="1" name=""/>
        <p:cNvGrpSpPr/>
        <p:nvPr/>
      </p:nvGrpSpPr>
      <p:grpSpPr>
        <a:xfrm>
          <a:off x="0" y="0"/>
          <a:ext cx="0" cy="0"/>
          <a:chOff x="0" y="0"/>
          <a:chExt cx="0" cy="0"/>
        </a:xfrm>
      </p:grpSpPr>
      <p:sp>
        <p:nvSpPr>
          <p:cNvPr id="2" name="Text 0"/>
          <p:cNvSpPr/>
          <p:nvPr/>
        </p:nvSpPr>
        <p:spPr>
          <a:xfrm>
            <a:off x="457200" y="2286000"/>
            <a:ext cx="11247120" cy="914400"/>
          </a:xfrm>
          <a:prstGeom prst="rect">
            <a:avLst/>
          </a:prstGeom>
          <a:noFill/>
          <a:ln/>
        </p:spPr>
        <p:txBody>
          <a:bodyPr wrap="square" rtlCol="0" anchor="ctr"/>
          <a:lstStyle/>
          <a:p>
            <a:pPr algn="ctr" indent="0" marL="0">
              <a:buNone/>
            </a:pPr>
            <a:r>
              <a:rPr lang="en-US" sz="4400" b="1" dirty="0">
                <a:solidFill>
                  <a:srgbClr val="3B2A1B"/>
                </a:solidFill>
                <a:latin typeface="Tiro Devanagari Hindi" pitchFamily="34" charset="0"/>
                <a:ea typeface="Tiro Devanagari Hindi" pitchFamily="34" charset="-122"/>
                <a:cs typeface="Tiro Devanagari Hindi" pitchFamily="34" charset="-120"/>
              </a:rPr>
              <a:t>नमः पार्थसारथये</a:t>
            </a:r>
            <a:endParaRPr lang="en-US" sz="4400" dirty="0"/>
          </a:p>
        </p:txBody>
      </p:sp>
      <p:sp>
        <p:nvSpPr>
          <p:cNvPr id="3" name="Shape 1"/>
          <p:cNvSpPr/>
          <p:nvPr/>
        </p:nvSpPr>
        <p:spPr>
          <a:xfrm>
            <a:off x="5394960" y="3337560"/>
            <a:ext cx="1371600" cy="18288"/>
          </a:xfrm>
          <a:prstGeom prst="rect">
            <a:avLst/>
          </a:prstGeom>
          <a:solidFill>
            <a:srgbClr val="C9B58A"/>
          </a:solidFill>
          <a:ln w="6350">
            <a:solidFill>
              <a:srgbClr val="C9B58A"/>
            </a:solidFill>
            <a:prstDash val="solid"/>
          </a:ln>
        </p:spPr>
      </p:sp>
      <p:sp>
        <p:nvSpPr>
          <p:cNvPr id="4" name="Text 2"/>
          <p:cNvSpPr/>
          <p:nvPr/>
        </p:nvSpPr>
        <p:spPr>
          <a:xfrm>
            <a:off x="457200" y="3520440"/>
            <a:ext cx="11247120" cy="640080"/>
          </a:xfrm>
          <a:prstGeom prst="rect">
            <a:avLst/>
          </a:prstGeom>
          <a:noFill/>
          <a:ln/>
        </p:spPr>
        <p:txBody>
          <a:bodyPr wrap="square" rtlCol="0" anchor="ctr"/>
          <a:lstStyle/>
          <a:p>
            <a:pPr algn="ctr" indent="0" marL="0">
              <a:buNone/>
            </a:pPr>
            <a:r>
              <a:rPr lang="en-US" sz="1800" i="1" dirty="0">
                <a:solidFill>
                  <a:srgbClr val="5A4632"/>
                </a:solidFill>
                <a:latin typeface="Tiro Devanagari Hindi" pitchFamily="34" charset="0"/>
                <a:ea typeface="Tiro Devanagari Hindi" pitchFamily="34" charset="-122"/>
                <a:cs typeface="Tiro Devanagari Hindi" pitchFamily="34" charset="-120"/>
              </a:rPr>
              <a:t>श्रीकृष्णार्पणमस्तु</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Bhagavad Gītā Concept KG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भगवद्गीता · संकल्पना ज्ञान-ग्राफ</dc:title>
  <dc:subject>Madhva siddhānta · concept knowledge graph of the BG</dc:subject>
  <dc:creator>kvinayakpai</dc:creator>
  <cp:lastModifiedBy>kvinayakpai</cp:lastModifiedBy>
  <cp:revision>1</cp:revision>
  <dcterms:created xsi:type="dcterms:W3CDTF">2026-06-01T13:15:20Z</dcterms:created>
  <dcterms:modified xsi:type="dcterms:W3CDTF">2026-06-01T13:15:20Z</dcterms:modified>
</cp:coreProperties>
</file>