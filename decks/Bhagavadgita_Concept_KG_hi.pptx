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457200" y="1463040"/>
            <a:ext cx="11247120" cy="1280160"/>
          </a:xfrm>
          <a:prstGeom prst="rect">
            <a:avLst/>
          </a:prstGeom>
          <a:noFill/>
          <a:ln/>
        </p:spPr>
        <p:txBody>
          <a:bodyPr wrap="square" rtlCol="0" anchor="ctr"/>
          <a:lstStyle/>
          <a:p>
            <a:pPr algn="ctr" indent="0" marL="0">
              <a:buNone/>
            </a:pPr>
            <a:r>
              <a:rPr lang="en-US" sz="4800" b="1" dirty="0">
                <a:solidFill>
                  <a:srgbClr val="3B2A1B"/>
                </a:solidFill>
                <a:latin typeface="Tiro Devanagari Hindi" pitchFamily="34" charset="0"/>
                <a:ea typeface="Tiro Devanagari Hindi" pitchFamily="34" charset="-122"/>
                <a:cs typeface="Tiro Devanagari Hindi" pitchFamily="34" charset="-120"/>
              </a:rPr>
              <a:t>भगवद्गीता · संकल्पना ज्ञान-ग्राफ</a:t>
            </a:r>
            <a:endParaRPr lang="en-US" sz="4800" dirty="0"/>
          </a:p>
        </p:txBody>
      </p:sp>
      <p:sp>
        <p:nvSpPr>
          <p:cNvPr id="3" name="Text 1"/>
          <p:cNvSpPr/>
          <p:nvPr/>
        </p:nvSpPr>
        <p:spPr>
          <a:xfrm>
            <a:off x="457200" y="2788920"/>
            <a:ext cx="11247120" cy="548640"/>
          </a:xfrm>
          <a:prstGeom prst="rect">
            <a:avLst/>
          </a:prstGeom>
          <a:noFill/>
          <a:ln/>
        </p:spPr>
        <p:txBody>
          <a:bodyPr wrap="square" rtlCol="0" anchor="ctr"/>
          <a:lstStyle/>
          <a:p>
            <a:pPr algn="ctr" indent="0" marL="0">
              <a:buNone/>
            </a:pPr>
            <a:r>
              <a:rPr lang="en-US" sz="2200" i="1" dirty="0">
                <a:solidFill>
                  <a:srgbClr val="5A4632"/>
                </a:solidFill>
                <a:latin typeface="Tiro Devanagari Hindi" pitchFamily="34" charset="0"/>
                <a:ea typeface="Tiro Devanagari Hindi" pitchFamily="34" charset="-122"/>
                <a:cs typeface="Tiro Devanagari Hindi" pitchFamily="34" charset="-120"/>
              </a:rPr>
              <a:t>मध्व-सिद्धांत के अनुसार पाठ</a:t>
            </a:r>
            <a:endParaRPr lang="en-US" sz="2200" dirty="0"/>
          </a:p>
        </p:txBody>
      </p:sp>
      <p:sp>
        <p:nvSpPr>
          <p:cNvPr id="4" name="Shape 2"/>
          <p:cNvSpPr/>
          <p:nvPr/>
        </p:nvSpPr>
        <p:spPr>
          <a:xfrm>
            <a:off x="5166360" y="3520440"/>
            <a:ext cx="1828800" cy="18288"/>
          </a:xfrm>
          <a:prstGeom prst="rect">
            <a:avLst/>
          </a:prstGeom>
          <a:solidFill>
            <a:srgbClr val="C9B58A"/>
          </a:solidFill>
          <a:ln w="6350">
            <a:solidFill>
              <a:srgbClr val="C9B58A"/>
            </a:solidFill>
            <a:prstDash val="solid"/>
          </a:ln>
        </p:spPr>
      </p:sp>
      <p:sp>
        <p:nvSpPr>
          <p:cNvPr id="5" name="Text 3"/>
          <p:cNvSpPr/>
          <p:nvPr/>
        </p:nvSpPr>
        <p:spPr>
          <a:xfrm>
            <a:off x="457200" y="3749040"/>
            <a:ext cx="11247120" cy="457200"/>
          </a:xfrm>
          <a:prstGeom prst="rect">
            <a:avLst/>
          </a:prstGeom>
          <a:noFill/>
          <a:ln/>
        </p:spPr>
        <p:txBody>
          <a:bodyPr wrap="square" rtlCol="0" anchor="ctr"/>
          <a:lstStyle/>
          <a:p>
            <a:pPr algn="ctr" indent="0" marL="0">
              <a:buNone/>
            </a:pPr>
            <a:r>
              <a:rPr lang="en-US" sz="1400" dirty="0">
                <a:solidFill>
                  <a:srgbClr val="8A7558"/>
                </a:solidFill>
                <a:latin typeface="Tiro Devanagari Hindi" pitchFamily="34" charset="0"/>
                <a:ea typeface="Tiro Devanagari Hindi" pitchFamily="34" charset="-122"/>
                <a:cs typeface="Tiro Devanagari Hindi" pitchFamily="34" charset="-120"/>
              </a:rPr>
              <a:t>संकल्पना ग्राफ · मध्व</a:t>
            </a:r>
            <a:endParaRPr lang="en-US" sz="1400" dirty="0"/>
          </a:p>
        </p:txBody>
      </p:sp>
      <p:sp>
        <p:nvSpPr>
          <p:cNvPr id="6" name="Text 4"/>
          <p:cNvSpPr/>
          <p:nvPr/>
        </p:nvSpPr>
        <p:spPr>
          <a:xfrm>
            <a:off x="457200" y="6263640"/>
            <a:ext cx="11247120" cy="365760"/>
          </a:xfrm>
          <a:prstGeom prst="rect">
            <a:avLst/>
          </a:prstGeom>
          <a:noFill/>
          <a:ln/>
        </p:spPr>
        <p:txBody>
          <a:bodyPr wrap="square" rtlCol="0" anchor="ctr"/>
          <a:lstStyle/>
          <a:p>
            <a:pPr algn="ctr" indent="0" marL="0">
              <a:buNone/>
            </a:pPr>
            <a:r>
              <a:rPr lang="en-US" sz="1000" dirty="0">
                <a:solidFill>
                  <a:srgbClr val="8A7558"/>
                </a:solidFill>
                <a:latin typeface="Tiro Devanagari Hindi" pitchFamily="34" charset="0"/>
                <a:ea typeface="Tiro Devanagari Hindi" pitchFamily="34" charset="-122"/>
                <a:cs typeface="Tiro Devanagari Hindi" pitchFamily="34" charset="-120"/>
              </a:rPr>
              <a:t>Concept KG · github.com/kvinayakpai/Bhagavadgita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Tiro Devanagari Hindi" pitchFamily="34" charset="0"/>
                <a:ea typeface="Tiro Devanagari Hindi" pitchFamily="34" charset="-122"/>
                <a:cs typeface="Tiro Devanagari Hindi" pitchFamily="34" charset="-120"/>
              </a:rPr>
              <a:t>01</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यह क्यों बनाया गया</a:t>
            </a:r>
            <a:endParaRPr lang="en-US" sz="3000" dirty="0"/>
          </a:p>
        </p:txBody>
      </p:sp>
      <p:sp>
        <p:nvSpPr>
          <p:cNvPr id="4" name="Text 2"/>
          <p:cNvSpPr/>
          <p:nvPr/>
        </p:nvSpPr>
        <p:spPr>
          <a:xfrm>
            <a:off x="548640" y="1600200"/>
            <a:ext cx="10972800" cy="4114800"/>
          </a:xfrm>
          <a:prstGeom prst="rect">
            <a:avLst/>
          </a:prstGeom>
          <a:noFill/>
          <a:ln/>
        </p:spPr>
        <p:txBody>
          <a:bodyPr wrap="square" rtlCol="0" anchor="t"/>
          <a:lstStyle/>
          <a:p>
            <a:pPr algn="l" indent="0" marL="0">
              <a:spcAft>
                <a:spcPts val="800"/>
              </a:spcAft>
              <a:buNone/>
            </a:pPr>
            <a:r>
              <a:rPr lang="en-US" sz="1800" dirty="0">
                <a:solidFill>
                  <a:srgbClr val="3B2A1B"/>
                </a:solidFill>
                <a:latin typeface="Tiro Devanagari Hindi" pitchFamily="34" charset="0"/>
                <a:ea typeface="Tiro Devanagari Hindi" pitchFamily="34" charset="-122"/>
                <a:cs typeface="Tiro Devanagari Hindi" pitchFamily="34" charset="-120"/>
              </a:rPr>
              <a:t>गीता के ७०० श्लोक ब्रह्मांड, धर्म और तत्त्व-विद्या को सैकड़ों संकल्पनाओं में बुनते हैं। एक बार क्रम से पढ़ना तो हो जाता है, परंतु सभी योगों, दोषों, यज्ञों और फलों के बीच की रचनात्मक कड़ियाँ धुंधली पड़ जाती हैं। यह संकल्पना ज्ञान-ग्राफ पूरा जाल खोलकर रखता है — हर संकल्पना एक श्लोक से जुड़ी, हर संबंध वर्गीकृत और चिह्नित, और सबकुछ मध्व-सिद्धांत की दृष्टि से पढ़ा हुआ।</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Tiro Devanagari Hindi" pitchFamily="34" charset="0"/>
                <a:ea typeface="Tiro Devanagari Hindi" pitchFamily="34" charset="-122"/>
                <a:cs typeface="Tiro Devanagari Hindi" pitchFamily="34" charset="-120"/>
              </a:rPr>
              <a:t>02</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बारह स्तर</a:t>
            </a:r>
            <a:endParaRPr lang="en-US" sz="3000" dirty="0"/>
          </a:p>
        </p:txBody>
      </p:sp>
      <p:sp>
        <p:nvSpPr>
          <p:cNvPr id="4" name="Text 2"/>
          <p:cNvSpPr/>
          <p:nvPr/>
        </p:nvSpPr>
        <p:spPr>
          <a:xfrm>
            <a:off x="548640" y="1600200"/>
            <a:ext cx="10972800" cy="1188720"/>
          </a:xfrm>
          <a:prstGeom prst="rect">
            <a:avLst/>
          </a:prstGeom>
          <a:noFill/>
          <a:ln/>
        </p:spPr>
        <p:txBody>
          <a:bodyPr wrap="square" rtlCol="0" anchor="t"/>
          <a:lstStyle/>
          <a:p>
            <a:pPr algn="l" indent="0" marL="0">
              <a:spcAft>
                <a:spcPts val="400"/>
              </a:spcAft>
              <a:buNone/>
            </a:pPr>
            <a:r>
              <a:rPr lang="en-US" sz="1300" i="1" dirty="0">
                <a:solidFill>
                  <a:srgbClr val="5A4632"/>
                </a:solidFill>
                <a:latin typeface="Tiro Devanagari Hindi" pitchFamily="34" charset="0"/>
                <a:ea typeface="Tiro Devanagari Hindi" pitchFamily="34" charset="-122"/>
                <a:cs typeface="Tiro Devanagari Hindi" pitchFamily="34" charset="-120"/>
              </a:rPr>
              <a:t>संकल्पनाओं को बारह तारतम्य-स्तरों में बाँटा गया है — परमार्थ से लेकर प्रतीक तक एक सीढ़ी। हर स्तर एक ही प्रकार की संकल्पनाओं को साथ लाता है। संबंध (is-a, leads-to, antidote-to, arises-from, opposite-of, includes, predicates-on, transforms-into) उन्हें श्लोक-दर-श्लोक उसी ढंग से जोड़ते हैं जैसा गीता स्वयं करती है।</a:t>
            </a:r>
            <a:endParaRPr lang="en-US" sz="1300" dirty="0"/>
          </a:p>
        </p:txBody>
      </p:sp>
      <p:sp>
        <p:nvSpPr>
          <p:cNvPr id="5" name="Shape 3"/>
          <p:cNvSpPr/>
          <p:nvPr/>
        </p:nvSpPr>
        <p:spPr>
          <a:xfrm>
            <a:off x="548640" y="2958084"/>
            <a:ext cx="164592" cy="164592"/>
          </a:xfrm>
          <a:prstGeom prst="ellipse">
            <a:avLst/>
          </a:prstGeom>
          <a:solidFill>
            <a:srgbClr val="8B1E1A"/>
          </a:solidFill>
          <a:ln w="12700">
            <a:solidFill>
              <a:srgbClr val="8B1E1A"/>
            </a:solidFill>
            <a:prstDash val="solid"/>
          </a:ln>
        </p:spPr>
      </p:sp>
      <p:sp>
        <p:nvSpPr>
          <p:cNvPr id="6" name="Text 4"/>
          <p:cNvSpPr/>
          <p:nvPr/>
        </p:nvSpPr>
        <p:spPr>
          <a:xfrm>
            <a:off x="822960" y="2880360"/>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परमार्थ</a:t>
            </a:r>
            <a:endParaRPr lang="en-US" sz="1300" dirty="0"/>
          </a:p>
        </p:txBody>
      </p:sp>
      <p:sp>
        <p:nvSpPr>
          <p:cNvPr id="7" name="Text 5"/>
          <p:cNvSpPr/>
          <p:nvPr/>
        </p:nvSpPr>
        <p:spPr>
          <a:xfrm>
            <a:off x="2514600" y="2880360"/>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Ultimate reality — Hari, the sarvottama</a:t>
            </a:r>
            <a:endParaRPr lang="en-US" sz="1100" dirty="0"/>
          </a:p>
        </p:txBody>
      </p:sp>
      <p:sp>
        <p:nvSpPr>
          <p:cNvPr id="8" name="Shape 6"/>
          <p:cNvSpPr/>
          <p:nvPr/>
        </p:nvSpPr>
        <p:spPr>
          <a:xfrm>
            <a:off x="6263640" y="2958084"/>
            <a:ext cx="164592" cy="164592"/>
          </a:xfrm>
          <a:prstGeom prst="ellipse">
            <a:avLst/>
          </a:prstGeom>
          <a:solidFill>
            <a:srgbClr val="A83F1A"/>
          </a:solidFill>
          <a:ln w="12700">
            <a:solidFill>
              <a:srgbClr val="A83F1A"/>
            </a:solidFill>
            <a:prstDash val="solid"/>
          </a:ln>
        </p:spPr>
      </p:sp>
      <p:sp>
        <p:nvSpPr>
          <p:cNvPr id="9" name="Text 7"/>
          <p:cNvSpPr/>
          <p:nvPr/>
        </p:nvSpPr>
        <p:spPr>
          <a:xfrm>
            <a:off x="6537960" y="2880360"/>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तत्त्व</a:t>
            </a:r>
            <a:endParaRPr lang="en-US" sz="1300" dirty="0"/>
          </a:p>
        </p:txBody>
      </p:sp>
      <p:sp>
        <p:nvSpPr>
          <p:cNvPr id="10" name="Text 8"/>
          <p:cNvSpPr/>
          <p:nvPr/>
        </p:nvSpPr>
        <p:spPr>
          <a:xfrm>
            <a:off x="8229600" y="2880360"/>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Metaphysical categories — jīva, prakṛti, kāla</a:t>
            </a:r>
            <a:endParaRPr lang="en-US" sz="1100" dirty="0"/>
          </a:p>
        </p:txBody>
      </p:sp>
      <p:sp>
        <p:nvSpPr>
          <p:cNvPr id="11" name="Shape 9"/>
          <p:cNvSpPr/>
          <p:nvPr/>
        </p:nvSpPr>
        <p:spPr>
          <a:xfrm>
            <a:off x="548640" y="3287268"/>
            <a:ext cx="164592" cy="164592"/>
          </a:xfrm>
          <a:prstGeom prst="ellipse">
            <a:avLst/>
          </a:prstGeom>
          <a:solidFill>
            <a:srgbClr val="B8702A"/>
          </a:solidFill>
          <a:ln w="12700">
            <a:solidFill>
              <a:srgbClr val="B8702A"/>
            </a:solidFill>
            <a:prstDash val="solid"/>
          </a:ln>
        </p:spPr>
      </p:sp>
      <p:sp>
        <p:nvSpPr>
          <p:cNvPr id="12" name="Text 10"/>
          <p:cNvSpPr/>
          <p:nvPr/>
        </p:nvSpPr>
        <p:spPr>
          <a:xfrm>
            <a:off x="822960" y="3209544"/>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क्षेत्र-क्षेत्रज्ञ</a:t>
            </a:r>
            <a:endParaRPr lang="en-US" sz="1300" dirty="0"/>
          </a:p>
        </p:txBody>
      </p:sp>
      <p:sp>
        <p:nvSpPr>
          <p:cNvPr id="13" name="Text 11"/>
          <p:cNvSpPr/>
          <p:nvPr/>
        </p:nvSpPr>
        <p:spPr>
          <a:xfrm>
            <a:off x="2514600" y="3209544"/>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Field &amp; field-knower — body, knower, 24 elements (Ch 13)</a:t>
            </a:r>
            <a:endParaRPr lang="en-US" sz="1100" dirty="0"/>
          </a:p>
        </p:txBody>
      </p:sp>
      <p:sp>
        <p:nvSpPr>
          <p:cNvPr id="14" name="Shape 12"/>
          <p:cNvSpPr/>
          <p:nvPr/>
        </p:nvSpPr>
        <p:spPr>
          <a:xfrm>
            <a:off x="6263640" y="3287268"/>
            <a:ext cx="164592" cy="164592"/>
          </a:xfrm>
          <a:prstGeom prst="ellipse">
            <a:avLst/>
          </a:prstGeom>
          <a:solidFill>
            <a:srgbClr val="C69E2A"/>
          </a:solidFill>
          <a:ln w="12700">
            <a:solidFill>
              <a:srgbClr val="C69E2A"/>
            </a:solidFill>
            <a:prstDash val="solid"/>
          </a:ln>
        </p:spPr>
      </p:sp>
      <p:sp>
        <p:nvSpPr>
          <p:cNvPr id="15" name="Text 13"/>
          <p:cNvSpPr/>
          <p:nvPr/>
        </p:nvSpPr>
        <p:spPr>
          <a:xfrm>
            <a:off x="6537960" y="3209544"/>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गुण</a:t>
            </a:r>
            <a:endParaRPr lang="en-US" sz="1300" dirty="0"/>
          </a:p>
        </p:txBody>
      </p:sp>
      <p:sp>
        <p:nvSpPr>
          <p:cNvPr id="16" name="Text 14"/>
          <p:cNvSpPr/>
          <p:nvPr/>
        </p:nvSpPr>
        <p:spPr>
          <a:xfrm>
            <a:off x="8229600" y="3209544"/>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The three modes of prakṛti — sattva, rajas, tamas</a:t>
            </a:r>
            <a:endParaRPr lang="en-US" sz="1100" dirty="0"/>
          </a:p>
        </p:txBody>
      </p:sp>
      <p:sp>
        <p:nvSpPr>
          <p:cNvPr id="17" name="Shape 15"/>
          <p:cNvSpPr/>
          <p:nvPr/>
        </p:nvSpPr>
        <p:spPr>
          <a:xfrm>
            <a:off x="548640" y="3616452"/>
            <a:ext cx="164592" cy="164592"/>
          </a:xfrm>
          <a:prstGeom prst="ellipse">
            <a:avLst/>
          </a:prstGeom>
          <a:solidFill>
            <a:srgbClr val="7B8D2E"/>
          </a:solidFill>
          <a:ln w="12700">
            <a:solidFill>
              <a:srgbClr val="7B8D2E"/>
            </a:solidFill>
            <a:prstDash val="solid"/>
          </a:ln>
        </p:spPr>
      </p:sp>
      <p:sp>
        <p:nvSpPr>
          <p:cNvPr id="18" name="Text 16"/>
          <p:cNvSpPr/>
          <p:nvPr/>
        </p:nvSpPr>
        <p:spPr>
          <a:xfrm>
            <a:off x="822960" y="3538728"/>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योग</a:t>
            </a:r>
            <a:endParaRPr lang="en-US" sz="1300" dirty="0"/>
          </a:p>
        </p:txBody>
      </p:sp>
      <p:sp>
        <p:nvSpPr>
          <p:cNvPr id="19" name="Text 17"/>
          <p:cNvSpPr/>
          <p:nvPr/>
        </p:nvSpPr>
        <p:spPr>
          <a:xfrm>
            <a:off x="2514600" y="3538728"/>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Paths — karma, jñāna, bhakti, dhyāna, sannyāsa</a:t>
            </a:r>
            <a:endParaRPr lang="en-US" sz="1100" dirty="0"/>
          </a:p>
        </p:txBody>
      </p:sp>
      <p:sp>
        <p:nvSpPr>
          <p:cNvPr id="20" name="Shape 18"/>
          <p:cNvSpPr/>
          <p:nvPr/>
        </p:nvSpPr>
        <p:spPr>
          <a:xfrm>
            <a:off x="6263640" y="3616452"/>
            <a:ext cx="164592" cy="164592"/>
          </a:xfrm>
          <a:prstGeom prst="ellipse">
            <a:avLst/>
          </a:prstGeom>
          <a:solidFill>
            <a:srgbClr val="3F7A4A"/>
          </a:solidFill>
          <a:ln w="12700">
            <a:solidFill>
              <a:srgbClr val="3F7A4A"/>
            </a:solidFill>
            <a:prstDash val="solid"/>
          </a:ln>
        </p:spPr>
      </p:sp>
      <p:sp>
        <p:nvSpPr>
          <p:cNvPr id="21" name="Text 19"/>
          <p:cNvSpPr/>
          <p:nvPr/>
        </p:nvSpPr>
        <p:spPr>
          <a:xfrm>
            <a:off x="6537960" y="3538728"/>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साधना</a:t>
            </a:r>
            <a:endParaRPr lang="en-US" sz="1300" dirty="0"/>
          </a:p>
        </p:txBody>
      </p:sp>
      <p:sp>
        <p:nvSpPr>
          <p:cNvPr id="22" name="Text 20"/>
          <p:cNvSpPr/>
          <p:nvPr/>
        </p:nvSpPr>
        <p:spPr>
          <a:xfrm>
            <a:off x="8229600" y="3538728"/>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Practices — śraddhā, vairāgya, yajña, tapas, tyāga</a:t>
            </a:r>
            <a:endParaRPr lang="en-US" sz="1100" dirty="0"/>
          </a:p>
        </p:txBody>
      </p:sp>
      <p:sp>
        <p:nvSpPr>
          <p:cNvPr id="23" name="Shape 21"/>
          <p:cNvSpPr/>
          <p:nvPr/>
        </p:nvSpPr>
        <p:spPr>
          <a:xfrm>
            <a:off x="548640" y="3945636"/>
            <a:ext cx="164592" cy="164592"/>
          </a:xfrm>
          <a:prstGeom prst="ellipse">
            <a:avLst/>
          </a:prstGeom>
          <a:solidFill>
            <a:srgbClr val="2F6E7A"/>
          </a:solidFill>
          <a:ln w="12700">
            <a:solidFill>
              <a:srgbClr val="2F6E7A"/>
            </a:solidFill>
            <a:prstDash val="solid"/>
          </a:ln>
        </p:spPr>
      </p:sp>
      <p:sp>
        <p:nvSpPr>
          <p:cNvPr id="24" name="Text 22"/>
          <p:cNvSpPr/>
          <p:nvPr/>
        </p:nvSpPr>
        <p:spPr>
          <a:xfrm>
            <a:off x="822960" y="3867912"/>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अंतःकरण</a:t>
            </a:r>
            <a:endParaRPr lang="en-US" sz="1300" dirty="0"/>
          </a:p>
        </p:txBody>
      </p:sp>
      <p:sp>
        <p:nvSpPr>
          <p:cNvPr id="25" name="Text 23"/>
          <p:cNvSpPr/>
          <p:nvPr/>
        </p:nvSpPr>
        <p:spPr>
          <a:xfrm>
            <a:off x="2514600" y="3867912"/>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Inner instrument — manas, buddhi, ahaṅkāra, indriyas</a:t>
            </a:r>
            <a:endParaRPr lang="en-US" sz="1100" dirty="0"/>
          </a:p>
        </p:txBody>
      </p:sp>
      <p:sp>
        <p:nvSpPr>
          <p:cNvPr id="26" name="Shape 24"/>
          <p:cNvSpPr/>
          <p:nvPr/>
        </p:nvSpPr>
        <p:spPr>
          <a:xfrm>
            <a:off x="6263640" y="3945636"/>
            <a:ext cx="164592" cy="164592"/>
          </a:xfrm>
          <a:prstGeom prst="ellipse">
            <a:avLst/>
          </a:prstGeom>
          <a:solidFill>
            <a:srgbClr val="3A4A7A"/>
          </a:solidFill>
          <a:ln w="12700">
            <a:solidFill>
              <a:srgbClr val="3A4A7A"/>
            </a:solidFill>
            <a:prstDash val="solid"/>
          </a:ln>
        </p:spPr>
      </p:sp>
      <p:sp>
        <p:nvSpPr>
          <p:cNvPr id="27" name="Text 25"/>
          <p:cNvSpPr/>
          <p:nvPr/>
        </p:nvSpPr>
        <p:spPr>
          <a:xfrm>
            <a:off x="6537960" y="3867912"/>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धर्म</a:t>
            </a:r>
            <a:endParaRPr lang="en-US" sz="1300" dirty="0"/>
          </a:p>
        </p:txBody>
      </p:sp>
      <p:sp>
        <p:nvSpPr>
          <p:cNvPr id="28" name="Text 26"/>
          <p:cNvSpPr/>
          <p:nvPr/>
        </p:nvSpPr>
        <p:spPr>
          <a:xfrm>
            <a:off x="8229600" y="3867912"/>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Ethics — svadharma, niṣkāma-karma, sthita-prajña</a:t>
            </a:r>
            <a:endParaRPr lang="en-US" sz="1100" dirty="0"/>
          </a:p>
        </p:txBody>
      </p:sp>
      <p:sp>
        <p:nvSpPr>
          <p:cNvPr id="29" name="Shape 27"/>
          <p:cNvSpPr/>
          <p:nvPr/>
        </p:nvSpPr>
        <p:spPr>
          <a:xfrm>
            <a:off x="548640" y="4274820"/>
            <a:ext cx="164592" cy="164592"/>
          </a:xfrm>
          <a:prstGeom prst="ellipse">
            <a:avLst/>
          </a:prstGeom>
          <a:solidFill>
            <a:srgbClr val="5A3E6A"/>
          </a:solidFill>
          <a:ln w="12700">
            <a:solidFill>
              <a:srgbClr val="5A3E6A"/>
            </a:solidFill>
            <a:prstDash val="solid"/>
          </a:ln>
        </p:spPr>
      </p:sp>
      <p:sp>
        <p:nvSpPr>
          <p:cNvPr id="30" name="Text 28"/>
          <p:cNvSpPr/>
          <p:nvPr/>
        </p:nvSpPr>
        <p:spPr>
          <a:xfrm>
            <a:off x="822960" y="4197096"/>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दोष</a:t>
            </a:r>
            <a:endParaRPr lang="en-US" sz="1300" dirty="0"/>
          </a:p>
        </p:txBody>
      </p:sp>
      <p:sp>
        <p:nvSpPr>
          <p:cNvPr id="31" name="Text 29"/>
          <p:cNvSpPr/>
          <p:nvPr/>
        </p:nvSpPr>
        <p:spPr>
          <a:xfrm>
            <a:off x="2514600" y="4197096"/>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Defects — kāma, krodha, lobha, moha, asat-saṅga</a:t>
            </a:r>
            <a:endParaRPr lang="en-US" sz="1100" dirty="0"/>
          </a:p>
        </p:txBody>
      </p:sp>
      <p:sp>
        <p:nvSpPr>
          <p:cNvPr id="32" name="Shape 30"/>
          <p:cNvSpPr/>
          <p:nvPr/>
        </p:nvSpPr>
        <p:spPr>
          <a:xfrm>
            <a:off x="6263640" y="4274820"/>
            <a:ext cx="164592" cy="164592"/>
          </a:xfrm>
          <a:prstGeom prst="ellipse">
            <a:avLst/>
          </a:prstGeom>
          <a:solidFill>
            <a:srgbClr val="7A1E5A"/>
          </a:solidFill>
          <a:ln w="12700">
            <a:solidFill>
              <a:srgbClr val="7A1E5A"/>
            </a:solidFill>
            <a:prstDash val="solid"/>
          </a:ln>
        </p:spPr>
      </p:sp>
      <p:sp>
        <p:nvSpPr>
          <p:cNvPr id="33" name="Text 31"/>
          <p:cNvSpPr/>
          <p:nvPr/>
        </p:nvSpPr>
        <p:spPr>
          <a:xfrm>
            <a:off x="6537960" y="4197096"/>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फल</a:t>
            </a:r>
            <a:endParaRPr lang="en-US" sz="1300" dirty="0"/>
          </a:p>
        </p:txBody>
      </p:sp>
      <p:sp>
        <p:nvSpPr>
          <p:cNvPr id="34" name="Text 32"/>
          <p:cNvSpPr/>
          <p:nvPr/>
        </p:nvSpPr>
        <p:spPr>
          <a:xfrm>
            <a:off x="8229600" y="4197096"/>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Goals &amp; states — mokṣa, paramagati, brāhmī-sthiti</a:t>
            </a:r>
            <a:endParaRPr lang="en-US" sz="1100" dirty="0"/>
          </a:p>
        </p:txBody>
      </p:sp>
      <p:sp>
        <p:nvSpPr>
          <p:cNvPr id="35" name="Shape 33"/>
          <p:cNvSpPr/>
          <p:nvPr/>
        </p:nvSpPr>
        <p:spPr>
          <a:xfrm>
            <a:off x="548640" y="4604004"/>
            <a:ext cx="164592" cy="164592"/>
          </a:xfrm>
          <a:prstGeom prst="ellipse">
            <a:avLst/>
          </a:prstGeom>
          <a:solidFill>
            <a:srgbClr val="6A2E2E"/>
          </a:solidFill>
          <a:ln w="12700">
            <a:solidFill>
              <a:srgbClr val="6A2E2E"/>
            </a:solidFill>
            <a:prstDash val="solid"/>
          </a:ln>
        </p:spPr>
      </p:sp>
      <p:sp>
        <p:nvSpPr>
          <p:cNvPr id="36" name="Text 34"/>
          <p:cNvSpPr/>
          <p:nvPr/>
        </p:nvSpPr>
        <p:spPr>
          <a:xfrm>
            <a:off x="822960" y="4526280"/>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यज्ञ</a:t>
            </a:r>
            <a:endParaRPr lang="en-US" sz="1300" dirty="0"/>
          </a:p>
        </p:txBody>
      </p:sp>
      <p:sp>
        <p:nvSpPr>
          <p:cNvPr id="37" name="Text 35"/>
          <p:cNvSpPr/>
          <p:nvPr/>
        </p:nvSpPr>
        <p:spPr>
          <a:xfrm>
            <a:off x="2514600" y="4526280"/>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Sacrifice varieties — dravya, tapo, jñāna, svādhyāya</a:t>
            </a:r>
            <a:endParaRPr lang="en-US" sz="1100" dirty="0"/>
          </a:p>
        </p:txBody>
      </p:sp>
      <p:sp>
        <p:nvSpPr>
          <p:cNvPr id="38" name="Shape 36"/>
          <p:cNvSpPr/>
          <p:nvPr/>
        </p:nvSpPr>
        <p:spPr>
          <a:xfrm>
            <a:off x="6263640" y="4604004"/>
            <a:ext cx="164592" cy="164592"/>
          </a:xfrm>
          <a:prstGeom prst="ellipse">
            <a:avLst/>
          </a:prstGeom>
          <a:solidFill>
            <a:srgbClr val="3E3A32"/>
          </a:solidFill>
          <a:ln w="12700">
            <a:solidFill>
              <a:srgbClr val="3E3A32"/>
            </a:solidFill>
            <a:prstDash val="solid"/>
          </a:ln>
        </p:spPr>
      </p:sp>
      <p:sp>
        <p:nvSpPr>
          <p:cNvPr id="39" name="Text 37"/>
          <p:cNvSpPr/>
          <p:nvPr/>
        </p:nvSpPr>
        <p:spPr>
          <a:xfrm>
            <a:off x="6537960" y="4526280"/>
            <a:ext cx="1691640" cy="329184"/>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प्रतीक</a:t>
            </a:r>
            <a:endParaRPr lang="en-US" sz="1300" dirty="0"/>
          </a:p>
        </p:txBody>
      </p:sp>
      <p:sp>
        <p:nvSpPr>
          <p:cNvPr id="40" name="Text 38"/>
          <p:cNvSpPr/>
          <p:nvPr/>
        </p:nvSpPr>
        <p:spPr>
          <a:xfrm>
            <a:off x="8229600" y="4526280"/>
            <a:ext cx="3474720" cy="329184"/>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Symbols &amp; metaphors — aśvattha, ratha, praṇava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B1E1A"/>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परमार्थ</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परम तत्त्व। गीता की सबसे ऊँची संकल्पना कोई निर्विशेष निरपेक्ष नहीं, बल्कि हरि हैं — विष्णु, जो क्षर (नश्वर जीव) और अक्षर (कूटस्थ, लक्ष्मी) दोनों से परे पुरुषोत्तम हैं। कृष्ण पंद्रहवें अध्याय में इसे पुरुषोत्तम-योग के रूप में स्पष्ट करते हैं।</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8B1E1A"/>
          </a:solidFill>
          <a:ln w="12700">
            <a:solidFill>
              <a:srgbClr val="8B1E1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ब्रह्म — परम तत्त्व</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8.3 · 14.27 · 15.18</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मध्व-सिद्धांत में 'ब्रह्म' शब्द केवल विष्णु/नारायण का नाम है — सर्वोत्तम, क्षर और अक्षर से परे पुरुषोत्तम। यह कोई सामान्य 'निरपेक्ष तत्त्व' नहीं है।</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8B1E1A"/>
          </a:solidFill>
          <a:ln w="12700">
            <a:solidFill>
              <a:srgbClr val="8B1E1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परमात्मा — अंतर्यामी</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13.22 · 15.17</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'परम आत्मा' — हर शरीर में साक्षी, भर्ता और नियामक के रूप में स्थित। जीव से अत्यंत भिन्न (गीता १५.१७)।</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8B1E1A"/>
          </a:solidFill>
          <a:ln w="12700">
            <a:solidFill>
              <a:srgbClr val="8B1E1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पुरुषोत्तम — सर्वोच्च पुरुष</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15.18–19</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कृष्ण का स्वयं को क्षर और अक्षर दोनों से परे ‘पुरुषोत्तम’ कहना — पंद्रहवें अध्याय का सार बिंदु।</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8B1E1A"/>
          </a:solidFill>
          <a:ln w="12700">
            <a:solidFill>
              <a:srgbClr val="8B1E1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अक्षर पुरुष — कूटस्थ</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15.16</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कूटस्थ अक्षर — मध्व के अनुसार यह लक्ष्मी हैं, नित्य-मुक्त जीवों की मुख्या। हरि के बाद सर्वोत्तम।</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A83F1A"/>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तत्त्व</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तत्त्व-श्रेणियाँ। आठ अंगों वाली अपरा प्रकृति और जीव-भूत परा प्रकृति — ये वास्तविकता के स्तंभ हैं। काल, कर्म और स्वभाव भी इन्हीं के साथ हैं। मध्व हर श्रेणी को वास्तविक, स्वतंत्र तत्त्व मानते हैं — किसी एक ब्रह्म में नहीं घोलते।</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A83F1A"/>
          </a:solidFill>
          <a:ln w="12700">
            <a:solidFill>
              <a:srgbClr val="A83F1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जीव — देहधारी आत्मा</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15.7</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हरि का नित्य अंश (गीता १५.७) — असली, अलग, अनेक, ब्रह्म में कभी विलीन नहीं। अविद्या से बँधा रहता है, मुक्ति तक।</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A83F1A"/>
          </a:solidFill>
          <a:ln w="12700">
            <a:solidFill>
              <a:srgbClr val="A83F1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प्रकृति — भौतिक प्रकृति</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7.4–5 · 9.10</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हरि की अपनी निम्न प्रकृति — अष्टधा: पृथ्वी, जल, अग्नि, वायु, आकाश, मन, बुद्धि, अहंकार। सब रूपों की कोख।</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A83F1A"/>
          </a:solidFill>
          <a:ln w="12700">
            <a:solidFill>
              <a:srgbClr val="A83F1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स्वभाव — अंतर्निहित प्रकृति</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5.14 · 8.3 · 18.41</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हर जीव की अनादि अंतर्निहित प्रकृति (मध्व में ‘स्वरूप-योग्यता’)। यह वर्ण, सामर्थ्य और अंतिम गति निर्धारित करती है।</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A83F1A"/>
          </a:solidFill>
          <a:ln w="12700">
            <a:solidFill>
              <a:srgbClr val="A83F1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ईश्वर — विधाता</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18.61</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हरि अंतर्यामी रूप में — हर हृदय में बैठकर जीवों को ‘यंत्र पर चढ़े’ की तरह माया द्वारा घुमाते हैं।</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B8702A"/>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क्षेत्र-क्षेत्रज्ञ</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क्षेत्र और क्षेत्रज्ञ। शरीर क्षेत्र है; उसके भीतर का जीव क्षेत्रज्ञ है; और हर शरीर में परम क्षेत्रज्ञ स्वयं कृष्ण विराजते हैं। तेरहवें अध्याय में क्षेत्र के २४ तत्त्व और सात विकार स्पष्ट किए गए हैं।</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B8702A"/>
          </a:solidFill>
          <a:ln w="12700">
            <a:solidFill>
              <a:srgbClr val="B8702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क्षेत्रज्ञ — शरीर का ज्ञाता</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13.2</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क्षेत्र को जानने वाला साक्षी। कृष्ण कहते हैं: ‘क्षेत्रज्ञं चापि मां विद्धि सर्व-क्षेत्रेषु भारत’ — सर्व क्षेत्रों में हरि ही परम क्षेत्रज्ञ।</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B8702A"/>
          </a:solidFill>
          <a:ln w="12700">
            <a:solidFill>
              <a:srgbClr val="B8702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क्षेत्र — शरीर</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13.1 · 13.5–6</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यह शरीर अपने २४ तत्त्वों (महाभूत, अहंकार, बुद्धि, अव्यक्त, इंद्रियाँ, मन, विषय, इच्छा, द्वेष, सुख, दुख आदि) सहित — गीता १३.१–६ में ‘क्षेत्र’ है।</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B8702A"/>
          </a:solidFill>
          <a:ln w="12700">
            <a:solidFill>
              <a:srgbClr val="B8702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पाँच महाभूत</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13.5</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पृथ्वी, जल, अग्नि, वायु, आकाश — २४ क्षेत्र-घटकों में पहले पाँच।</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B8702A"/>
          </a:solidFill>
          <a:ln w="12700">
            <a:solidFill>
              <a:srgbClr val="B8702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अव्यक्त</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13.5 · 8.18</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विकास से पहले की मूल प्रकृति। इसी से महत्, अहंकार और तन्मात्राएँ निकलती हैं।</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C69E2A"/>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गुण</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प्रकृति के तीन गुण — सत्त्व (प्रकाश, ज्ञान), रजस् (राग, क्रिया), तमस् (जड़ता, मोह)। १४, १७, १८वें अध्याय हर कर्म, आहार, यज्ञ और ज्ञान को इन्हीं तीन गुणों में पहचानते हैं। मोक्ष को गुणातीत कहा गया है — तीनों गुणों के पार।</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C69E2A"/>
          </a:solidFill>
          <a:ln w="12700">
            <a:solidFill>
              <a:srgbClr val="C69E2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सत्त्व — प्रकाश का गुण</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14.6 · 14.11</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हल्का, प्रकाशमय, स्वस्थ — जीव को सुख और ज्ञान की आसक्ति से बाँधता है। विद्वानों में प्रमुख।</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C69E2A"/>
          </a:solidFill>
          <a:ln w="12700">
            <a:solidFill>
              <a:srgbClr val="C69E2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रजस् — रागात्मक गुण</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14.7 · 14.12</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लालसा और आसक्ति की प्रकृति का; तृष्णा और संग से उत्पन्न। निरंतर कर्म की प्रेरणा देता है।</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C69E2A"/>
          </a:solidFill>
          <a:ln w="12700">
            <a:solidFill>
              <a:srgbClr val="C69E2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तमस् — अंधकार का गुण</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14.8 · 14.13</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अज्ञान से जन्मा — सब देहधारियों को मोह में डालता है; प्रमाद, आलस्य और नींद से बाँधता है।</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C69E2A"/>
          </a:solidFill>
          <a:ln w="12700">
            <a:solidFill>
              <a:srgbClr val="C69E2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गुणातीत</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14.22–25</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जिसमें आसक्ति से कोई गुण-आवेग नहीं उठता; जो मित्र और शत्रु को समान देखता है; जो सभी प्रयासों को त्याग देता है।</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7B8D2E"/>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योग</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मार्ग। कर्म-योग (निष्काम कर्म), ज्ञान-योग, भक्ति-योग, ध्यान-योग, संन्यास। मध्व के अनुसार भक्ति केवल एक मार्ग नहीं — वह अनिवार्य साधन है और मोक्ष का अंग भी है।</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7B8D2E"/>
          </a:solidFill>
          <a:ln w="12700">
            <a:solidFill>
              <a:srgbClr val="7B8D2E"/>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भक्ति-योग — प्रेम का मार्ग</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9.22 · 11.54 · 18.55</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हरि का प्रेममय ज्ञान, जो अन्य सभी ज्ञानों से ऊपर है। मध्व के अनुसार भक्ति ‘स्थिर-ज्ञान-पूर्विका-प्रेम’ है — मोक्ष का अनिवार्य कारण।</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7B8D2E"/>
          </a:solidFill>
          <a:ln w="12700">
            <a:solidFill>
              <a:srgbClr val="7B8D2E"/>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शरणागति — हरि के प्रति आत्मसमर्पण</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18.66</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‘सर्व-धर्मान् परित्यज्य मामेकं शरणं व्रज’ — समापन-उपदेश। हरि की पूर्ण शरण, जो फिर सब पापों से छुड़ाते हैं।</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7B8D2E"/>
          </a:solidFill>
          <a:ln w="12700">
            <a:solidFill>
              <a:srgbClr val="7B8D2E"/>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कर्म-योग — निष्काम कर्म का मार्ग</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3.3 · 3.19 · 5.2</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अपने कर्तव्य को हरि को अर्पण करते हुए, फल का त्याग करके निभाना। यह वह मार्ग है जो कृष्ण अर्जुन को सबसे अधिक बार सुझाते हैं।</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7B8D2E"/>
          </a:solidFill>
          <a:ln w="12700">
            <a:solidFill>
              <a:srgbClr val="7B8D2E"/>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ज्ञान-योग — विवेक का मार्ग</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3.3 · 4.33–38</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हरि को परम जानना, जीव को उनका अंश मानना, जगत को उनकी निर्भर वास्तविकता समझना। अधिकारी साधक के लिए यही साधन।</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3F7A4A"/>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साधना</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साधनाएँ। श्रद्धा, वैराग्य, अभ्यास, तप, दान, सत्संग, जप, स्मरण, शरणागति। गीता इन्हें अपना कर्तृत्व नहीं मानती — ये भगवान् द्वारा नियत वे माध्यम हैं जिनसे अनुग्रह बहता है।</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3F7A4A"/>
          </a:solidFill>
          <a:ln w="12700">
            <a:solidFill>
              <a:srgbClr val="3F7A4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श्रद्धा</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17.2–3</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श्रद्धा स्वभाव से उठती है; मनुष्य जैसी श्रद्धा रखता है, वैसा ही होता है। गुण के अनुसार तीन — सात्त्विक देवों में, राजसी यक्षों में, तामसी भूतों में।</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3F7A4A"/>
          </a:solidFill>
          <a:ln w="12700">
            <a:solidFill>
              <a:srgbClr val="3F7A4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वैराग्य — अनासक्ति</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6.35 · 13.8–11</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विषयों से अनासक्ति — जीवन का त्याग नहीं, बल्कि बंधन रचने वाले आकर्षणों को ठीक से पहचान लेना।</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3F7A4A"/>
          </a:solidFill>
          <a:ln w="12700">
            <a:solidFill>
              <a:srgbClr val="3F7A4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अभ्यास — पुनः-पुनः साधना</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6.26 · 12.9</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‘समाधि-अभ्यास’ — भटकते मन को बार-बार हरि की ओर वापस लाना।</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3F7A4A"/>
          </a:solidFill>
          <a:ln w="12700">
            <a:solidFill>
              <a:srgbClr val="3F7A4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तपस् — तीन प्रकार का</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17.14–19</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शरीर का तप (पूजा/शुद्धता/ब्रह्मचर्य), वाणी का तप (सत्य/मधुरता/स्वाध्याय), मन का तप (शांति/मौन/आत्म-संयम)। तीनों गुण-भेद से त्रिविध।</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2F6E7A"/>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अंतःकरण</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अंतःकरण। मन, बुद्धि, अहंकार और ग्यारह इंद्रियाँ (ज्ञान + कर्म)। छठे अध्याय में कृष्ण इनके संयम की बात करते हैं और २.६७ में अनियंत्रित इंद्रियों के खतरे को उजागर करते हैं।</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2F6E7A"/>
          </a:solidFill>
          <a:ln w="12700">
            <a:solidFill>
              <a:srgbClr val="2F6E7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अंतर्यामी — हृदय-स्थित हरि</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18.61</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‘ईश्वरः सर्व-भूतानां हृद्-देशे तिष्ठति’ — हरि हर प्राणी के हृदय में स्थित होकर उसे चलाते हैं।</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2F6E7A"/>
          </a:solidFill>
          <a:ln w="12700">
            <a:solidFill>
              <a:srgbClr val="2F6E7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मन — ग्यारहवीं इंद्रिय</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6.34–35 · 3.6–7</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ग्यारहवीं इंद्रिय। चंचल, अशांत, वश में लाना कठिन — पर कृष्ण कहते हैं कि अभ्यास और वैराग्य से इसे जीता जा सकता है।</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2F6E7A"/>
          </a:solidFill>
          <a:ln w="12700">
            <a:solidFill>
              <a:srgbClr val="2F6E7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बुद्धि — विवेक-शक्ति</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18.30–32</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वह शक्ति जो कर्तव्य और अकर्तव्य, करने योग्य और न करने योग्य का विवेक करती है। सात्त्विक बुद्धि प्रवृत्ति और निवृत्ति को जानती है।</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2F6E7A"/>
          </a:solidFill>
          <a:ln w="12700">
            <a:solidFill>
              <a:srgbClr val="2F6E7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अहंकार — मैंपन</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3.27 · 7.4</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कर्ता होने का बोध। ‘कर्ताहम् इति मन्यते’ — जब पुरुष अहंकार से मोहित होता है, तब वह स्वयं को कर्ता मान बैठता है।</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3A4A7A"/>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धर्म</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धर्म। स्वधर्म, निष्काम-कर्म, स्थित-प्रज्ञता, अभय, अहिंसा, सम-दर्शन। मोक्ष के लिए धर्म छोड़ा नहीं जाता — वही मोक्ष का रास्ता है।</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3A4A7A"/>
          </a:solidFill>
          <a:ln w="12700">
            <a:solidFill>
              <a:srgbClr val="3A4A7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स्वधर्म — अपना धर्म</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3.35 · 18.47</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‘अपना धर्म ठीक से न निभाने पर भी पराये धर्म से अच्छा है’ — स्वभाव से उत्पन्न कर्तव्य का पालन।</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3A4A7A"/>
          </a:solidFill>
          <a:ln w="12700">
            <a:solidFill>
              <a:srgbClr val="3A4A7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वर्णाश्रम-धर्म</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4.13 · 18.41–44</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ब्राह्मण, क्षत्रिय, वैश्य, शूद्र — गुण-कर्म-विभाग से उत्पन्न कर्तव्य। मध्व: यह नित्य स्वरूप-योग्यता पर आधारित।</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3A4A7A"/>
          </a:solidFill>
          <a:ln w="12700">
            <a:solidFill>
              <a:srgbClr val="3A4A7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निष्काम कर्म</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2.47 · 4.20</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फल की कामना के बिना किया गया कर्म। गीता की सबसे विशिष्ट नैतिक माँग।</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3A4A7A"/>
          </a:solidFill>
          <a:ln w="12700">
            <a:solidFill>
              <a:srgbClr val="3A4A7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स्थितप्रज्ञ — स्थिर ज्ञान वाला</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2.55–72</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सुख-दुख में उदासीन, आसक्ति, भय और क्रोध से मुक्त; इंद्रियाँ पूरी तरह अंतर्मुख। दूसरे अध्याय का समापन-चित्र।</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5A3E6A"/>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दोष</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दोष। काम, क्रोध, लोभ — नरक के तीन द्वार (१६.२१)। मोह, अहंकार-ममता, असत्-संग, आसुरी-सम्पत्। गीता हर दोष के कारण और प्रतिकार को स्पष्ट करती है।</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5A3E6A"/>
          </a:solidFill>
          <a:ln w="12700">
            <a:solidFill>
              <a:srgbClr val="5A3E6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आसुरी सम्पद् — आसुरी गुण</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16.4 · 16.7–20</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दम्भ, दर्प, अभिमान, क्रोध, कठोरता, अज्ञान — दैवी सम्पद् के विपरीत। बंधन की ओर ले जाती है।</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5A3E6A"/>
          </a:solidFill>
          <a:ln w="12700">
            <a:solidFill>
              <a:srgbClr val="5A3E6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काम — इच्छा</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3.37–39</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‘यह रजोगुण से उत्पन्न, सब कुछ निगलने वाला, महान पापी — इसे ही यहाँ शत्रु जान’ (गीता ३.३७) — कृष्ण काम को प्रमुख शत्रु बताते हैं।</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5A3E6A"/>
          </a:solidFill>
          <a:ln w="12700">
            <a:solidFill>
              <a:srgbClr val="5A3E6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क्रोध</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2.62–63 · 3.37</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काम के विघात (इच्छा के अधूरे रहने) से क्रोध जन्म लेता है; क्रोध से सम्मोह; सम्मोह से स्मृति का भ्रम; और फिर बुद्धि-नाश।</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5A3E6A"/>
          </a:solidFill>
          <a:ln w="12700">
            <a:solidFill>
              <a:srgbClr val="5A3E6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लोभ</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16.21</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काम, क्रोध के साथ — नरक के तीन द्वारों में से एक। मार्ग की दहलीज़ पर ही इसे छोड़ देना है।</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7A1E5A"/>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फल</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फल और अवस्थाएँ। मोक्ष, परमा-गति, ब्राह्मी-स्थिति, चार मुक्ति-श्रेणियाँ (सालोक्य, सामीप्य, सारूप्य, सायुज्य)। मध्व के अनुसार मोक्ष वास्तविक है पर तारतम्य-युक्त है — कोई एकसमान आनंद-मात्र नहीं।</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7A1E5A"/>
          </a:solidFill>
          <a:ln w="12700">
            <a:solidFill>
              <a:srgbClr val="7A1E5A"/>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मोक्ष — मुक्ति</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5.24–26 · 18.66</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संसार से छुटकारा और हरि की नित्य सन्निधि की प्राप्ति। मध्व के अनुसार: मोक्ष की क्रमिक श्रेणियाँ हैं (सालोक्य, सामीप्य, सारूप्य, सायुज्य)।</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7A1E5A"/>
          </a:solidFill>
          <a:ln w="12700">
            <a:solidFill>
              <a:srgbClr val="7A1E5A"/>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सर्व-धर्मान् परित्यज्य — शरण का फल</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18.66</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‘मैं तुझे सब पापों से छुड़ा दूँगा; शोक मत कर’ — गीता १८.६६ पर कृष्ण की प्रतिज्ञा। मध्व के लिए यह गीता का चूड़ांत-श्लोक है।</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7A1E5A"/>
          </a:solidFill>
          <a:ln w="12700">
            <a:solidFill>
              <a:srgbClr val="7A1E5A"/>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सालोक्य — हरि के लोक में सहवास</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8.21 · 15.6</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मोक्ष की पहली श्रेणी: हरि के ही लोक (वैकुंठ) में निवास — पर अभी उनकी सन्निधि में नहीं।</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7A1E5A"/>
          </a:solidFill>
          <a:ln w="12700">
            <a:solidFill>
              <a:srgbClr val="7A1E5A"/>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सामीप्य — हरि के समीप</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11.55</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दूसरी श्रेणी: हरि के अपने धाम में उनकी निकटता। सालोक्य से ऊपर, सारूप्य से नीचे।</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6A2E2E"/>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यज्ञ</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यज्ञ। द्रव्य-यज्ञ, तपो-यज्ञ, ज्ञान-यज्ञ, स्वाध्याय-यज्ञ, प्राणायाम-यज्ञ, इंद्रिय-संयम। चौथे अध्याय में हरि को अर्पित किया गया हर कर्म यज्ञ बन जाता है।</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6A2E2E"/>
          </a:solidFill>
          <a:ln w="12700">
            <a:solidFill>
              <a:srgbClr val="6A2E2E"/>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द्रव्य-यज्ञ — वस्तु का यज्ञ</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4.28</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भौतिक संपत्ति का अर्पण — कृष्ण की गीता ४.२८ की यज्ञ-सूची में पहला।</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6A2E2E"/>
          </a:solidFill>
          <a:ln w="12700">
            <a:solidFill>
              <a:srgbClr val="6A2E2E"/>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तपो-यज्ञ — तप का यज्ञ</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4.28</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अपने तप — शरीर, वाणी और मन का — को पूजा के रूप में अर्पण करना।</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6A2E2E"/>
          </a:solidFill>
          <a:ln w="12700">
            <a:solidFill>
              <a:srgbClr val="6A2E2E"/>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योग-यज्ञ</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4.28–30</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अपनी योग-साधना — प्राण-अपान का संयम, अष्टांग योग — को हरि की उपासना के रूप में अर्पण करना।</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6A2E2E"/>
          </a:solidFill>
          <a:ln w="12700">
            <a:solidFill>
              <a:srgbClr val="6A2E2E"/>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स्वाध्याय-यज्ञ</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4.28</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शास्त्र-पाठ और उससे प्रकट होने वाला ज्ञान दोनों मिलकर — सर्वोच्च वाक्-यज्ञ।</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3E3A32"/>
                </a:solidFill>
                <a:latin typeface="Tiro Devanagari Hindi" pitchFamily="34" charset="0"/>
                <a:ea typeface="Tiro Devanagari Hindi" pitchFamily="34" charset="-122"/>
                <a:cs typeface="Tiro Devanagari Hindi" pitchFamily="34" charset="-120"/>
              </a:rPr>
              <a:t>इस स्तर की कहानी</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प्रतीक</a:t>
            </a:r>
            <a:endParaRPr lang="en-US" sz="3000" dirty="0"/>
          </a:p>
        </p:txBody>
      </p:sp>
      <p:sp>
        <p:nvSpPr>
          <p:cNvPr id="4" name="Text 2"/>
          <p:cNvSpPr/>
          <p:nvPr/>
        </p:nvSpPr>
        <p:spPr>
          <a:xfrm>
            <a:off x="548640" y="1600200"/>
            <a:ext cx="493776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प्रतीक और उपमाएँ। अश्वत्थ (पंद्रहवें अध्याय का उल्टा संसार-वृक्ष), रथ (शरीर-रथ), प्रणव (ॐ), गीता-माहात्म्य, विभूति। प्रतिमा की भाषा जिससे अमूर्त तत्त्व हृदय में प्रवेश करता है।</a:t>
            </a:r>
            <a:endParaRPr lang="en-US" sz="1300" dirty="0"/>
          </a:p>
        </p:txBody>
      </p:sp>
      <p:sp>
        <p:nvSpPr>
          <p:cNvPr id="5" name="Shape 3"/>
          <p:cNvSpPr/>
          <p:nvPr/>
        </p:nvSpPr>
        <p:spPr>
          <a:xfrm>
            <a:off x="5715000" y="1600200"/>
            <a:ext cx="5943600" cy="1078992"/>
          </a:xfrm>
          <a:prstGeom prst="rect">
            <a:avLst/>
          </a:prstGeom>
          <a:solidFill>
            <a:srgbClr val="FBF5E6"/>
          </a:solidFill>
          <a:ln w="6350">
            <a:solidFill>
              <a:srgbClr val="C9B58A"/>
            </a:solidFill>
            <a:prstDash val="solid"/>
          </a:ln>
        </p:spPr>
      </p:sp>
      <p:sp>
        <p:nvSpPr>
          <p:cNvPr id="6" name="Shape 4"/>
          <p:cNvSpPr/>
          <p:nvPr/>
        </p:nvSpPr>
        <p:spPr>
          <a:xfrm>
            <a:off x="5715000" y="1600200"/>
            <a:ext cx="73152" cy="1078992"/>
          </a:xfrm>
          <a:prstGeom prst="rect">
            <a:avLst/>
          </a:prstGeom>
          <a:solidFill>
            <a:srgbClr val="3E3A32"/>
          </a:solidFill>
          <a:ln w="12700">
            <a:solidFill>
              <a:srgbClr val="3E3A32"/>
            </a:solidFill>
            <a:prstDash val="solid"/>
          </a:ln>
        </p:spPr>
      </p:sp>
      <p:sp>
        <p:nvSpPr>
          <p:cNvPr id="7" name="Text 5"/>
          <p:cNvSpPr/>
          <p:nvPr/>
        </p:nvSpPr>
        <p:spPr>
          <a:xfrm>
            <a:off x="5897880" y="165506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अश्वत्थ — उल्टा पीपल</a:t>
            </a:r>
            <a:endParaRPr lang="en-US" sz="1300" dirty="0"/>
          </a:p>
        </p:txBody>
      </p:sp>
      <p:sp>
        <p:nvSpPr>
          <p:cNvPr id="8" name="Text 6"/>
          <p:cNvSpPr/>
          <p:nvPr/>
        </p:nvSpPr>
        <p:spPr>
          <a:xfrm>
            <a:off x="10515600" y="165506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15.1–3</a:t>
            </a:r>
            <a:endParaRPr lang="en-US" sz="950" dirty="0"/>
          </a:p>
        </p:txBody>
      </p:sp>
      <p:sp>
        <p:nvSpPr>
          <p:cNvPr id="9" name="Text 7"/>
          <p:cNvSpPr/>
          <p:nvPr/>
        </p:nvSpPr>
        <p:spPr>
          <a:xfrm>
            <a:off x="5897880" y="192938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जड़ें ऊपर (हरि), शाखाएँ नीचे (लोक); गुणों से पोषित, इंद्रिय-विषयों के पत्ते उगाता। इसे अनासक्ति के कुठार से काटो।</a:t>
            </a:r>
            <a:endParaRPr lang="en-US" sz="1050" dirty="0"/>
          </a:p>
        </p:txBody>
      </p:sp>
      <p:sp>
        <p:nvSpPr>
          <p:cNvPr id="10" name="Shape 8"/>
          <p:cNvSpPr/>
          <p:nvPr/>
        </p:nvSpPr>
        <p:spPr>
          <a:xfrm>
            <a:off x="5715000" y="2788920"/>
            <a:ext cx="5943600" cy="1078992"/>
          </a:xfrm>
          <a:prstGeom prst="rect">
            <a:avLst/>
          </a:prstGeom>
          <a:solidFill>
            <a:srgbClr val="FBF5E6"/>
          </a:solidFill>
          <a:ln w="6350">
            <a:solidFill>
              <a:srgbClr val="C9B58A"/>
            </a:solidFill>
            <a:prstDash val="solid"/>
          </a:ln>
        </p:spPr>
      </p:sp>
      <p:sp>
        <p:nvSpPr>
          <p:cNvPr id="11" name="Shape 9"/>
          <p:cNvSpPr/>
          <p:nvPr/>
        </p:nvSpPr>
        <p:spPr>
          <a:xfrm>
            <a:off x="5715000" y="2788920"/>
            <a:ext cx="73152" cy="1078992"/>
          </a:xfrm>
          <a:prstGeom prst="rect">
            <a:avLst/>
          </a:prstGeom>
          <a:solidFill>
            <a:srgbClr val="3E3A32"/>
          </a:solidFill>
          <a:ln w="12700">
            <a:solidFill>
              <a:srgbClr val="3E3A32"/>
            </a:solidFill>
            <a:prstDash val="solid"/>
          </a:ln>
        </p:spPr>
      </p:sp>
      <p:sp>
        <p:nvSpPr>
          <p:cNvPr id="12" name="Text 10"/>
          <p:cNvSpPr/>
          <p:nvPr/>
        </p:nvSpPr>
        <p:spPr>
          <a:xfrm>
            <a:off x="5897880" y="284378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रथ-रूपक — रथ का दृष्टांत</a:t>
            </a:r>
            <a:endParaRPr lang="en-US" sz="1300" dirty="0"/>
          </a:p>
        </p:txBody>
      </p:sp>
      <p:sp>
        <p:nvSpPr>
          <p:cNvPr id="13" name="Text 11"/>
          <p:cNvSpPr/>
          <p:nvPr/>
        </p:nvSpPr>
        <p:spPr>
          <a:xfrm>
            <a:off x="10515600" y="284378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1.21–25 · 18.78</a:t>
            </a:r>
            <a:endParaRPr lang="en-US" sz="950" dirty="0"/>
          </a:p>
        </p:txBody>
      </p:sp>
      <p:sp>
        <p:nvSpPr>
          <p:cNvPr id="14" name="Text 12"/>
          <p:cNvSpPr/>
          <p:nvPr/>
        </p:nvSpPr>
        <p:spPr>
          <a:xfrm>
            <a:off x="5897880" y="311810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गीता के १–२ अध्याय में अनुक्त रूप से उपस्थित: कृष्ण सारथी, अर्जुन रथी। कठ उपनिषद् के रथ-रूपक की प्रतिध्वनि।</a:t>
            </a:r>
            <a:endParaRPr lang="en-US" sz="1050" dirty="0"/>
          </a:p>
        </p:txBody>
      </p:sp>
      <p:sp>
        <p:nvSpPr>
          <p:cNvPr id="15" name="Shape 13"/>
          <p:cNvSpPr/>
          <p:nvPr/>
        </p:nvSpPr>
        <p:spPr>
          <a:xfrm>
            <a:off x="5715000" y="3977640"/>
            <a:ext cx="5943600" cy="1078992"/>
          </a:xfrm>
          <a:prstGeom prst="rect">
            <a:avLst/>
          </a:prstGeom>
          <a:solidFill>
            <a:srgbClr val="FBF5E6"/>
          </a:solidFill>
          <a:ln w="6350">
            <a:solidFill>
              <a:srgbClr val="C9B58A"/>
            </a:solidFill>
            <a:prstDash val="solid"/>
          </a:ln>
        </p:spPr>
      </p:sp>
      <p:sp>
        <p:nvSpPr>
          <p:cNvPr id="16" name="Shape 14"/>
          <p:cNvSpPr/>
          <p:nvPr/>
        </p:nvSpPr>
        <p:spPr>
          <a:xfrm>
            <a:off x="5715000" y="3977640"/>
            <a:ext cx="73152" cy="1078992"/>
          </a:xfrm>
          <a:prstGeom prst="rect">
            <a:avLst/>
          </a:prstGeom>
          <a:solidFill>
            <a:srgbClr val="3E3A32"/>
          </a:solidFill>
          <a:ln w="12700">
            <a:solidFill>
              <a:srgbClr val="3E3A32"/>
            </a:solidFill>
            <a:prstDash val="solid"/>
          </a:ln>
        </p:spPr>
      </p:sp>
      <p:sp>
        <p:nvSpPr>
          <p:cNvPr id="17" name="Text 15"/>
          <p:cNvSpPr/>
          <p:nvPr/>
        </p:nvSpPr>
        <p:spPr>
          <a:xfrm>
            <a:off x="5897880" y="403250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प्रणव ओम्</a:t>
            </a:r>
            <a:endParaRPr lang="en-US" sz="1300" dirty="0"/>
          </a:p>
        </p:txBody>
      </p:sp>
      <p:sp>
        <p:nvSpPr>
          <p:cNvPr id="18" name="Text 16"/>
          <p:cNvSpPr/>
          <p:nvPr/>
        </p:nvSpPr>
        <p:spPr>
          <a:xfrm>
            <a:off x="10515600" y="403250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8.13 · 17.23</a:t>
            </a:r>
            <a:endParaRPr lang="en-US" sz="950" dirty="0"/>
          </a:p>
        </p:txBody>
      </p:sp>
      <p:sp>
        <p:nvSpPr>
          <p:cNvPr id="19" name="Text 17"/>
          <p:cNvSpPr/>
          <p:nvPr/>
        </p:nvSpPr>
        <p:spPr>
          <a:xfrm>
            <a:off x="5897880" y="430682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‘ओम् इत्येकाक्षरं ब्रह्म’ — मृत्यु के क्षण में ‘ओम्’ का उच्चारण और हरि का स्मरण करने वाला परम पद को पाता है।</a:t>
            </a:r>
            <a:endParaRPr lang="en-US" sz="1050" dirty="0"/>
          </a:p>
        </p:txBody>
      </p:sp>
      <p:sp>
        <p:nvSpPr>
          <p:cNvPr id="20" name="Shape 18"/>
          <p:cNvSpPr/>
          <p:nvPr/>
        </p:nvSpPr>
        <p:spPr>
          <a:xfrm>
            <a:off x="5715000" y="5166360"/>
            <a:ext cx="5943600" cy="1078992"/>
          </a:xfrm>
          <a:prstGeom prst="rect">
            <a:avLst/>
          </a:prstGeom>
          <a:solidFill>
            <a:srgbClr val="FBF5E6"/>
          </a:solidFill>
          <a:ln w="6350">
            <a:solidFill>
              <a:srgbClr val="C9B58A"/>
            </a:solidFill>
            <a:prstDash val="solid"/>
          </a:ln>
        </p:spPr>
      </p:sp>
      <p:sp>
        <p:nvSpPr>
          <p:cNvPr id="21" name="Shape 19"/>
          <p:cNvSpPr/>
          <p:nvPr/>
        </p:nvSpPr>
        <p:spPr>
          <a:xfrm>
            <a:off x="5715000" y="5166360"/>
            <a:ext cx="73152" cy="1078992"/>
          </a:xfrm>
          <a:prstGeom prst="rect">
            <a:avLst/>
          </a:prstGeom>
          <a:solidFill>
            <a:srgbClr val="3E3A32"/>
          </a:solidFill>
          <a:ln w="12700">
            <a:solidFill>
              <a:srgbClr val="3E3A32"/>
            </a:solidFill>
            <a:prstDash val="solid"/>
          </a:ln>
        </p:spPr>
      </p:sp>
      <p:sp>
        <p:nvSpPr>
          <p:cNvPr id="22" name="Text 20"/>
          <p:cNvSpPr/>
          <p:nvPr/>
        </p:nvSpPr>
        <p:spPr>
          <a:xfrm>
            <a:off x="5897880" y="5221224"/>
            <a:ext cx="4572000" cy="292608"/>
          </a:xfrm>
          <a:prstGeom prst="rect">
            <a:avLst/>
          </a:prstGeom>
          <a:noFill/>
          <a:ln/>
        </p:spPr>
        <p:txBody>
          <a:bodyPr wrap="square" lIns="0" tIns="0" rIns="0" bIns="0" rtlCol="0" anchor="ctr"/>
          <a:lstStyle/>
          <a:p>
            <a:pPr indent="0" marL="0">
              <a:buNone/>
            </a:pPr>
            <a:r>
              <a:rPr lang="en-US" sz="1300" b="1" dirty="0">
                <a:solidFill>
                  <a:srgbClr val="3B2A1B"/>
                </a:solidFill>
                <a:latin typeface="Tiro Devanagari Hindi" pitchFamily="34" charset="0"/>
                <a:ea typeface="Tiro Devanagari Hindi" pitchFamily="34" charset="-122"/>
                <a:cs typeface="Tiro Devanagari Hindi" pitchFamily="34" charset="-120"/>
              </a:rPr>
              <a:t>अक्षरों में अ</a:t>
            </a:r>
            <a:endParaRPr lang="en-US" sz="1300" dirty="0"/>
          </a:p>
        </p:txBody>
      </p:sp>
      <p:sp>
        <p:nvSpPr>
          <p:cNvPr id="23" name="Text 21"/>
          <p:cNvSpPr/>
          <p:nvPr/>
        </p:nvSpPr>
        <p:spPr>
          <a:xfrm>
            <a:off x="10515600" y="5221224"/>
            <a:ext cx="1097280" cy="292608"/>
          </a:xfrm>
          <a:prstGeom prst="rect">
            <a:avLst/>
          </a:prstGeom>
          <a:noFill/>
          <a:ln/>
        </p:spPr>
        <p:txBody>
          <a:bodyPr wrap="square" lIns="0" tIns="0" rIns="0" bIns="0" rtlCol="0" anchor="ctr"/>
          <a:lstStyle/>
          <a:p>
            <a:pPr algn="r" indent="0" marL="0">
              <a:buNone/>
            </a:pPr>
            <a:r>
              <a:rPr lang="en-US" sz="950" i="1" dirty="0">
                <a:solidFill>
                  <a:srgbClr val="8A7558"/>
                </a:solidFill>
                <a:latin typeface="Cormorant Garamond" pitchFamily="34" charset="0"/>
                <a:ea typeface="Cormorant Garamond" pitchFamily="34" charset="-122"/>
                <a:cs typeface="Cormorant Garamond" pitchFamily="34" charset="-120"/>
              </a:rPr>
              <a:t>BG 10.33</a:t>
            </a:r>
            <a:endParaRPr lang="en-US" sz="950" dirty="0"/>
          </a:p>
        </p:txBody>
      </p:sp>
      <p:sp>
        <p:nvSpPr>
          <p:cNvPr id="24" name="Text 22"/>
          <p:cNvSpPr/>
          <p:nvPr/>
        </p:nvSpPr>
        <p:spPr>
          <a:xfrm>
            <a:off x="5897880" y="5495544"/>
            <a:ext cx="5669280" cy="694944"/>
          </a:xfrm>
          <a:prstGeom prst="rect">
            <a:avLst/>
          </a:prstGeom>
          <a:noFill/>
          <a:ln/>
        </p:spPr>
        <p:txBody>
          <a:bodyPr wrap="square" lIns="0" tIns="0" rIns="0" bIns="0" rtlCol="0" anchor="t"/>
          <a:lstStyle/>
          <a:p>
            <a:pPr algn="l" indent="0" marL="0">
              <a:spcAft>
                <a:spcPts val="200"/>
              </a:spcAft>
              <a:buNone/>
            </a:pPr>
            <a:r>
              <a:rPr lang="en-US" sz="1050" dirty="0">
                <a:solidFill>
                  <a:srgbClr val="5A4632"/>
                </a:solidFill>
                <a:latin typeface="Tiro Devanagari Hindi" pitchFamily="34" charset="0"/>
                <a:ea typeface="Tiro Devanagari Hindi" pitchFamily="34" charset="-122"/>
                <a:cs typeface="Tiro Devanagari Hindi" pitchFamily="34" charset="-120"/>
              </a:rPr>
              <a:t>‘अक्षरों में मैं अ हूँ’ — सब वर्णों का स्रोत; समासों में द्वंद्व सबसे श्रेष्ठ।</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Tiro Devanagari Hindi" pitchFamily="34" charset="0"/>
                <a:ea typeface="Tiro Devanagari Hindi" pitchFamily="34" charset="-122"/>
                <a:cs typeface="Tiro Devanagari Hindi" pitchFamily="34" charset="-120"/>
              </a:rPr>
              <a:t>15</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संबंधों की शब्दावली</a:t>
            </a:r>
            <a:endParaRPr lang="en-US" sz="3000" dirty="0"/>
          </a:p>
        </p:txBody>
      </p:sp>
      <p:sp>
        <p:nvSpPr>
          <p:cNvPr id="4" name="Text 2"/>
          <p:cNvSpPr/>
          <p:nvPr/>
        </p:nvSpPr>
        <p:spPr>
          <a:xfrm>
            <a:off x="548640" y="1600200"/>
            <a:ext cx="10972800" cy="502920"/>
          </a:xfrm>
          <a:prstGeom prst="rect">
            <a:avLst/>
          </a:prstGeom>
          <a:noFill/>
          <a:ln/>
        </p:spPr>
        <p:txBody>
          <a:bodyPr wrap="square" lIns="0" tIns="0" rIns="0" bIns="0" rtlCol="0" anchor="t"/>
          <a:lstStyle/>
          <a:p>
            <a:pPr algn="l" indent="0" marL="0">
              <a:buNone/>
            </a:pPr>
            <a:r>
              <a:rPr lang="en-US" sz="1400" i="1" dirty="0">
                <a:solidFill>
                  <a:srgbClr val="5A4632"/>
                </a:solidFill>
                <a:latin typeface="Tiro Devanagari Hindi" pitchFamily="34" charset="0"/>
                <a:ea typeface="Tiro Devanagari Hindi" pitchFamily="34" charset="-122"/>
                <a:cs typeface="Tiro Devanagari Hindi" pitchFamily="34" charset="-120"/>
              </a:rPr>
              <a:t>आठ वर्गीकृत संबंध गीता-विचार की रचना को थामे रखते हैं —</a:t>
            </a:r>
            <a:endParaRPr lang="en-US" sz="1400" dirty="0"/>
          </a:p>
        </p:txBody>
      </p:sp>
      <p:sp>
        <p:nvSpPr>
          <p:cNvPr id="5" name="Shape 3"/>
          <p:cNvSpPr/>
          <p:nvPr/>
        </p:nvSpPr>
        <p:spPr>
          <a:xfrm>
            <a:off x="548640" y="2350008"/>
            <a:ext cx="201168" cy="201168"/>
          </a:xfrm>
          <a:prstGeom prst="rect">
            <a:avLst/>
          </a:prstGeom>
          <a:solidFill>
            <a:srgbClr val="8B6914"/>
          </a:solidFill>
          <a:ln w="12700">
            <a:solidFill>
              <a:srgbClr val="8B6914"/>
            </a:solidFill>
            <a:prstDash val="solid"/>
          </a:ln>
        </p:spPr>
      </p:sp>
      <p:sp>
        <p:nvSpPr>
          <p:cNvPr id="6" name="Text 4"/>
          <p:cNvSpPr/>
          <p:nvPr/>
        </p:nvSpPr>
        <p:spPr>
          <a:xfrm>
            <a:off x="914400" y="22402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Tiro Devanagari Hindi" pitchFamily="34" charset="0"/>
                <a:ea typeface="Tiro Devanagari Hindi" pitchFamily="34" charset="-122"/>
                <a:cs typeface="Tiro Devanagari Hindi" pitchFamily="34" charset="-120"/>
              </a:rPr>
              <a:t>is-a — एक विषय / सदस्यता · ब्रह्म = परमात्मा</a:t>
            </a:r>
            <a:endParaRPr lang="en-US" sz="1250" dirty="0"/>
          </a:p>
        </p:txBody>
      </p:sp>
      <p:sp>
        <p:nvSpPr>
          <p:cNvPr id="7" name="Shape 5"/>
          <p:cNvSpPr/>
          <p:nvPr/>
        </p:nvSpPr>
        <p:spPr>
          <a:xfrm>
            <a:off x="6263640" y="2350008"/>
            <a:ext cx="201168" cy="201168"/>
          </a:xfrm>
          <a:prstGeom prst="rect">
            <a:avLst/>
          </a:prstGeom>
          <a:solidFill>
            <a:srgbClr val="3F7A4A"/>
          </a:solidFill>
          <a:ln w="12700">
            <a:solidFill>
              <a:srgbClr val="3F7A4A"/>
            </a:solidFill>
            <a:prstDash val="solid"/>
          </a:ln>
        </p:spPr>
      </p:sp>
      <p:sp>
        <p:nvSpPr>
          <p:cNvPr id="8" name="Text 6"/>
          <p:cNvSpPr/>
          <p:nvPr/>
        </p:nvSpPr>
        <p:spPr>
          <a:xfrm>
            <a:off x="6629400" y="22402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Tiro Devanagari Hindi" pitchFamily="34" charset="0"/>
                <a:ea typeface="Tiro Devanagari Hindi" pitchFamily="34" charset="-122"/>
                <a:cs typeface="Tiro Devanagari Hindi" pitchFamily="34" charset="-120"/>
              </a:rPr>
              <a:t>leads-to — साधन → फल · कर्मयोग → चित्त-शुद्धि</a:t>
            </a:r>
            <a:endParaRPr lang="en-US" sz="1250" dirty="0"/>
          </a:p>
        </p:txBody>
      </p:sp>
      <p:sp>
        <p:nvSpPr>
          <p:cNvPr id="9" name="Shape 7"/>
          <p:cNvSpPr/>
          <p:nvPr/>
        </p:nvSpPr>
        <p:spPr>
          <a:xfrm>
            <a:off x="548640" y="2807208"/>
            <a:ext cx="201168" cy="201168"/>
          </a:xfrm>
          <a:prstGeom prst="rect">
            <a:avLst/>
          </a:prstGeom>
          <a:solidFill>
            <a:srgbClr val="7B8D2E"/>
          </a:solidFill>
          <a:ln w="12700">
            <a:solidFill>
              <a:srgbClr val="7B8D2E"/>
            </a:solidFill>
            <a:prstDash val="solid"/>
          </a:ln>
        </p:spPr>
      </p:sp>
      <p:sp>
        <p:nvSpPr>
          <p:cNvPr id="10" name="Text 8"/>
          <p:cNvSpPr/>
          <p:nvPr/>
        </p:nvSpPr>
        <p:spPr>
          <a:xfrm>
            <a:off x="914400" y="26974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Tiro Devanagari Hindi" pitchFamily="34" charset="0"/>
                <a:ea typeface="Tiro Devanagari Hindi" pitchFamily="34" charset="-122"/>
                <a:cs typeface="Tiro Devanagari Hindi" pitchFamily="34" charset="-120"/>
              </a:rPr>
              <a:t>antidote-to — दोष का प्रतिकार · ज्ञान → अज्ञान</a:t>
            </a:r>
            <a:endParaRPr lang="en-US" sz="1250" dirty="0"/>
          </a:p>
        </p:txBody>
      </p:sp>
      <p:sp>
        <p:nvSpPr>
          <p:cNvPr id="11" name="Shape 9"/>
          <p:cNvSpPr/>
          <p:nvPr/>
        </p:nvSpPr>
        <p:spPr>
          <a:xfrm>
            <a:off x="6263640" y="2807208"/>
            <a:ext cx="201168" cy="201168"/>
          </a:xfrm>
          <a:prstGeom prst="rect">
            <a:avLst/>
          </a:prstGeom>
          <a:solidFill>
            <a:srgbClr val="B85042"/>
          </a:solidFill>
          <a:ln w="12700">
            <a:solidFill>
              <a:srgbClr val="B85042"/>
            </a:solidFill>
            <a:prstDash val="solid"/>
          </a:ln>
        </p:spPr>
      </p:sp>
      <p:sp>
        <p:nvSpPr>
          <p:cNvPr id="12" name="Text 10"/>
          <p:cNvSpPr/>
          <p:nvPr/>
        </p:nvSpPr>
        <p:spPr>
          <a:xfrm>
            <a:off x="6629400" y="26974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Tiro Devanagari Hindi" pitchFamily="34" charset="0"/>
                <a:ea typeface="Tiro Devanagari Hindi" pitchFamily="34" charset="-122"/>
                <a:cs typeface="Tiro Devanagari Hindi" pitchFamily="34" charset="-120"/>
              </a:rPr>
              <a:t>arises-from — कारण से उत्पन्न · क्रोध ← काम से</a:t>
            </a:r>
            <a:endParaRPr lang="en-US" sz="1250" dirty="0"/>
          </a:p>
        </p:txBody>
      </p:sp>
      <p:sp>
        <p:nvSpPr>
          <p:cNvPr id="13" name="Shape 11"/>
          <p:cNvSpPr/>
          <p:nvPr/>
        </p:nvSpPr>
        <p:spPr>
          <a:xfrm>
            <a:off x="548640" y="3264408"/>
            <a:ext cx="201168" cy="201168"/>
          </a:xfrm>
          <a:prstGeom prst="rect">
            <a:avLst/>
          </a:prstGeom>
          <a:solidFill>
            <a:srgbClr val="5A3E6A"/>
          </a:solidFill>
          <a:ln w="12700">
            <a:solidFill>
              <a:srgbClr val="5A3E6A"/>
            </a:solidFill>
            <a:prstDash val="solid"/>
          </a:ln>
        </p:spPr>
      </p:sp>
      <p:sp>
        <p:nvSpPr>
          <p:cNvPr id="14" name="Text 12"/>
          <p:cNvSpPr/>
          <p:nvPr/>
        </p:nvSpPr>
        <p:spPr>
          <a:xfrm>
            <a:off x="914400" y="31546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Tiro Devanagari Hindi" pitchFamily="34" charset="0"/>
                <a:ea typeface="Tiro Devanagari Hindi" pitchFamily="34" charset="-122"/>
                <a:cs typeface="Tiro Devanagari Hindi" pitchFamily="34" charset="-120"/>
              </a:rPr>
              <a:t>opposite-of — विपरीत जोड़ी · सत्त्व ↔ तमस्</a:t>
            </a:r>
            <a:endParaRPr lang="en-US" sz="1250" dirty="0"/>
          </a:p>
        </p:txBody>
      </p:sp>
      <p:sp>
        <p:nvSpPr>
          <p:cNvPr id="15" name="Shape 13"/>
          <p:cNvSpPr/>
          <p:nvPr/>
        </p:nvSpPr>
        <p:spPr>
          <a:xfrm>
            <a:off x="6263640" y="3264408"/>
            <a:ext cx="201168" cy="201168"/>
          </a:xfrm>
          <a:prstGeom prst="rect">
            <a:avLst/>
          </a:prstGeom>
          <a:solidFill>
            <a:srgbClr val="2F6E7A"/>
          </a:solidFill>
          <a:ln w="12700">
            <a:solidFill>
              <a:srgbClr val="2F6E7A"/>
            </a:solidFill>
            <a:prstDash val="solid"/>
          </a:ln>
        </p:spPr>
      </p:sp>
      <p:sp>
        <p:nvSpPr>
          <p:cNvPr id="16" name="Text 14"/>
          <p:cNvSpPr/>
          <p:nvPr/>
        </p:nvSpPr>
        <p:spPr>
          <a:xfrm>
            <a:off x="6629400" y="31546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Tiro Devanagari Hindi" pitchFamily="34" charset="0"/>
                <a:ea typeface="Tiro Devanagari Hindi" pitchFamily="34" charset="-122"/>
                <a:cs typeface="Tiro Devanagari Hindi" pitchFamily="34" charset="-120"/>
              </a:rPr>
              <a:t>includes — अंग-समावेश · क्षेत्र → महाभूत</a:t>
            </a:r>
            <a:endParaRPr lang="en-US" sz="1250" dirty="0"/>
          </a:p>
        </p:txBody>
      </p:sp>
      <p:sp>
        <p:nvSpPr>
          <p:cNvPr id="17" name="Shape 15"/>
          <p:cNvSpPr/>
          <p:nvPr/>
        </p:nvSpPr>
        <p:spPr>
          <a:xfrm>
            <a:off x="548640" y="3721608"/>
            <a:ext cx="201168" cy="201168"/>
          </a:xfrm>
          <a:prstGeom prst="rect">
            <a:avLst/>
          </a:prstGeom>
          <a:solidFill>
            <a:srgbClr val="3A4A7A"/>
          </a:solidFill>
          <a:ln w="12700">
            <a:solidFill>
              <a:srgbClr val="3A4A7A"/>
            </a:solidFill>
            <a:prstDash val="solid"/>
          </a:ln>
        </p:spPr>
      </p:sp>
      <p:sp>
        <p:nvSpPr>
          <p:cNvPr id="18" name="Text 16"/>
          <p:cNvSpPr/>
          <p:nvPr/>
        </p:nvSpPr>
        <p:spPr>
          <a:xfrm>
            <a:off x="914400" y="36118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Tiro Devanagari Hindi" pitchFamily="34" charset="0"/>
                <a:ea typeface="Tiro Devanagari Hindi" pitchFamily="34" charset="-122"/>
                <a:cs typeface="Tiro Devanagari Hindi" pitchFamily="34" charset="-120"/>
              </a:rPr>
              <a:t>predicates-on — आश्रित · क्षेत्रज्ञ ← क्षेत्र</a:t>
            </a:r>
            <a:endParaRPr lang="en-US" sz="1250" dirty="0"/>
          </a:p>
        </p:txBody>
      </p:sp>
      <p:sp>
        <p:nvSpPr>
          <p:cNvPr id="19" name="Shape 17"/>
          <p:cNvSpPr/>
          <p:nvPr/>
        </p:nvSpPr>
        <p:spPr>
          <a:xfrm>
            <a:off x="6263640" y="3721608"/>
            <a:ext cx="201168" cy="201168"/>
          </a:xfrm>
          <a:prstGeom prst="rect">
            <a:avLst/>
          </a:prstGeom>
          <a:solidFill>
            <a:srgbClr val="C69E2A"/>
          </a:solidFill>
          <a:ln w="12700">
            <a:solidFill>
              <a:srgbClr val="C69E2A"/>
            </a:solidFill>
            <a:prstDash val="solid"/>
          </a:ln>
        </p:spPr>
      </p:sp>
      <p:sp>
        <p:nvSpPr>
          <p:cNvPr id="20" name="Text 18"/>
          <p:cNvSpPr/>
          <p:nvPr/>
        </p:nvSpPr>
        <p:spPr>
          <a:xfrm>
            <a:off x="6629400" y="3611880"/>
            <a:ext cx="5074920" cy="457200"/>
          </a:xfrm>
          <a:prstGeom prst="rect">
            <a:avLst/>
          </a:prstGeom>
          <a:noFill/>
          <a:ln/>
        </p:spPr>
        <p:txBody>
          <a:bodyPr wrap="square" lIns="0" tIns="0" rIns="0" bIns="0" rtlCol="0" anchor="ctr"/>
          <a:lstStyle/>
          <a:p>
            <a:pPr indent="0" marL="0">
              <a:buNone/>
            </a:pPr>
            <a:r>
              <a:rPr lang="en-US" sz="1250" dirty="0">
                <a:solidFill>
                  <a:srgbClr val="3B2A1B"/>
                </a:solidFill>
                <a:latin typeface="Tiro Devanagari Hindi" pitchFamily="34" charset="0"/>
                <a:ea typeface="Tiro Devanagari Hindi" pitchFamily="34" charset="-122"/>
                <a:cs typeface="Tiro Devanagari Hindi" pitchFamily="34" charset="-120"/>
              </a:rPr>
              <a:t>transforms-into — रूपांतर · सत्त्व → सात्त्विक ज्ञान</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Tiro Devanagari Hindi" pitchFamily="34" charset="0"/>
                <a:ea typeface="Tiro Devanagari Hindi" pitchFamily="34" charset="-122"/>
                <a:cs typeface="Tiro Devanagari Hindi" pitchFamily="34" charset="-120"/>
              </a:rPr>
              <a:t>16</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मानचित्र</a:t>
            </a:r>
            <a:endParaRPr lang="en-US" sz="3000" dirty="0"/>
          </a:p>
        </p:txBody>
      </p:sp>
      <p:sp>
        <p:nvSpPr>
          <p:cNvPr id="4" name="Text 2"/>
          <p:cNvSpPr/>
          <p:nvPr/>
        </p:nvSpPr>
        <p:spPr>
          <a:xfrm>
            <a:off x="548640" y="1600200"/>
            <a:ext cx="5943600" cy="438912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बारह क्षैतिज पट्टियाँ — सबसे ऊपर परमार्थ, सबसे नीचे प्रतीक। हर नोड अपने स्तर पर, हर संबंध अपनी श्रेणी के रंग में। गीता-विचार की रचना को ऊपर से देखना।</a:t>
            </a:r>
            <a:endParaRPr lang="en-US" sz="1300" dirty="0"/>
          </a:p>
        </p:txBody>
      </p:sp>
      <p:sp>
        <p:nvSpPr>
          <p:cNvPr id="5" name="Shape 3"/>
          <p:cNvSpPr/>
          <p:nvPr/>
        </p:nvSpPr>
        <p:spPr>
          <a:xfrm>
            <a:off x="6903720" y="1600200"/>
            <a:ext cx="4754880" cy="4114800"/>
          </a:xfrm>
          <a:prstGeom prst="rect">
            <a:avLst/>
          </a:prstGeom>
          <a:solidFill>
            <a:srgbClr val="FBF5E6"/>
          </a:solidFill>
          <a:ln w="6350">
            <a:solidFill>
              <a:srgbClr val="C9B58A"/>
            </a:solidFill>
            <a:prstDash val="solid"/>
          </a:ln>
        </p:spPr>
      </p:sp>
      <p:sp>
        <p:nvSpPr>
          <p:cNvPr id="6" name="Text 4"/>
          <p:cNvSpPr/>
          <p:nvPr/>
        </p:nvSpPr>
        <p:spPr>
          <a:xfrm>
            <a:off x="6995160" y="1737360"/>
            <a:ext cx="1645920" cy="320040"/>
          </a:xfrm>
          <a:prstGeom prst="rect">
            <a:avLst/>
          </a:prstGeom>
          <a:noFill/>
          <a:ln/>
        </p:spPr>
        <p:txBody>
          <a:bodyPr wrap="square" lIns="0" tIns="0" rIns="0" bIns="0" rtlCol="0" anchor="ctr"/>
          <a:lstStyle/>
          <a:p>
            <a:pPr indent="0" marL="0">
              <a:buNone/>
            </a:pPr>
            <a:r>
              <a:rPr lang="en-US" sz="800" b="1" dirty="0">
                <a:solidFill>
                  <a:srgbClr val="8B1E1A"/>
                </a:solidFill>
                <a:latin typeface="Tiro Devanagari Hindi" pitchFamily="34" charset="0"/>
                <a:ea typeface="Tiro Devanagari Hindi" pitchFamily="34" charset="-122"/>
                <a:cs typeface="Tiro Devanagari Hindi" pitchFamily="34" charset="-120"/>
              </a:rPr>
              <a:t>परमार्थ</a:t>
            </a:r>
            <a:endParaRPr lang="en-US" sz="800" dirty="0"/>
          </a:p>
        </p:txBody>
      </p:sp>
      <p:sp>
        <p:nvSpPr>
          <p:cNvPr id="7" name="Shape 5"/>
          <p:cNvSpPr/>
          <p:nvPr/>
        </p:nvSpPr>
        <p:spPr>
          <a:xfrm>
            <a:off x="8686800" y="1842516"/>
            <a:ext cx="109728" cy="109728"/>
          </a:xfrm>
          <a:prstGeom prst="ellipse">
            <a:avLst/>
          </a:prstGeom>
          <a:solidFill>
            <a:srgbClr val="8B1E1A"/>
          </a:solidFill>
          <a:ln w="12700">
            <a:solidFill>
              <a:srgbClr val="8B1E1A"/>
            </a:solidFill>
            <a:prstDash val="solid"/>
          </a:ln>
        </p:spPr>
      </p:sp>
      <p:sp>
        <p:nvSpPr>
          <p:cNvPr id="8" name="Shape 6"/>
          <p:cNvSpPr/>
          <p:nvPr/>
        </p:nvSpPr>
        <p:spPr>
          <a:xfrm>
            <a:off x="8961120" y="1842516"/>
            <a:ext cx="109728" cy="109728"/>
          </a:xfrm>
          <a:prstGeom prst="ellipse">
            <a:avLst/>
          </a:prstGeom>
          <a:solidFill>
            <a:srgbClr val="8B1E1A"/>
          </a:solidFill>
          <a:ln w="12700">
            <a:solidFill>
              <a:srgbClr val="8B1E1A"/>
            </a:solidFill>
            <a:prstDash val="solid"/>
          </a:ln>
        </p:spPr>
      </p:sp>
      <p:sp>
        <p:nvSpPr>
          <p:cNvPr id="9" name="Shape 7"/>
          <p:cNvSpPr/>
          <p:nvPr/>
        </p:nvSpPr>
        <p:spPr>
          <a:xfrm>
            <a:off x="9235440" y="1842516"/>
            <a:ext cx="109728" cy="109728"/>
          </a:xfrm>
          <a:prstGeom prst="ellipse">
            <a:avLst/>
          </a:prstGeom>
          <a:solidFill>
            <a:srgbClr val="8B1E1A"/>
          </a:solidFill>
          <a:ln w="12700">
            <a:solidFill>
              <a:srgbClr val="8B1E1A"/>
            </a:solidFill>
            <a:prstDash val="solid"/>
          </a:ln>
        </p:spPr>
      </p:sp>
      <p:sp>
        <p:nvSpPr>
          <p:cNvPr id="10" name="Shape 8"/>
          <p:cNvSpPr/>
          <p:nvPr/>
        </p:nvSpPr>
        <p:spPr>
          <a:xfrm>
            <a:off x="9509760" y="1842516"/>
            <a:ext cx="109728" cy="109728"/>
          </a:xfrm>
          <a:prstGeom prst="ellipse">
            <a:avLst/>
          </a:prstGeom>
          <a:solidFill>
            <a:srgbClr val="8B1E1A"/>
          </a:solidFill>
          <a:ln w="12700">
            <a:solidFill>
              <a:srgbClr val="8B1E1A"/>
            </a:solidFill>
            <a:prstDash val="solid"/>
          </a:ln>
        </p:spPr>
      </p:sp>
      <p:sp>
        <p:nvSpPr>
          <p:cNvPr id="11" name="Shape 9"/>
          <p:cNvSpPr/>
          <p:nvPr/>
        </p:nvSpPr>
        <p:spPr>
          <a:xfrm>
            <a:off x="9784080" y="1842516"/>
            <a:ext cx="109728" cy="109728"/>
          </a:xfrm>
          <a:prstGeom prst="ellipse">
            <a:avLst/>
          </a:prstGeom>
          <a:solidFill>
            <a:srgbClr val="8B1E1A"/>
          </a:solidFill>
          <a:ln w="12700">
            <a:solidFill>
              <a:srgbClr val="8B1E1A"/>
            </a:solidFill>
            <a:prstDash val="solid"/>
          </a:ln>
        </p:spPr>
      </p:sp>
      <p:sp>
        <p:nvSpPr>
          <p:cNvPr id="12" name="Shape 10"/>
          <p:cNvSpPr/>
          <p:nvPr/>
        </p:nvSpPr>
        <p:spPr>
          <a:xfrm>
            <a:off x="10058400" y="1842516"/>
            <a:ext cx="109728" cy="109728"/>
          </a:xfrm>
          <a:prstGeom prst="ellipse">
            <a:avLst/>
          </a:prstGeom>
          <a:solidFill>
            <a:srgbClr val="8B1E1A"/>
          </a:solidFill>
          <a:ln w="12700">
            <a:solidFill>
              <a:srgbClr val="8B1E1A"/>
            </a:solidFill>
            <a:prstDash val="solid"/>
          </a:ln>
        </p:spPr>
      </p:sp>
      <p:sp>
        <p:nvSpPr>
          <p:cNvPr id="13" name="Shape 11"/>
          <p:cNvSpPr/>
          <p:nvPr/>
        </p:nvSpPr>
        <p:spPr>
          <a:xfrm>
            <a:off x="10332720" y="1842516"/>
            <a:ext cx="109728" cy="109728"/>
          </a:xfrm>
          <a:prstGeom prst="ellipse">
            <a:avLst/>
          </a:prstGeom>
          <a:solidFill>
            <a:srgbClr val="8B1E1A"/>
          </a:solidFill>
          <a:ln w="12700">
            <a:solidFill>
              <a:srgbClr val="8B1E1A"/>
            </a:solidFill>
            <a:prstDash val="solid"/>
          </a:ln>
        </p:spPr>
      </p:sp>
      <p:sp>
        <p:nvSpPr>
          <p:cNvPr id="14" name="Shape 12"/>
          <p:cNvSpPr/>
          <p:nvPr/>
        </p:nvSpPr>
        <p:spPr>
          <a:xfrm>
            <a:off x="10607040" y="1842516"/>
            <a:ext cx="109728" cy="109728"/>
          </a:xfrm>
          <a:prstGeom prst="ellipse">
            <a:avLst/>
          </a:prstGeom>
          <a:solidFill>
            <a:srgbClr val="8B1E1A"/>
          </a:solidFill>
          <a:ln w="12700">
            <a:solidFill>
              <a:srgbClr val="8B1E1A"/>
            </a:solidFill>
            <a:prstDash val="solid"/>
          </a:ln>
        </p:spPr>
      </p:sp>
      <p:sp>
        <p:nvSpPr>
          <p:cNvPr id="15" name="Shape 13"/>
          <p:cNvSpPr/>
          <p:nvPr/>
        </p:nvSpPr>
        <p:spPr>
          <a:xfrm>
            <a:off x="10881360" y="1842516"/>
            <a:ext cx="109728" cy="109728"/>
          </a:xfrm>
          <a:prstGeom prst="ellipse">
            <a:avLst/>
          </a:prstGeom>
          <a:solidFill>
            <a:srgbClr val="8B1E1A"/>
          </a:solidFill>
          <a:ln w="12700">
            <a:solidFill>
              <a:srgbClr val="8B1E1A"/>
            </a:solidFill>
            <a:prstDash val="solid"/>
          </a:ln>
        </p:spPr>
      </p:sp>
      <p:sp>
        <p:nvSpPr>
          <p:cNvPr id="16" name="Shape 14"/>
          <p:cNvSpPr/>
          <p:nvPr/>
        </p:nvSpPr>
        <p:spPr>
          <a:xfrm>
            <a:off x="11155680" y="1842516"/>
            <a:ext cx="109728" cy="109728"/>
          </a:xfrm>
          <a:prstGeom prst="ellipse">
            <a:avLst/>
          </a:prstGeom>
          <a:solidFill>
            <a:srgbClr val="8B1E1A"/>
          </a:solidFill>
          <a:ln w="12700">
            <a:solidFill>
              <a:srgbClr val="8B1E1A"/>
            </a:solidFill>
            <a:prstDash val="solid"/>
          </a:ln>
        </p:spPr>
      </p:sp>
      <p:sp>
        <p:nvSpPr>
          <p:cNvPr id="17" name="Text 15"/>
          <p:cNvSpPr/>
          <p:nvPr/>
        </p:nvSpPr>
        <p:spPr>
          <a:xfrm>
            <a:off x="6995160" y="2057400"/>
            <a:ext cx="1645920" cy="320040"/>
          </a:xfrm>
          <a:prstGeom prst="rect">
            <a:avLst/>
          </a:prstGeom>
          <a:noFill/>
          <a:ln/>
        </p:spPr>
        <p:txBody>
          <a:bodyPr wrap="square" lIns="0" tIns="0" rIns="0" bIns="0" rtlCol="0" anchor="ctr"/>
          <a:lstStyle/>
          <a:p>
            <a:pPr indent="0" marL="0">
              <a:buNone/>
            </a:pPr>
            <a:r>
              <a:rPr lang="en-US" sz="800" b="1" dirty="0">
                <a:solidFill>
                  <a:srgbClr val="A83F1A"/>
                </a:solidFill>
                <a:latin typeface="Tiro Devanagari Hindi" pitchFamily="34" charset="0"/>
                <a:ea typeface="Tiro Devanagari Hindi" pitchFamily="34" charset="-122"/>
                <a:cs typeface="Tiro Devanagari Hindi" pitchFamily="34" charset="-120"/>
              </a:rPr>
              <a:t>तत्त्व</a:t>
            </a:r>
            <a:endParaRPr lang="en-US" sz="800" dirty="0"/>
          </a:p>
        </p:txBody>
      </p:sp>
      <p:sp>
        <p:nvSpPr>
          <p:cNvPr id="18" name="Shape 16"/>
          <p:cNvSpPr/>
          <p:nvPr/>
        </p:nvSpPr>
        <p:spPr>
          <a:xfrm>
            <a:off x="8686800" y="2162556"/>
            <a:ext cx="109728" cy="109728"/>
          </a:xfrm>
          <a:prstGeom prst="ellipse">
            <a:avLst/>
          </a:prstGeom>
          <a:solidFill>
            <a:srgbClr val="A83F1A"/>
          </a:solidFill>
          <a:ln w="12700">
            <a:solidFill>
              <a:srgbClr val="A83F1A"/>
            </a:solidFill>
            <a:prstDash val="solid"/>
          </a:ln>
        </p:spPr>
      </p:sp>
      <p:sp>
        <p:nvSpPr>
          <p:cNvPr id="19" name="Shape 17"/>
          <p:cNvSpPr/>
          <p:nvPr/>
        </p:nvSpPr>
        <p:spPr>
          <a:xfrm>
            <a:off x="8961120" y="2162556"/>
            <a:ext cx="109728" cy="109728"/>
          </a:xfrm>
          <a:prstGeom prst="ellipse">
            <a:avLst/>
          </a:prstGeom>
          <a:solidFill>
            <a:srgbClr val="A83F1A"/>
          </a:solidFill>
          <a:ln w="12700">
            <a:solidFill>
              <a:srgbClr val="A83F1A"/>
            </a:solidFill>
            <a:prstDash val="solid"/>
          </a:ln>
        </p:spPr>
      </p:sp>
      <p:sp>
        <p:nvSpPr>
          <p:cNvPr id="20" name="Shape 18"/>
          <p:cNvSpPr/>
          <p:nvPr/>
        </p:nvSpPr>
        <p:spPr>
          <a:xfrm>
            <a:off x="9235440" y="2162556"/>
            <a:ext cx="109728" cy="109728"/>
          </a:xfrm>
          <a:prstGeom prst="ellipse">
            <a:avLst/>
          </a:prstGeom>
          <a:solidFill>
            <a:srgbClr val="A83F1A"/>
          </a:solidFill>
          <a:ln w="12700">
            <a:solidFill>
              <a:srgbClr val="A83F1A"/>
            </a:solidFill>
            <a:prstDash val="solid"/>
          </a:ln>
        </p:spPr>
      </p:sp>
      <p:sp>
        <p:nvSpPr>
          <p:cNvPr id="21" name="Shape 19"/>
          <p:cNvSpPr/>
          <p:nvPr/>
        </p:nvSpPr>
        <p:spPr>
          <a:xfrm>
            <a:off x="9509760" y="2162556"/>
            <a:ext cx="109728" cy="109728"/>
          </a:xfrm>
          <a:prstGeom prst="ellipse">
            <a:avLst/>
          </a:prstGeom>
          <a:solidFill>
            <a:srgbClr val="A83F1A"/>
          </a:solidFill>
          <a:ln w="12700">
            <a:solidFill>
              <a:srgbClr val="A83F1A"/>
            </a:solidFill>
            <a:prstDash val="solid"/>
          </a:ln>
        </p:spPr>
      </p:sp>
      <p:sp>
        <p:nvSpPr>
          <p:cNvPr id="22" name="Shape 20"/>
          <p:cNvSpPr/>
          <p:nvPr/>
        </p:nvSpPr>
        <p:spPr>
          <a:xfrm>
            <a:off x="9784080" y="2162556"/>
            <a:ext cx="109728" cy="109728"/>
          </a:xfrm>
          <a:prstGeom prst="ellipse">
            <a:avLst/>
          </a:prstGeom>
          <a:solidFill>
            <a:srgbClr val="A83F1A"/>
          </a:solidFill>
          <a:ln w="12700">
            <a:solidFill>
              <a:srgbClr val="A83F1A"/>
            </a:solidFill>
            <a:prstDash val="solid"/>
          </a:ln>
        </p:spPr>
      </p:sp>
      <p:sp>
        <p:nvSpPr>
          <p:cNvPr id="23" name="Shape 21"/>
          <p:cNvSpPr/>
          <p:nvPr/>
        </p:nvSpPr>
        <p:spPr>
          <a:xfrm>
            <a:off x="10058400" y="2162556"/>
            <a:ext cx="109728" cy="109728"/>
          </a:xfrm>
          <a:prstGeom prst="ellipse">
            <a:avLst/>
          </a:prstGeom>
          <a:solidFill>
            <a:srgbClr val="A83F1A"/>
          </a:solidFill>
          <a:ln w="12700">
            <a:solidFill>
              <a:srgbClr val="A83F1A"/>
            </a:solidFill>
            <a:prstDash val="solid"/>
          </a:ln>
        </p:spPr>
      </p:sp>
      <p:sp>
        <p:nvSpPr>
          <p:cNvPr id="24" name="Shape 22"/>
          <p:cNvSpPr/>
          <p:nvPr/>
        </p:nvSpPr>
        <p:spPr>
          <a:xfrm>
            <a:off x="10332720" y="2162556"/>
            <a:ext cx="109728" cy="109728"/>
          </a:xfrm>
          <a:prstGeom prst="ellipse">
            <a:avLst/>
          </a:prstGeom>
          <a:solidFill>
            <a:srgbClr val="A83F1A"/>
          </a:solidFill>
          <a:ln w="12700">
            <a:solidFill>
              <a:srgbClr val="A83F1A"/>
            </a:solidFill>
            <a:prstDash val="solid"/>
          </a:ln>
        </p:spPr>
      </p:sp>
      <p:sp>
        <p:nvSpPr>
          <p:cNvPr id="25" name="Shape 23"/>
          <p:cNvSpPr/>
          <p:nvPr/>
        </p:nvSpPr>
        <p:spPr>
          <a:xfrm>
            <a:off x="10607040" y="2162556"/>
            <a:ext cx="109728" cy="109728"/>
          </a:xfrm>
          <a:prstGeom prst="ellipse">
            <a:avLst/>
          </a:prstGeom>
          <a:solidFill>
            <a:srgbClr val="A83F1A"/>
          </a:solidFill>
          <a:ln w="12700">
            <a:solidFill>
              <a:srgbClr val="A83F1A"/>
            </a:solidFill>
            <a:prstDash val="solid"/>
          </a:ln>
        </p:spPr>
      </p:sp>
      <p:sp>
        <p:nvSpPr>
          <p:cNvPr id="26" name="Text 24"/>
          <p:cNvSpPr/>
          <p:nvPr/>
        </p:nvSpPr>
        <p:spPr>
          <a:xfrm>
            <a:off x="6995160" y="2377440"/>
            <a:ext cx="1645920" cy="320040"/>
          </a:xfrm>
          <a:prstGeom prst="rect">
            <a:avLst/>
          </a:prstGeom>
          <a:noFill/>
          <a:ln/>
        </p:spPr>
        <p:txBody>
          <a:bodyPr wrap="square" lIns="0" tIns="0" rIns="0" bIns="0" rtlCol="0" anchor="ctr"/>
          <a:lstStyle/>
          <a:p>
            <a:pPr indent="0" marL="0">
              <a:buNone/>
            </a:pPr>
            <a:r>
              <a:rPr lang="en-US" sz="800" b="1" dirty="0">
                <a:solidFill>
                  <a:srgbClr val="B8702A"/>
                </a:solidFill>
                <a:latin typeface="Tiro Devanagari Hindi" pitchFamily="34" charset="0"/>
                <a:ea typeface="Tiro Devanagari Hindi" pitchFamily="34" charset="-122"/>
                <a:cs typeface="Tiro Devanagari Hindi" pitchFamily="34" charset="-120"/>
              </a:rPr>
              <a:t>क्षेत्र-क्षेत्रज्ञ</a:t>
            </a:r>
            <a:endParaRPr lang="en-US" sz="800" dirty="0"/>
          </a:p>
        </p:txBody>
      </p:sp>
      <p:sp>
        <p:nvSpPr>
          <p:cNvPr id="27" name="Shape 25"/>
          <p:cNvSpPr/>
          <p:nvPr/>
        </p:nvSpPr>
        <p:spPr>
          <a:xfrm>
            <a:off x="8686800" y="2482596"/>
            <a:ext cx="109728" cy="109728"/>
          </a:xfrm>
          <a:prstGeom prst="ellipse">
            <a:avLst/>
          </a:prstGeom>
          <a:solidFill>
            <a:srgbClr val="B8702A"/>
          </a:solidFill>
          <a:ln w="12700">
            <a:solidFill>
              <a:srgbClr val="B8702A"/>
            </a:solidFill>
            <a:prstDash val="solid"/>
          </a:ln>
        </p:spPr>
      </p:sp>
      <p:sp>
        <p:nvSpPr>
          <p:cNvPr id="28" name="Shape 26"/>
          <p:cNvSpPr/>
          <p:nvPr/>
        </p:nvSpPr>
        <p:spPr>
          <a:xfrm>
            <a:off x="8961120" y="2482596"/>
            <a:ext cx="109728" cy="109728"/>
          </a:xfrm>
          <a:prstGeom prst="ellipse">
            <a:avLst/>
          </a:prstGeom>
          <a:solidFill>
            <a:srgbClr val="B8702A"/>
          </a:solidFill>
          <a:ln w="12700">
            <a:solidFill>
              <a:srgbClr val="B8702A"/>
            </a:solidFill>
            <a:prstDash val="solid"/>
          </a:ln>
        </p:spPr>
      </p:sp>
      <p:sp>
        <p:nvSpPr>
          <p:cNvPr id="29" name="Shape 27"/>
          <p:cNvSpPr/>
          <p:nvPr/>
        </p:nvSpPr>
        <p:spPr>
          <a:xfrm>
            <a:off x="9235440" y="2482596"/>
            <a:ext cx="109728" cy="109728"/>
          </a:xfrm>
          <a:prstGeom prst="ellipse">
            <a:avLst/>
          </a:prstGeom>
          <a:solidFill>
            <a:srgbClr val="B8702A"/>
          </a:solidFill>
          <a:ln w="12700">
            <a:solidFill>
              <a:srgbClr val="B8702A"/>
            </a:solidFill>
            <a:prstDash val="solid"/>
          </a:ln>
        </p:spPr>
      </p:sp>
      <p:sp>
        <p:nvSpPr>
          <p:cNvPr id="30" name="Shape 28"/>
          <p:cNvSpPr/>
          <p:nvPr/>
        </p:nvSpPr>
        <p:spPr>
          <a:xfrm>
            <a:off x="9509760" y="2482596"/>
            <a:ext cx="109728" cy="109728"/>
          </a:xfrm>
          <a:prstGeom prst="ellipse">
            <a:avLst/>
          </a:prstGeom>
          <a:solidFill>
            <a:srgbClr val="B8702A"/>
          </a:solidFill>
          <a:ln w="12700">
            <a:solidFill>
              <a:srgbClr val="B8702A"/>
            </a:solidFill>
            <a:prstDash val="solid"/>
          </a:ln>
        </p:spPr>
      </p:sp>
      <p:sp>
        <p:nvSpPr>
          <p:cNvPr id="31" name="Shape 29"/>
          <p:cNvSpPr/>
          <p:nvPr/>
        </p:nvSpPr>
        <p:spPr>
          <a:xfrm>
            <a:off x="9784080" y="2482596"/>
            <a:ext cx="109728" cy="109728"/>
          </a:xfrm>
          <a:prstGeom prst="ellipse">
            <a:avLst/>
          </a:prstGeom>
          <a:solidFill>
            <a:srgbClr val="B8702A"/>
          </a:solidFill>
          <a:ln w="12700">
            <a:solidFill>
              <a:srgbClr val="B8702A"/>
            </a:solidFill>
            <a:prstDash val="solid"/>
          </a:ln>
        </p:spPr>
      </p:sp>
      <p:sp>
        <p:nvSpPr>
          <p:cNvPr id="32" name="Shape 30"/>
          <p:cNvSpPr/>
          <p:nvPr/>
        </p:nvSpPr>
        <p:spPr>
          <a:xfrm>
            <a:off x="10058400" y="2482596"/>
            <a:ext cx="109728" cy="109728"/>
          </a:xfrm>
          <a:prstGeom prst="ellipse">
            <a:avLst/>
          </a:prstGeom>
          <a:solidFill>
            <a:srgbClr val="B8702A"/>
          </a:solidFill>
          <a:ln w="12700">
            <a:solidFill>
              <a:srgbClr val="B8702A"/>
            </a:solidFill>
            <a:prstDash val="solid"/>
          </a:ln>
        </p:spPr>
      </p:sp>
      <p:sp>
        <p:nvSpPr>
          <p:cNvPr id="33" name="Shape 31"/>
          <p:cNvSpPr/>
          <p:nvPr/>
        </p:nvSpPr>
        <p:spPr>
          <a:xfrm>
            <a:off x="10332720" y="2482596"/>
            <a:ext cx="109728" cy="109728"/>
          </a:xfrm>
          <a:prstGeom prst="ellipse">
            <a:avLst/>
          </a:prstGeom>
          <a:solidFill>
            <a:srgbClr val="B8702A"/>
          </a:solidFill>
          <a:ln w="12700">
            <a:solidFill>
              <a:srgbClr val="B8702A"/>
            </a:solidFill>
            <a:prstDash val="solid"/>
          </a:ln>
        </p:spPr>
      </p:sp>
      <p:sp>
        <p:nvSpPr>
          <p:cNvPr id="34" name="Shape 32"/>
          <p:cNvSpPr/>
          <p:nvPr/>
        </p:nvSpPr>
        <p:spPr>
          <a:xfrm>
            <a:off x="10607040" y="2482596"/>
            <a:ext cx="109728" cy="109728"/>
          </a:xfrm>
          <a:prstGeom prst="ellipse">
            <a:avLst/>
          </a:prstGeom>
          <a:solidFill>
            <a:srgbClr val="B8702A"/>
          </a:solidFill>
          <a:ln w="12700">
            <a:solidFill>
              <a:srgbClr val="B8702A"/>
            </a:solidFill>
            <a:prstDash val="solid"/>
          </a:ln>
        </p:spPr>
      </p:sp>
      <p:sp>
        <p:nvSpPr>
          <p:cNvPr id="35" name="Text 33"/>
          <p:cNvSpPr/>
          <p:nvPr/>
        </p:nvSpPr>
        <p:spPr>
          <a:xfrm>
            <a:off x="6995160" y="2697480"/>
            <a:ext cx="1645920" cy="320040"/>
          </a:xfrm>
          <a:prstGeom prst="rect">
            <a:avLst/>
          </a:prstGeom>
          <a:noFill/>
          <a:ln/>
        </p:spPr>
        <p:txBody>
          <a:bodyPr wrap="square" lIns="0" tIns="0" rIns="0" bIns="0" rtlCol="0" anchor="ctr"/>
          <a:lstStyle/>
          <a:p>
            <a:pPr indent="0" marL="0">
              <a:buNone/>
            </a:pPr>
            <a:r>
              <a:rPr lang="en-US" sz="800" b="1" dirty="0">
                <a:solidFill>
                  <a:srgbClr val="C69E2A"/>
                </a:solidFill>
                <a:latin typeface="Tiro Devanagari Hindi" pitchFamily="34" charset="0"/>
                <a:ea typeface="Tiro Devanagari Hindi" pitchFamily="34" charset="-122"/>
                <a:cs typeface="Tiro Devanagari Hindi" pitchFamily="34" charset="-120"/>
              </a:rPr>
              <a:t>गुण</a:t>
            </a:r>
            <a:endParaRPr lang="en-US" sz="800" dirty="0"/>
          </a:p>
        </p:txBody>
      </p:sp>
      <p:sp>
        <p:nvSpPr>
          <p:cNvPr id="36" name="Shape 34"/>
          <p:cNvSpPr/>
          <p:nvPr/>
        </p:nvSpPr>
        <p:spPr>
          <a:xfrm>
            <a:off x="8686800" y="2802636"/>
            <a:ext cx="109728" cy="109728"/>
          </a:xfrm>
          <a:prstGeom prst="ellipse">
            <a:avLst/>
          </a:prstGeom>
          <a:solidFill>
            <a:srgbClr val="C69E2A"/>
          </a:solidFill>
          <a:ln w="12700">
            <a:solidFill>
              <a:srgbClr val="C69E2A"/>
            </a:solidFill>
            <a:prstDash val="solid"/>
          </a:ln>
        </p:spPr>
      </p:sp>
      <p:sp>
        <p:nvSpPr>
          <p:cNvPr id="37" name="Shape 35"/>
          <p:cNvSpPr/>
          <p:nvPr/>
        </p:nvSpPr>
        <p:spPr>
          <a:xfrm>
            <a:off x="8961120" y="2802636"/>
            <a:ext cx="109728" cy="109728"/>
          </a:xfrm>
          <a:prstGeom prst="ellipse">
            <a:avLst/>
          </a:prstGeom>
          <a:solidFill>
            <a:srgbClr val="C69E2A"/>
          </a:solidFill>
          <a:ln w="12700">
            <a:solidFill>
              <a:srgbClr val="C69E2A"/>
            </a:solidFill>
            <a:prstDash val="solid"/>
          </a:ln>
        </p:spPr>
      </p:sp>
      <p:sp>
        <p:nvSpPr>
          <p:cNvPr id="38" name="Shape 36"/>
          <p:cNvSpPr/>
          <p:nvPr/>
        </p:nvSpPr>
        <p:spPr>
          <a:xfrm>
            <a:off x="9235440" y="2802636"/>
            <a:ext cx="109728" cy="109728"/>
          </a:xfrm>
          <a:prstGeom prst="ellipse">
            <a:avLst/>
          </a:prstGeom>
          <a:solidFill>
            <a:srgbClr val="C69E2A"/>
          </a:solidFill>
          <a:ln w="12700">
            <a:solidFill>
              <a:srgbClr val="C69E2A"/>
            </a:solidFill>
            <a:prstDash val="solid"/>
          </a:ln>
        </p:spPr>
      </p:sp>
      <p:sp>
        <p:nvSpPr>
          <p:cNvPr id="39" name="Shape 37"/>
          <p:cNvSpPr/>
          <p:nvPr/>
        </p:nvSpPr>
        <p:spPr>
          <a:xfrm>
            <a:off x="9509760" y="2802636"/>
            <a:ext cx="109728" cy="109728"/>
          </a:xfrm>
          <a:prstGeom prst="ellipse">
            <a:avLst/>
          </a:prstGeom>
          <a:solidFill>
            <a:srgbClr val="C69E2A"/>
          </a:solidFill>
          <a:ln w="12700">
            <a:solidFill>
              <a:srgbClr val="C69E2A"/>
            </a:solidFill>
            <a:prstDash val="solid"/>
          </a:ln>
        </p:spPr>
      </p:sp>
      <p:sp>
        <p:nvSpPr>
          <p:cNvPr id="40" name="Shape 38"/>
          <p:cNvSpPr/>
          <p:nvPr/>
        </p:nvSpPr>
        <p:spPr>
          <a:xfrm>
            <a:off x="9784080" y="2802636"/>
            <a:ext cx="109728" cy="109728"/>
          </a:xfrm>
          <a:prstGeom prst="ellipse">
            <a:avLst/>
          </a:prstGeom>
          <a:solidFill>
            <a:srgbClr val="C69E2A"/>
          </a:solidFill>
          <a:ln w="12700">
            <a:solidFill>
              <a:srgbClr val="C69E2A"/>
            </a:solidFill>
            <a:prstDash val="solid"/>
          </a:ln>
        </p:spPr>
      </p:sp>
      <p:sp>
        <p:nvSpPr>
          <p:cNvPr id="41" name="Shape 39"/>
          <p:cNvSpPr/>
          <p:nvPr/>
        </p:nvSpPr>
        <p:spPr>
          <a:xfrm>
            <a:off x="10058400" y="2802636"/>
            <a:ext cx="109728" cy="109728"/>
          </a:xfrm>
          <a:prstGeom prst="ellipse">
            <a:avLst/>
          </a:prstGeom>
          <a:solidFill>
            <a:srgbClr val="C69E2A"/>
          </a:solidFill>
          <a:ln w="12700">
            <a:solidFill>
              <a:srgbClr val="C69E2A"/>
            </a:solidFill>
            <a:prstDash val="solid"/>
          </a:ln>
        </p:spPr>
      </p:sp>
      <p:sp>
        <p:nvSpPr>
          <p:cNvPr id="42" name="Shape 40"/>
          <p:cNvSpPr/>
          <p:nvPr/>
        </p:nvSpPr>
        <p:spPr>
          <a:xfrm>
            <a:off x="10332720" y="2802636"/>
            <a:ext cx="109728" cy="109728"/>
          </a:xfrm>
          <a:prstGeom prst="ellipse">
            <a:avLst/>
          </a:prstGeom>
          <a:solidFill>
            <a:srgbClr val="C69E2A"/>
          </a:solidFill>
          <a:ln w="12700">
            <a:solidFill>
              <a:srgbClr val="C69E2A"/>
            </a:solidFill>
            <a:prstDash val="solid"/>
          </a:ln>
        </p:spPr>
      </p:sp>
      <p:sp>
        <p:nvSpPr>
          <p:cNvPr id="43" name="Shape 41"/>
          <p:cNvSpPr/>
          <p:nvPr/>
        </p:nvSpPr>
        <p:spPr>
          <a:xfrm>
            <a:off x="10607040" y="2802636"/>
            <a:ext cx="109728" cy="109728"/>
          </a:xfrm>
          <a:prstGeom prst="ellipse">
            <a:avLst/>
          </a:prstGeom>
          <a:solidFill>
            <a:srgbClr val="C69E2A"/>
          </a:solidFill>
          <a:ln w="12700">
            <a:solidFill>
              <a:srgbClr val="C69E2A"/>
            </a:solidFill>
            <a:prstDash val="solid"/>
          </a:ln>
        </p:spPr>
      </p:sp>
      <p:sp>
        <p:nvSpPr>
          <p:cNvPr id="44" name="Shape 42"/>
          <p:cNvSpPr/>
          <p:nvPr/>
        </p:nvSpPr>
        <p:spPr>
          <a:xfrm>
            <a:off x="10881360" y="2802636"/>
            <a:ext cx="109728" cy="109728"/>
          </a:xfrm>
          <a:prstGeom prst="ellipse">
            <a:avLst/>
          </a:prstGeom>
          <a:solidFill>
            <a:srgbClr val="C69E2A"/>
          </a:solidFill>
          <a:ln w="12700">
            <a:solidFill>
              <a:srgbClr val="C69E2A"/>
            </a:solidFill>
            <a:prstDash val="solid"/>
          </a:ln>
        </p:spPr>
      </p:sp>
      <p:sp>
        <p:nvSpPr>
          <p:cNvPr id="45" name="Shape 43"/>
          <p:cNvSpPr/>
          <p:nvPr/>
        </p:nvSpPr>
        <p:spPr>
          <a:xfrm>
            <a:off x="11155680" y="2802636"/>
            <a:ext cx="109728" cy="109728"/>
          </a:xfrm>
          <a:prstGeom prst="ellipse">
            <a:avLst/>
          </a:prstGeom>
          <a:solidFill>
            <a:srgbClr val="C69E2A"/>
          </a:solidFill>
          <a:ln w="12700">
            <a:solidFill>
              <a:srgbClr val="C69E2A"/>
            </a:solidFill>
            <a:prstDash val="solid"/>
          </a:ln>
        </p:spPr>
      </p:sp>
      <p:sp>
        <p:nvSpPr>
          <p:cNvPr id="46" name="Text 44"/>
          <p:cNvSpPr/>
          <p:nvPr/>
        </p:nvSpPr>
        <p:spPr>
          <a:xfrm>
            <a:off x="6995160" y="3017520"/>
            <a:ext cx="1645920" cy="320040"/>
          </a:xfrm>
          <a:prstGeom prst="rect">
            <a:avLst/>
          </a:prstGeom>
          <a:noFill/>
          <a:ln/>
        </p:spPr>
        <p:txBody>
          <a:bodyPr wrap="square" lIns="0" tIns="0" rIns="0" bIns="0" rtlCol="0" anchor="ctr"/>
          <a:lstStyle/>
          <a:p>
            <a:pPr indent="0" marL="0">
              <a:buNone/>
            </a:pPr>
            <a:r>
              <a:rPr lang="en-US" sz="800" b="1" dirty="0">
                <a:solidFill>
                  <a:srgbClr val="7B8D2E"/>
                </a:solidFill>
                <a:latin typeface="Tiro Devanagari Hindi" pitchFamily="34" charset="0"/>
                <a:ea typeface="Tiro Devanagari Hindi" pitchFamily="34" charset="-122"/>
                <a:cs typeface="Tiro Devanagari Hindi" pitchFamily="34" charset="-120"/>
              </a:rPr>
              <a:t>योग</a:t>
            </a:r>
            <a:endParaRPr lang="en-US" sz="800" dirty="0"/>
          </a:p>
        </p:txBody>
      </p:sp>
      <p:sp>
        <p:nvSpPr>
          <p:cNvPr id="47" name="Shape 45"/>
          <p:cNvSpPr/>
          <p:nvPr/>
        </p:nvSpPr>
        <p:spPr>
          <a:xfrm>
            <a:off x="8686800" y="3122676"/>
            <a:ext cx="109728" cy="109728"/>
          </a:xfrm>
          <a:prstGeom prst="ellipse">
            <a:avLst/>
          </a:prstGeom>
          <a:solidFill>
            <a:srgbClr val="7B8D2E"/>
          </a:solidFill>
          <a:ln w="12700">
            <a:solidFill>
              <a:srgbClr val="7B8D2E"/>
            </a:solidFill>
            <a:prstDash val="solid"/>
          </a:ln>
        </p:spPr>
      </p:sp>
      <p:sp>
        <p:nvSpPr>
          <p:cNvPr id="48" name="Shape 46"/>
          <p:cNvSpPr/>
          <p:nvPr/>
        </p:nvSpPr>
        <p:spPr>
          <a:xfrm>
            <a:off x="8961120" y="3122676"/>
            <a:ext cx="109728" cy="109728"/>
          </a:xfrm>
          <a:prstGeom prst="ellipse">
            <a:avLst/>
          </a:prstGeom>
          <a:solidFill>
            <a:srgbClr val="7B8D2E"/>
          </a:solidFill>
          <a:ln w="12700">
            <a:solidFill>
              <a:srgbClr val="7B8D2E"/>
            </a:solidFill>
            <a:prstDash val="solid"/>
          </a:ln>
        </p:spPr>
      </p:sp>
      <p:sp>
        <p:nvSpPr>
          <p:cNvPr id="49" name="Shape 47"/>
          <p:cNvSpPr/>
          <p:nvPr/>
        </p:nvSpPr>
        <p:spPr>
          <a:xfrm>
            <a:off x="9235440" y="3122676"/>
            <a:ext cx="109728" cy="109728"/>
          </a:xfrm>
          <a:prstGeom prst="ellipse">
            <a:avLst/>
          </a:prstGeom>
          <a:solidFill>
            <a:srgbClr val="7B8D2E"/>
          </a:solidFill>
          <a:ln w="12700">
            <a:solidFill>
              <a:srgbClr val="7B8D2E"/>
            </a:solidFill>
            <a:prstDash val="solid"/>
          </a:ln>
        </p:spPr>
      </p:sp>
      <p:sp>
        <p:nvSpPr>
          <p:cNvPr id="50" name="Shape 48"/>
          <p:cNvSpPr/>
          <p:nvPr/>
        </p:nvSpPr>
        <p:spPr>
          <a:xfrm>
            <a:off x="9509760" y="3122676"/>
            <a:ext cx="109728" cy="109728"/>
          </a:xfrm>
          <a:prstGeom prst="ellipse">
            <a:avLst/>
          </a:prstGeom>
          <a:solidFill>
            <a:srgbClr val="7B8D2E"/>
          </a:solidFill>
          <a:ln w="12700">
            <a:solidFill>
              <a:srgbClr val="7B8D2E"/>
            </a:solidFill>
            <a:prstDash val="solid"/>
          </a:ln>
        </p:spPr>
      </p:sp>
      <p:sp>
        <p:nvSpPr>
          <p:cNvPr id="51" name="Shape 49"/>
          <p:cNvSpPr/>
          <p:nvPr/>
        </p:nvSpPr>
        <p:spPr>
          <a:xfrm>
            <a:off x="9784080" y="3122676"/>
            <a:ext cx="109728" cy="109728"/>
          </a:xfrm>
          <a:prstGeom prst="ellipse">
            <a:avLst/>
          </a:prstGeom>
          <a:solidFill>
            <a:srgbClr val="7B8D2E"/>
          </a:solidFill>
          <a:ln w="12700">
            <a:solidFill>
              <a:srgbClr val="7B8D2E"/>
            </a:solidFill>
            <a:prstDash val="solid"/>
          </a:ln>
        </p:spPr>
      </p:sp>
      <p:sp>
        <p:nvSpPr>
          <p:cNvPr id="52" name="Shape 50"/>
          <p:cNvSpPr/>
          <p:nvPr/>
        </p:nvSpPr>
        <p:spPr>
          <a:xfrm>
            <a:off x="10058400" y="3122676"/>
            <a:ext cx="109728" cy="109728"/>
          </a:xfrm>
          <a:prstGeom prst="ellipse">
            <a:avLst/>
          </a:prstGeom>
          <a:solidFill>
            <a:srgbClr val="7B8D2E"/>
          </a:solidFill>
          <a:ln w="12700">
            <a:solidFill>
              <a:srgbClr val="7B8D2E"/>
            </a:solidFill>
            <a:prstDash val="solid"/>
          </a:ln>
        </p:spPr>
      </p:sp>
      <p:sp>
        <p:nvSpPr>
          <p:cNvPr id="53" name="Shape 51"/>
          <p:cNvSpPr/>
          <p:nvPr/>
        </p:nvSpPr>
        <p:spPr>
          <a:xfrm>
            <a:off x="10332720" y="3122676"/>
            <a:ext cx="109728" cy="109728"/>
          </a:xfrm>
          <a:prstGeom prst="ellipse">
            <a:avLst/>
          </a:prstGeom>
          <a:solidFill>
            <a:srgbClr val="7B8D2E"/>
          </a:solidFill>
          <a:ln w="12700">
            <a:solidFill>
              <a:srgbClr val="7B8D2E"/>
            </a:solidFill>
            <a:prstDash val="solid"/>
          </a:ln>
        </p:spPr>
      </p:sp>
      <p:sp>
        <p:nvSpPr>
          <p:cNvPr id="54" name="Shape 52"/>
          <p:cNvSpPr/>
          <p:nvPr/>
        </p:nvSpPr>
        <p:spPr>
          <a:xfrm>
            <a:off x="10607040" y="3122676"/>
            <a:ext cx="109728" cy="109728"/>
          </a:xfrm>
          <a:prstGeom prst="ellipse">
            <a:avLst/>
          </a:prstGeom>
          <a:solidFill>
            <a:srgbClr val="7B8D2E"/>
          </a:solidFill>
          <a:ln w="12700">
            <a:solidFill>
              <a:srgbClr val="7B8D2E"/>
            </a:solidFill>
            <a:prstDash val="solid"/>
          </a:ln>
        </p:spPr>
      </p:sp>
      <p:sp>
        <p:nvSpPr>
          <p:cNvPr id="55" name="Shape 53"/>
          <p:cNvSpPr/>
          <p:nvPr/>
        </p:nvSpPr>
        <p:spPr>
          <a:xfrm>
            <a:off x="10881360" y="3122676"/>
            <a:ext cx="109728" cy="109728"/>
          </a:xfrm>
          <a:prstGeom prst="ellipse">
            <a:avLst/>
          </a:prstGeom>
          <a:solidFill>
            <a:srgbClr val="7B8D2E"/>
          </a:solidFill>
          <a:ln w="12700">
            <a:solidFill>
              <a:srgbClr val="7B8D2E"/>
            </a:solidFill>
            <a:prstDash val="solid"/>
          </a:ln>
        </p:spPr>
      </p:sp>
      <p:sp>
        <p:nvSpPr>
          <p:cNvPr id="56" name="Text 54"/>
          <p:cNvSpPr/>
          <p:nvPr/>
        </p:nvSpPr>
        <p:spPr>
          <a:xfrm>
            <a:off x="6995160" y="3337560"/>
            <a:ext cx="1645920" cy="320040"/>
          </a:xfrm>
          <a:prstGeom prst="rect">
            <a:avLst/>
          </a:prstGeom>
          <a:noFill/>
          <a:ln/>
        </p:spPr>
        <p:txBody>
          <a:bodyPr wrap="square" lIns="0" tIns="0" rIns="0" bIns="0" rtlCol="0" anchor="ctr"/>
          <a:lstStyle/>
          <a:p>
            <a:pPr indent="0" marL="0">
              <a:buNone/>
            </a:pPr>
            <a:r>
              <a:rPr lang="en-US" sz="800" b="1" dirty="0">
                <a:solidFill>
                  <a:srgbClr val="3F7A4A"/>
                </a:solidFill>
                <a:latin typeface="Tiro Devanagari Hindi" pitchFamily="34" charset="0"/>
                <a:ea typeface="Tiro Devanagari Hindi" pitchFamily="34" charset="-122"/>
                <a:cs typeface="Tiro Devanagari Hindi" pitchFamily="34" charset="-120"/>
              </a:rPr>
              <a:t>साधना</a:t>
            </a:r>
            <a:endParaRPr lang="en-US" sz="800" dirty="0"/>
          </a:p>
        </p:txBody>
      </p:sp>
      <p:sp>
        <p:nvSpPr>
          <p:cNvPr id="57" name="Shape 55"/>
          <p:cNvSpPr/>
          <p:nvPr/>
        </p:nvSpPr>
        <p:spPr>
          <a:xfrm>
            <a:off x="8686800" y="3442716"/>
            <a:ext cx="109728" cy="109728"/>
          </a:xfrm>
          <a:prstGeom prst="ellipse">
            <a:avLst/>
          </a:prstGeom>
          <a:solidFill>
            <a:srgbClr val="3F7A4A"/>
          </a:solidFill>
          <a:ln w="12700">
            <a:solidFill>
              <a:srgbClr val="3F7A4A"/>
            </a:solidFill>
            <a:prstDash val="solid"/>
          </a:ln>
        </p:spPr>
      </p:sp>
      <p:sp>
        <p:nvSpPr>
          <p:cNvPr id="58" name="Shape 56"/>
          <p:cNvSpPr/>
          <p:nvPr/>
        </p:nvSpPr>
        <p:spPr>
          <a:xfrm>
            <a:off x="8961120" y="3442716"/>
            <a:ext cx="109728" cy="109728"/>
          </a:xfrm>
          <a:prstGeom prst="ellipse">
            <a:avLst/>
          </a:prstGeom>
          <a:solidFill>
            <a:srgbClr val="3F7A4A"/>
          </a:solidFill>
          <a:ln w="12700">
            <a:solidFill>
              <a:srgbClr val="3F7A4A"/>
            </a:solidFill>
            <a:prstDash val="solid"/>
          </a:ln>
        </p:spPr>
      </p:sp>
      <p:sp>
        <p:nvSpPr>
          <p:cNvPr id="59" name="Shape 57"/>
          <p:cNvSpPr/>
          <p:nvPr/>
        </p:nvSpPr>
        <p:spPr>
          <a:xfrm>
            <a:off x="9235440" y="3442716"/>
            <a:ext cx="109728" cy="109728"/>
          </a:xfrm>
          <a:prstGeom prst="ellipse">
            <a:avLst/>
          </a:prstGeom>
          <a:solidFill>
            <a:srgbClr val="3F7A4A"/>
          </a:solidFill>
          <a:ln w="12700">
            <a:solidFill>
              <a:srgbClr val="3F7A4A"/>
            </a:solidFill>
            <a:prstDash val="solid"/>
          </a:ln>
        </p:spPr>
      </p:sp>
      <p:sp>
        <p:nvSpPr>
          <p:cNvPr id="60" name="Shape 58"/>
          <p:cNvSpPr/>
          <p:nvPr/>
        </p:nvSpPr>
        <p:spPr>
          <a:xfrm>
            <a:off x="9509760" y="3442716"/>
            <a:ext cx="109728" cy="109728"/>
          </a:xfrm>
          <a:prstGeom prst="ellipse">
            <a:avLst/>
          </a:prstGeom>
          <a:solidFill>
            <a:srgbClr val="3F7A4A"/>
          </a:solidFill>
          <a:ln w="12700">
            <a:solidFill>
              <a:srgbClr val="3F7A4A"/>
            </a:solidFill>
            <a:prstDash val="solid"/>
          </a:ln>
        </p:spPr>
      </p:sp>
      <p:sp>
        <p:nvSpPr>
          <p:cNvPr id="61" name="Shape 59"/>
          <p:cNvSpPr/>
          <p:nvPr/>
        </p:nvSpPr>
        <p:spPr>
          <a:xfrm>
            <a:off x="9784080" y="3442716"/>
            <a:ext cx="109728" cy="109728"/>
          </a:xfrm>
          <a:prstGeom prst="ellipse">
            <a:avLst/>
          </a:prstGeom>
          <a:solidFill>
            <a:srgbClr val="3F7A4A"/>
          </a:solidFill>
          <a:ln w="12700">
            <a:solidFill>
              <a:srgbClr val="3F7A4A"/>
            </a:solidFill>
            <a:prstDash val="solid"/>
          </a:ln>
        </p:spPr>
      </p:sp>
      <p:sp>
        <p:nvSpPr>
          <p:cNvPr id="62" name="Shape 60"/>
          <p:cNvSpPr/>
          <p:nvPr/>
        </p:nvSpPr>
        <p:spPr>
          <a:xfrm>
            <a:off x="10058400" y="3442716"/>
            <a:ext cx="109728" cy="109728"/>
          </a:xfrm>
          <a:prstGeom prst="ellipse">
            <a:avLst/>
          </a:prstGeom>
          <a:solidFill>
            <a:srgbClr val="3F7A4A"/>
          </a:solidFill>
          <a:ln w="12700">
            <a:solidFill>
              <a:srgbClr val="3F7A4A"/>
            </a:solidFill>
            <a:prstDash val="solid"/>
          </a:ln>
        </p:spPr>
      </p:sp>
      <p:sp>
        <p:nvSpPr>
          <p:cNvPr id="63" name="Shape 61"/>
          <p:cNvSpPr/>
          <p:nvPr/>
        </p:nvSpPr>
        <p:spPr>
          <a:xfrm>
            <a:off x="10332720" y="3442716"/>
            <a:ext cx="109728" cy="109728"/>
          </a:xfrm>
          <a:prstGeom prst="ellipse">
            <a:avLst/>
          </a:prstGeom>
          <a:solidFill>
            <a:srgbClr val="3F7A4A"/>
          </a:solidFill>
          <a:ln w="12700">
            <a:solidFill>
              <a:srgbClr val="3F7A4A"/>
            </a:solidFill>
            <a:prstDash val="solid"/>
          </a:ln>
        </p:spPr>
      </p:sp>
      <p:sp>
        <p:nvSpPr>
          <p:cNvPr id="64" name="Shape 62"/>
          <p:cNvSpPr/>
          <p:nvPr/>
        </p:nvSpPr>
        <p:spPr>
          <a:xfrm>
            <a:off x="10607040" y="3442716"/>
            <a:ext cx="109728" cy="109728"/>
          </a:xfrm>
          <a:prstGeom prst="ellipse">
            <a:avLst/>
          </a:prstGeom>
          <a:solidFill>
            <a:srgbClr val="3F7A4A"/>
          </a:solidFill>
          <a:ln w="12700">
            <a:solidFill>
              <a:srgbClr val="3F7A4A"/>
            </a:solidFill>
            <a:prstDash val="solid"/>
          </a:ln>
        </p:spPr>
      </p:sp>
      <p:sp>
        <p:nvSpPr>
          <p:cNvPr id="65" name="Shape 63"/>
          <p:cNvSpPr/>
          <p:nvPr/>
        </p:nvSpPr>
        <p:spPr>
          <a:xfrm>
            <a:off x="10881360" y="3442716"/>
            <a:ext cx="109728" cy="109728"/>
          </a:xfrm>
          <a:prstGeom prst="ellipse">
            <a:avLst/>
          </a:prstGeom>
          <a:solidFill>
            <a:srgbClr val="3F7A4A"/>
          </a:solidFill>
          <a:ln w="12700">
            <a:solidFill>
              <a:srgbClr val="3F7A4A"/>
            </a:solidFill>
            <a:prstDash val="solid"/>
          </a:ln>
        </p:spPr>
      </p:sp>
      <p:sp>
        <p:nvSpPr>
          <p:cNvPr id="66" name="Shape 64"/>
          <p:cNvSpPr/>
          <p:nvPr/>
        </p:nvSpPr>
        <p:spPr>
          <a:xfrm>
            <a:off x="11155680" y="3442716"/>
            <a:ext cx="109728" cy="109728"/>
          </a:xfrm>
          <a:prstGeom prst="ellipse">
            <a:avLst/>
          </a:prstGeom>
          <a:solidFill>
            <a:srgbClr val="3F7A4A"/>
          </a:solidFill>
          <a:ln w="12700">
            <a:solidFill>
              <a:srgbClr val="3F7A4A"/>
            </a:solidFill>
            <a:prstDash val="solid"/>
          </a:ln>
        </p:spPr>
      </p:sp>
      <p:sp>
        <p:nvSpPr>
          <p:cNvPr id="67" name="Text 65"/>
          <p:cNvSpPr/>
          <p:nvPr/>
        </p:nvSpPr>
        <p:spPr>
          <a:xfrm>
            <a:off x="6995160" y="3657600"/>
            <a:ext cx="1645920" cy="320040"/>
          </a:xfrm>
          <a:prstGeom prst="rect">
            <a:avLst/>
          </a:prstGeom>
          <a:noFill/>
          <a:ln/>
        </p:spPr>
        <p:txBody>
          <a:bodyPr wrap="square" lIns="0" tIns="0" rIns="0" bIns="0" rtlCol="0" anchor="ctr"/>
          <a:lstStyle/>
          <a:p>
            <a:pPr indent="0" marL="0">
              <a:buNone/>
            </a:pPr>
            <a:r>
              <a:rPr lang="en-US" sz="800" b="1" dirty="0">
                <a:solidFill>
                  <a:srgbClr val="2F6E7A"/>
                </a:solidFill>
                <a:latin typeface="Tiro Devanagari Hindi" pitchFamily="34" charset="0"/>
                <a:ea typeface="Tiro Devanagari Hindi" pitchFamily="34" charset="-122"/>
                <a:cs typeface="Tiro Devanagari Hindi" pitchFamily="34" charset="-120"/>
              </a:rPr>
              <a:t>अंतःकरण</a:t>
            </a:r>
            <a:endParaRPr lang="en-US" sz="800" dirty="0"/>
          </a:p>
        </p:txBody>
      </p:sp>
      <p:sp>
        <p:nvSpPr>
          <p:cNvPr id="68" name="Shape 66"/>
          <p:cNvSpPr/>
          <p:nvPr/>
        </p:nvSpPr>
        <p:spPr>
          <a:xfrm>
            <a:off x="8686800" y="3762756"/>
            <a:ext cx="109728" cy="109728"/>
          </a:xfrm>
          <a:prstGeom prst="ellipse">
            <a:avLst/>
          </a:prstGeom>
          <a:solidFill>
            <a:srgbClr val="2F6E7A"/>
          </a:solidFill>
          <a:ln w="12700">
            <a:solidFill>
              <a:srgbClr val="2F6E7A"/>
            </a:solidFill>
            <a:prstDash val="solid"/>
          </a:ln>
        </p:spPr>
      </p:sp>
      <p:sp>
        <p:nvSpPr>
          <p:cNvPr id="69" name="Shape 67"/>
          <p:cNvSpPr/>
          <p:nvPr/>
        </p:nvSpPr>
        <p:spPr>
          <a:xfrm>
            <a:off x="8961120" y="3762756"/>
            <a:ext cx="109728" cy="109728"/>
          </a:xfrm>
          <a:prstGeom prst="ellipse">
            <a:avLst/>
          </a:prstGeom>
          <a:solidFill>
            <a:srgbClr val="2F6E7A"/>
          </a:solidFill>
          <a:ln w="12700">
            <a:solidFill>
              <a:srgbClr val="2F6E7A"/>
            </a:solidFill>
            <a:prstDash val="solid"/>
          </a:ln>
        </p:spPr>
      </p:sp>
      <p:sp>
        <p:nvSpPr>
          <p:cNvPr id="70" name="Shape 68"/>
          <p:cNvSpPr/>
          <p:nvPr/>
        </p:nvSpPr>
        <p:spPr>
          <a:xfrm>
            <a:off x="9235440" y="3762756"/>
            <a:ext cx="109728" cy="109728"/>
          </a:xfrm>
          <a:prstGeom prst="ellipse">
            <a:avLst/>
          </a:prstGeom>
          <a:solidFill>
            <a:srgbClr val="2F6E7A"/>
          </a:solidFill>
          <a:ln w="12700">
            <a:solidFill>
              <a:srgbClr val="2F6E7A"/>
            </a:solidFill>
            <a:prstDash val="solid"/>
          </a:ln>
        </p:spPr>
      </p:sp>
      <p:sp>
        <p:nvSpPr>
          <p:cNvPr id="71" name="Shape 69"/>
          <p:cNvSpPr/>
          <p:nvPr/>
        </p:nvSpPr>
        <p:spPr>
          <a:xfrm>
            <a:off x="9509760" y="3762756"/>
            <a:ext cx="109728" cy="109728"/>
          </a:xfrm>
          <a:prstGeom prst="ellipse">
            <a:avLst/>
          </a:prstGeom>
          <a:solidFill>
            <a:srgbClr val="2F6E7A"/>
          </a:solidFill>
          <a:ln w="12700">
            <a:solidFill>
              <a:srgbClr val="2F6E7A"/>
            </a:solidFill>
            <a:prstDash val="solid"/>
          </a:ln>
        </p:spPr>
      </p:sp>
      <p:sp>
        <p:nvSpPr>
          <p:cNvPr id="72" name="Shape 70"/>
          <p:cNvSpPr/>
          <p:nvPr/>
        </p:nvSpPr>
        <p:spPr>
          <a:xfrm>
            <a:off x="9784080" y="3762756"/>
            <a:ext cx="109728" cy="109728"/>
          </a:xfrm>
          <a:prstGeom prst="ellipse">
            <a:avLst/>
          </a:prstGeom>
          <a:solidFill>
            <a:srgbClr val="2F6E7A"/>
          </a:solidFill>
          <a:ln w="12700">
            <a:solidFill>
              <a:srgbClr val="2F6E7A"/>
            </a:solidFill>
            <a:prstDash val="solid"/>
          </a:ln>
        </p:spPr>
      </p:sp>
      <p:sp>
        <p:nvSpPr>
          <p:cNvPr id="73" name="Shape 71"/>
          <p:cNvSpPr/>
          <p:nvPr/>
        </p:nvSpPr>
        <p:spPr>
          <a:xfrm>
            <a:off x="10058400" y="3762756"/>
            <a:ext cx="109728" cy="109728"/>
          </a:xfrm>
          <a:prstGeom prst="ellipse">
            <a:avLst/>
          </a:prstGeom>
          <a:solidFill>
            <a:srgbClr val="2F6E7A"/>
          </a:solidFill>
          <a:ln w="12700">
            <a:solidFill>
              <a:srgbClr val="2F6E7A"/>
            </a:solidFill>
            <a:prstDash val="solid"/>
          </a:ln>
        </p:spPr>
      </p:sp>
      <p:sp>
        <p:nvSpPr>
          <p:cNvPr id="74" name="Text 72"/>
          <p:cNvSpPr/>
          <p:nvPr/>
        </p:nvSpPr>
        <p:spPr>
          <a:xfrm>
            <a:off x="6995160" y="3977640"/>
            <a:ext cx="1645920" cy="320040"/>
          </a:xfrm>
          <a:prstGeom prst="rect">
            <a:avLst/>
          </a:prstGeom>
          <a:noFill/>
          <a:ln/>
        </p:spPr>
        <p:txBody>
          <a:bodyPr wrap="square" lIns="0" tIns="0" rIns="0" bIns="0" rtlCol="0" anchor="ctr"/>
          <a:lstStyle/>
          <a:p>
            <a:pPr indent="0" marL="0">
              <a:buNone/>
            </a:pPr>
            <a:r>
              <a:rPr lang="en-US" sz="800" b="1" dirty="0">
                <a:solidFill>
                  <a:srgbClr val="3A4A7A"/>
                </a:solidFill>
                <a:latin typeface="Tiro Devanagari Hindi" pitchFamily="34" charset="0"/>
                <a:ea typeface="Tiro Devanagari Hindi" pitchFamily="34" charset="-122"/>
                <a:cs typeface="Tiro Devanagari Hindi" pitchFamily="34" charset="-120"/>
              </a:rPr>
              <a:t>धर्म</a:t>
            </a:r>
            <a:endParaRPr lang="en-US" sz="800" dirty="0"/>
          </a:p>
        </p:txBody>
      </p:sp>
      <p:sp>
        <p:nvSpPr>
          <p:cNvPr id="75" name="Shape 73"/>
          <p:cNvSpPr/>
          <p:nvPr/>
        </p:nvSpPr>
        <p:spPr>
          <a:xfrm>
            <a:off x="8686800" y="4082796"/>
            <a:ext cx="109728" cy="109728"/>
          </a:xfrm>
          <a:prstGeom prst="ellipse">
            <a:avLst/>
          </a:prstGeom>
          <a:solidFill>
            <a:srgbClr val="3A4A7A"/>
          </a:solidFill>
          <a:ln w="12700">
            <a:solidFill>
              <a:srgbClr val="3A4A7A"/>
            </a:solidFill>
            <a:prstDash val="solid"/>
          </a:ln>
        </p:spPr>
      </p:sp>
      <p:sp>
        <p:nvSpPr>
          <p:cNvPr id="76" name="Shape 74"/>
          <p:cNvSpPr/>
          <p:nvPr/>
        </p:nvSpPr>
        <p:spPr>
          <a:xfrm>
            <a:off x="8961120" y="4082796"/>
            <a:ext cx="109728" cy="109728"/>
          </a:xfrm>
          <a:prstGeom prst="ellipse">
            <a:avLst/>
          </a:prstGeom>
          <a:solidFill>
            <a:srgbClr val="3A4A7A"/>
          </a:solidFill>
          <a:ln w="12700">
            <a:solidFill>
              <a:srgbClr val="3A4A7A"/>
            </a:solidFill>
            <a:prstDash val="solid"/>
          </a:ln>
        </p:spPr>
      </p:sp>
      <p:sp>
        <p:nvSpPr>
          <p:cNvPr id="77" name="Shape 75"/>
          <p:cNvSpPr/>
          <p:nvPr/>
        </p:nvSpPr>
        <p:spPr>
          <a:xfrm>
            <a:off x="9235440" y="4082796"/>
            <a:ext cx="109728" cy="109728"/>
          </a:xfrm>
          <a:prstGeom prst="ellipse">
            <a:avLst/>
          </a:prstGeom>
          <a:solidFill>
            <a:srgbClr val="3A4A7A"/>
          </a:solidFill>
          <a:ln w="12700">
            <a:solidFill>
              <a:srgbClr val="3A4A7A"/>
            </a:solidFill>
            <a:prstDash val="solid"/>
          </a:ln>
        </p:spPr>
      </p:sp>
      <p:sp>
        <p:nvSpPr>
          <p:cNvPr id="78" name="Shape 76"/>
          <p:cNvSpPr/>
          <p:nvPr/>
        </p:nvSpPr>
        <p:spPr>
          <a:xfrm>
            <a:off x="9509760" y="4082796"/>
            <a:ext cx="109728" cy="109728"/>
          </a:xfrm>
          <a:prstGeom prst="ellipse">
            <a:avLst/>
          </a:prstGeom>
          <a:solidFill>
            <a:srgbClr val="3A4A7A"/>
          </a:solidFill>
          <a:ln w="12700">
            <a:solidFill>
              <a:srgbClr val="3A4A7A"/>
            </a:solidFill>
            <a:prstDash val="solid"/>
          </a:ln>
        </p:spPr>
      </p:sp>
      <p:sp>
        <p:nvSpPr>
          <p:cNvPr id="79" name="Shape 77"/>
          <p:cNvSpPr/>
          <p:nvPr/>
        </p:nvSpPr>
        <p:spPr>
          <a:xfrm>
            <a:off x="9784080" y="4082796"/>
            <a:ext cx="109728" cy="109728"/>
          </a:xfrm>
          <a:prstGeom prst="ellipse">
            <a:avLst/>
          </a:prstGeom>
          <a:solidFill>
            <a:srgbClr val="3A4A7A"/>
          </a:solidFill>
          <a:ln w="12700">
            <a:solidFill>
              <a:srgbClr val="3A4A7A"/>
            </a:solidFill>
            <a:prstDash val="solid"/>
          </a:ln>
        </p:spPr>
      </p:sp>
      <p:sp>
        <p:nvSpPr>
          <p:cNvPr id="80" name="Shape 78"/>
          <p:cNvSpPr/>
          <p:nvPr/>
        </p:nvSpPr>
        <p:spPr>
          <a:xfrm>
            <a:off x="10058400" y="4082796"/>
            <a:ext cx="109728" cy="109728"/>
          </a:xfrm>
          <a:prstGeom prst="ellipse">
            <a:avLst/>
          </a:prstGeom>
          <a:solidFill>
            <a:srgbClr val="3A4A7A"/>
          </a:solidFill>
          <a:ln w="12700">
            <a:solidFill>
              <a:srgbClr val="3A4A7A"/>
            </a:solidFill>
            <a:prstDash val="solid"/>
          </a:ln>
        </p:spPr>
      </p:sp>
      <p:sp>
        <p:nvSpPr>
          <p:cNvPr id="81" name="Shape 79"/>
          <p:cNvSpPr/>
          <p:nvPr/>
        </p:nvSpPr>
        <p:spPr>
          <a:xfrm>
            <a:off x="10332720" y="4082796"/>
            <a:ext cx="109728" cy="109728"/>
          </a:xfrm>
          <a:prstGeom prst="ellipse">
            <a:avLst/>
          </a:prstGeom>
          <a:solidFill>
            <a:srgbClr val="3A4A7A"/>
          </a:solidFill>
          <a:ln w="12700">
            <a:solidFill>
              <a:srgbClr val="3A4A7A"/>
            </a:solidFill>
            <a:prstDash val="solid"/>
          </a:ln>
        </p:spPr>
      </p:sp>
      <p:sp>
        <p:nvSpPr>
          <p:cNvPr id="82" name="Shape 80"/>
          <p:cNvSpPr/>
          <p:nvPr/>
        </p:nvSpPr>
        <p:spPr>
          <a:xfrm>
            <a:off x="10607040" y="4082796"/>
            <a:ext cx="109728" cy="109728"/>
          </a:xfrm>
          <a:prstGeom prst="ellipse">
            <a:avLst/>
          </a:prstGeom>
          <a:solidFill>
            <a:srgbClr val="3A4A7A"/>
          </a:solidFill>
          <a:ln w="12700">
            <a:solidFill>
              <a:srgbClr val="3A4A7A"/>
            </a:solidFill>
            <a:prstDash val="solid"/>
          </a:ln>
        </p:spPr>
      </p:sp>
      <p:sp>
        <p:nvSpPr>
          <p:cNvPr id="83" name="Shape 81"/>
          <p:cNvSpPr/>
          <p:nvPr/>
        </p:nvSpPr>
        <p:spPr>
          <a:xfrm>
            <a:off x="10881360" y="4082796"/>
            <a:ext cx="109728" cy="109728"/>
          </a:xfrm>
          <a:prstGeom prst="ellipse">
            <a:avLst/>
          </a:prstGeom>
          <a:solidFill>
            <a:srgbClr val="3A4A7A"/>
          </a:solidFill>
          <a:ln w="12700">
            <a:solidFill>
              <a:srgbClr val="3A4A7A"/>
            </a:solidFill>
            <a:prstDash val="solid"/>
          </a:ln>
        </p:spPr>
      </p:sp>
      <p:sp>
        <p:nvSpPr>
          <p:cNvPr id="84" name="Text 82"/>
          <p:cNvSpPr/>
          <p:nvPr/>
        </p:nvSpPr>
        <p:spPr>
          <a:xfrm>
            <a:off x="6995160" y="4297680"/>
            <a:ext cx="1645920" cy="320040"/>
          </a:xfrm>
          <a:prstGeom prst="rect">
            <a:avLst/>
          </a:prstGeom>
          <a:noFill/>
          <a:ln/>
        </p:spPr>
        <p:txBody>
          <a:bodyPr wrap="square" lIns="0" tIns="0" rIns="0" bIns="0" rtlCol="0" anchor="ctr"/>
          <a:lstStyle/>
          <a:p>
            <a:pPr indent="0" marL="0">
              <a:buNone/>
            </a:pPr>
            <a:r>
              <a:rPr lang="en-US" sz="800" b="1" dirty="0">
                <a:solidFill>
                  <a:srgbClr val="5A3E6A"/>
                </a:solidFill>
                <a:latin typeface="Tiro Devanagari Hindi" pitchFamily="34" charset="0"/>
                <a:ea typeface="Tiro Devanagari Hindi" pitchFamily="34" charset="-122"/>
                <a:cs typeface="Tiro Devanagari Hindi" pitchFamily="34" charset="-120"/>
              </a:rPr>
              <a:t>दोष</a:t>
            </a:r>
            <a:endParaRPr lang="en-US" sz="800" dirty="0"/>
          </a:p>
        </p:txBody>
      </p:sp>
      <p:sp>
        <p:nvSpPr>
          <p:cNvPr id="85" name="Shape 83"/>
          <p:cNvSpPr/>
          <p:nvPr/>
        </p:nvSpPr>
        <p:spPr>
          <a:xfrm>
            <a:off x="8686800" y="4402836"/>
            <a:ext cx="109728" cy="109728"/>
          </a:xfrm>
          <a:prstGeom prst="ellipse">
            <a:avLst/>
          </a:prstGeom>
          <a:solidFill>
            <a:srgbClr val="5A3E6A"/>
          </a:solidFill>
          <a:ln w="12700">
            <a:solidFill>
              <a:srgbClr val="5A3E6A"/>
            </a:solidFill>
            <a:prstDash val="solid"/>
          </a:ln>
        </p:spPr>
      </p:sp>
      <p:sp>
        <p:nvSpPr>
          <p:cNvPr id="86" name="Shape 84"/>
          <p:cNvSpPr/>
          <p:nvPr/>
        </p:nvSpPr>
        <p:spPr>
          <a:xfrm>
            <a:off x="8961120" y="4402836"/>
            <a:ext cx="109728" cy="109728"/>
          </a:xfrm>
          <a:prstGeom prst="ellipse">
            <a:avLst/>
          </a:prstGeom>
          <a:solidFill>
            <a:srgbClr val="5A3E6A"/>
          </a:solidFill>
          <a:ln w="12700">
            <a:solidFill>
              <a:srgbClr val="5A3E6A"/>
            </a:solidFill>
            <a:prstDash val="solid"/>
          </a:ln>
        </p:spPr>
      </p:sp>
      <p:sp>
        <p:nvSpPr>
          <p:cNvPr id="87" name="Shape 85"/>
          <p:cNvSpPr/>
          <p:nvPr/>
        </p:nvSpPr>
        <p:spPr>
          <a:xfrm>
            <a:off x="9235440" y="4402836"/>
            <a:ext cx="109728" cy="109728"/>
          </a:xfrm>
          <a:prstGeom prst="ellipse">
            <a:avLst/>
          </a:prstGeom>
          <a:solidFill>
            <a:srgbClr val="5A3E6A"/>
          </a:solidFill>
          <a:ln w="12700">
            <a:solidFill>
              <a:srgbClr val="5A3E6A"/>
            </a:solidFill>
            <a:prstDash val="solid"/>
          </a:ln>
        </p:spPr>
      </p:sp>
      <p:sp>
        <p:nvSpPr>
          <p:cNvPr id="88" name="Shape 86"/>
          <p:cNvSpPr/>
          <p:nvPr/>
        </p:nvSpPr>
        <p:spPr>
          <a:xfrm>
            <a:off x="9509760" y="4402836"/>
            <a:ext cx="109728" cy="109728"/>
          </a:xfrm>
          <a:prstGeom prst="ellipse">
            <a:avLst/>
          </a:prstGeom>
          <a:solidFill>
            <a:srgbClr val="5A3E6A"/>
          </a:solidFill>
          <a:ln w="12700">
            <a:solidFill>
              <a:srgbClr val="5A3E6A"/>
            </a:solidFill>
            <a:prstDash val="solid"/>
          </a:ln>
        </p:spPr>
      </p:sp>
      <p:sp>
        <p:nvSpPr>
          <p:cNvPr id="89" name="Shape 87"/>
          <p:cNvSpPr/>
          <p:nvPr/>
        </p:nvSpPr>
        <p:spPr>
          <a:xfrm>
            <a:off x="9784080" y="4402836"/>
            <a:ext cx="109728" cy="109728"/>
          </a:xfrm>
          <a:prstGeom prst="ellipse">
            <a:avLst/>
          </a:prstGeom>
          <a:solidFill>
            <a:srgbClr val="5A3E6A"/>
          </a:solidFill>
          <a:ln w="12700">
            <a:solidFill>
              <a:srgbClr val="5A3E6A"/>
            </a:solidFill>
            <a:prstDash val="solid"/>
          </a:ln>
        </p:spPr>
      </p:sp>
      <p:sp>
        <p:nvSpPr>
          <p:cNvPr id="90" name="Shape 88"/>
          <p:cNvSpPr/>
          <p:nvPr/>
        </p:nvSpPr>
        <p:spPr>
          <a:xfrm>
            <a:off x="10058400" y="4402836"/>
            <a:ext cx="109728" cy="109728"/>
          </a:xfrm>
          <a:prstGeom prst="ellipse">
            <a:avLst/>
          </a:prstGeom>
          <a:solidFill>
            <a:srgbClr val="5A3E6A"/>
          </a:solidFill>
          <a:ln w="12700">
            <a:solidFill>
              <a:srgbClr val="5A3E6A"/>
            </a:solidFill>
            <a:prstDash val="solid"/>
          </a:ln>
        </p:spPr>
      </p:sp>
      <p:sp>
        <p:nvSpPr>
          <p:cNvPr id="91" name="Shape 89"/>
          <p:cNvSpPr/>
          <p:nvPr/>
        </p:nvSpPr>
        <p:spPr>
          <a:xfrm>
            <a:off x="10332720" y="4402836"/>
            <a:ext cx="109728" cy="109728"/>
          </a:xfrm>
          <a:prstGeom prst="ellipse">
            <a:avLst/>
          </a:prstGeom>
          <a:solidFill>
            <a:srgbClr val="5A3E6A"/>
          </a:solidFill>
          <a:ln w="12700">
            <a:solidFill>
              <a:srgbClr val="5A3E6A"/>
            </a:solidFill>
            <a:prstDash val="solid"/>
          </a:ln>
        </p:spPr>
      </p:sp>
      <p:sp>
        <p:nvSpPr>
          <p:cNvPr id="92" name="Shape 90"/>
          <p:cNvSpPr/>
          <p:nvPr/>
        </p:nvSpPr>
        <p:spPr>
          <a:xfrm>
            <a:off x="10607040" y="4402836"/>
            <a:ext cx="109728" cy="109728"/>
          </a:xfrm>
          <a:prstGeom prst="ellipse">
            <a:avLst/>
          </a:prstGeom>
          <a:solidFill>
            <a:srgbClr val="5A3E6A"/>
          </a:solidFill>
          <a:ln w="12700">
            <a:solidFill>
              <a:srgbClr val="5A3E6A"/>
            </a:solidFill>
            <a:prstDash val="solid"/>
          </a:ln>
        </p:spPr>
      </p:sp>
      <p:sp>
        <p:nvSpPr>
          <p:cNvPr id="93" name="Text 91"/>
          <p:cNvSpPr/>
          <p:nvPr/>
        </p:nvSpPr>
        <p:spPr>
          <a:xfrm>
            <a:off x="6995160" y="4617720"/>
            <a:ext cx="1645920" cy="320040"/>
          </a:xfrm>
          <a:prstGeom prst="rect">
            <a:avLst/>
          </a:prstGeom>
          <a:noFill/>
          <a:ln/>
        </p:spPr>
        <p:txBody>
          <a:bodyPr wrap="square" lIns="0" tIns="0" rIns="0" bIns="0" rtlCol="0" anchor="ctr"/>
          <a:lstStyle/>
          <a:p>
            <a:pPr indent="0" marL="0">
              <a:buNone/>
            </a:pPr>
            <a:r>
              <a:rPr lang="en-US" sz="800" b="1" dirty="0">
                <a:solidFill>
                  <a:srgbClr val="7A1E5A"/>
                </a:solidFill>
                <a:latin typeface="Tiro Devanagari Hindi" pitchFamily="34" charset="0"/>
                <a:ea typeface="Tiro Devanagari Hindi" pitchFamily="34" charset="-122"/>
                <a:cs typeface="Tiro Devanagari Hindi" pitchFamily="34" charset="-120"/>
              </a:rPr>
              <a:t>फल</a:t>
            </a:r>
            <a:endParaRPr lang="en-US" sz="800" dirty="0"/>
          </a:p>
        </p:txBody>
      </p:sp>
      <p:sp>
        <p:nvSpPr>
          <p:cNvPr id="94" name="Shape 92"/>
          <p:cNvSpPr/>
          <p:nvPr/>
        </p:nvSpPr>
        <p:spPr>
          <a:xfrm>
            <a:off x="8686800" y="4722876"/>
            <a:ext cx="109728" cy="109728"/>
          </a:xfrm>
          <a:prstGeom prst="ellipse">
            <a:avLst/>
          </a:prstGeom>
          <a:solidFill>
            <a:srgbClr val="7A1E5A"/>
          </a:solidFill>
          <a:ln w="12700">
            <a:solidFill>
              <a:srgbClr val="7A1E5A"/>
            </a:solidFill>
            <a:prstDash val="solid"/>
          </a:ln>
        </p:spPr>
      </p:sp>
      <p:sp>
        <p:nvSpPr>
          <p:cNvPr id="95" name="Shape 93"/>
          <p:cNvSpPr/>
          <p:nvPr/>
        </p:nvSpPr>
        <p:spPr>
          <a:xfrm>
            <a:off x="8961120" y="4722876"/>
            <a:ext cx="109728" cy="109728"/>
          </a:xfrm>
          <a:prstGeom prst="ellipse">
            <a:avLst/>
          </a:prstGeom>
          <a:solidFill>
            <a:srgbClr val="7A1E5A"/>
          </a:solidFill>
          <a:ln w="12700">
            <a:solidFill>
              <a:srgbClr val="7A1E5A"/>
            </a:solidFill>
            <a:prstDash val="solid"/>
          </a:ln>
        </p:spPr>
      </p:sp>
      <p:sp>
        <p:nvSpPr>
          <p:cNvPr id="96" name="Shape 94"/>
          <p:cNvSpPr/>
          <p:nvPr/>
        </p:nvSpPr>
        <p:spPr>
          <a:xfrm>
            <a:off x="9235440" y="4722876"/>
            <a:ext cx="109728" cy="109728"/>
          </a:xfrm>
          <a:prstGeom prst="ellipse">
            <a:avLst/>
          </a:prstGeom>
          <a:solidFill>
            <a:srgbClr val="7A1E5A"/>
          </a:solidFill>
          <a:ln w="12700">
            <a:solidFill>
              <a:srgbClr val="7A1E5A"/>
            </a:solidFill>
            <a:prstDash val="solid"/>
          </a:ln>
        </p:spPr>
      </p:sp>
      <p:sp>
        <p:nvSpPr>
          <p:cNvPr id="97" name="Shape 95"/>
          <p:cNvSpPr/>
          <p:nvPr/>
        </p:nvSpPr>
        <p:spPr>
          <a:xfrm>
            <a:off x="9509760" y="4722876"/>
            <a:ext cx="109728" cy="109728"/>
          </a:xfrm>
          <a:prstGeom prst="ellipse">
            <a:avLst/>
          </a:prstGeom>
          <a:solidFill>
            <a:srgbClr val="7A1E5A"/>
          </a:solidFill>
          <a:ln w="12700">
            <a:solidFill>
              <a:srgbClr val="7A1E5A"/>
            </a:solidFill>
            <a:prstDash val="solid"/>
          </a:ln>
        </p:spPr>
      </p:sp>
      <p:sp>
        <p:nvSpPr>
          <p:cNvPr id="98" name="Shape 96"/>
          <p:cNvSpPr/>
          <p:nvPr/>
        </p:nvSpPr>
        <p:spPr>
          <a:xfrm>
            <a:off x="9784080" y="4722876"/>
            <a:ext cx="109728" cy="109728"/>
          </a:xfrm>
          <a:prstGeom prst="ellipse">
            <a:avLst/>
          </a:prstGeom>
          <a:solidFill>
            <a:srgbClr val="7A1E5A"/>
          </a:solidFill>
          <a:ln w="12700">
            <a:solidFill>
              <a:srgbClr val="7A1E5A"/>
            </a:solidFill>
            <a:prstDash val="solid"/>
          </a:ln>
        </p:spPr>
      </p:sp>
      <p:sp>
        <p:nvSpPr>
          <p:cNvPr id="99" name="Shape 97"/>
          <p:cNvSpPr/>
          <p:nvPr/>
        </p:nvSpPr>
        <p:spPr>
          <a:xfrm>
            <a:off x="10058400" y="4722876"/>
            <a:ext cx="109728" cy="109728"/>
          </a:xfrm>
          <a:prstGeom prst="ellipse">
            <a:avLst/>
          </a:prstGeom>
          <a:solidFill>
            <a:srgbClr val="7A1E5A"/>
          </a:solidFill>
          <a:ln w="12700">
            <a:solidFill>
              <a:srgbClr val="7A1E5A"/>
            </a:solidFill>
            <a:prstDash val="solid"/>
          </a:ln>
        </p:spPr>
      </p:sp>
      <p:sp>
        <p:nvSpPr>
          <p:cNvPr id="100" name="Shape 98"/>
          <p:cNvSpPr/>
          <p:nvPr/>
        </p:nvSpPr>
        <p:spPr>
          <a:xfrm>
            <a:off x="10332720" y="4722876"/>
            <a:ext cx="109728" cy="109728"/>
          </a:xfrm>
          <a:prstGeom prst="ellipse">
            <a:avLst/>
          </a:prstGeom>
          <a:solidFill>
            <a:srgbClr val="7A1E5A"/>
          </a:solidFill>
          <a:ln w="12700">
            <a:solidFill>
              <a:srgbClr val="7A1E5A"/>
            </a:solidFill>
            <a:prstDash val="solid"/>
          </a:ln>
        </p:spPr>
      </p:sp>
      <p:sp>
        <p:nvSpPr>
          <p:cNvPr id="101" name="Shape 99"/>
          <p:cNvSpPr/>
          <p:nvPr/>
        </p:nvSpPr>
        <p:spPr>
          <a:xfrm>
            <a:off x="10607040" y="4722876"/>
            <a:ext cx="109728" cy="109728"/>
          </a:xfrm>
          <a:prstGeom prst="ellipse">
            <a:avLst/>
          </a:prstGeom>
          <a:solidFill>
            <a:srgbClr val="7A1E5A"/>
          </a:solidFill>
          <a:ln w="12700">
            <a:solidFill>
              <a:srgbClr val="7A1E5A"/>
            </a:solidFill>
            <a:prstDash val="solid"/>
          </a:ln>
        </p:spPr>
      </p:sp>
      <p:sp>
        <p:nvSpPr>
          <p:cNvPr id="102" name="Shape 100"/>
          <p:cNvSpPr/>
          <p:nvPr/>
        </p:nvSpPr>
        <p:spPr>
          <a:xfrm>
            <a:off x="10881360" y="4722876"/>
            <a:ext cx="109728" cy="109728"/>
          </a:xfrm>
          <a:prstGeom prst="ellipse">
            <a:avLst/>
          </a:prstGeom>
          <a:solidFill>
            <a:srgbClr val="7A1E5A"/>
          </a:solidFill>
          <a:ln w="12700">
            <a:solidFill>
              <a:srgbClr val="7A1E5A"/>
            </a:solidFill>
            <a:prstDash val="solid"/>
          </a:ln>
        </p:spPr>
      </p:sp>
      <p:sp>
        <p:nvSpPr>
          <p:cNvPr id="103" name="Shape 101"/>
          <p:cNvSpPr/>
          <p:nvPr/>
        </p:nvSpPr>
        <p:spPr>
          <a:xfrm>
            <a:off x="11155680" y="4722876"/>
            <a:ext cx="109728" cy="109728"/>
          </a:xfrm>
          <a:prstGeom prst="ellipse">
            <a:avLst/>
          </a:prstGeom>
          <a:solidFill>
            <a:srgbClr val="7A1E5A"/>
          </a:solidFill>
          <a:ln w="12700">
            <a:solidFill>
              <a:srgbClr val="7A1E5A"/>
            </a:solidFill>
            <a:prstDash val="solid"/>
          </a:ln>
        </p:spPr>
      </p:sp>
      <p:sp>
        <p:nvSpPr>
          <p:cNvPr id="104" name="Text 102"/>
          <p:cNvSpPr/>
          <p:nvPr/>
        </p:nvSpPr>
        <p:spPr>
          <a:xfrm>
            <a:off x="6995160" y="4937760"/>
            <a:ext cx="1645920" cy="320040"/>
          </a:xfrm>
          <a:prstGeom prst="rect">
            <a:avLst/>
          </a:prstGeom>
          <a:noFill/>
          <a:ln/>
        </p:spPr>
        <p:txBody>
          <a:bodyPr wrap="square" lIns="0" tIns="0" rIns="0" bIns="0" rtlCol="0" anchor="ctr"/>
          <a:lstStyle/>
          <a:p>
            <a:pPr indent="0" marL="0">
              <a:buNone/>
            </a:pPr>
            <a:r>
              <a:rPr lang="en-US" sz="800" b="1" dirty="0">
                <a:solidFill>
                  <a:srgbClr val="6A2E2E"/>
                </a:solidFill>
                <a:latin typeface="Tiro Devanagari Hindi" pitchFamily="34" charset="0"/>
                <a:ea typeface="Tiro Devanagari Hindi" pitchFamily="34" charset="-122"/>
                <a:cs typeface="Tiro Devanagari Hindi" pitchFamily="34" charset="-120"/>
              </a:rPr>
              <a:t>यज्ञ</a:t>
            </a:r>
            <a:endParaRPr lang="en-US" sz="800" dirty="0"/>
          </a:p>
        </p:txBody>
      </p:sp>
      <p:sp>
        <p:nvSpPr>
          <p:cNvPr id="105" name="Shape 103"/>
          <p:cNvSpPr/>
          <p:nvPr/>
        </p:nvSpPr>
        <p:spPr>
          <a:xfrm>
            <a:off x="8686800" y="5042916"/>
            <a:ext cx="109728" cy="109728"/>
          </a:xfrm>
          <a:prstGeom prst="ellipse">
            <a:avLst/>
          </a:prstGeom>
          <a:solidFill>
            <a:srgbClr val="6A2E2E"/>
          </a:solidFill>
          <a:ln w="12700">
            <a:solidFill>
              <a:srgbClr val="6A2E2E"/>
            </a:solidFill>
            <a:prstDash val="solid"/>
          </a:ln>
        </p:spPr>
      </p:sp>
      <p:sp>
        <p:nvSpPr>
          <p:cNvPr id="106" name="Shape 104"/>
          <p:cNvSpPr/>
          <p:nvPr/>
        </p:nvSpPr>
        <p:spPr>
          <a:xfrm>
            <a:off x="8961120" y="5042916"/>
            <a:ext cx="109728" cy="109728"/>
          </a:xfrm>
          <a:prstGeom prst="ellipse">
            <a:avLst/>
          </a:prstGeom>
          <a:solidFill>
            <a:srgbClr val="6A2E2E"/>
          </a:solidFill>
          <a:ln w="12700">
            <a:solidFill>
              <a:srgbClr val="6A2E2E"/>
            </a:solidFill>
            <a:prstDash val="solid"/>
          </a:ln>
        </p:spPr>
      </p:sp>
      <p:sp>
        <p:nvSpPr>
          <p:cNvPr id="107" name="Shape 105"/>
          <p:cNvSpPr/>
          <p:nvPr/>
        </p:nvSpPr>
        <p:spPr>
          <a:xfrm>
            <a:off x="9235440" y="5042916"/>
            <a:ext cx="109728" cy="109728"/>
          </a:xfrm>
          <a:prstGeom prst="ellipse">
            <a:avLst/>
          </a:prstGeom>
          <a:solidFill>
            <a:srgbClr val="6A2E2E"/>
          </a:solidFill>
          <a:ln w="12700">
            <a:solidFill>
              <a:srgbClr val="6A2E2E"/>
            </a:solidFill>
            <a:prstDash val="solid"/>
          </a:ln>
        </p:spPr>
      </p:sp>
      <p:sp>
        <p:nvSpPr>
          <p:cNvPr id="108" name="Shape 106"/>
          <p:cNvSpPr/>
          <p:nvPr/>
        </p:nvSpPr>
        <p:spPr>
          <a:xfrm>
            <a:off x="9509760" y="5042916"/>
            <a:ext cx="109728" cy="109728"/>
          </a:xfrm>
          <a:prstGeom prst="ellipse">
            <a:avLst/>
          </a:prstGeom>
          <a:solidFill>
            <a:srgbClr val="6A2E2E"/>
          </a:solidFill>
          <a:ln w="12700">
            <a:solidFill>
              <a:srgbClr val="6A2E2E"/>
            </a:solidFill>
            <a:prstDash val="solid"/>
          </a:ln>
        </p:spPr>
      </p:sp>
      <p:sp>
        <p:nvSpPr>
          <p:cNvPr id="109" name="Shape 107"/>
          <p:cNvSpPr/>
          <p:nvPr/>
        </p:nvSpPr>
        <p:spPr>
          <a:xfrm>
            <a:off x="9784080" y="5042916"/>
            <a:ext cx="109728" cy="109728"/>
          </a:xfrm>
          <a:prstGeom prst="ellipse">
            <a:avLst/>
          </a:prstGeom>
          <a:solidFill>
            <a:srgbClr val="6A2E2E"/>
          </a:solidFill>
          <a:ln w="12700">
            <a:solidFill>
              <a:srgbClr val="6A2E2E"/>
            </a:solidFill>
            <a:prstDash val="solid"/>
          </a:ln>
        </p:spPr>
      </p:sp>
      <p:sp>
        <p:nvSpPr>
          <p:cNvPr id="110" name="Shape 108"/>
          <p:cNvSpPr/>
          <p:nvPr/>
        </p:nvSpPr>
        <p:spPr>
          <a:xfrm>
            <a:off x="10058400" y="5042916"/>
            <a:ext cx="109728" cy="109728"/>
          </a:xfrm>
          <a:prstGeom prst="ellipse">
            <a:avLst/>
          </a:prstGeom>
          <a:solidFill>
            <a:srgbClr val="6A2E2E"/>
          </a:solidFill>
          <a:ln w="12700">
            <a:solidFill>
              <a:srgbClr val="6A2E2E"/>
            </a:solidFill>
            <a:prstDash val="solid"/>
          </a:ln>
        </p:spPr>
      </p:sp>
      <p:sp>
        <p:nvSpPr>
          <p:cNvPr id="111" name="Text 109"/>
          <p:cNvSpPr/>
          <p:nvPr/>
        </p:nvSpPr>
        <p:spPr>
          <a:xfrm>
            <a:off x="6995160" y="5257800"/>
            <a:ext cx="1645920" cy="320040"/>
          </a:xfrm>
          <a:prstGeom prst="rect">
            <a:avLst/>
          </a:prstGeom>
          <a:noFill/>
          <a:ln/>
        </p:spPr>
        <p:txBody>
          <a:bodyPr wrap="square" lIns="0" tIns="0" rIns="0" bIns="0" rtlCol="0" anchor="ctr"/>
          <a:lstStyle/>
          <a:p>
            <a:pPr indent="0" marL="0">
              <a:buNone/>
            </a:pPr>
            <a:r>
              <a:rPr lang="en-US" sz="800" b="1" dirty="0">
                <a:solidFill>
                  <a:srgbClr val="3E3A32"/>
                </a:solidFill>
                <a:latin typeface="Tiro Devanagari Hindi" pitchFamily="34" charset="0"/>
                <a:ea typeface="Tiro Devanagari Hindi" pitchFamily="34" charset="-122"/>
                <a:cs typeface="Tiro Devanagari Hindi" pitchFamily="34" charset="-120"/>
              </a:rPr>
              <a:t>प्रतीक</a:t>
            </a:r>
            <a:endParaRPr lang="en-US" sz="800" dirty="0"/>
          </a:p>
        </p:txBody>
      </p:sp>
      <p:sp>
        <p:nvSpPr>
          <p:cNvPr id="112" name="Shape 110"/>
          <p:cNvSpPr/>
          <p:nvPr/>
        </p:nvSpPr>
        <p:spPr>
          <a:xfrm>
            <a:off x="8686800" y="5362956"/>
            <a:ext cx="109728" cy="109728"/>
          </a:xfrm>
          <a:prstGeom prst="ellipse">
            <a:avLst/>
          </a:prstGeom>
          <a:solidFill>
            <a:srgbClr val="3E3A32"/>
          </a:solidFill>
          <a:ln w="12700">
            <a:solidFill>
              <a:srgbClr val="3E3A32"/>
            </a:solidFill>
            <a:prstDash val="solid"/>
          </a:ln>
        </p:spPr>
      </p:sp>
      <p:sp>
        <p:nvSpPr>
          <p:cNvPr id="113" name="Shape 111"/>
          <p:cNvSpPr/>
          <p:nvPr/>
        </p:nvSpPr>
        <p:spPr>
          <a:xfrm>
            <a:off x="8961120" y="5362956"/>
            <a:ext cx="109728" cy="109728"/>
          </a:xfrm>
          <a:prstGeom prst="ellipse">
            <a:avLst/>
          </a:prstGeom>
          <a:solidFill>
            <a:srgbClr val="3E3A32"/>
          </a:solidFill>
          <a:ln w="12700">
            <a:solidFill>
              <a:srgbClr val="3E3A32"/>
            </a:solidFill>
            <a:prstDash val="solid"/>
          </a:ln>
        </p:spPr>
      </p:sp>
      <p:sp>
        <p:nvSpPr>
          <p:cNvPr id="114" name="Shape 112"/>
          <p:cNvSpPr/>
          <p:nvPr/>
        </p:nvSpPr>
        <p:spPr>
          <a:xfrm>
            <a:off x="9235440" y="5362956"/>
            <a:ext cx="109728" cy="109728"/>
          </a:xfrm>
          <a:prstGeom prst="ellipse">
            <a:avLst/>
          </a:prstGeom>
          <a:solidFill>
            <a:srgbClr val="3E3A32"/>
          </a:solidFill>
          <a:ln w="12700">
            <a:solidFill>
              <a:srgbClr val="3E3A32"/>
            </a:solidFill>
            <a:prstDash val="solid"/>
          </a:ln>
        </p:spPr>
      </p:sp>
      <p:sp>
        <p:nvSpPr>
          <p:cNvPr id="115" name="Shape 113"/>
          <p:cNvSpPr/>
          <p:nvPr/>
        </p:nvSpPr>
        <p:spPr>
          <a:xfrm>
            <a:off x="9509760" y="5362956"/>
            <a:ext cx="109728" cy="109728"/>
          </a:xfrm>
          <a:prstGeom prst="ellipse">
            <a:avLst/>
          </a:prstGeom>
          <a:solidFill>
            <a:srgbClr val="3E3A32"/>
          </a:solidFill>
          <a:ln w="12700">
            <a:solidFill>
              <a:srgbClr val="3E3A32"/>
            </a:solidFill>
            <a:prstDash val="solid"/>
          </a:ln>
        </p:spPr>
      </p:sp>
      <p:sp>
        <p:nvSpPr>
          <p:cNvPr id="116" name="Shape 114"/>
          <p:cNvSpPr/>
          <p:nvPr/>
        </p:nvSpPr>
        <p:spPr>
          <a:xfrm>
            <a:off x="9784080" y="5362956"/>
            <a:ext cx="109728" cy="109728"/>
          </a:xfrm>
          <a:prstGeom prst="ellipse">
            <a:avLst/>
          </a:prstGeom>
          <a:solidFill>
            <a:srgbClr val="3E3A32"/>
          </a:solidFill>
          <a:ln w="12700">
            <a:solidFill>
              <a:srgbClr val="3E3A32"/>
            </a:solidFill>
            <a:prstDash val="solid"/>
          </a:ln>
        </p:spPr>
      </p:sp>
      <p:sp>
        <p:nvSpPr>
          <p:cNvPr id="117" name="Shape 115"/>
          <p:cNvSpPr/>
          <p:nvPr/>
        </p:nvSpPr>
        <p:spPr>
          <a:xfrm>
            <a:off x="10058400" y="5362956"/>
            <a:ext cx="109728" cy="109728"/>
          </a:xfrm>
          <a:prstGeom prst="ellipse">
            <a:avLst/>
          </a:prstGeom>
          <a:solidFill>
            <a:srgbClr val="3E3A32"/>
          </a:solidFill>
          <a:ln w="12700">
            <a:solidFill>
              <a:srgbClr val="3E3A32"/>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B1E1A"/>
                </a:solidFill>
                <a:latin typeface="Tiro Devanagari Hindi" pitchFamily="34" charset="0"/>
                <a:ea typeface="Tiro Devanagari Hindi" pitchFamily="34" charset="-122"/>
                <a:cs typeface="Tiro Devanagari Hindi" pitchFamily="34" charset="-120"/>
              </a:rPr>
              <a:t>मध्व-पाठ</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हरि की पूर्ण सर्वोच्चता</a:t>
            </a:r>
            <a:endParaRPr lang="en-US" sz="3000" dirty="0"/>
          </a:p>
        </p:txBody>
      </p:sp>
      <p:sp>
        <p:nvSpPr>
          <p:cNvPr id="4" name="Text 2"/>
          <p:cNvSpPr/>
          <p:nvPr/>
        </p:nvSpPr>
        <p:spPr>
          <a:xfrm>
            <a:off x="548640" y="1600200"/>
            <a:ext cx="6949440" cy="201168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तारतम्य की मूल धुरी: हरि सर्वोच्च हैं, उनके बराबर या उनसे ऊपर कोई नहीं। बाकी सब उन पर निर्भर।</a:t>
            </a:r>
            <a:endParaRPr lang="en-US" sz="1300" dirty="0"/>
          </a:p>
        </p:txBody>
      </p:sp>
      <p:sp>
        <p:nvSpPr>
          <p:cNvPr id="5" name="Text 3"/>
          <p:cNvSpPr/>
          <p:nvPr/>
        </p:nvSpPr>
        <p:spPr>
          <a:xfrm>
            <a:off x="548640" y="3703320"/>
            <a:ext cx="6949440" cy="1645920"/>
          </a:xfrm>
          <a:prstGeom prst="rect">
            <a:avLst/>
          </a:prstGeom>
          <a:noFill/>
          <a:ln/>
        </p:spPr>
        <p:txBody>
          <a:bodyPr wrap="square" rtlCol="0" anchor="t"/>
          <a:lstStyle/>
          <a:p>
            <a:pPr algn="l" indent="0" marL="0">
              <a:spcAft>
                <a:spcPts val="600"/>
              </a:spcAft>
              <a:buNone/>
            </a:pPr>
            <a:r>
              <a:rPr lang="en-US" sz="1300" i="1" dirty="0">
                <a:solidFill>
                  <a:srgbClr val="8B1E1A"/>
                </a:solidFill>
                <a:latin typeface="Tiro Devanagari Hindi" pitchFamily="34" charset="0"/>
                <a:ea typeface="Tiro Devanagari Hindi" pitchFamily="34" charset="-122"/>
                <a:cs typeface="Tiro Devanagari Hindi" pitchFamily="34" charset="-120"/>
              </a:rPr>
              <a:t>मध्व-सिद्धांत की नींव — पंचभेद यहीं से शुरू होता है।</a:t>
            </a:r>
            <a:endParaRPr lang="en-US" sz="1300" dirty="0"/>
          </a:p>
        </p:txBody>
      </p:sp>
      <p:sp>
        <p:nvSpPr>
          <p:cNvPr id="6" name="Shape 4"/>
          <p:cNvSpPr/>
          <p:nvPr/>
        </p:nvSpPr>
        <p:spPr>
          <a:xfrm>
            <a:off x="7772400" y="1600200"/>
            <a:ext cx="3886200" cy="4572000"/>
          </a:xfrm>
          <a:prstGeom prst="rect">
            <a:avLst/>
          </a:prstGeom>
          <a:solidFill>
            <a:srgbClr val="FBF5E6"/>
          </a:solidFill>
          <a:ln w="6350">
            <a:solidFill>
              <a:srgbClr val="C9B58A"/>
            </a:solidFill>
            <a:prstDash val="solid"/>
          </a:ln>
        </p:spPr>
      </p:sp>
      <p:sp>
        <p:nvSpPr>
          <p:cNvPr id="7" name="Shape 5"/>
          <p:cNvSpPr/>
          <p:nvPr/>
        </p:nvSpPr>
        <p:spPr>
          <a:xfrm>
            <a:off x="7772400" y="1600200"/>
            <a:ext cx="73152" cy="4572000"/>
          </a:xfrm>
          <a:prstGeom prst="rect">
            <a:avLst/>
          </a:prstGeom>
          <a:solidFill>
            <a:srgbClr val="8B1E1A"/>
          </a:solidFill>
          <a:ln w="12700">
            <a:solidFill>
              <a:srgbClr val="8B1E1A"/>
            </a:solidFill>
            <a:prstDash val="solid"/>
          </a:ln>
        </p:spPr>
      </p:sp>
      <p:sp>
        <p:nvSpPr>
          <p:cNvPr id="8" name="Text 6"/>
          <p:cNvSpPr/>
          <p:nvPr/>
        </p:nvSpPr>
        <p:spPr>
          <a:xfrm>
            <a:off x="7955280" y="1691640"/>
            <a:ext cx="3657600" cy="274320"/>
          </a:xfrm>
          <a:prstGeom prst="rect">
            <a:avLst/>
          </a:prstGeom>
          <a:noFill/>
          <a:ln/>
        </p:spPr>
        <p:txBody>
          <a:bodyPr wrap="square" lIns="0" tIns="0" rIns="0" bIns="0" rtlCol="0" anchor="ctr"/>
          <a:lstStyle/>
          <a:p>
            <a:pPr indent="0" marL="0">
              <a:buNone/>
            </a:pPr>
            <a:r>
              <a:rPr lang="en-US" sz="1000" b="1" spc="300" kern="0" dirty="0">
                <a:solidFill>
                  <a:srgbClr val="8A7558"/>
                </a:solidFill>
                <a:latin typeface="Tiro Devanagari Hindi" pitchFamily="34" charset="0"/>
                <a:ea typeface="Tiro Devanagari Hindi" pitchFamily="34" charset="-122"/>
                <a:cs typeface="Tiro Devanagari Hindi" pitchFamily="34" charset="-120"/>
              </a:rPr>
              <a:t>आधार-श्लोक</a:t>
            </a:r>
            <a:endParaRPr lang="en-US" sz="1000" dirty="0"/>
          </a:p>
        </p:txBody>
      </p:sp>
      <p:sp>
        <p:nvSpPr>
          <p:cNvPr id="9" name="Text 7"/>
          <p:cNvSpPr/>
          <p:nvPr/>
        </p:nvSpPr>
        <p:spPr>
          <a:xfrm>
            <a:off x="7955280" y="1965960"/>
            <a:ext cx="3657600" cy="274320"/>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BG 7.7</a:t>
            </a:r>
            <a:endParaRPr lang="en-US" sz="1100" dirty="0"/>
          </a:p>
        </p:txBody>
      </p:sp>
      <p:sp>
        <p:nvSpPr>
          <p:cNvPr id="10" name="Text 8"/>
          <p:cNvSpPr/>
          <p:nvPr/>
        </p:nvSpPr>
        <p:spPr>
          <a:xfrm>
            <a:off x="7955280" y="2331720"/>
            <a:ext cx="3657600" cy="2743200"/>
          </a:xfrm>
          <a:prstGeom prst="rect">
            <a:avLst/>
          </a:prstGeom>
          <a:noFill/>
          <a:ln/>
        </p:spPr>
        <p:txBody>
          <a:bodyPr wrap="square" rtlCol="0" anchor="t"/>
          <a:lstStyle/>
          <a:p>
            <a:pPr algn="l" indent="0" marL="0">
              <a:spcAft>
                <a:spcPts val="400"/>
              </a:spcAft>
              <a:buNone/>
            </a:pPr>
            <a:r>
              <a:rPr lang="en-US" sz="1200" dirty="0">
                <a:solidFill>
                  <a:srgbClr val="3B2A1B"/>
                </a:solidFill>
                <a:latin typeface="Tiro Devanagari Hindi" pitchFamily="34" charset="0"/>
                <a:ea typeface="Tiro Devanagari Hindi" pitchFamily="34" charset="-122"/>
                <a:cs typeface="Tiro Devanagari Hindi" pitchFamily="34" charset="-120"/>
              </a:rPr>
              <a:t>मत्तः परतरं नान्यत्किञ्चिदस्ति धनञ्जय।</a:t>
            </a:r>
            <a:endParaRPr lang="en-US" sz="1200" dirty="0"/>
          </a:p>
        </p:txBody>
      </p:sp>
      <p:sp>
        <p:nvSpPr>
          <p:cNvPr id="11" name="Text 9"/>
          <p:cNvSpPr/>
          <p:nvPr/>
        </p:nvSpPr>
        <p:spPr>
          <a:xfrm>
            <a:off x="7955280" y="5715000"/>
            <a:ext cx="3657600" cy="320040"/>
          </a:xfrm>
          <a:prstGeom prst="rect">
            <a:avLst/>
          </a:prstGeom>
          <a:noFill/>
          <a:ln/>
        </p:spPr>
        <p:txBody>
          <a:bodyPr wrap="square" lIns="0" tIns="0" rIns="0" bIns="0" rtlCol="0" anchor="ctr"/>
          <a:lstStyle/>
          <a:p>
            <a:pPr indent="0" marL="0">
              <a:buNone/>
            </a:pPr>
            <a:r>
              <a:rPr lang="en-US" sz="1000" i="1" dirty="0">
                <a:solidFill>
                  <a:srgbClr val="8A7558"/>
                </a:solidFill>
                <a:latin typeface="Cormorant Garamond" pitchFamily="34" charset="0"/>
                <a:ea typeface="Cormorant Garamond" pitchFamily="34" charset="-122"/>
                <a:cs typeface="Cormorant Garamond" pitchFamily="34" charset="-120"/>
              </a:rPr>
              <a:t>BG 7.7 · 11.43 · 18.65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B1E1A"/>
                </a:solidFill>
                <a:latin typeface="Tiro Devanagari Hindi" pitchFamily="34" charset="0"/>
                <a:ea typeface="Tiro Devanagari Hindi" pitchFamily="34" charset="-122"/>
                <a:cs typeface="Tiro Devanagari Hindi" pitchFamily="34" charset="-120"/>
              </a:rPr>
              <a:t>मध्व-पाठ</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पाँच असली भेद</a:t>
            </a:r>
            <a:endParaRPr lang="en-US" sz="3000" dirty="0"/>
          </a:p>
        </p:txBody>
      </p:sp>
      <p:sp>
        <p:nvSpPr>
          <p:cNvPr id="4" name="Text 2"/>
          <p:cNvSpPr/>
          <p:nvPr/>
        </p:nvSpPr>
        <p:spPr>
          <a:xfrm>
            <a:off x="548640" y="1600200"/>
            <a:ext cx="6949440" cy="201168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हरि-जीव, हरि-जड़, जीव-जड़, जीव-जीव, जड़-जड़ — पाँच नित्य भेद, जिन्हें मध्व-सिद्धांत वैचारिक सत्य के रूप में स्थापित करता है।</a:t>
            </a:r>
            <a:endParaRPr lang="en-US" sz="1300" dirty="0"/>
          </a:p>
        </p:txBody>
      </p:sp>
      <p:sp>
        <p:nvSpPr>
          <p:cNvPr id="5" name="Text 3"/>
          <p:cNvSpPr/>
          <p:nvPr/>
        </p:nvSpPr>
        <p:spPr>
          <a:xfrm>
            <a:off x="548640" y="3703320"/>
            <a:ext cx="6949440" cy="1645920"/>
          </a:xfrm>
          <a:prstGeom prst="rect">
            <a:avLst/>
          </a:prstGeom>
          <a:noFill/>
          <a:ln/>
        </p:spPr>
        <p:txBody>
          <a:bodyPr wrap="square" rtlCol="0" anchor="t"/>
          <a:lstStyle/>
          <a:p>
            <a:pPr algn="l" indent="0" marL="0">
              <a:spcAft>
                <a:spcPts val="600"/>
              </a:spcAft>
              <a:buNone/>
            </a:pPr>
            <a:r>
              <a:rPr lang="en-US" sz="1300" i="1" dirty="0">
                <a:solidFill>
                  <a:srgbClr val="8B1E1A"/>
                </a:solidFill>
                <a:latin typeface="Tiro Devanagari Hindi" pitchFamily="34" charset="0"/>
                <a:ea typeface="Tiro Devanagari Hindi" pitchFamily="34" charset="-122"/>
                <a:cs typeface="Tiro Devanagari Hindi" pitchFamily="34" charset="-120"/>
              </a:rPr>
              <a:t>मध्व-परिभाषा-सूत्र। हर भेद गीता में निहित है (जीव १५.७; जीव-जीव-भेद १८.४१ के स्वभाव-वर्णन में)।</a:t>
            </a:r>
            <a:endParaRPr lang="en-US" sz="1300" dirty="0"/>
          </a:p>
        </p:txBody>
      </p:sp>
      <p:sp>
        <p:nvSpPr>
          <p:cNvPr id="6" name="Shape 4"/>
          <p:cNvSpPr/>
          <p:nvPr/>
        </p:nvSpPr>
        <p:spPr>
          <a:xfrm>
            <a:off x="7772400" y="1600200"/>
            <a:ext cx="3886200" cy="4572000"/>
          </a:xfrm>
          <a:prstGeom prst="rect">
            <a:avLst/>
          </a:prstGeom>
          <a:solidFill>
            <a:srgbClr val="FBF5E6"/>
          </a:solidFill>
          <a:ln w="6350">
            <a:solidFill>
              <a:srgbClr val="C9B58A"/>
            </a:solidFill>
            <a:prstDash val="solid"/>
          </a:ln>
        </p:spPr>
      </p:sp>
      <p:sp>
        <p:nvSpPr>
          <p:cNvPr id="7" name="Shape 5"/>
          <p:cNvSpPr/>
          <p:nvPr/>
        </p:nvSpPr>
        <p:spPr>
          <a:xfrm>
            <a:off x="7772400" y="1600200"/>
            <a:ext cx="73152" cy="4572000"/>
          </a:xfrm>
          <a:prstGeom prst="rect">
            <a:avLst/>
          </a:prstGeom>
          <a:solidFill>
            <a:srgbClr val="8B1E1A"/>
          </a:solidFill>
          <a:ln w="12700">
            <a:solidFill>
              <a:srgbClr val="8B1E1A"/>
            </a:solidFill>
            <a:prstDash val="solid"/>
          </a:ln>
        </p:spPr>
      </p:sp>
      <p:sp>
        <p:nvSpPr>
          <p:cNvPr id="8" name="Text 6"/>
          <p:cNvSpPr/>
          <p:nvPr/>
        </p:nvSpPr>
        <p:spPr>
          <a:xfrm>
            <a:off x="7955280" y="1691640"/>
            <a:ext cx="3657600" cy="274320"/>
          </a:xfrm>
          <a:prstGeom prst="rect">
            <a:avLst/>
          </a:prstGeom>
          <a:noFill/>
          <a:ln/>
        </p:spPr>
        <p:txBody>
          <a:bodyPr wrap="square" lIns="0" tIns="0" rIns="0" bIns="0" rtlCol="0" anchor="ctr"/>
          <a:lstStyle/>
          <a:p>
            <a:pPr indent="0" marL="0">
              <a:buNone/>
            </a:pPr>
            <a:r>
              <a:rPr lang="en-US" sz="1000" b="1" spc="300" kern="0" dirty="0">
                <a:solidFill>
                  <a:srgbClr val="8A7558"/>
                </a:solidFill>
                <a:latin typeface="Tiro Devanagari Hindi" pitchFamily="34" charset="0"/>
                <a:ea typeface="Tiro Devanagari Hindi" pitchFamily="34" charset="-122"/>
                <a:cs typeface="Tiro Devanagari Hindi" pitchFamily="34" charset="-120"/>
              </a:rPr>
              <a:t>आधार-श्लोक</a:t>
            </a:r>
            <a:endParaRPr lang="en-US" sz="1000" dirty="0"/>
          </a:p>
        </p:txBody>
      </p:sp>
      <p:sp>
        <p:nvSpPr>
          <p:cNvPr id="9" name="Text 7"/>
          <p:cNvSpPr/>
          <p:nvPr/>
        </p:nvSpPr>
        <p:spPr>
          <a:xfrm>
            <a:off x="7955280" y="1965960"/>
            <a:ext cx="3657600" cy="274320"/>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BG 15.7</a:t>
            </a:r>
            <a:endParaRPr lang="en-US" sz="1100" dirty="0"/>
          </a:p>
        </p:txBody>
      </p:sp>
      <p:sp>
        <p:nvSpPr>
          <p:cNvPr id="10" name="Text 8"/>
          <p:cNvSpPr/>
          <p:nvPr/>
        </p:nvSpPr>
        <p:spPr>
          <a:xfrm>
            <a:off x="7955280" y="2331720"/>
            <a:ext cx="3657600" cy="2743200"/>
          </a:xfrm>
          <a:prstGeom prst="rect">
            <a:avLst/>
          </a:prstGeom>
          <a:noFill/>
          <a:ln/>
        </p:spPr>
        <p:txBody>
          <a:bodyPr wrap="square" rtlCol="0" anchor="t"/>
          <a:lstStyle/>
          <a:p>
            <a:pPr algn="l" indent="0" marL="0">
              <a:spcAft>
                <a:spcPts val="400"/>
              </a:spcAft>
              <a:buNone/>
            </a:pPr>
            <a:r>
              <a:rPr lang="en-US" sz="1200" dirty="0">
                <a:solidFill>
                  <a:srgbClr val="3B2A1B"/>
                </a:solidFill>
                <a:latin typeface="Tiro Devanagari Hindi" pitchFamily="34" charset="0"/>
                <a:ea typeface="Tiro Devanagari Hindi" pitchFamily="34" charset="-122"/>
                <a:cs typeface="Tiro Devanagari Hindi" pitchFamily="34" charset="-120"/>
              </a:rPr>
              <a:t>ममैवांशो जीवलोके जीवभूतः सनातनः।</a:t>
            </a:r>
            <a:endParaRPr lang="en-US" sz="1200" dirty="0"/>
          </a:p>
        </p:txBody>
      </p:sp>
      <p:sp>
        <p:nvSpPr>
          <p:cNvPr id="11" name="Text 9"/>
          <p:cNvSpPr/>
          <p:nvPr/>
        </p:nvSpPr>
        <p:spPr>
          <a:xfrm>
            <a:off x="7955280" y="5715000"/>
            <a:ext cx="3657600" cy="320040"/>
          </a:xfrm>
          <a:prstGeom prst="rect">
            <a:avLst/>
          </a:prstGeom>
          <a:noFill/>
          <a:ln/>
        </p:spPr>
        <p:txBody>
          <a:bodyPr wrap="square" lIns="0" tIns="0" rIns="0" bIns="0" rtlCol="0" anchor="ctr"/>
          <a:lstStyle/>
          <a:p>
            <a:pPr indent="0" marL="0">
              <a:buNone/>
            </a:pPr>
            <a:r>
              <a:rPr lang="en-US" sz="1000" i="1" dirty="0">
                <a:solidFill>
                  <a:srgbClr val="8A7558"/>
                </a:solidFill>
                <a:latin typeface="Cormorant Garamond" pitchFamily="34" charset="0"/>
                <a:ea typeface="Cormorant Garamond" pitchFamily="34" charset="-122"/>
                <a:cs typeface="Cormorant Garamond" pitchFamily="34" charset="-120"/>
              </a:rPr>
              <a:t>BG 7.4–5 · 15.7 · 15.16–18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B1E1A"/>
                </a:solidFill>
                <a:latin typeface="Tiro Devanagari Hindi" pitchFamily="34" charset="0"/>
                <a:ea typeface="Tiro Devanagari Hindi" pitchFamily="34" charset="-122"/>
                <a:cs typeface="Tiro Devanagari Hindi" pitchFamily="34" charset="-120"/>
              </a:rPr>
              <a:t>मध्व-पाठ</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सत्ता की क्रमिकता</a:t>
            </a:r>
            <a:endParaRPr lang="en-US" sz="3000" dirty="0"/>
          </a:p>
        </p:txBody>
      </p:sp>
      <p:sp>
        <p:nvSpPr>
          <p:cNvPr id="4" name="Text 2"/>
          <p:cNvSpPr/>
          <p:nvPr/>
        </p:nvSpPr>
        <p:spPr>
          <a:xfrm>
            <a:off x="548640" y="1600200"/>
            <a:ext cx="6949440" cy="201168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हरि के अधीन समस्त सत्ता का सख्त क्रम — हर आत्मा का एक निश्चित, अपरिवर्तनीय स्थान। मध्व-तत्त्वशास्त्र का स्थापत्य सिद्धांत।</a:t>
            </a:r>
            <a:endParaRPr lang="en-US" sz="1300" dirty="0"/>
          </a:p>
        </p:txBody>
      </p:sp>
      <p:sp>
        <p:nvSpPr>
          <p:cNvPr id="5" name="Text 3"/>
          <p:cNvSpPr/>
          <p:nvPr/>
        </p:nvSpPr>
        <p:spPr>
          <a:xfrm>
            <a:off x="548640" y="3703320"/>
            <a:ext cx="6949440" cy="1645920"/>
          </a:xfrm>
          <a:prstGeom prst="rect">
            <a:avLst/>
          </a:prstGeom>
          <a:noFill/>
          <a:ln/>
        </p:spPr>
        <p:txBody>
          <a:bodyPr wrap="square" rtlCol="0" anchor="t"/>
          <a:lstStyle/>
          <a:p>
            <a:pPr algn="l" indent="0" marL="0">
              <a:spcAft>
                <a:spcPts val="600"/>
              </a:spcAft>
              <a:buNone/>
            </a:pPr>
            <a:r>
              <a:rPr lang="en-US" sz="1300" i="1" dirty="0">
                <a:solidFill>
                  <a:srgbClr val="8B1E1A"/>
                </a:solidFill>
                <a:latin typeface="Tiro Devanagari Hindi" pitchFamily="34" charset="0"/>
                <a:ea typeface="Tiro Devanagari Hindi" pitchFamily="34" charset="-122"/>
                <a:cs typeface="Tiro Devanagari Hindi" pitchFamily="34" charset="-120"/>
              </a:rPr>
              <a:t>विशेष रूप से मध्व का। पंचभेद और मुक्ति की श्रेणियों का आधार।</a:t>
            </a:r>
            <a:endParaRPr lang="en-US" sz="1300" dirty="0"/>
          </a:p>
        </p:txBody>
      </p:sp>
      <p:sp>
        <p:nvSpPr>
          <p:cNvPr id="6" name="Shape 4"/>
          <p:cNvSpPr/>
          <p:nvPr/>
        </p:nvSpPr>
        <p:spPr>
          <a:xfrm>
            <a:off x="7772400" y="1600200"/>
            <a:ext cx="3886200" cy="4572000"/>
          </a:xfrm>
          <a:prstGeom prst="rect">
            <a:avLst/>
          </a:prstGeom>
          <a:solidFill>
            <a:srgbClr val="FBF5E6"/>
          </a:solidFill>
          <a:ln w="6350">
            <a:solidFill>
              <a:srgbClr val="C9B58A"/>
            </a:solidFill>
            <a:prstDash val="solid"/>
          </a:ln>
        </p:spPr>
      </p:sp>
      <p:sp>
        <p:nvSpPr>
          <p:cNvPr id="7" name="Shape 5"/>
          <p:cNvSpPr/>
          <p:nvPr/>
        </p:nvSpPr>
        <p:spPr>
          <a:xfrm>
            <a:off x="7772400" y="1600200"/>
            <a:ext cx="73152" cy="4572000"/>
          </a:xfrm>
          <a:prstGeom prst="rect">
            <a:avLst/>
          </a:prstGeom>
          <a:solidFill>
            <a:srgbClr val="8B1E1A"/>
          </a:solidFill>
          <a:ln w="12700">
            <a:solidFill>
              <a:srgbClr val="8B1E1A"/>
            </a:solidFill>
            <a:prstDash val="solid"/>
          </a:ln>
        </p:spPr>
      </p:sp>
      <p:sp>
        <p:nvSpPr>
          <p:cNvPr id="8" name="Text 6"/>
          <p:cNvSpPr/>
          <p:nvPr/>
        </p:nvSpPr>
        <p:spPr>
          <a:xfrm>
            <a:off x="7955280" y="1691640"/>
            <a:ext cx="3657600" cy="274320"/>
          </a:xfrm>
          <a:prstGeom prst="rect">
            <a:avLst/>
          </a:prstGeom>
          <a:noFill/>
          <a:ln/>
        </p:spPr>
        <p:txBody>
          <a:bodyPr wrap="square" lIns="0" tIns="0" rIns="0" bIns="0" rtlCol="0" anchor="ctr"/>
          <a:lstStyle/>
          <a:p>
            <a:pPr indent="0" marL="0">
              <a:buNone/>
            </a:pPr>
            <a:r>
              <a:rPr lang="en-US" sz="1000" b="1" spc="300" kern="0" dirty="0">
                <a:solidFill>
                  <a:srgbClr val="8A7558"/>
                </a:solidFill>
                <a:latin typeface="Tiro Devanagari Hindi" pitchFamily="34" charset="0"/>
                <a:ea typeface="Tiro Devanagari Hindi" pitchFamily="34" charset="-122"/>
                <a:cs typeface="Tiro Devanagari Hindi" pitchFamily="34" charset="-120"/>
              </a:rPr>
              <a:t>आधार-श्लोक</a:t>
            </a:r>
            <a:endParaRPr lang="en-US" sz="1000" dirty="0"/>
          </a:p>
        </p:txBody>
      </p:sp>
      <p:sp>
        <p:nvSpPr>
          <p:cNvPr id="9" name="Text 7"/>
          <p:cNvSpPr/>
          <p:nvPr/>
        </p:nvSpPr>
        <p:spPr>
          <a:xfrm>
            <a:off x="7955280" y="1965960"/>
            <a:ext cx="3657600" cy="274320"/>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BG 7.7</a:t>
            </a:r>
            <a:endParaRPr lang="en-US" sz="1100" dirty="0"/>
          </a:p>
        </p:txBody>
      </p:sp>
      <p:sp>
        <p:nvSpPr>
          <p:cNvPr id="10" name="Text 8"/>
          <p:cNvSpPr/>
          <p:nvPr/>
        </p:nvSpPr>
        <p:spPr>
          <a:xfrm>
            <a:off x="7955280" y="2331720"/>
            <a:ext cx="3657600" cy="2743200"/>
          </a:xfrm>
          <a:prstGeom prst="rect">
            <a:avLst/>
          </a:prstGeom>
          <a:noFill/>
          <a:ln/>
        </p:spPr>
        <p:txBody>
          <a:bodyPr wrap="square" rtlCol="0" anchor="t"/>
          <a:lstStyle/>
          <a:p>
            <a:pPr algn="l" indent="0" marL="0">
              <a:spcAft>
                <a:spcPts val="400"/>
              </a:spcAft>
              <a:buNone/>
            </a:pPr>
            <a:r>
              <a:rPr lang="en-US" sz="1200" dirty="0">
                <a:solidFill>
                  <a:srgbClr val="3B2A1B"/>
                </a:solidFill>
                <a:latin typeface="Tiro Devanagari Hindi" pitchFamily="34" charset="0"/>
                <a:ea typeface="Tiro Devanagari Hindi" pitchFamily="34" charset="-122"/>
                <a:cs typeface="Tiro Devanagari Hindi" pitchFamily="34" charset="-120"/>
              </a:rPr>
              <a:t>मत्तः परतरं नान्यत्किञ्चिदस्ति धनञ्जय।</a:t>
            </a:r>
            <a:endParaRPr lang="en-US" sz="1200" dirty="0"/>
          </a:p>
          <a:p>
            <a:pPr algn="l" indent="0" marL="0">
              <a:spcAft>
                <a:spcPts val="400"/>
              </a:spcAft>
              <a:buNone/>
            </a:pPr>
            <a:r>
              <a:rPr lang="en-US" sz="1200" dirty="0">
                <a:solidFill>
                  <a:srgbClr val="3B2A1B"/>
                </a:solidFill>
                <a:latin typeface="Tiro Devanagari Hindi" pitchFamily="34" charset="0"/>
                <a:ea typeface="Tiro Devanagari Hindi" pitchFamily="34" charset="-122"/>
                <a:cs typeface="Tiro Devanagari Hindi" pitchFamily="34" charset="-120"/>
              </a:rPr>
              <a:t>मयि सर्वमिदं प्रोतं सूत्रे मणिगणा इव॥</a:t>
            </a:r>
            <a:endParaRPr lang="en-US" sz="1200" dirty="0"/>
          </a:p>
        </p:txBody>
      </p:sp>
      <p:sp>
        <p:nvSpPr>
          <p:cNvPr id="11" name="Text 9"/>
          <p:cNvSpPr/>
          <p:nvPr/>
        </p:nvSpPr>
        <p:spPr>
          <a:xfrm>
            <a:off x="7955280" y="5715000"/>
            <a:ext cx="3657600" cy="320040"/>
          </a:xfrm>
          <a:prstGeom prst="rect">
            <a:avLst/>
          </a:prstGeom>
          <a:noFill/>
          <a:ln/>
        </p:spPr>
        <p:txBody>
          <a:bodyPr wrap="square" lIns="0" tIns="0" rIns="0" bIns="0" rtlCol="0" anchor="ctr"/>
          <a:lstStyle/>
          <a:p>
            <a:pPr indent="0" marL="0">
              <a:buNone/>
            </a:pPr>
            <a:r>
              <a:rPr lang="en-US" sz="1000" i="1" dirty="0">
                <a:solidFill>
                  <a:srgbClr val="8A7558"/>
                </a:solidFill>
                <a:latin typeface="Cormorant Garamond" pitchFamily="34" charset="0"/>
                <a:ea typeface="Cormorant Garamond" pitchFamily="34" charset="-122"/>
                <a:cs typeface="Cormorant Garamond" pitchFamily="34" charset="-120"/>
              </a:rPr>
              <a:t>BG 7.7 · 15.16–18</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7A1E5A"/>
                </a:solidFill>
                <a:latin typeface="Tiro Devanagari Hindi" pitchFamily="34" charset="0"/>
                <a:ea typeface="Tiro Devanagari Hindi" pitchFamily="34" charset="-122"/>
                <a:cs typeface="Tiro Devanagari Hindi" pitchFamily="34" charset="-120"/>
              </a:rPr>
              <a:t>मध्व-पाठ</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सर्व-धर्मान् परित्यज्य — शरण का फल</a:t>
            </a:r>
            <a:endParaRPr lang="en-US" sz="3000" dirty="0"/>
          </a:p>
        </p:txBody>
      </p:sp>
      <p:sp>
        <p:nvSpPr>
          <p:cNvPr id="4" name="Text 2"/>
          <p:cNvSpPr/>
          <p:nvPr/>
        </p:nvSpPr>
        <p:spPr>
          <a:xfrm>
            <a:off x="548640" y="1600200"/>
            <a:ext cx="6949440" cy="201168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‘मैं तुझे सब पापों से छुड़ा दूँगा; शोक मत कर’ — गीता १८.६६ पर कृष्ण की प्रतिज्ञा। मध्व के लिए यह गीता का चूड़ांत-श्लोक है।</a:t>
            </a:r>
            <a:endParaRPr lang="en-US" sz="1300" dirty="0"/>
          </a:p>
        </p:txBody>
      </p:sp>
      <p:sp>
        <p:nvSpPr>
          <p:cNvPr id="5" name="Text 3"/>
          <p:cNvSpPr/>
          <p:nvPr/>
        </p:nvSpPr>
        <p:spPr>
          <a:xfrm>
            <a:off x="548640" y="3703320"/>
            <a:ext cx="6949440" cy="1645920"/>
          </a:xfrm>
          <a:prstGeom prst="rect">
            <a:avLst/>
          </a:prstGeom>
          <a:noFill/>
          <a:ln/>
        </p:spPr>
        <p:txBody>
          <a:bodyPr wrap="square" rtlCol="0" anchor="t"/>
          <a:lstStyle/>
          <a:p>
            <a:pPr algn="l" indent="0" marL="0">
              <a:spcAft>
                <a:spcPts val="600"/>
              </a:spcAft>
              <a:buNone/>
            </a:pPr>
            <a:r>
              <a:rPr lang="en-US" sz="1300" i="1" dirty="0">
                <a:solidFill>
                  <a:srgbClr val="7A1E5A"/>
                </a:solidFill>
                <a:latin typeface="Tiro Devanagari Hindi" pitchFamily="34" charset="0"/>
                <a:ea typeface="Tiro Devanagari Hindi" pitchFamily="34" charset="-122"/>
                <a:cs typeface="Tiro Devanagari Hindi" pitchFamily="34" charset="-120"/>
              </a:rPr>
              <a:t>चरम-श्लोक — मध्व-परंपरा का सबसे केंद्रीय श्लोक, स्वयं हरि की प्रत्यक्ष प्रतिज्ञा।</a:t>
            </a:r>
            <a:endParaRPr lang="en-US" sz="1300" dirty="0"/>
          </a:p>
        </p:txBody>
      </p:sp>
      <p:sp>
        <p:nvSpPr>
          <p:cNvPr id="6" name="Shape 4"/>
          <p:cNvSpPr/>
          <p:nvPr/>
        </p:nvSpPr>
        <p:spPr>
          <a:xfrm>
            <a:off x="7772400" y="1600200"/>
            <a:ext cx="3886200" cy="4572000"/>
          </a:xfrm>
          <a:prstGeom prst="rect">
            <a:avLst/>
          </a:prstGeom>
          <a:solidFill>
            <a:srgbClr val="FBF5E6"/>
          </a:solidFill>
          <a:ln w="6350">
            <a:solidFill>
              <a:srgbClr val="C9B58A"/>
            </a:solidFill>
            <a:prstDash val="solid"/>
          </a:ln>
        </p:spPr>
      </p:sp>
      <p:sp>
        <p:nvSpPr>
          <p:cNvPr id="7" name="Shape 5"/>
          <p:cNvSpPr/>
          <p:nvPr/>
        </p:nvSpPr>
        <p:spPr>
          <a:xfrm>
            <a:off x="7772400" y="1600200"/>
            <a:ext cx="73152" cy="4572000"/>
          </a:xfrm>
          <a:prstGeom prst="rect">
            <a:avLst/>
          </a:prstGeom>
          <a:solidFill>
            <a:srgbClr val="7A1E5A"/>
          </a:solidFill>
          <a:ln w="12700">
            <a:solidFill>
              <a:srgbClr val="7A1E5A"/>
            </a:solidFill>
            <a:prstDash val="solid"/>
          </a:ln>
        </p:spPr>
      </p:sp>
      <p:sp>
        <p:nvSpPr>
          <p:cNvPr id="8" name="Text 6"/>
          <p:cNvSpPr/>
          <p:nvPr/>
        </p:nvSpPr>
        <p:spPr>
          <a:xfrm>
            <a:off x="7955280" y="1691640"/>
            <a:ext cx="3657600" cy="274320"/>
          </a:xfrm>
          <a:prstGeom prst="rect">
            <a:avLst/>
          </a:prstGeom>
          <a:noFill/>
          <a:ln/>
        </p:spPr>
        <p:txBody>
          <a:bodyPr wrap="square" lIns="0" tIns="0" rIns="0" bIns="0" rtlCol="0" anchor="ctr"/>
          <a:lstStyle/>
          <a:p>
            <a:pPr indent="0" marL="0">
              <a:buNone/>
            </a:pPr>
            <a:r>
              <a:rPr lang="en-US" sz="1000" b="1" spc="300" kern="0" dirty="0">
                <a:solidFill>
                  <a:srgbClr val="8A7558"/>
                </a:solidFill>
                <a:latin typeface="Tiro Devanagari Hindi" pitchFamily="34" charset="0"/>
                <a:ea typeface="Tiro Devanagari Hindi" pitchFamily="34" charset="-122"/>
                <a:cs typeface="Tiro Devanagari Hindi" pitchFamily="34" charset="-120"/>
              </a:rPr>
              <a:t>आधार-श्लोक</a:t>
            </a:r>
            <a:endParaRPr lang="en-US" sz="1000" dirty="0"/>
          </a:p>
        </p:txBody>
      </p:sp>
      <p:sp>
        <p:nvSpPr>
          <p:cNvPr id="9" name="Text 7"/>
          <p:cNvSpPr/>
          <p:nvPr/>
        </p:nvSpPr>
        <p:spPr>
          <a:xfrm>
            <a:off x="7955280" y="1965960"/>
            <a:ext cx="3657600" cy="274320"/>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BG 18.66</a:t>
            </a:r>
            <a:endParaRPr lang="en-US" sz="1100" dirty="0"/>
          </a:p>
        </p:txBody>
      </p:sp>
      <p:sp>
        <p:nvSpPr>
          <p:cNvPr id="10" name="Text 8"/>
          <p:cNvSpPr/>
          <p:nvPr/>
        </p:nvSpPr>
        <p:spPr>
          <a:xfrm>
            <a:off x="7955280" y="2331720"/>
            <a:ext cx="3657600" cy="2743200"/>
          </a:xfrm>
          <a:prstGeom prst="rect">
            <a:avLst/>
          </a:prstGeom>
          <a:noFill/>
          <a:ln/>
        </p:spPr>
        <p:txBody>
          <a:bodyPr wrap="square" rtlCol="0" anchor="t"/>
          <a:lstStyle/>
          <a:p>
            <a:pPr algn="l" indent="0" marL="0">
              <a:spcAft>
                <a:spcPts val="400"/>
              </a:spcAft>
              <a:buNone/>
            </a:pPr>
            <a:r>
              <a:rPr lang="en-US" sz="1200" dirty="0">
                <a:solidFill>
                  <a:srgbClr val="3B2A1B"/>
                </a:solidFill>
                <a:latin typeface="Tiro Devanagari Hindi" pitchFamily="34" charset="0"/>
                <a:ea typeface="Tiro Devanagari Hindi" pitchFamily="34" charset="-122"/>
                <a:cs typeface="Tiro Devanagari Hindi" pitchFamily="34" charset="-120"/>
              </a:rPr>
              <a:t>सर्वधर्मान्परित्यज्य मामेकं शरणं व्रज।</a:t>
            </a:r>
            <a:endParaRPr lang="en-US" sz="1200" dirty="0"/>
          </a:p>
          <a:p>
            <a:pPr algn="l" indent="0" marL="0">
              <a:spcAft>
                <a:spcPts val="400"/>
              </a:spcAft>
              <a:buNone/>
            </a:pPr>
            <a:r>
              <a:rPr lang="en-US" sz="1200" dirty="0">
                <a:solidFill>
                  <a:srgbClr val="3B2A1B"/>
                </a:solidFill>
                <a:latin typeface="Tiro Devanagari Hindi" pitchFamily="34" charset="0"/>
                <a:ea typeface="Tiro Devanagari Hindi" pitchFamily="34" charset="-122"/>
                <a:cs typeface="Tiro Devanagari Hindi" pitchFamily="34" charset="-120"/>
              </a:rPr>
              <a:t>अहं त्वा सर्वपापेभ्यो मोक्षयिष्यामि मा शुचः॥</a:t>
            </a:r>
            <a:endParaRPr lang="en-US" sz="1200" dirty="0"/>
          </a:p>
        </p:txBody>
      </p:sp>
      <p:sp>
        <p:nvSpPr>
          <p:cNvPr id="11" name="Text 9"/>
          <p:cNvSpPr/>
          <p:nvPr/>
        </p:nvSpPr>
        <p:spPr>
          <a:xfrm>
            <a:off x="7955280" y="5715000"/>
            <a:ext cx="3657600" cy="320040"/>
          </a:xfrm>
          <a:prstGeom prst="rect">
            <a:avLst/>
          </a:prstGeom>
          <a:noFill/>
          <a:ln/>
        </p:spPr>
        <p:txBody>
          <a:bodyPr wrap="square" lIns="0" tIns="0" rIns="0" bIns="0" rtlCol="0" anchor="ctr"/>
          <a:lstStyle/>
          <a:p>
            <a:pPr indent="0" marL="0">
              <a:buNone/>
            </a:pPr>
            <a:r>
              <a:rPr lang="en-US" sz="1000" i="1" dirty="0">
                <a:solidFill>
                  <a:srgbClr val="8A7558"/>
                </a:solidFill>
                <a:latin typeface="Cormorant Garamond" pitchFamily="34" charset="0"/>
                <a:ea typeface="Cormorant Garamond" pitchFamily="34" charset="-122"/>
                <a:cs typeface="Cormorant Garamond" pitchFamily="34" charset="-120"/>
              </a:rPr>
              <a:t>BG 18.66</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A83F1A"/>
                </a:solidFill>
                <a:latin typeface="Tiro Devanagari Hindi" pitchFamily="34" charset="0"/>
                <a:ea typeface="Tiro Devanagari Hindi" pitchFamily="34" charset="-122"/>
                <a:cs typeface="Tiro Devanagari Hindi" pitchFamily="34" charset="-120"/>
              </a:rPr>
              <a:t>मध्व-पाठ</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जीव — देहधारी आत्मा</a:t>
            </a:r>
            <a:endParaRPr lang="en-US" sz="3000" dirty="0"/>
          </a:p>
        </p:txBody>
      </p:sp>
      <p:sp>
        <p:nvSpPr>
          <p:cNvPr id="4" name="Text 2"/>
          <p:cNvSpPr/>
          <p:nvPr/>
        </p:nvSpPr>
        <p:spPr>
          <a:xfrm>
            <a:off x="548640" y="1600200"/>
            <a:ext cx="6949440" cy="2011680"/>
          </a:xfrm>
          <a:prstGeom prst="rect">
            <a:avLst/>
          </a:prstGeom>
          <a:noFill/>
          <a:ln/>
        </p:spPr>
        <p:txBody>
          <a:bodyPr wrap="square" rtlCol="0" anchor="t"/>
          <a:lstStyle/>
          <a:p>
            <a:pPr algn="l" indent="0" marL="0">
              <a:spcAft>
                <a:spcPts val="600"/>
              </a:spcAft>
              <a:buNone/>
            </a:pPr>
            <a:r>
              <a:rPr lang="en-US" sz="1300" dirty="0">
                <a:solidFill>
                  <a:srgbClr val="3B2A1B"/>
                </a:solidFill>
                <a:latin typeface="Tiro Devanagari Hindi" pitchFamily="34" charset="0"/>
                <a:ea typeface="Tiro Devanagari Hindi" pitchFamily="34" charset="-122"/>
                <a:cs typeface="Tiro Devanagari Hindi" pitchFamily="34" charset="-120"/>
              </a:rPr>
              <a:t>हरि का नित्य अंश (गीता १५.७) — असली, अलग, अनेक, ब्रह्म में कभी विलीन नहीं। अविद्या से बँधा रहता है, मुक्ति तक।</a:t>
            </a:r>
            <a:endParaRPr lang="en-US" sz="1300" dirty="0"/>
          </a:p>
        </p:txBody>
      </p:sp>
      <p:sp>
        <p:nvSpPr>
          <p:cNvPr id="5" name="Text 3"/>
          <p:cNvSpPr/>
          <p:nvPr/>
        </p:nvSpPr>
        <p:spPr>
          <a:xfrm>
            <a:off x="548640" y="3703320"/>
            <a:ext cx="6949440" cy="1645920"/>
          </a:xfrm>
          <a:prstGeom prst="rect">
            <a:avLst/>
          </a:prstGeom>
          <a:noFill/>
          <a:ln/>
        </p:spPr>
        <p:txBody>
          <a:bodyPr wrap="square" rtlCol="0" anchor="t"/>
          <a:lstStyle/>
          <a:p>
            <a:pPr algn="l" indent="0" marL="0">
              <a:spcAft>
                <a:spcPts val="600"/>
              </a:spcAft>
              <a:buNone/>
            </a:pPr>
            <a:r>
              <a:rPr lang="en-US" sz="1300" i="1" dirty="0">
                <a:solidFill>
                  <a:srgbClr val="A83F1A"/>
                </a:solidFill>
                <a:latin typeface="Tiro Devanagari Hindi" pitchFamily="34" charset="0"/>
                <a:ea typeface="Tiro Devanagari Hindi" pitchFamily="34" charset="-122"/>
                <a:cs typeface="Tiro Devanagari Hindi" pitchFamily="34" charset="-120"/>
              </a:rPr>
              <a:t>जीव-भेद वास्तविक है (पंचभेद का पहला)। जीवों की बहुलता नित्य है।</a:t>
            </a:r>
            <a:endParaRPr lang="en-US" sz="1300" dirty="0"/>
          </a:p>
        </p:txBody>
      </p:sp>
      <p:sp>
        <p:nvSpPr>
          <p:cNvPr id="6" name="Shape 4"/>
          <p:cNvSpPr/>
          <p:nvPr/>
        </p:nvSpPr>
        <p:spPr>
          <a:xfrm>
            <a:off x="7772400" y="1600200"/>
            <a:ext cx="3886200" cy="4572000"/>
          </a:xfrm>
          <a:prstGeom prst="rect">
            <a:avLst/>
          </a:prstGeom>
          <a:solidFill>
            <a:srgbClr val="FBF5E6"/>
          </a:solidFill>
          <a:ln w="6350">
            <a:solidFill>
              <a:srgbClr val="C9B58A"/>
            </a:solidFill>
            <a:prstDash val="solid"/>
          </a:ln>
        </p:spPr>
      </p:sp>
      <p:sp>
        <p:nvSpPr>
          <p:cNvPr id="7" name="Shape 5"/>
          <p:cNvSpPr/>
          <p:nvPr/>
        </p:nvSpPr>
        <p:spPr>
          <a:xfrm>
            <a:off x="7772400" y="1600200"/>
            <a:ext cx="73152" cy="4572000"/>
          </a:xfrm>
          <a:prstGeom prst="rect">
            <a:avLst/>
          </a:prstGeom>
          <a:solidFill>
            <a:srgbClr val="A83F1A"/>
          </a:solidFill>
          <a:ln w="12700">
            <a:solidFill>
              <a:srgbClr val="A83F1A"/>
            </a:solidFill>
            <a:prstDash val="solid"/>
          </a:ln>
        </p:spPr>
      </p:sp>
      <p:sp>
        <p:nvSpPr>
          <p:cNvPr id="8" name="Text 6"/>
          <p:cNvSpPr/>
          <p:nvPr/>
        </p:nvSpPr>
        <p:spPr>
          <a:xfrm>
            <a:off x="7955280" y="1691640"/>
            <a:ext cx="3657600" cy="274320"/>
          </a:xfrm>
          <a:prstGeom prst="rect">
            <a:avLst/>
          </a:prstGeom>
          <a:noFill/>
          <a:ln/>
        </p:spPr>
        <p:txBody>
          <a:bodyPr wrap="square" lIns="0" tIns="0" rIns="0" bIns="0" rtlCol="0" anchor="ctr"/>
          <a:lstStyle/>
          <a:p>
            <a:pPr indent="0" marL="0">
              <a:buNone/>
            </a:pPr>
            <a:r>
              <a:rPr lang="en-US" sz="1000" b="1" spc="300" kern="0" dirty="0">
                <a:solidFill>
                  <a:srgbClr val="8A7558"/>
                </a:solidFill>
                <a:latin typeface="Tiro Devanagari Hindi" pitchFamily="34" charset="0"/>
                <a:ea typeface="Tiro Devanagari Hindi" pitchFamily="34" charset="-122"/>
                <a:cs typeface="Tiro Devanagari Hindi" pitchFamily="34" charset="-120"/>
              </a:rPr>
              <a:t>आधार-श्लोक</a:t>
            </a:r>
            <a:endParaRPr lang="en-US" sz="1000" dirty="0"/>
          </a:p>
        </p:txBody>
      </p:sp>
      <p:sp>
        <p:nvSpPr>
          <p:cNvPr id="9" name="Text 7"/>
          <p:cNvSpPr/>
          <p:nvPr/>
        </p:nvSpPr>
        <p:spPr>
          <a:xfrm>
            <a:off x="7955280" y="1965960"/>
            <a:ext cx="3657600" cy="274320"/>
          </a:xfrm>
          <a:prstGeom prst="rect">
            <a:avLst/>
          </a:prstGeom>
          <a:noFill/>
          <a:ln/>
        </p:spPr>
        <p:txBody>
          <a:bodyPr wrap="square" lIns="0" tIns="0" rIns="0" bIns="0" rtlCol="0" anchor="ctr"/>
          <a:lstStyle/>
          <a:p>
            <a:pPr indent="0" marL="0">
              <a:buNone/>
            </a:pPr>
            <a:r>
              <a:rPr lang="en-US" sz="1100" i="1" dirty="0">
                <a:solidFill>
                  <a:srgbClr val="5A4632"/>
                </a:solidFill>
                <a:latin typeface="Cormorant Garamond" pitchFamily="34" charset="0"/>
                <a:ea typeface="Cormorant Garamond" pitchFamily="34" charset="-122"/>
                <a:cs typeface="Cormorant Garamond" pitchFamily="34" charset="-120"/>
              </a:rPr>
              <a:t>BG 15.7</a:t>
            </a:r>
            <a:endParaRPr lang="en-US" sz="1100" dirty="0"/>
          </a:p>
        </p:txBody>
      </p:sp>
      <p:sp>
        <p:nvSpPr>
          <p:cNvPr id="10" name="Text 8"/>
          <p:cNvSpPr/>
          <p:nvPr/>
        </p:nvSpPr>
        <p:spPr>
          <a:xfrm>
            <a:off x="7955280" y="2331720"/>
            <a:ext cx="3657600" cy="2743200"/>
          </a:xfrm>
          <a:prstGeom prst="rect">
            <a:avLst/>
          </a:prstGeom>
          <a:noFill/>
          <a:ln/>
        </p:spPr>
        <p:txBody>
          <a:bodyPr wrap="square" rtlCol="0" anchor="t"/>
          <a:lstStyle/>
          <a:p>
            <a:pPr algn="l" indent="0" marL="0">
              <a:spcAft>
                <a:spcPts val="400"/>
              </a:spcAft>
              <a:buNone/>
            </a:pPr>
            <a:r>
              <a:rPr lang="en-US" sz="1200" dirty="0">
                <a:solidFill>
                  <a:srgbClr val="3B2A1B"/>
                </a:solidFill>
                <a:latin typeface="Tiro Devanagari Hindi" pitchFamily="34" charset="0"/>
                <a:ea typeface="Tiro Devanagari Hindi" pitchFamily="34" charset="-122"/>
                <a:cs typeface="Tiro Devanagari Hindi" pitchFamily="34" charset="-120"/>
              </a:rPr>
              <a:t>ममैवांशो जीवलोके जीवभूतः सनातनः।</a:t>
            </a:r>
            <a:endParaRPr lang="en-US" sz="1200" dirty="0"/>
          </a:p>
          <a:p>
            <a:pPr algn="l" indent="0" marL="0">
              <a:spcAft>
                <a:spcPts val="400"/>
              </a:spcAft>
              <a:buNone/>
            </a:pPr>
            <a:r>
              <a:rPr lang="en-US" sz="1200" dirty="0">
                <a:solidFill>
                  <a:srgbClr val="3B2A1B"/>
                </a:solidFill>
                <a:latin typeface="Tiro Devanagari Hindi" pitchFamily="34" charset="0"/>
                <a:ea typeface="Tiro Devanagari Hindi" pitchFamily="34" charset="-122"/>
                <a:cs typeface="Tiro Devanagari Hindi" pitchFamily="34" charset="-120"/>
              </a:rPr>
              <a:t>मनःषष्ठानीन्द्रियाणि प्रकृतिस्थानि कर्षति॥</a:t>
            </a:r>
            <a:endParaRPr lang="en-US" sz="1200" dirty="0"/>
          </a:p>
        </p:txBody>
      </p:sp>
      <p:sp>
        <p:nvSpPr>
          <p:cNvPr id="11" name="Text 9"/>
          <p:cNvSpPr/>
          <p:nvPr/>
        </p:nvSpPr>
        <p:spPr>
          <a:xfrm>
            <a:off x="7955280" y="5715000"/>
            <a:ext cx="3657600" cy="320040"/>
          </a:xfrm>
          <a:prstGeom prst="rect">
            <a:avLst/>
          </a:prstGeom>
          <a:noFill/>
          <a:ln/>
        </p:spPr>
        <p:txBody>
          <a:bodyPr wrap="square" lIns="0" tIns="0" rIns="0" bIns="0" rtlCol="0" anchor="ctr"/>
          <a:lstStyle/>
          <a:p>
            <a:pPr indent="0" marL="0">
              <a:buNone/>
            </a:pPr>
            <a:r>
              <a:rPr lang="en-US" sz="1000" i="1" dirty="0">
                <a:solidFill>
                  <a:srgbClr val="8A7558"/>
                </a:solidFill>
                <a:latin typeface="Cormorant Garamond" pitchFamily="34" charset="0"/>
                <a:ea typeface="Cormorant Garamond" pitchFamily="34" charset="-122"/>
                <a:cs typeface="Cormorant Garamond" pitchFamily="34" charset="-120"/>
              </a:rPr>
              <a:t>BG 15.7</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Tiro Devanagari Hindi" pitchFamily="34" charset="0"/>
                <a:ea typeface="Tiro Devanagari Hindi" pitchFamily="34" charset="-122"/>
                <a:cs typeface="Tiro Devanagari Hindi" pitchFamily="34" charset="-120"/>
              </a:rPr>
              <a:t>22</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व्यूअर का उपयोग</a:t>
            </a:r>
            <a:endParaRPr lang="en-US" sz="3000" dirty="0"/>
          </a:p>
        </p:txBody>
      </p:sp>
      <p:sp>
        <p:nvSpPr>
          <p:cNvPr id="4" name="Text 2"/>
          <p:cNvSpPr/>
          <p:nvPr/>
        </p:nvSpPr>
        <p:spPr>
          <a:xfrm>
            <a:off x="548640" y="1691640"/>
            <a:ext cx="10972800" cy="4114800"/>
          </a:xfrm>
          <a:prstGeom prst="rect">
            <a:avLst/>
          </a:prstGeom>
          <a:noFill/>
          <a:ln/>
        </p:spPr>
        <p:txBody>
          <a:bodyPr wrap="square" rtlCol="0" anchor="t"/>
          <a:lstStyle/>
          <a:p>
            <a:pPr algn="l" indent="0" marL="0">
              <a:spcAft>
                <a:spcPts val="800"/>
              </a:spcAft>
              <a:buNone/>
            </a:pPr>
            <a:r>
              <a:rPr lang="en-US" sz="1500" dirty="0">
                <a:solidFill>
                  <a:srgbClr val="3B2A1B"/>
                </a:solidFill>
                <a:latin typeface="Tiro Devanagari Hindi" pitchFamily="34" charset="0"/>
                <a:ea typeface="Tiro Devanagari Hindi" pitchFamily="34" charset="-122"/>
                <a:cs typeface="Tiro Devanagari Hindi" pitchFamily="34" charset="-120"/>
              </a:rPr>
              <a:t>• Browse — हर संकल्पना अपने स्तर पर, जीवित खोज सहित</a:t>
            </a:r>
            <a:endParaRPr lang="en-US" sz="1500" dirty="0"/>
          </a:p>
          <a:p>
            <a:pPr algn="l" indent="0" marL="0">
              <a:spcAft>
                <a:spcPts val="800"/>
              </a:spcAft>
              <a:buNone/>
            </a:pPr>
            <a:r>
              <a:rPr lang="en-US" sz="1500" dirty="0">
                <a:solidFill>
                  <a:srgbClr val="3B2A1B"/>
                </a:solidFill>
                <a:latin typeface="Tiro Devanagari Hindi" pitchFamily="34" charset="0"/>
                <a:ea typeface="Tiro Devanagari Hindi" pitchFamily="34" charset="-122"/>
                <a:cs typeface="Tiro Devanagari Hindi" pitchFamily="34" charset="-120"/>
              </a:rPr>
              <a:t>• Focus — श्लोक-आधार, सिद्धांत-टिप्पणी, मध्व-टिप्पणी, सब संबंध</a:t>
            </a:r>
            <a:endParaRPr lang="en-US" sz="1500" dirty="0"/>
          </a:p>
          <a:p>
            <a:pPr algn="l" indent="0" marL="0">
              <a:spcAft>
                <a:spcPts val="800"/>
              </a:spcAft>
              <a:buNone/>
            </a:pPr>
            <a:r>
              <a:rPr lang="en-US" sz="1500" dirty="0">
                <a:solidFill>
                  <a:srgbClr val="3B2A1B"/>
                </a:solidFill>
                <a:latin typeface="Tiro Devanagari Hindi" pitchFamily="34" charset="0"/>
                <a:ea typeface="Tiro Devanagari Hindi" pitchFamily="34" charset="-122"/>
                <a:cs typeface="Tiro Devanagari Hindi" pitchFamily="34" charset="-120"/>
              </a:rPr>
              <a:t>• Map — सभी ११२ संकल्पनाएँ एक खगोलीय पट पर</a:t>
            </a:r>
            <a:endParaRPr lang="en-US" sz="1500" dirty="0"/>
          </a:p>
          <a:p>
            <a:pPr algn="l" indent="0" marL="0">
              <a:spcAft>
                <a:spcPts val="800"/>
              </a:spcAft>
              <a:buNone/>
            </a:pPr>
            <a:r>
              <a:rPr lang="en-US" sz="1500" dirty="0">
                <a:solidFill>
                  <a:srgbClr val="3B2A1B"/>
                </a:solidFill>
                <a:latin typeface="Tiro Devanagari Hindi" pitchFamily="34" charset="0"/>
                <a:ea typeface="Tiro Devanagari Hindi" pitchFamily="34" charset="-122"/>
                <a:cs typeface="Tiro Devanagari Hindi" pitchFamily="34" charset="-120"/>
              </a:rPr>
              <a:t>चार-लिपि स्विच: English · देवनागरी · हिंदी · ಕನ್ನಡ — एक स्पर्श में बदलाव।</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Tiro Devanagari Hindi" pitchFamily="34" charset="0"/>
                <a:ea typeface="Tiro Devanagari Hindi" pitchFamily="34" charset="-122"/>
                <a:cs typeface="Tiro Devanagari Hindi" pitchFamily="34" charset="-120"/>
              </a:rPr>
              <a:t>23</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स्रोत</a:t>
            </a:r>
            <a:endParaRPr lang="en-US" sz="3000" dirty="0"/>
          </a:p>
        </p:txBody>
      </p:sp>
      <p:sp>
        <p:nvSpPr>
          <p:cNvPr id="4" name="Text 2"/>
          <p:cNvSpPr/>
          <p:nvPr/>
        </p:nvSpPr>
        <p:spPr>
          <a:xfrm>
            <a:off x="548640" y="1691640"/>
            <a:ext cx="10972800" cy="4389120"/>
          </a:xfrm>
          <a:prstGeom prst="rect">
            <a:avLst/>
          </a:prstGeom>
          <a:noFill/>
          <a:ln/>
        </p:spPr>
        <p:txBody>
          <a:bodyPr wrap="square" rtlCol="0" anchor="t"/>
          <a:lstStyle/>
          <a:p>
            <a:pPr algn="l" marL="342900" indent="-342900">
              <a:spcAft>
                <a:spcPts val="600"/>
              </a:spcAft>
              <a:buSzPct val="100000"/>
              <a:buChar char="•"/>
            </a:pPr>
            <a:r>
              <a:rPr lang="en-US" sz="1400" dirty="0">
                <a:solidFill>
                  <a:srgbClr val="3B2A1B"/>
                </a:solidFill>
                <a:latin typeface="Tiro Devanagari Hindi" pitchFamily="34" charset="0"/>
                <a:ea typeface="Tiro Devanagari Hindi" pitchFamily="34" charset="-122"/>
                <a:cs typeface="Tiro Devanagari Hindi" pitchFamily="34" charset="-120"/>
              </a:rPr>
              <a:t>मूल — भगवद्गीता (संस्कृत श्लोक, हर संकल्पना श्लोक में आधारित)</a:t>
            </a:r>
            <a:endParaRPr lang="en-US" sz="1400" dirty="0"/>
          </a:p>
          <a:p>
            <a:pPr algn="l" marL="342900" indent="-342900">
              <a:spcAft>
                <a:spcPts val="600"/>
              </a:spcAft>
              <a:buSzPct val="100000"/>
              <a:buChar char="•"/>
            </a:pPr>
            <a:r>
              <a:rPr lang="en-US" sz="1400" dirty="0">
                <a:solidFill>
                  <a:srgbClr val="3B2A1B"/>
                </a:solidFill>
                <a:latin typeface="Tiro Devanagari Hindi" pitchFamily="34" charset="0"/>
                <a:ea typeface="Tiro Devanagari Hindi" pitchFamily="34" charset="-122"/>
                <a:cs typeface="Tiro Devanagari Hindi" pitchFamily="34" charset="-120"/>
              </a:rPr>
              <a:t>भाष्य — मध्व, गीता-भाष्य</a:t>
            </a:r>
            <a:endParaRPr lang="en-US" sz="1400" dirty="0"/>
          </a:p>
          <a:p>
            <a:pPr algn="l" marL="342900" indent="-342900">
              <a:spcAft>
                <a:spcPts val="600"/>
              </a:spcAft>
              <a:buSzPct val="100000"/>
              <a:buChar char="•"/>
            </a:pPr>
            <a:r>
              <a:rPr lang="en-US" sz="1400" dirty="0">
                <a:solidFill>
                  <a:srgbClr val="3B2A1B"/>
                </a:solidFill>
                <a:latin typeface="Tiro Devanagari Hindi" pitchFamily="34" charset="0"/>
                <a:ea typeface="Tiro Devanagari Hindi" pitchFamily="34" charset="-122"/>
                <a:cs typeface="Tiro Devanagari Hindi" pitchFamily="34" charset="-120"/>
              </a:rPr>
              <a:t>आधुनिक व्याख्या — बन्नंजे गोविंदाचार्य, गीता-भाष्य (४ खंड, कन्नड़)</a:t>
            </a:r>
            <a:endParaRPr lang="en-US" sz="1400" dirty="0"/>
          </a:p>
          <a:p>
            <a:pPr algn="l" marL="342900" indent="-342900">
              <a:spcAft>
                <a:spcPts val="600"/>
              </a:spcAft>
              <a:buSzPct val="100000"/>
              <a:buChar char="•"/>
            </a:pPr>
            <a:r>
              <a:rPr lang="en-US" sz="1400" dirty="0">
                <a:solidFill>
                  <a:srgbClr val="3B2A1B"/>
                </a:solidFill>
                <a:latin typeface="Tiro Devanagari Hindi" pitchFamily="34" charset="0"/>
                <a:ea typeface="Tiro Devanagari Hindi" pitchFamily="34" charset="-122"/>
                <a:cs typeface="Tiro Devanagari Hindi" pitchFamily="34" charset="-120"/>
              </a:rPr>
              <a:t>सिद्धांत-दृष्टि — BNK शर्मा, श्री-मध्वाचार्य का दर्शन</a:t>
            </a:r>
            <a:endParaRPr lang="en-US" sz="1400" dirty="0"/>
          </a:p>
          <a:p>
            <a:pPr algn="l" marL="342900" indent="-342900">
              <a:spcAft>
                <a:spcPts val="600"/>
              </a:spcAft>
              <a:buSzPct val="100000"/>
              <a:buChar char="•"/>
            </a:pPr>
            <a:r>
              <a:rPr lang="en-US" sz="1400" dirty="0">
                <a:solidFill>
                  <a:srgbClr val="3B2A1B"/>
                </a:solidFill>
                <a:latin typeface="Tiro Devanagari Hindi" pitchFamily="34" charset="0"/>
                <a:ea typeface="Tiro Devanagari Hindi" pitchFamily="34" charset="-122"/>
                <a:cs typeface="Tiro Devanagari Hindi" pitchFamily="34" charset="-120"/>
              </a:rPr>
              <a:t>मानदंड — हर नोड श्लोक + परंपरा पर आधारित; कोई संपादकीय कल्पना नहीं</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548640" y="320040"/>
            <a:ext cx="10972800" cy="320040"/>
          </a:xfrm>
          <a:prstGeom prst="rect">
            <a:avLst/>
          </a:prstGeom>
          <a:noFill/>
          <a:ln/>
        </p:spPr>
        <p:txBody>
          <a:bodyPr wrap="square" lIns="0" tIns="0" rIns="0" bIns="0" rtlCol="0" anchor="ctr"/>
          <a:lstStyle/>
          <a:p>
            <a:pPr algn="l" indent="0" marL="0">
              <a:buNone/>
            </a:pPr>
            <a:r>
              <a:rPr lang="en-US" sz="1100" b="1" spc="400" kern="0" dirty="0">
                <a:solidFill>
                  <a:srgbClr val="8A7558"/>
                </a:solidFill>
                <a:latin typeface="Tiro Devanagari Hindi" pitchFamily="34" charset="0"/>
                <a:ea typeface="Tiro Devanagari Hindi" pitchFamily="34" charset="-122"/>
                <a:cs typeface="Tiro Devanagari Hindi" pitchFamily="34" charset="-120"/>
              </a:rPr>
              <a:t>24</a:t>
            </a:r>
            <a:endParaRPr lang="en-US" sz="1100" dirty="0"/>
          </a:p>
        </p:txBody>
      </p:sp>
      <p:sp>
        <p:nvSpPr>
          <p:cNvPr id="3" name="Text 1"/>
          <p:cNvSpPr/>
          <p:nvPr/>
        </p:nvSpPr>
        <p:spPr>
          <a:xfrm>
            <a:off x="548640" y="640080"/>
            <a:ext cx="10972800" cy="777240"/>
          </a:xfrm>
          <a:prstGeom prst="rect">
            <a:avLst/>
          </a:prstGeom>
          <a:noFill/>
          <a:ln/>
        </p:spPr>
        <p:txBody>
          <a:bodyPr wrap="square" lIns="0" tIns="0" rIns="0" bIns="0" rtlCol="0" anchor="ctr"/>
          <a:lstStyle/>
          <a:p>
            <a:pPr algn="l" indent="0" marL="0">
              <a:buNone/>
            </a:pPr>
            <a:r>
              <a:rPr lang="en-US" sz="3000" b="1" dirty="0">
                <a:solidFill>
                  <a:srgbClr val="3B2A1B"/>
                </a:solidFill>
                <a:latin typeface="Tiro Devanagari Hindi" pitchFamily="34" charset="0"/>
                <a:ea typeface="Tiro Devanagari Hindi" pitchFamily="34" charset="-122"/>
                <a:cs typeface="Tiro Devanagari Hindi" pitchFamily="34" charset="-120"/>
              </a:rPr>
              <a:t>इस ग्राफ में क्या है</a:t>
            </a:r>
            <a:endParaRPr lang="en-US" sz="3000" dirty="0"/>
          </a:p>
        </p:txBody>
      </p:sp>
      <p:sp>
        <p:nvSpPr>
          <p:cNvPr id="4" name="Shape 2"/>
          <p:cNvSpPr/>
          <p:nvPr/>
        </p:nvSpPr>
        <p:spPr>
          <a:xfrm>
            <a:off x="548640" y="1828800"/>
            <a:ext cx="2651760" cy="2011680"/>
          </a:xfrm>
          <a:prstGeom prst="rect">
            <a:avLst/>
          </a:prstGeom>
          <a:solidFill>
            <a:srgbClr val="FBF5E6"/>
          </a:solidFill>
          <a:ln w="6350">
            <a:solidFill>
              <a:srgbClr val="C9B58A"/>
            </a:solidFill>
            <a:prstDash val="solid"/>
          </a:ln>
        </p:spPr>
      </p:sp>
      <p:sp>
        <p:nvSpPr>
          <p:cNvPr id="5" name="Text 3"/>
          <p:cNvSpPr/>
          <p:nvPr/>
        </p:nvSpPr>
        <p:spPr>
          <a:xfrm>
            <a:off x="548640" y="2057400"/>
            <a:ext cx="2651760" cy="1097280"/>
          </a:xfrm>
          <a:prstGeom prst="rect">
            <a:avLst/>
          </a:prstGeom>
          <a:noFill/>
          <a:ln/>
        </p:spPr>
        <p:txBody>
          <a:bodyPr wrap="square" lIns="0" tIns="0" rIns="0" bIns="0" rtlCol="0" anchor="ctr"/>
          <a:lstStyle/>
          <a:p>
            <a:pPr algn="ctr" indent="0" marL="0">
              <a:buNone/>
            </a:pPr>
            <a:r>
              <a:rPr lang="en-US" sz="6000" b="1" dirty="0">
                <a:solidFill>
                  <a:srgbClr val="3B2A1B"/>
                </a:solidFill>
                <a:latin typeface="Cormorant Garamond" pitchFamily="34" charset="0"/>
                <a:ea typeface="Cormorant Garamond" pitchFamily="34" charset="-122"/>
                <a:cs typeface="Cormorant Garamond" pitchFamily="34" charset="-120"/>
              </a:rPr>
              <a:t>112</a:t>
            </a:r>
            <a:endParaRPr lang="en-US" sz="6000" dirty="0"/>
          </a:p>
        </p:txBody>
      </p:sp>
      <p:sp>
        <p:nvSpPr>
          <p:cNvPr id="6" name="Text 4"/>
          <p:cNvSpPr/>
          <p:nvPr/>
        </p:nvSpPr>
        <p:spPr>
          <a:xfrm>
            <a:off x="548640" y="3154680"/>
            <a:ext cx="2651760" cy="502920"/>
          </a:xfrm>
          <a:prstGeom prst="rect">
            <a:avLst/>
          </a:prstGeom>
          <a:noFill/>
          <a:ln/>
        </p:spPr>
        <p:txBody>
          <a:bodyPr wrap="square" lIns="0" tIns="0" rIns="0" bIns="0" rtlCol="0" anchor="ctr"/>
          <a:lstStyle/>
          <a:p>
            <a:pPr algn="ctr" indent="0" marL="0">
              <a:buNone/>
            </a:pPr>
            <a:r>
              <a:rPr lang="en-US" sz="1300" spc="200" kern="0" dirty="0">
                <a:solidFill>
                  <a:srgbClr val="5A4632"/>
                </a:solidFill>
                <a:latin typeface="Tiro Devanagari Hindi" pitchFamily="34" charset="0"/>
                <a:ea typeface="Tiro Devanagari Hindi" pitchFamily="34" charset="-122"/>
                <a:cs typeface="Tiro Devanagari Hindi" pitchFamily="34" charset="-120"/>
              </a:rPr>
              <a:t>Concepts</a:t>
            </a:r>
            <a:endParaRPr lang="en-US" sz="1300" dirty="0"/>
          </a:p>
        </p:txBody>
      </p:sp>
      <p:sp>
        <p:nvSpPr>
          <p:cNvPr id="7" name="Shape 5"/>
          <p:cNvSpPr/>
          <p:nvPr/>
        </p:nvSpPr>
        <p:spPr>
          <a:xfrm>
            <a:off x="3383280" y="1828800"/>
            <a:ext cx="2651760" cy="2011680"/>
          </a:xfrm>
          <a:prstGeom prst="rect">
            <a:avLst/>
          </a:prstGeom>
          <a:solidFill>
            <a:srgbClr val="FBF5E6"/>
          </a:solidFill>
          <a:ln w="6350">
            <a:solidFill>
              <a:srgbClr val="C9B58A"/>
            </a:solidFill>
            <a:prstDash val="solid"/>
          </a:ln>
        </p:spPr>
      </p:sp>
      <p:sp>
        <p:nvSpPr>
          <p:cNvPr id="8" name="Text 6"/>
          <p:cNvSpPr/>
          <p:nvPr/>
        </p:nvSpPr>
        <p:spPr>
          <a:xfrm>
            <a:off x="3383280" y="2057400"/>
            <a:ext cx="2651760" cy="1097280"/>
          </a:xfrm>
          <a:prstGeom prst="rect">
            <a:avLst/>
          </a:prstGeom>
          <a:noFill/>
          <a:ln/>
        </p:spPr>
        <p:txBody>
          <a:bodyPr wrap="square" lIns="0" tIns="0" rIns="0" bIns="0" rtlCol="0" anchor="ctr"/>
          <a:lstStyle/>
          <a:p>
            <a:pPr algn="ctr" indent="0" marL="0">
              <a:buNone/>
            </a:pPr>
            <a:r>
              <a:rPr lang="en-US" sz="6000" b="1" dirty="0">
                <a:solidFill>
                  <a:srgbClr val="3B2A1B"/>
                </a:solidFill>
                <a:latin typeface="Cormorant Garamond" pitchFamily="34" charset="0"/>
                <a:ea typeface="Cormorant Garamond" pitchFamily="34" charset="-122"/>
                <a:cs typeface="Cormorant Garamond" pitchFamily="34" charset="-120"/>
              </a:rPr>
              <a:t>124</a:t>
            </a:r>
            <a:endParaRPr lang="en-US" sz="6000" dirty="0"/>
          </a:p>
        </p:txBody>
      </p:sp>
      <p:sp>
        <p:nvSpPr>
          <p:cNvPr id="9" name="Text 7"/>
          <p:cNvSpPr/>
          <p:nvPr/>
        </p:nvSpPr>
        <p:spPr>
          <a:xfrm>
            <a:off x="3383280" y="3154680"/>
            <a:ext cx="2651760" cy="502920"/>
          </a:xfrm>
          <a:prstGeom prst="rect">
            <a:avLst/>
          </a:prstGeom>
          <a:noFill/>
          <a:ln/>
        </p:spPr>
        <p:txBody>
          <a:bodyPr wrap="square" lIns="0" tIns="0" rIns="0" bIns="0" rtlCol="0" anchor="ctr"/>
          <a:lstStyle/>
          <a:p>
            <a:pPr algn="ctr" indent="0" marL="0">
              <a:buNone/>
            </a:pPr>
            <a:r>
              <a:rPr lang="en-US" sz="1300" spc="200" kern="0" dirty="0">
                <a:solidFill>
                  <a:srgbClr val="5A4632"/>
                </a:solidFill>
                <a:latin typeface="Tiro Devanagari Hindi" pitchFamily="34" charset="0"/>
                <a:ea typeface="Tiro Devanagari Hindi" pitchFamily="34" charset="-122"/>
                <a:cs typeface="Tiro Devanagari Hindi" pitchFamily="34" charset="-120"/>
              </a:rPr>
              <a:t>Relations</a:t>
            </a:r>
            <a:endParaRPr lang="en-US" sz="1300" dirty="0"/>
          </a:p>
        </p:txBody>
      </p:sp>
      <p:sp>
        <p:nvSpPr>
          <p:cNvPr id="10" name="Shape 8"/>
          <p:cNvSpPr/>
          <p:nvPr/>
        </p:nvSpPr>
        <p:spPr>
          <a:xfrm>
            <a:off x="6217920" y="1828800"/>
            <a:ext cx="2651760" cy="2011680"/>
          </a:xfrm>
          <a:prstGeom prst="rect">
            <a:avLst/>
          </a:prstGeom>
          <a:solidFill>
            <a:srgbClr val="FBF5E6"/>
          </a:solidFill>
          <a:ln w="6350">
            <a:solidFill>
              <a:srgbClr val="C9B58A"/>
            </a:solidFill>
            <a:prstDash val="solid"/>
          </a:ln>
        </p:spPr>
      </p:sp>
      <p:sp>
        <p:nvSpPr>
          <p:cNvPr id="11" name="Text 9"/>
          <p:cNvSpPr/>
          <p:nvPr/>
        </p:nvSpPr>
        <p:spPr>
          <a:xfrm>
            <a:off x="6217920" y="2057400"/>
            <a:ext cx="2651760" cy="1097280"/>
          </a:xfrm>
          <a:prstGeom prst="rect">
            <a:avLst/>
          </a:prstGeom>
          <a:noFill/>
          <a:ln/>
        </p:spPr>
        <p:txBody>
          <a:bodyPr wrap="square" lIns="0" tIns="0" rIns="0" bIns="0" rtlCol="0" anchor="ctr"/>
          <a:lstStyle/>
          <a:p>
            <a:pPr algn="ctr" indent="0" marL="0">
              <a:buNone/>
            </a:pPr>
            <a:r>
              <a:rPr lang="en-US" sz="6000" b="1" dirty="0">
                <a:solidFill>
                  <a:srgbClr val="3B2A1B"/>
                </a:solidFill>
                <a:latin typeface="Cormorant Garamond" pitchFamily="34" charset="0"/>
                <a:ea typeface="Cormorant Garamond" pitchFamily="34" charset="-122"/>
                <a:cs typeface="Cormorant Garamond" pitchFamily="34" charset="-120"/>
              </a:rPr>
              <a:t>12</a:t>
            </a:r>
            <a:endParaRPr lang="en-US" sz="6000" dirty="0"/>
          </a:p>
        </p:txBody>
      </p:sp>
      <p:sp>
        <p:nvSpPr>
          <p:cNvPr id="12" name="Text 10"/>
          <p:cNvSpPr/>
          <p:nvPr/>
        </p:nvSpPr>
        <p:spPr>
          <a:xfrm>
            <a:off x="6217920" y="3154680"/>
            <a:ext cx="2651760" cy="502920"/>
          </a:xfrm>
          <a:prstGeom prst="rect">
            <a:avLst/>
          </a:prstGeom>
          <a:noFill/>
          <a:ln/>
        </p:spPr>
        <p:txBody>
          <a:bodyPr wrap="square" lIns="0" tIns="0" rIns="0" bIns="0" rtlCol="0" anchor="ctr"/>
          <a:lstStyle/>
          <a:p>
            <a:pPr algn="ctr" indent="0" marL="0">
              <a:buNone/>
            </a:pPr>
            <a:r>
              <a:rPr lang="en-US" sz="1300" spc="200" kern="0" dirty="0">
                <a:solidFill>
                  <a:srgbClr val="5A4632"/>
                </a:solidFill>
                <a:latin typeface="Tiro Devanagari Hindi" pitchFamily="34" charset="0"/>
                <a:ea typeface="Tiro Devanagari Hindi" pitchFamily="34" charset="-122"/>
                <a:cs typeface="Tiro Devanagari Hindi" pitchFamily="34" charset="-120"/>
              </a:rPr>
              <a:t>Tiers</a:t>
            </a:r>
            <a:endParaRPr lang="en-US" sz="1300" dirty="0"/>
          </a:p>
        </p:txBody>
      </p:sp>
      <p:sp>
        <p:nvSpPr>
          <p:cNvPr id="13" name="Shape 11"/>
          <p:cNvSpPr/>
          <p:nvPr/>
        </p:nvSpPr>
        <p:spPr>
          <a:xfrm>
            <a:off x="9052560" y="1828800"/>
            <a:ext cx="2651760" cy="2011680"/>
          </a:xfrm>
          <a:prstGeom prst="rect">
            <a:avLst/>
          </a:prstGeom>
          <a:solidFill>
            <a:srgbClr val="FBF5E6"/>
          </a:solidFill>
          <a:ln w="6350">
            <a:solidFill>
              <a:srgbClr val="C9B58A"/>
            </a:solidFill>
            <a:prstDash val="solid"/>
          </a:ln>
        </p:spPr>
      </p:sp>
      <p:sp>
        <p:nvSpPr>
          <p:cNvPr id="14" name="Text 12"/>
          <p:cNvSpPr/>
          <p:nvPr/>
        </p:nvSpPr>
        <p:spPr>
          <a:xfrm>
            <a:off x="9052560" y="2057400"/>
            <a:ext cx="2651760" cy="1097280"/>
          </a:xfrm>
          <a:prstGeom prst="rect">
            <a:avLst/>
          </a:prstGeom>
          <a:noFill/>
          <a:ln/>
        </p:spPr>
        <p:txBody>
          <a:bodyPr wrap="square" lIns="0" tIns="0" rIns="0" bIns="0" rtlCol="0" anchor="ctr"/>
          <a:lstStyle/>
          <a:p>
            <a:pPr algn="ctr" indent="0" marL="0">
              <a:buNone/>
            </a:pPr>
            <a:r>
              <a:rPr lang="en-US" sz="6000" b="1" dirty="0">
                <a:solidFill>
                  <a:srgbClr val="3B2A1B"/>
                </a:solidFill>
                <a:latin typeface="Cormorant Garamond" pitchFamily="34" charset="0"/>
                <a:ea typeface="Cormorant Garamond" pitchFamily="34" charset="-122"/>
                <a:cs typeface="Cormorant Garamond" pitchFamily="34" charset="-120"/>
              </a:rPr>
              <a:t>112</a:t>
            </a:r>
            <a:endParaRPr lang="en-US" sz="6000" dirty="0"/>
          </a:p>
        </p:txBody>
      </p:sp>
      <p:sp>
        <p:nvSpPr>
          <p:cNvPr id="15" name="Text 13"/>
          <p:cNvSpPr/>
          <p:nvPr/>
        </p:nvSpPr>
        <p:spPr>
          <a:xfrm>
            <a:off x="9052560" y="3154680"/>
            <a:ext cx="2651760" cy="502920"/>
          </a:xfrm>
          <a:prstGeom prst="rect">
            <a:avLst/>
          </a:prstGeom>
          <a:noFill/>
          <a:ln/>
        </p:spPr>
        <p:txBody>
          <a:bodyPr wrap="square" lIns="0" tIns="0" rIns="0" bIns="0" rtlCol="0" anchor="ctr"/>
          <a:lstStyle/>
          <a:p>
            <a:pPr algn="ctr" indent="0" marL="0">
              <a:buNone/>
            </a:pPr>
            <a:r>
              <a:rPr lang="en-US" sz="1300" spc="200" kern="0" dirty="0">
                <a:solidFill>
                  <a:srgbClr val="5A4632"/>
                </a:solidFill>
                <a:latin typeface="Tiro Devanagari Hindi" pitchFamily="34" charset="0"/>
                <a:ea typeface="Tiro Devanagari Hindi" pitchFamily="34" charset="-122"/>
                <a:cs typeface="Tiro Devanagari Hindi" pitchFamily="34" charset="-120"/>
              </a:rPr>
              <a:t>Verse anchors</a:t>
            </a:r>
            <a:endParaRPr lang="en-US" sz="1300" dirty="0"/>
          </a:p>
        </p:txBody>
      </p:sp>
      <p:sp>
        <p:nvSpPr>
          <p:cNvPr id="16" name="Text 14"/>
          <p:cNvSpPr/>
          <p:nvPr/>
        </p:nvSpPr>
        <p:spPr>
          <a:xfrm>
            <a:off x="548640" y="4572000"/>
            <a:ext cx="10972800" cy="457200"/>
          </a:xfrm>
          <a:prstGeom prst="rect">
            <a:avLst/>
          </a:prstGeom>
          <a:noFill/>
          <a:ln/>
        </p:spPr>
        <p:txBody>
          <a:bodyPr wrap="square" rtlCol="0" anchor="ctr"/>
          <a:lstStyle/>
          <a:p>
            <a:pPr algn="ctr" indent="0" marL="0">
              <a:buNone/>
            </a:pPr>
            <a:r>
              <a:rPr lang="en-US" sz="1800" i="1" dirty="0">
                <a:solidFill>
                  <a:srgbClr val="5A4632"/>
                </a:solidFill>
                <a:latin typeface="Cormorant Garamond" pitchFamily="34" charset="0"/>
                <a:ea typeface="Cormorant Garamond" pitchFamily="34" charset="-122"/>
                <a:cs typeface="Cormorant Garamond" pitchFamily="34" charset="-120"/>
              </a:rPr>
              <a:t>github.com/kvinayakpai/Bhagavadgita</a:t>
            </a:r>
            <a:endParaRPr lang="en-US" sz="1800" dirty="0"/>
          </a:p>
        </p:txBody>
      </p:sp>
      <p:sp>
        <p:nvSpPr>
          <p:cNvPr id="17" name="Text 15"/>
          <p:cNvSpPr/>
          <p:nvPr/>
        </p:nvSpPr>
        <p:spPr>
          <a:xfrm>
            <a:off x="548640" y="5074920"/>
            <a:ext cx="10972800" cy="365760"/>
          </a:xfrm>
          <a:prstGeom prst="rect">
            <a:avLst/>
          </a:prstGeom>
          <a:noFill/>
          <a:ln/>
        </p:spPr>
        <p:txBody>
          <a:bodyPr wrap="square" rtlCol="0" anchor="ctr"/>
          <a:lstStyle/>
          <a:p>
            <a:pPr algn="ctr" indent="0" marL="0">
              <a:buNone/>
            </a:pPr>
            <a:r>
              <a:rPr lang="en-US" sz="1100" i="1" dirty="0">
                <a:solidFill>
                  <a:srgbClr val="8A7558"/>
                </a:solidFill>
                <a:latin typeface="Cormorant Garamond" pitchFamily="34" charset="0"/>
                <a:ea typeface="Cormorant Garamond" pitchFamily="34" charset="-122"/>
                <a:cs typeface="Cormorant Garamond" pitchFamily="34" charset="-120"/>
              </a:rPr>
              <a:t>MIT · open source · build-decks.js generates this deck</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EAD8"/>
        </a:solidFill>
      </p:bgPr>
    </p:bg>
    <p:spTree>
      <p:nvGrpSpPr>
        <p:cNvPr id="1" name=""/>
        <p:cNvGrpSpPr/>
        <p:nvPr/>
      </p:nvGrpSpPr>
      <p:grpSpPr>
        <a:xfrm>
          <a:off x="0" y="0"/>
          <a:ext cx="0" cy="0"/>
          <a:chOff x="0" y="0"/>
          <a:chExt cx="0" cy="0"/>
        </a:xfrm>
      </p:grpSpPr>
      <p:sp>
        <p:nvSpPr>
          <p:cNvPr id="2" name="Text 0"/>
          <p:cNvSpPr/>
          <p:nvPr/>
        </p:nvSpPr>
        <p:spPr>
          <a:xfrm>
            <a:off x="457200" y="2286000"/>
            <a:ext cx="11247120" cy="914400"/>
          </a:xfrm>
          <a:prstGeom prst="rect">
            <a:avLst/>
          </a:prstGeom>
          <a:noFill/>
          <a:ln/>
        </p:spPr>
        <p:txBody>
          <a:bodyPr wrap="square" rtlCol="0" anchor="ctr"/>
          <a:lstStyle/>
          <a:p>
            <a:pPr algn="ctr" indent="0" marL="0">
              <a:buNone/>
            </a:pPr>
            <a:r>
              <a:rPr lang="en-US" sz="4400" b="1" dirty="0">
                <a:solidFill>
                  <a:srgbClr val="3B2A1B"/>
                </a:solidFill>
                <a:latin typeface="Tiro Devanagari Hindi" pitchFamily="34" charset="0"/>
                <a:ea typeface="Tiro Devanagari Hindi" pitchFamily="34" charset="-122"/>
                <a:cs typeface="Tiro Devanagari Hindi" pitchFamily="34" charset="-120"/>
              </a:rPr>
              <a:t>नमः पार्थसारथये</a:t>
            </a:r>
            <a:endParaRPr lang="en-US" sz="4400" dirty="0"/>
          </a:p>
        </p:txBody>
      </p:sp>
      <p:sp>
        <p:nvSpPr>
          <p:cNvPr id="3" name="Shape 1"/>
          <p:cNvSpPr/>
          <p:nvPr/>
        </p:nvSpPr>
        <p:spPr>
          <a:xfrm>
            <a:off x="5394960" y="3337560"/>
            <a:ext cx="1371600" cy="18288"/>
          </a:xfrm>
          <a:prstGeom prst="rect">
            <a:avLst/>
          </a:prstGeom>
          <a:solidFill>
            <a:srgbClr val="C9B58A"/>
          </a:solidFill>
          <a:ln w="6350">
            <a:solidFill>
              <a:srgbClr val="C9B58A"/>
            </a:solidFill>
            <a:prstDash val="solid"/>
          </a:ln>
        </p:spPr>
      </p:sp>
      <p:sp>
        <p:nvSpPr>
          <p:cNvPr id="4" name="Text 2"/>
          <p:cNvSpPr/>
          <p:nvPr/>
        </p:nvSpPr>
        <p:spPr>
          <a:xfrm>
            <a:off x="457200" y="3520440"/>
            <a:ext cx="11247120" cy="640080"/>
          </a:xfrm>
          <a:prstGeom prst="rect">
            <a:avLst/>
          </a:prstGeom>
          <a:noFill/>
          <a:ln/>
        </p:spPr>
        <p:txBody>
          <a:bodyPr wrap="square" rtlCol="0" anchor="ctr"/>
          <a:lstStyle/>
          <a:p>
            <a:pPr algn="ctr" indent="0" marL="0">
              <a:buNone/>
            </a:pPr>
            <a:r>
              <a:rPr lang="en-US" sz="1800" i="1" dirty="0">
                <a:solidFill>
                  <a:srgbClr val="5A4632"/>
                </a:solidFill>
                <a:latin typeface="Tiro Devanagari Hindi" pitchFamily="34" charset="0"/>
                <a:ea typeface="Tiro Devanagari Hindi" pitchFamily="34" charset="-122"/>
                <a:cs typeface="Tiro Devanagari Hindi" pitchFamily="34" charset="-120"/>
              </a:rPr>
              <a:t>श्रीकृष्णार्पणमस्तु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Bhagavad Gītā Concept KG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भगवद्गीता · संकल्पना ज्ञान-ग्राफ</dc:title>
  <dc:subject>Madhva siddhānta · concept knowledge graph of the BG</dc:subject>
  <dc:creator>kvinayakpai</dc:creator>
  <cp:lastModifiedBy>kvinayakpai</cp:lastModifiedBy>
  <cp:revision>1</cp:revision>
  <dcterms:created xsi:type="dcterms:W3CDTF">2026-05-17T16:09:51Z</dcterms:created>
  <dcterms:modified xsi:type="dcterms:W3CDTF">2026-05-17T16:09:51Z</dcterms:modified>
</cp:coreProperties>
</file>