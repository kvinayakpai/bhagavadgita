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D73BD2B-71AC-419A-9EB7-C0D315F6A79D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C10F1E-25D2-417F-B1EB-856D1A19B8C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5EF2D-6F56-4CFD-8A1A-14D51073B34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E954C-E129-4B6C-874F-3309CE000DD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0A3B69-B8F7-4EE1-8A4B-26B179D316C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83CF9D-00BC-4839-937F-309C2D1B269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FD5C9E-BCF4-4AE1-A3F8-BC952A61FAB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AD423C-469A-45E5-9988-920161B04F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2CD29D-81D4-46C7-A800-54B01D8ADB6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CBCB40-0A15-45EC-8681-9299CD248A6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76461F-1C49-4A7B-8335-48B213F8FF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251406-F318-4842-9722-3DFACD7CD13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A5D675-07CF-4FC0-B1F6-28B6F4CD304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8A828"/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457200"/>
            <a:ext cx="3200040" cy="3200040"/>
          </a:xfrm>
          <a:prstGeom prst="ellipse">
            <a:avLst/>
          </a:prstGeom>
          <a:solidFill>
            <a:srgbClr val="2C3F6E">
              <a:alpha val="60000"/>
            </a:srgbClr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949440" y="822960"/>
            <a:ext cx="2468520" cy="2468520"/>
          </a:xfrm>
          <a:prstGeom prst="ellipse">
            <a:avLst/>
          </a:prstGeom>
          <a:solidFill>
            <a:srgbClr val="C17A2E">
              <a:alpha val="30000"/>
            </a:srgbClr>
          </a:solidFill>
          <a:ln w="635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64008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0" i="1" strike="noStrike" spc="-1">
                <a:solidFill>
                  <a:srgbClr val="E8A828"/>
                </a:solidFill>
                <a:latin typeface="Georgia"/>
                <a:cs typeface="Georgia"/>
              </a:rPr>
              <a:t>तत्त्व</a:t>
            </a:r>
            <a:r>
              <a:rPr lang="en-US" sz="1800" b="0" i="1" strike="noStrike" spc="-1">
                <a:solidFill>
                  <a:srgbClr val="E8A828"/>
                </a:solidFill>
                <a:latin typeface="Georgia"/>
                <a:ea typeface="Georgia"/>
              </a:rPr>
              <a:t>-</a:t>
            </a:r>
            <a:r>
              <a:rPr lang="hi-IN" sz="1800" b="0" i="1" strike="noStrike" spc="-1">
                <a:solidFill>
                  <a:srgbClr val="E8A828"/>
                </a:solidFill>
                <a:latin typeface="Georgia"/>
                <a:cs typeface="Georgia"/>
              </a:rPr>
              <a:t>जालम्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1188720"/>
            <a:ext cx="6857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Georgia"/>
                <a:ea typeface="Georgia"/>
              </a:rPr>
              <a:t>Tatvam Jalam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214884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D6E4F7"/>
                </a:solidFill>
                <a:latin typeface="Calibri"/>
                <a:ea typeface="Calibri"/>
              </a:rPr>
              <a:t>Bhagavad Gītā Knowledge Graph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48640" y="2834640"/>
            <a:ext cx="4114440" cy="2700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48640" y="2971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8892A4"/>
                </a:solidFill>
                <a:latin typeface="Calibri"/>
                <a:ea typeface="Calibri"/>
              </a:rPr>
              <a:t>Technical Journey — How It Was Built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48640" y="3749040"/>
            <a:ext cx="2285640" cy="347040"/>
          </a:xfrm>
          <a:prstGeom prst="roundRect">
            <a:avLst>
              <a:gd name="adj" fmla="val 13158"/>
            </a:avLst>
          </a:prstGeom>
          <a:solidFill>
            <a:srgbClr val="2C3F6E"/>
          </a:solidFill>
          <a:ln w="635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48640" y="37490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8A828"/>
                </a:solidFill>
                <a:latin typeface="Calibri"/>
              </a:rPr>
              <a:t>Knowledge Graph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108960" y="3749040"/>
            <a:ext cx="2285640" cy="347040"/>
          </a:xfrm>
          <a:prstGeom prst="roundRect">
            <a:avLst>
              <a:gd name="adj" fmla="val 13158"/>
            </a:avLst>
          </a:prstGeom>
          <a:solidFill>
            <a:srgbClr val="2C3F6E"/>
          </a:solidFill>
          <a:ln w="635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108960" y="37490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8A828"/>
                </a:solidFill>
                <a:latin typeface="Calibri"/>
              </a:rPr>
              <a:t>Multilingual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5669280" y="3749040"/>
            <a:ext cx="2285640" cy="347040"/>
          </a:xfrm>
          <a:prstGeom prst="roundRect">
            <a:avLst>
              <a:gd name="adj" fmla="val 13158"/>
            </a:avLst>
          </a:prstGeom>
          <a:solidFill>
            <a:srgbClr val="2C3F6E"/>
          </a:solidFill>
          <a:ln w="635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669280" y="374904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8A828"/>
                </a:solidFill>
                <a:latin typeface="Calibri"/>
              </a:rPr>
              <a:t>Voice AI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548640" y="4251960"/>
            <a:ext cx="2285640" cy="347040"/>
          </a:xfrm>
          <a:prstGeom prst="roundRect">
            <a:avLst>
              <a:gd name="adj" fmla="val 13158"/>
            </a:avLst>
          </a:prstGeom>
          <a:solidFill>
            <a:srgbClr val="2C3F6E"/>
          </a:solidFill>
          <a:ln w="635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48640" y="425196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8A828"/>
                </a:solidFill>
                <a:latin typeface="Calibri"/>
              </a:rPr>
              <a:t>Claude API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108960" y="4251960"/>
            <a:ext cx="2285640" cy="347040"/>
          </a:xfrm>
          <a:prstGeom prst="roundRect">
            <a:avLst>
              <a:gd name="adj" fmla="val 13158"/>
            </a:avLst>
          </a:prstGeom>
          <a:solidFill>
            <a:srgbClr val="2C3F6E"/>
          </a:solidFill>
          <a:ln w="635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3108960" y="4251960"/>
            <a:ext cx="228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8A828"/>
                </a:solidFill>
                <a:latin typeface="Calibri"/>
              </a:rPr>
              <a:t>Single-File HTML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548640" y="470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8892A4"/>
                </a:solidFill>
                <a:latin typeface="Calibri"/>
              </a:rPr>
              <a:t>Madhva · Bannanje Govindacharya Tradition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A2744"/>
                </a:solidFill>
                <a:latin typeface="Georgia"/>
                <a:ea typeface="Georgia"/>
              </a:rPr>
              <a:t>What Is Tatvam Jalam?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365760" y="914400"/>
            <a:ext cx="512028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548640" y="105156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A2744"/>
                </a:solidFill>
                <a:latin typeface="Calibri"/>
                <a:ea typeface="Calibri"/>
              </a:rPr>
              <a:t>A self-contained interactive web app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2744"/>
                </a:solidFill>
                <a:latin typeface="Calibri"/>
                <a:ea typeface="Calibri"/>
              </a:rPr>
              <a:t>that maps the Bhagavad Gītā's philosophical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2744"/>
                </a:solidFill>
                <a:latin typeface="Calibri"/>
                <a:ea typeface="Calibri"/>
              </a:rPr>
              <a:t>concepts as a navigable knowledge graph —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2744"/>
                </a:solidFill>
                <a:latin typeface="Calibri"/>
                <a:ea typeface="Calibri"/>
              </a:rPr>
              <a:t>rooted in the Madhva Vedānta tradition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2744"/>
                </a:solidFill>
                <a:latin typeface="Calibri"/>
                <a:ea typeface="Calibri"/>
              </a:rPr>
              <a:t>and Bannanje Govindacharya's commentaries.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9B3A1A"/>
                </a:solidFill>
                <a:latin typeface="Calibri"/>
                <a:ea typeface="Calibri"/>
              </a:rPr>
              <a:t>Everything ships as a single HTML file.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5760720" y="914400"/>
            <a:ext cx="1416960" cy="1051200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5760720" y="1024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E8A828"/>
                </a:solidFill>
                <a:latin typeface="Georgia"/>
                <a:ea typeface="Georgia"/>
              </a:rPr>
              <a:t>47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5760720" y="15087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Concepts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7406640" y="914400"/>
            <a:ext cx="1416960" cy="1051200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7406640" y="10242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E8A828"/>
                </a:solidFill>
                <a:latin typeface="Georgia"/>
                <a:ea typeface="Georgia"/>
              </a:rPr>
              <a:t>59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7406640" y="150876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Relations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5760720" y="2121480"/>
            <a:ext cx="1416960" cy="1051200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5760720" y="223128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E8A828"/>
                </a:solidFill>
                <a:latin typeface="Georgia"/>
                <a:ea typeface="Georgia"/>
              </a:rPr>
              <a:t>701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5760720" y="271584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Shlokas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7406640" y="2121480"/>
            <a:ext cx="1416960" cy="1051200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7406640" y="223128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E8A828"/>
                </a:solidFill>
                <a:latin typeface="Georgia"/>
                <a:ea typeface="Georgia"/>
              </a:rPr>
              <a:t>18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7406640" y="271584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Chapters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5760720" y="3328560"/>
            <a:ext cx="1416960" cy="1051200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5760720" y="34380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E8A828"/>
                </a:solidFill>
                <a:latin typeface="Georgia"/>
                <a:ea typeface="Georgia"/>
              </a:rPr>
              <a:t>10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5760720" y="3922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Tiers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7406640" y="3328560"/>
            <a:ext cx="1416960" cy="1051200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7406640" y="343800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E8A828"/>
                </a:solidFill>
                <a:latin typeface="Georgia"/>
                <a:ea typeface="Georgia"/>
              </a:rPr>
              <a:t>4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7406640" y="39229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Languages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2"/>
          <p:cNvSpPr/>
          <p:nvPr/>
        </p:nvSpPr>
        <p:spPr>
          <a:xfrm>
            <a:off x="0" y="4846320"/>
            <a:ext cx="9143640" cy="297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0" y="4846320"/>
            <a:ext cx="914364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892A4"/>
                </a:solidFill>
                <a:latin typeface="Calibri"/>
              </a:rPr>
              <a:t>Madhva · Dvaita Vedānta · Bannanje Govindacharya Tradition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8A828"/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Georgia"/>
                <a:ea typeface="Georgia"/>
              </a:rPr>
              <a:t>The Build Journey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57200" y="2788920"/>
            <a:ext cx="8229240" cy="45360"/>
          </a:xfrm>
          <a:prstGeom prst="rect">
            <a:avLst/>
          </a:prstGeom>
          <a:solidFill>
            <a:srgbClr val="8892A4">
              <a:alpha val="50000"/>
            </a:srgbClr>
          </a:solidFill>
          <a:ln w="1270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960120" y="2633400"/>
            <a:ext cx="310680" cy="31068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457200" y="9601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17A2E"/>
                </a:solidFill>
                <a:latin typeface="Calibri"/>
                <a:ea typeface="Calibri"/>
              </a:rPr>
              <a:t>01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457200" y="1234440"/>
            <a:ext cx="1325520" cy="1325520"/>
          </a:xfrm>
          <a:prstGeom prst="rect">
            <a:avLst/>
          </a:prstGeom>
          <a:solidFill>
            <a:srgbClr val="2C3F6E"/>
          </a:solidFill>
          <a:ln w="10160">
            <a:solidFill>
              <a:srgbClr val="C17A2E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57200" y="129852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Ontology Graph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457200" y="1828800"/>
            <a:ext cx="1325520" cy="1800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57200" y="1847160"/>
            <a:ext cx="13255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Knowledge graph from scratch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457200" y="30175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Ontology Graph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2350080" y="2633400"/>
            <a:ext cx="310680" cy="3106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1847160" y="9601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4A7C59"/>
                </a:solidFill>
                <a:latin typeface="Calibri"/>
                <a:ea typeface="Calibri"/>
              </a:rPr>
              <a:t>02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1847160" y="1234440"/>
            <a:ext cx="1325520" cy="1325520"/>
          </a:xfrm>
          <a:prstGeom prst="rect">
            <a:avLst/>
          </a:prstGeom>
          <a:solidFill>
            <a:srgbClr val="2C3F6E"/>
          </a:solidFill>
          <a:ln w="10160">
            <a:solidFill>
              <a:srgbClr val="4A7C59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1847160" y="129852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Multilingual UI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1847160" y="1828800"/>
            <a:ext cx="1325520" cy="180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1847160" y="1847160"/>
            <a:ext cx="13255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4 scripts, 1 app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1847160" y="30175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Multilingual UI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3740040" y="2633400"/>
            <a:ext cx="310680" cy="310680"/>
          </a:xfrm>
          <a:prstGeom prst="ellipse">
            <a:avLst/>
          </a:prstGeom>
          <a:solidFill>
            <a:srgbClr val="2C3F6E"/>
          </a:solidFill>
          <a:ln w="12700">
            <a:solidFill>
              <a:srgbClr val="2C3F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3237120" y="9601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C3F6E"/>
                </a:solidFill>
                <a:latin typeface="Calibri"/>
                <a:ea typeface="Calibri"/>
              </a:rPr>
              <a:t>03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3237120" y="1234440"/>
            <a:ext cx="1325520" cy="1325520"/>
          </a:xfrm>
          <a:prstGeom prst="rect">
            <a:avLst/>
          </a:prstGeom>
          <a:solidFill>
            <a:srgbClr val="2C3F6E"/>
          </a:solidFill>
          <a:ln w="10160">
            <a:solidFill>
              <a:srgbClr val="2C3F6E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3237120" y="129852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Shlokas &amp; Chapters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3237120" y="1828800"/>
            <a:ext cx="1325520" cy="1800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3237120" y="1847160"/>
            <a:ext cx="13255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701 verses integrated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3237120" y="30175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Shlokas &amp; Chapters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5129640" y="2633400"/>
            <a:ext cx="310680" cy="310680"/>
          </a:xfrm>
          <a:prstGeom prst="ellipse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4626720" y="9601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9B3A1A"/>
                </a:solidFill>
                <a:latin typeface="Calibri"/>
                <a:ea typeface="Calibri"/>
              </a:rPr>
              <a:t>04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4626720" y="1234440"/>
            <a:ext cx="1325520" cy="1325520"/>
          </a:xfrm>
          <a:prstGeom prst="rect">
            <a:avLst/>
          </a:prstGeom>
          <a:solidFill>
            <a:srgbClr val="2C3F6E"/>
          </a:solidFill>
          <a:ln w="10160">
            <a:solidFill>
              <a:srgbClr val="9B3A1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4626720" y="129852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Chat — Claude API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28"/>
          <p:cNvSpPr/>
          <p:nvPr/>
        </p:nvSpPr>
        <p:spPr>
          <a:xfrm>
            <a:off x="4626720" y="1828800"/>
            <a:ext cx="1325520" cy="1800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4626720" y="1847160"/>
            <a:ext cx="13255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AI scholar in the app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4626720" y="30175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Chat — Claude API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31"/>
          <p:cNvSpPr/>
          <p:nvPr/>
        </p:nvSpPr>
        <p:spPr>
          <a:xfrm>
            <a:off x="6519600" y="2633400"/>
            <a:ext cx="310680" cy="310680"/>
          </a:xfrm>
          <a:prstGeom prst="ellipse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6016680" y="9601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6B5EA8"/>
                </a:solidFill>
                <a:latin typeface="Calibri"/>
                <a:ea typeface="Calibri"/>
              </a:rPr>
              <a:t>05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33"/>
          <p:cNvSpPr/>
          <p:nvPr/>
        </p:nvSpPr>
        <p:spPr>
          <a:xfrm>
            <a:off x="6016680" y="1234440"/>
            <a:ext cx="1325520" cy="1325520"/>
          </a:xfrm>
          <a:prstGeom prst="rect">
            <a:avLst/>
          </a:prstGeom>
          <a:solidFill>
            <a:srgbClr val="2C3F6E"/>
          </a:solidFill>
          <a:ln w="10160">
            <a:solidFill>
              <a:srgbClr val="6B5EA8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4"/>
          <p:cNvSpPr/>
          <p:nvPr/>
        </p:nvSpPr>
        <p:spPr>
          <a:xfrm>
            <a:off x="6016680" y="129852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Voice Interface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35"/>
          <p:cNvSpPr/>
          <p:nvPr/>
        </p:nvSpPr>
        <p:spPr>
          <a:xfrm>
            <a:off x="6016680" y="1828800"/>
            <a:ext cx="1325520" cy="180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6"/>
          <p:cNvSpPr/>
          <p:nvPr/>
        </p:nvSpPr>
        <p:spPr>
          <a:xfrm>
            <a:off x="6016680" y="1847160"/>
            <a:ext cx="13255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Full spoken conversation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7"/>
          <p:cNvSpPr/>
          <p:nvPr/>
        </p:nvSpPr>
        <p:spPr>
          <a:xfrm>
            <a:off x="6016680" y="30175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Voice Interface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38"/>
          <p:cNvSpPr/>
          <p:nvPr/>
        </p:nvSpPr>
        <p:spPr>
          <a:xfrm>
            <a:off x="7909560" y="2633400"/>
            <a:ext cx="310680" cy="3106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9"/>
          <p:cNvSpPr/>
          <p:nvPr/>
        </p:nvSpPr>
        <p:spPr>
          <a:xfrm>
            <a:off x="7406640" y="96012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4A7C59"/>
                </a:solidFill>
                <a:latin typeface="Calibri"/>
                <a:ea typeface="Calibri"/>
              </a:rPr>
              <a:t>06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7406640" y="1234440"/>
            <a:ext cx="1325520" cy="1325520"/>
          </a:xfrm>
          <a:prstGeom prst="rect">
            <a:avLst/>
          </a:prstGeom>
          <a:solidFill>
            <a:srgbClr val="2C3F6E"/>
          </a:solidFill>
          <a:ln w="10160">
            <a:solidFill>
              <a:srgbClr val="4A7C59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41"/>
          <p:cNvSpPr/>
          <p:nvPr/>
        </p:nvSpPr>
        <p:spPr>
          <a:xfrm>
            <a:off x="7406640" y="1298520"/>
            <a:ext cx="1325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Bundle &amp; Brand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42"/>
          <p:cNvSpPr/>
          <p:nvPr/>
        </p:nvSpPr>
        <p:spPr>
          <a:xfrm>
            <a:off x="7406640" y="1828800"/>
            <a:ext cx="1325520" cy="180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3"/>
          <p:cNvSpPr/>
          <p:nvPr/>
        </p:nvSpPr>
        <p:spPr>
          <a:xfrm>
            <a:off x="7406640" y="1847160"/>
            <a:ext cx="13255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Tatvam Jalam, shareable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7406640" y="30175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Bundle &amp; Brand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5"/>
          <p:cNvSpPr/>
          <p:nvPr/>
        </p:nvSpPr>
        <p:spPr>
          <a:xfrm>
            <a:off x="457200" y="4480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8892A4"/>
                </a:solidFill>
                <a:latin typeface="Calibri"/>
                <a:ea typeface="Calibri"/>
              </a:rPr>
              <a:t>Each phase shipped iteratively — visual QA on mobile, fix, push. 245+ git commits over the full build — the second half almost all source-fidelity verification (next section).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A2744"/>
                </a:solidFill>
                <a:latin typeface="Georgia"/>
                <a:ea typeface="Georgia"/>
              </a:rPr>
              <a:t>Architecture — One File, No Server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365760" y="1005840"/>
            <a:ext cx="228240" cy="59400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94360" y="1005840"/>
            <a:ext cx="81378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731520" y="10789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2744"/>
                </a:solidFill>
                <a:latin typeface="Calibri"/>
                <a:ea typeface="Calibri"/>
              </a:rPr>
              <a:t>Presentation Layer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31520" y="1307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892A4"/>
                </a:solidFill>
                <a:latin typeface="Calibri"/>
                <a:ea typeface="Calibri"/>
              </a:rPr>
              <a:t>HTML5 · CSS3 · Vanilla JS · Cytoscape.js graph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384120" y="116136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</a:rPr>
              <a:t>↑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365760" y="1764720"/>
            <a:ext cx="228240" cy="59400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594360" y="1764720"/>
            <a:ext cx="81378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731520" y="18378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2744"/>
                </a:solidFill>
                <a:latin typeface="Calibri"/>
                <a:ea typeface="Calibri"/>
              </a:rPr>
              <a:t>Data Layer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731520" y="206640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892A4"/>
                </a:solidFill>
                <a:latin typeface="Calibri"/>
                <a:ea typeface="Calibri"/>
              </a:rPr>
              <a:t>47 concepts + 59 edges + 702 shlokas — all inline JS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384120" y="192024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</a:rPr>
              <a:t>↑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365760" y="2523600"/>
            <a:ext cx="228240" cy="59400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594360" y="2523600"/>
            <a:ext cx="81378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731520" y="25970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2744"/>
                </a:solidFill>
                <a:latin typeface="Calibri"/>
                <a:ea typeface="Calibri"/>
              </a:rPr>
              <a:t>AI Layer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731520" y="282564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892A4"/>
                </a:solidFill>
                <a:latin typeface="Calibri"/>
                <a:ea typeface="Calibri"/>
              </a:rPr>
              <a:t>Anthropic Claude API (claude-sonnet-4-6) · XHR · localStorage key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384120" y="267912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</a:rPr>
              <a:t>↑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365760" y="3282840"/>
            <a:ext cx="228240" cy="5940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594360" y="3282840"/>
            <a:ext cx="81378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731520" y="33559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2744"/>
                </a:solidFill>
                <a:latin typeface="Calibri"/>
                <a:ea typeface="Calibri"/>
              </a:rPr>
              <a:t>Voice Layer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731520" y="3584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892A4"/>
                </a:solidFill>
                <a:latin typeface="Calibri"/>
                <a:ea typeface="Calibri"/>
              </a:rPr>
              <a:t>Web Speech API (STT) · SpeechSynthesis (TTS) · Wake Lock API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384120" y="343800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</a:rPr>
              <a:t>↑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365760" y="4041720"/>
            <a:ext cx="228240" cy="5940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3"/>
          <p:cNvSpPr/>
          <p:nvPr/>
        </p:nvSpPr>
        <p:spPr>
          <a:xfrm>
            <a:off x="594360" y="4041720"/>
            <a:ext cx="81378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731520" y="41148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2744"/>
                </a:solidFill>
                <a:latin typeface="Calibri"/>
                <a:ea typeface="Calibri"/>
              </a:rPr>
              <a:t>Delivery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731520" y="434340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892A4"/>
                </a:solidFill>
                <a:latin typeface="Calibri"/>
                <a:ea typeface="Calibri"/>
              </a:rPr>
              <a:t>GitHub Pages · viewer.html (single-file) + index.html (modular) — zero build pipeline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384120" y="4197240"/>
            <a:ext cx="18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FFFFFF"/>
                </a:solidFill>
                <a:latin typeface="Calibri"/>
              </a:rPr>
              <a:t>↑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0" y="4846320"/>
            <a:ext cx="9143640" cy="297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8"/>
          <p:cNvSpPr/>
          <p:nvPr/>
        </p:nvSpPr>
        <p:spPr>
          <a:xfrm>
            <a:off x="182880" y="4846320"/>
            <a:ext cx="877788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Key decision: everything in one HTML file — deployable anywhere, no backend, no npm, no framework.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Phase 1 — The Knowledge Graph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365760" y="109728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713160" y="10515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Why a graph?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713160" y="130752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Gita's concepts form a web — not a list. Bhagavān → Jīva → Prakṛti → Karma are deeply interconnected. A graph makes those relationships navigable.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365760" y="205740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713160" y="20116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10-tier hierarchy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713160" y="2267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Madhva's tāratamya — a strict hierarchy from Parabrahma down to Phala. Each tier is color-coded so the rank is visible at a glance.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365760" y="301752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713160" y="29718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Cytoscape.js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713160" y="322776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Chosen for force-directed layout, node grouping, and responsive graph rendering — all in browser with no server dependency.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365760" y="397764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713160" y="3931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5 views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713160" y="41878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Browse (list by tier), Focus (concept deep-dive), Chapters (BG chapter → concepts → shlokas), Map (full graph), Chat.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 flipH="1">
            <a:off x="6035040" y="1417320"/>
            <a:ext cx="91440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6949440" y="1417320"/>
            <a:ext cx="91440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 flipH="1">
            <a:off x="5760720" y="2286000"/>
            <a:ext cx="27432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7"/>
          <p:cNvSpPr/>
          <p:nvPr/>
        </p:nvSpPr>
        <p:spPr>
          <a:xfrm flipH="1">
            <a:off x="7223760" y="2286000"/>
            <a:ext cx="640080" cy="105156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7863840" y="2286000"/>
            <a:ext cx="45720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6035040" y="2286000"/>
            <a:ext cx="1828800" cy="36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0"/>
          <p:cNvSpPr/>
          <p:nvPr/>
        </p:nvSpPr>
        <p:spPr>
          <a:xfrm>
            <a:off x="6510600" y="1188720"/>
            <a:ext cx="694440" cy="694440"/>
          </a:xfrm>
          <a:prstGeom prst="ellipse">
            <a:avLst/>
          </a:prstGeom>
          <a:solidFill>
            <a:srgbClr val="E8A828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6217920" y="19018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Bhagavān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5687640" y="2057400"/>
            <a:ext cx="511560" cy="511560"/>
          </a:xfrm>
          <a:prstGeom prst="ellipse">
            <a:avLst/>
          </a:prstGeom>
          <a:solidFill>
            <a:srgbClr val="C17A2E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5303520" y="2587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Lakṣmī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4"/>
          <p:cNvSpPr/>
          <p:nvPr/>
        </p:nvSpPr>
        <p:spPr>
          <a:xfrm>
            <a:off x="7516440" y="2057400"/>
            <a:ext cx="511560" cy="511560"/>
          </a:xfrm>
          <a:prstGeom prst="ellipse">
            <a:avLst/>
          </a:prstGeom>
          <a:solidFill>
            <a:srgbClr val="4A7C59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7132320" y="2587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Jīva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26"/>
          <p:cNvSpPr/>
          <p:nvPr/>
        </p:nvSpPr>
        <p:spPr>
          <a:xfrm>
            <a:off x="5459040" y="2926080"/>
            <a:ext cx="420120" cy="420120"/>
          </a:xfrm>
          <a:prstGeom prst="ellipse">
            <a:avLst/>
          </a:prstGeom>
          <a:solidFill>
            <a:srgbClr val="2C3F6E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7"/>
          <p:cNvSpPr/>
          <p:nvPr/>
        </p:nvSpPr>
        <p:spPr>
          <a:xfrm>
            <a:off x="5029200" y="33649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Karma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28"/>
          <p:cNvSpPr/>
          <p:nvPr/>
        </p:nvSpPr>
        <p:spPr>
          <a:xfrm>
            <a:off x="6903720" y="3108960"/>
            <a:ext cx="456840" cy="456840"/>
          </a:xfrm>
          <a:prstGeom prst="ellipse">
            <a:avLst/>
          </a:prstGeom>
          <a:solidFill>
            <a:srgbClr val="2C3F6E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6492240" y="35845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Prakṛti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8019360" y="2926080"/>
            <a:ext cx="420120" cy="420120"/>
          </a:xfrm>
          <a:prstGeom prst="ellipse">
            <a:avLst/>
          </a:prstGeom>
          <a:solidFill>
            <a:srgbClr val="9B3A1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1"/>
          <p:cNvSpPr/>
          <p:nvPr/>
        </p:nvSpPr>
        <p:spPr>
          <a:xfrm>
            <a:off x="7589520" y="33649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Mokṣa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A2744"/>
                </a:solidFill>
                <a:latin typeface="Georgia"/>
                <a:ea typeface="Georgia"/>
              </a:rPr>
              <a:t>Phase 2 — Multilingual by Design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365760" y="960120"/>
            <a:ext cx="19656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365760" y="960120"/>
            <a:ext cx="1965600" cy="50256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365760" y="96012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</a:rPr>
              <a:t>EN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365760" y="150876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2744"/>
                </a:solidFill>
                <a:latin typeface="Calibri"/>
              </a:rPr>
              <a:t>English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457200" y="1920240"/>
            <a:ext cx="1782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892A4"/>
                </a:solidFill>
                <a:latin typeface="Calibri"/>
                <a:ea typeface="Calibri"/>
              </a:rPr>
              <a:t>Concept Knowledge Graph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2514600" y="960120"/>
            <a:ext cx="19656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2514600" y="960120"/>
            <a:ext cx="1965600" cy="50256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2514600" y="96012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strike="noStrike" spc="-1">
                <a:solidFill>
                  <a:srgbClr val="FFFFFF"/>
                </a:solidFill>
                <a:latin typeface="Calibri"/>
              </a:rPr>
              <a:t>देव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2514600" y="150876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2744"/>
                </a:solidFill>
                <a:latin typeface="Calibri"/>
              </a:rPr>
              <a:t>Sanskrit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2606040" y="1920240"/>
            <a:ext cx="1782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strike="noStrike" spc="-1">
                <a:solidFill>
                  <a:srgbClr val="8892A4"/>
                </a:solidFill>
                <a:latin typeface="Noto Sans Devanagari"/>
                <a:cs typeface="Noto Sans Devanagari"/>
              </a:rPr>
              <a:t xml:space="preserve">भगवद्गीता </a:t>
            </a:r>
            <a:r>
              <a:rPr lang="en-US" sz="900" b="0" strike="noStrike" spc="-1">
                <a:solidFill>
                  <a:srgbClr val="8892A4"/>
                </a:solidFill>
                <a:latin typeface="Noto Sans Devanagari"/>
                <a:ea typeface="Noto Sans Devanagari"/>
              </a:rPr>
              <a:t xml:space="preserve">· </a:t>
            </a:r>
            <a:r>
              <a:rPr lang="hi-IN" sz="900" b="0" strike="noStrike" spc="-1">
                <a:solidFill>
                  <a:srgbClr val="8892A4"/>
                </a:solidFill>
                <a:latin typeface="Noto Sans Devanagari"/>
                <a:cs typeface="Noto Sans Devanagari"/>
              </a:rPr>
              <a:t>तत्त्व</a:t>
            </a:r>
            <a:r>
              <a:rPr lang="en-US" sz="900" b="0" strike="noStrike" spc="-1">
                <a:solidFill>
                  <a:srgbClr val="8892A4"/>
                </a:solidFill>
                <a:latin typeface="Noto Sans Devanagari"/>
                <a:ea typeface="Noto Sans Devanagari"/>
              </a:rPr>
              <a:t>-</a:t>
            </a:r>
            <a:r>
              <a:rPr lang="hi-IN" sz="900" b="0" strike="noStrike" spc="-1">
                <a:solidFill>
                  <a:srgbClr val="8892A4"/>
                </a:solidFill>
                <a:latin typeface="Noto Sans Devanagari"/>
                <a:cs typeface="Noto Sans Devanagari"/>
              </a:rPr>
              <a:t>जालम्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4663440" y="960120"/>
            <a:ext cx="19656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4663440" y="960120"/>
            <a:ext cx="1965600" cy="50256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4663440" y="96012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strike="noStrike" spc="-1">
                <a:solidFill>
                  <a:srgbClr val="FFFFFF"/>
                </a:solidFill>
                <a:latin typeface="Calibri"/>
              </a:rPr>
              <a:t>हिंदी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4663440" y="150876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2744"/>
                </a:solidFill>
                <a:latin typeface="Calibri"/>
              </a:rPr>
              <a:t>Hindi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4754880" y="1920240"/>
            <a:ext cx="1782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strike="noStrike" spc="-1">
                <a:solidFill>
                  <a:srgbClr val="8892A4"/>
                </a:solidFill>
                <a:latin typeface="Noto Sans Devanagari"/>
                <a:cs typeface="Noto Sans Devanagari"/>
              </a:rPr>
              <a:t xml:space="preserve">भगवद् गीता </a:t>
            </a:r>
            <a:r>
              <a:rPr lang="en-US" sz="900" b="0" strike="noStrike" spc="-1">
                <a:solidFill>
                  <a:srgbClr val="8892A4"/>
                </a:solidFill>
                <a:latin typeface="Noto Sans Devanagari"/>
                <a:ea typeface="Noto Sans Devanagari"/>
              </a:rPr>
              <a:t xml:space="preserve">· </a:t>
            </a:r>
            <a:r>
              <a:rPr lang="hi-IN" sz="900" b="0" strike="noStrike" spc="-1">
                <a:solidFill>
                  <a:srgbClr val="8892A4"/>
                </a:solidFill>
                <a:latin typeface="Noto Sans Devanagari"/>
                <a:cs typeface="Noto Sans Devanagari"/>
              </a:rPr>
              <a:t>तत्त्व</a:t>
            </a:r>
            <a:r>
              <a:rPr lang="en-US" sz="900" b="0" strike="noStrike" spc="-1">
                <a:solidFill>
                  <a:srgbClr val="8892A4"/>
                </a:solidFill>
                <a:latin typeface="Noto Sans Devanagari"/>
                <a:ea typeface="Noto Sans Devanagari"/>
              </a:rPr>
              <a:t>-</a:t>
            </a:r>
            <a:r>
              <a:rPr lang="hi-IN" sz="900" b="0" strike="noStrike" spc="-1">
                <a:solidFill>
                  <a:srgbClr val="8892A4"/>
                </a:solidFill>
                <a:latin typeface="Noto Sans Devanagari"/>
                <a:cs typeface="Noto Sans Devanagari"/>
              </a:rPr>
              <a:t>जाल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6812280" y="960120"/>
            <a:ext cx="19656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6812280" y="960120"/>
            <a:ext cx="1965600" cy="5025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6812280" y="96012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1" strike="noStrike" spc="-1">
                <a:solidFill>
                  <a:srgbClr val="FFFFFF"/>
                </a:solidFill>
                <a:latin typeface="Calibri"/>
              </a:rPr>
              <a:t>ಕನ್ನಡ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6812280" y="150876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2744"/>
                </a:solidFill>
                <a:latin typeface="Calibri"/>
              </a:rPr>
              <a:t>Kannada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6903720" y="1920240"/>
            <a:ext cx="1782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strike="noStrike" spc="-1">
                <a:solidFill>
                  <a:srgbClr val="8892A4"/>
                </a:solidFill>
                <a:latin typeface="Noto Sans Kannada"/>
                <a:cs typeface="Noto Sans Kannada"/>
              </a:rPr>
              <a:t xml:space="preserve">ಭಗವದ್ಗೀತಾ </a:t>
            </a:r>
            <a:r>
              <a:rPr lang="en-US" sz="900" b="0" strike="noStrike" spc="-1">
                <a:solidFill>
                  <a:srgbClr val="8892A4"/>
                </a:solidFill>
                <a:latin typeface="Noto Sans Kannada"/>
                <a:ea typeface="Noto Sans Kannada"/>
              </a:rPr>
              <a:t xml:space="preserve">· </a:t>
            </a:r>
            <a:r>
              <a:rPr lang="hi-IN" sz="900" b="0" strike="noStrike" spc="-1">
                <a:solidFill>
                  <a:srgbClr val="8892A4"/>
                </a:solidFill>
                <a:latin typeface="Noto Sans Kannada"/>
                <a:cs typeface="Noto Sans Kannada"/>
              </a:rPr>
              <a:t>ತತ್ತ್ವ</a:t>
            </a:r>
            <a:r>
              <a:rPr lang="en-US" sz="900" b="0" strike="noStrike" spc="-1">
                <a:solidFill>
                  <a:srgbClr val="8892A4"/>
                </a:solidFill>
                <a:latin typeface="Noto Sans Kannada"/>
                <a:ea typeface="Noto Sans Kannada"/>
              </a:rPr>
              <a:t>-</a:t>
            </a:r>
            <a:r>
              <a:rPr lang="hi-IN" sz="900" b="0" strike="noStrike" spc="-1">
                <a:solidFill>
                  <a:srgbClr val="8892A4"/>
                </a:solidFill>
                <a:latin typeface="Noto Sans Kannada"/>
                <a:cs typeface="Noto Sans Kannada"/>
              </a:rPr>
              <a:t>ಜಾಲ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365760" y="4251960"/>
            <a:ext cx="8412120" cy="548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502920" y="42519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A828"/>
                </a:solidFill>
                <a:latin typeface="Calibri"/>
              </a:rPr>
              <a:t xml:space="preserve">Key principle: </a:t>
            </a:r>
            <a:r>
              <a:rPr lang="en-US" sz="1000" b="0" strike="noStrike" spc="-1">
                <a:solidFill>
                  <a:srgbClr val="8892A4"/>
                </a:solidFill>
                <a:latin typeface="Calibri"/>
              </a:rPr>
              <a:t>Claude refused to fabricate Konkani — content was removed rather than mislabeled. Authenticity over completeness.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365760" y="48279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8892A4"/>
                </a:solidFill>
                <a:latin typeface="Calibri"/>
                <a:ea typeface="Calibri"/>
              </a:rPr>
              <a:t>Script-specific fonts (Tiro Devanagari, Tiro Kannada, Noto Sans) render each language with proper typographic fidelity.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Phase 4 — AI Chat · Claude API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228600" y="914400"/>
            <a:ext cx="1554120" cy="914040"/>
          </a:xfrm>
          <a:prstGeom prst="roundRect">
            <a:avLst>
              <a:gd name="adj" fmla="val 8000"/>
            </a:avLst>
          </a:prstGeom>
          <a:solidFill>
            <a:srgbClr val="2C3F6E"/>
          </a:solidFill>
          <a:ln w="889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228600" y="91440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User types / speaks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783080" y="11430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8A828"/>
                </a:solidFill>
                <a:latin typeface="Calibri"/>
              </a:rPr>
              <a:t>→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1947600" y="914400"/>
            <a:ext cx="1554120" cy="914040"/>
          </a:xfrm>
          <a:prstGeom prst="roundRect">
            <a:avLst>
              <a:gd name="adj" fmla="val 8000"/>
            </a:avLst>
          </a:prstGeom>
          <a:solidFill>
            <a:srgbClr val="2C3F6E"/>
          </a:solidFill>
          <a:ln w="889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1947600" y="91440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XMLHttpRequest →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api.anthropic.com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3502080" y="11430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8A828"/>
                </a:solidFill>
                <a:latin typeface="Calibri"/>
              </a:rPr>
              <a:t>→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3666600" y="914400"/>
            <a:ext cx="1554120" cy="914040"/>
          </a:xfrm>
          <a:prstGeom prst="roundRect">
            <a:avLst>
              <a:gd name="adj" fmla="val 8000"/>
            </a:avLst>
          </a:prstGeom>
          <a:solidFill>
            <a:srgbClr val="2C3F6E"/>
          </a:solidFill>
          <a:ln w="889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3666600" y="91440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claude-sonnet-4-6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+ system prompt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5221080" y="11430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8A828"/>
                </a:solidFill>
                <a:latin typeface="Calibri"/>
              </a:rPr>
              <a:t>→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5385960" y="914400"/>
            <a:ext cx="1554120" cy="914040"/>
          </a:xfrm>
          <a:prstGeom prst="roundRect">
            <a:avLst>
              <a:gd name="adj" fmla="val 8000"/>
            </a:avLst>
          </a:prstGeom>
          <a:solidFill>
            <a:srgbClr val="2C3F6E"/>
          </a:solidFill>
          <a:ln w="889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5385960" y="91440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Madhva KG context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(embedded inline)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6940440" y="11430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8A828"/>
                </a:solidFill>
                <a:latin typeface="Calibri"/>
              </a:rPr>
              <a:t>→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7104960" y="914400"/>
            <a:ext cx="1554120" cy="914040"/>
          </a:xfrm>
          <a:prstGeom prst="roundRect">
            <a:avLst>
              <a:gd name="adj" fmla="val 8000"/>
            </a:avLst>
          </a:prstGeom>
          <a:solidFill>
            <a:srgbClr val="2C3F6E"/>
          </a:solidFill>
          <a:ln w="889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7104960" y="91440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Response rendered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FFFFFF"/>
                </a:solidFill>
                <a:latin typeface="Calibri"/>
                <a:ea typeface="Calibri"/>
              </a:rPr>
              <a:t>+ spoken aloud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365760" y="2057400"/>
            <a:ext cx="4114440" cy="959760"/>
          </a:xfrm>
          <a:prstGeom prst="rect">
            <a:avLst/>
          </a:prstGeom>
          <a:solidFill>
            <a:srgbClr val="2C3F6E"/>
          </a:solidFill>
          <a:ln w="6350">
            <a:solidFill>
              <a:srgbClr val="9B3A1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7"/>
          <p:cNvSpPr/>
          <p:nvPr/>
        </p:nvSpPr>
        <p:spPr>
          <a:xfrm>
            <a:off x="365760" y="2057400"/>
            <a:ext cx="164160" cy="95976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621720" y="21214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A828"/>
                </a:solidFill>
                <a:latin typeface="Calibri"/>
                <a:ea typeface="Calibri"/>
              </a:rPr>
              <a:t>Why direct browser calls?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9"/>
          <p:cNvSpPr/>
          <p:nvPr/>
        </p:nvSpPr>
        <p:spPr>
          <a:xfrm>
            <a:off x="621720" y="239580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No proxy server means zero infra cost and zero latency overhead. Anthropic's API supports browser CORS with the right header.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4754880" y="2057400"/>
            <a:ext cx="4114440" cy="959760"/>
          </a:xfrm>
          <a:prstGeom prst="rect">
            <a:avLst/>
          </a:prstGeom>
          <a:solidFill>
            <a:srgbClr val="2C3F6E"/>
          </a:solidFill>
          <a:ln w="6350">
            <a:solidFill>
              <a:srgbClr val="9B3A1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1"/>
          <p:cNvSpPr/>
          <p:nvPr/>
        </p:nvSpPr>
        <p:spPr>
          <a:xfrm>
            <a:off x="4754880" y="2057400"/>
            <a:ext cx="164160" cy="95976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5010840" y="21214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A828"/>
                </a:solidFill>
                <a:latin typeface="Calibri"/>
                <a:ea typeface="Calibri"/>
              </a:rPr>
              <a:t>Why XMLHttpRequest over fetch?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23"/>
          <p:cNvSpPr/>
          <p:nvPr/>
        </p:nvSpPr>
        <p:spPr>
          <a:xfrm>
            <a:off x="5010840" y="239580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Android Chrome has silent CORS failures with fetch() + custom headers. XHR handles them reliably across Android versions.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24"/>
          <p:cNvSpPr/>
          <p:nvPr/>
        </p:nvSpPr>
        <p:spPr>
          <a:xfrm>
            <a:off x="365760" y="3154680"/>
            <a:ext cx="4114440" cy="959760"/>
          </a:xfrm>
          <a:prstGeom prst="rect">
            <a:avLst/>
          </a:prstGeom>
          <a:solidFill>
            <a:srgbClr val="2C3F6E"/>
          </a:solidFill>
          <a:ln w="6350">
            <a:solidFill>
              <a:srgbClr val="9B3A1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5"/>
          <p:cNvSpPr/>
          <p:nvPr/>
        </p:nvSpPr>
        <p:spPr>
          <a:xfrm>
            <a:off x="365760" y="3154680"/>
            <a:ext cx="164160" cy="95976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621720" y="32187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A828"/>
                </a:solidFill>
                <a:latin typeface="Calibri"/>
                <a:ea typeface="Calibri"/>
              </a:rPr>
              <a:t>Why localStorage for API key?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27"/>
          <p:cNvSpPr/>
          <p:nvPr/>
        </p:nvSpPr>
        <p:spPr>
          <a:xfrm>
            <a:off x="621720" y="349308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Each user holds their own key — no server, no shared key risk, no cost to the app owner. ⚙️ button to enter/change.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4754880" y="3154680"/>
            <a:ext cx="4114440" cy="959760"/>
          </a:xfrm>
          <a:prstGeom prst="rect">
            <a:avLst/>
          </a:prstGeom>
          <a:solidFill>
            <a:srgbClr val="2C3F6E"/>
          </a:solidFill>
          <a:ln w="6350">
            <a:solidFill>
              <a:srgbClr val="9B3A1A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29"/>
          <p:cNvSpPr/>
          <p:nvPr/>
        </p:nvSpPr>
        <p:spPr>
          <a:xfrm>
            <a:off x="4754880" y="3154680"/>
            <a:ext cx="164160" cy="959760"/>
          </a:xfrm>
          <a:prstGeom prst="rect">
            <a:avLst/>
          </a:prstGeom>
          <a:solidFill>
            <a:srgbClr val="9B3A1A"/>
          </a:solidFill>
          <a:ln w="12700">
            <a:solidFill>
              <a:srgbClr val="9B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0"/>
          <p:cNvSpPr/>
          <p:nvPr/>
        </p:nvSpPr>
        <p:spPr>
          <a:xfrm>
            <a:off x="5010840" y="32187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8A828"/>
                </a:solidFill>
                <a:latin typeface="Calibri"/>
                <a:ea typeface="Calibri"/>
              </a:rPr>
              <a:t>The duplicate function bug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1"/>
          <p:cNvSpPr/>
          <p:nvPr/>
        </p:nvSpPr>
        <p:spPr>
          <a:xfrm>
            <a:off x="5010840" y="349308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Two chatSend() functions existed in the file — JS uses the last one. The wrong model name (404) and old fetch() were both silently breaking chat.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A2744"/>
                </a:solidFill>
                <a:latin typeface="Georgia"/>
                <a:ea typeface="Georgia"/>
              </a:rPr>
              <a:t>Phase 5 — Voice Conversational Interface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777240" y="914400"/>
            <a:ext cx="822600" cy="822600"/>
          </a:xfrm>
          <a:prstGeom prst="ellipse">
            <a:avLst/>
          </a:prstGeom>
          <a:solidFill>
            <a:srgbClr val="6B5EA8"/>
          </a:solidFill>
          <a:ln w="381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777240" y="914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🎙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457200" y="178308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Tap mic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(user gesture)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1600200" y="1298160"/>
            <a:ext cx="530280" cy="360"/>
          </a:xfrm>
          <a:prstGeom prst="line">
            <a:avLst/>
          </a:prstGeom>
          <a:ln w="1524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2441520" y="914400"/>
            <a:ext cx="822600" cy="822600"/>
          </a:xfrm>
          <a:prstGeom prst="ellipse">
            <a:avLst/>
          </a:prstGeom>
          <a:solidFill>
            <a:srgbClr val="6B5EA8"/>
          </a:solidFill>
          <a:ln w="381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2441520" y="914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2121480" y="178308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STT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Web Speech API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3264120" y="1298160"/>
            <a:ext cx="530640" cy="360"/>
          </a:xfrm>
          <a:prstGeom prst="line">
            <a:avLst/>
          </a:prstGeom>
          <a:ln w="1524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4105800" y="914400"/>
            <a:ext cx="822600" cy="822600"/>
          </a:xfrm>
          <a:prstGeom prst="ellipse">
            <a:avLst/>
          </a:prstGeom>
          <a:solidFill>
            <a:srgbClr val="6B5EA8"/>
          </a:solidFill>
          <a:ln w="381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4105800" y="914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🧠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3785760" y="178308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Claude API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(voiceMode)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4928400" y="1298160"/>
            <a:ext cx="530280" cy="360"/>
          </a:xfrm>
          <a:prstGeom prst="line">
            <a:avLst/>
          </a:prstGeom>
          <a:ln w="1524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5769720" y="914400"/>
            <a:ext cx="822600" cy="822600"/>
          </a:xfrm>
          <a:prstGeom prst="ellipse">
            <a:avLst/>
          </a:prstGeom>
          <a:solidFill>
            <a:srgbClr val="6B5EA8"/>
          </a:solidFill>
          <a:ln w="381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5769720" y="914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🔊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5449680" y="178308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TTS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SpeechSynthesis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6592680" y="1298160"/>
            <a:ext cx="530280" cy="360"/>
          </a:xfrm>
          <a:prstGeom prst="line">
            <a:avLst/>
          </a:prstGeom>
          <a:ln w="1524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8"/>
          <p:cNvSpPr/>
          <p:nvPr/>
        </p:nvSpPr>
        <p:spPr>
          <a:xfrm>
            <a:off x="7434000" y="914400"/>
            <a:ext cx="822600" cy="822600"/>
          </a:xfrm>
          <a:prstGeom prst="ellipse">
            <a:avLst/>
          </a:prstGeom>
          <a:solidFill>
            <a:srgbClr val="6B5EA8"/>
          </a:solidFill>
          <a:ln w="381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7434000" y="9144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🎙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7113960" y="178308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Auto-listen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Loop continues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1"/>
          <p:cNvSpPr/>
          <p:nvPr/>
        </p:nvSpPr>
        <p:spPr>
          <a:xfrm>
            <a:off x="320040" y="2468880"/>
            <a:ext cx="41601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2"/>
          <p:cNvSpPr/>
          <p:nvPr/>
        </p:nvSpPr>
        <p:spPr>
          <a:xfrm>
            <a:off x="320040" y="2468880"/>
            <a:ext cx="136800" cy="7128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23"/>
          <p:cNvSpPr/>
          <p:nvPr/>
        </p:nvSpPr>
        <p:spPr>
          <a:xfrm>
            <a:off x="521280" y="25146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A2744"/>
                </a:solidFill>
                <a:latin typeface="Calibri"/>
                <a:ea typeface="Calibri"/>
              </a:rPr>
              <a:t>⚠ Android TTS silent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521280" y="27432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92A4"/>
                </a:solidFill>
                <a:latin typeface="Calibri"/>
                <a:ea typeface="Calibri"/>
              </a:rPr>
              <a:t>Browser blocks speechSynthesis.speak() async. Fix: speak silent primer (volume 0) during mic tap (user gesture) to unlock synthesis for the session.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5"/>
          <p:cNvSpPr/>
          <p:nvPr/>
        </p:nvSpPr>
        <p:spPr>
          <a:xfrm>
            <a:off x="4709160" y="2468880"/>
            <a:ext cx="41601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6"/>
          <p:cNvSpPr/>
          <p:nvPr/>
        </p:nvSpPr>
        <p:spPr>
          <a:xfrm>
            <a:off x="4709160" y="2468880"/>
            <a:ext cx="136800" cy="7128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7"/>
          <p:cNvSpPr/>
          <p:nvPr/>
        </p:nvSpPr>
        <p:spPr>
          <a:xfrm>
            <a:off x="4910400" y="25146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A2744"/>
                </a:solidFill>
                <a:latin typeface="Calibri"/>
                <a:ea typeface="Calibri"/>
              </a:rPr>
              <a:t>⚠ Screen sleeps mid-convo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8"/>
          <p:cNvSpPr/>
          <p:nvPr/>
        </p:nvSpPr>
        <p:spPr>
          <a:xfrm>
            <a:off x="4910400" y="27432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92A4"/>
                </a:solidFill>
                <a:latin typeface="Calibri"/>
                <a:ea typeface="Calibri"/>
              </a:rPr>
              <a:t>Android screen locks during listening loop. Fix: Screen Wake Lock API — acquired on mic tap, held through the entire listen→think→speak cycle.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9"/>
          <p:cNvSpPr/>
          <p:nvPr/>
        </p:nvSpPr>
        <p:spPr>
          <a:xfrm>
            <a:off x="320040" y="2468880"/>
            <a:ext cx="41601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320040" y="2468880"/>
            <a:ext cx="136800" cy="7128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1"/>
          <p:cNvSpPr/>
          <p:nvPr/>
        </p:nvSpPr>
        <p:spPr>
          <a:xfrm>
            <a:off x="521280" y="25146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A2744"/>
                </a:solidFill>
                <a:latin typeface="Calibri"/>
                <a:ea typeface="Calibri"/>
              </a:rPr>
              <a:t>⚠ Markdown read aloud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32"/>
          <p:cNvSpPr/>
          <p:nvPr/>
        </p:nvSpPr>
        <p:spPr>
          <a:xfrm>
            <a:off x="521280" y="27432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92A4"/>
                </a:solidFill>
                <a:latin typeface="Calibri"/>
                <a:ea typeface="Calibri"/>
              </a:rPr>
              <a:t>TTS reads '## heading' as 'hash hash'. Fix: stripForSpeech() strips all markdown before synthesising. Claude also gets a VOICE MODE system prompt.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33"/>
          <p:cNvSpPr/>
          <p:nvPr/>
        </p:nvSpPr>
        <p:spPr>
          <a:xfrm>
            <a:off x="4709160" y="3264480"/>
            <a:ext cx="41601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4"/>
          <p:cNvSpPr/>
          <p:nvPr/>
        </p:nvSpPr>
        <p:spPr>
          <a:xfrm>
            <a:off x="4709160" y="3264480"/>
            <a:ext cx="136800" cy="7128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35"/>
          <p:cNvSpPr/>
          <p:nvPr/>
        </p:nvSpPr>
        <p:spPr>
          <a:xfrm>
            <a:off x="4910400" y="33102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A2744"/>
                </a:solidFill>
                <a:latin typeface="Calibri"/>
                <a:ea typeface="Calibri"/>
              </a:rPr>
              <a:t>⚠ voiceMode reset bug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6"/>
          <p:cNvSpPr/>
          <p:nvPr/>
        </p:nvSpPr>
        <p:spPr>
          <a:xfrm>
            <a:off x="4910400" y="35388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92A4"/>
                </a:solidFill>
                <a:latin typeface="Calibri"/>
                <a:ea typeface="Calibri"/>
              </a:rPr>
              <a:t>chatSend() called with no arg → if(!text) reset voiceMode=false. speakReply never called. Fix: only reset voiceMode when user types, not on every send.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7"/>
          <p:cNvSpPr/>
          <p:nvPr/>
        </p:nvSpPr>
        <p:spPr>
          <a:xfrm>
            <a:off x="320040" y="3264480"/>
            <a:ext cx="41601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8"/>
          <p:cNvSpPr/>
          <p:nvPr/>
        </p:nvSpPr>
        <p:spPr>
          <a:xfrm>
            <a:off x="320040" y="3264480"/>
            <a:ext cx="136800" cy="7128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39"/>
          <p:cNvSpPr/>
          <p:nvPr/>
        </p:nvSpPr>
        <p:spPr>
          <a:xfrm>
            <a:off x="521280" y="33102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A2744"/>
                </a:solidFill>
                <a:latin typeface="Calibri"/>
                <a:ea typeface="Calibri"/>
              </a:rPr>
              <a:t>⚠ Long utterance cutoff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40"/>
          <p:cNvSpPr/>
          <p:nvPr/>
        </p:nvSpPr>
        <p:spPr>
          <a:xfrm>
            <a:off x="521280" y="35388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92A4"/>
                </a:solidFill>
                <a:latin typeface="Calibri"/>
                <a:ea typeface="Calibri"/>
              </a:rPr>
              <a:t>Android silently cuts off utterances over ~200 chars. Fix: split reply into sentence chunks, speak each in sequence with onend chaining.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41"/>
          <p:cNvSpPr/>
          <p:nvPr/>
        </p:nvSpPr>
        <p:spPr>
          <a:xfrm>
            <a:off x="4709160" y="3264480"/>
            <a:ext cx="4160160" cy="7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42"/>
          <p:cNvSpPr/>
          <p:nvPr/>
        </p:nvSpPr>
        <p:spPr>
          <a:xfrm>
            <a:off x="4709160" y="3264480"/>
            <a:ext cx="136800" cy="7128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3"/>
          <p:cNvSpPr/>
          <p:nvPr/>
        </p:nvSpPr>
        <p:spPr>
          <a:xfrm>
            <a:off x="4910400" y="331020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1A2744"/>
                </a:solidFill>
                <a:latin typeface="Calibri"/>
                <a:ea typeface="Calibri"/>
              </a:rPr>
              <a:t>⚠ DOM rebuild kills TTS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44"/>
          <p:cNvSpPr/>
          <p:nvPr/>
        </p:nvSpPr>
        <p:spPr>
          <a:xfrm>
            <a:off x="4910400" y="35388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92A4"/>
                </a:solidFill>
                <a:latin typeface="Calibri"/>
                <a:ea typeface="Calibri"/>
              </a:rPr>
              <a:t>renderChat() rebuilds DOM; inp.focus() fires 50ms later → kills synthesis. Fix: speakReply called 300ms after render; skip focus() in voiceMode.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8A828"/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Hard Problems &amp; How They Were Solved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320040" y="914400"/>
            <a:ext cx="8503560" cy="7128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320040" y="914400"/>
            <a:ext cx="1279800" cy="712800"/>
          </a:xfrm>
          <a:prstGeom prst="rect">
            <a:avLst/>
          </a:prstGeom>
          <a:solidFill>
            <a:srgbClr val="C17A2E">
              <a:alpha val="80000"/>
            </a:srgbClr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365760" y="111564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Data Sourcing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1691640" y="9691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892A4"/>
                </a:solidFill>
                <a:latin typeface="Calibri"/>
                <a:ea typeface="Calibri"/>
              </a:rPr>
              <a:t>Problem: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1691640" y="11520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FFFFFF"/>
                </a:solidFill>
                <a:latin typeface="Calibri"/>
                <a:ea typeface="Calibri"/>
              </a:rPr>
              <a:t>Source shlokas were 61 JPEG images in Kannada script — no text layer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5120640" y="96912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8A828"/>
                </a:solidFill>
                <a:latin typeface="Calibri"/>
                <a:ea typeface="Calibri"/>
              </a:rPr>
              <a:t>→ Fix: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5120640" y="11520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Vision-based extraction: fed images to Claude's vision model to transcribe Kannada script page by page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320040" y="1710000"/>
            <a:ext cx="8503560" cy="7128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0"/>
          <p:cNvSpPr/>
          <p:nvPr/>
        </p:nvSpPr>
        <p:spPr>
          <a:xfrm>
            <a:off x="320040" y="1710000"/>
            <a:ext cx="1279800" cy="712800"/>
          </a:xfrm>
          <a:prstGeom prst="rect">
            <a:avLst/>
          </a:prstGeom>
          <a:solidFill>
            <a:srgbClr val="C17A2E">
              <a:alpha val="80000"/>
            </a:srgbClr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11"/>
          <p:cNvSpPr/>
          <p:nvPr/>
        </p:nvSpPr>
        <p:spPr>
          <a:xfrm>
            <a:off x="365760" y="191124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Android CORS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1691640" y="1764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892A4"/>
                </a:solidFill>
                <a:latin typeface="Calibri"/>
                <a:ea typeface="Calibri"/>
              </a:rPr>
              <a:t>Problem: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1691640" y="19476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FFFFFF"/>
                </a:solidFill>
                <a:latin typeface="Calibri"/>
                <a:ea typeface="Calibri"/>
              </a:rPr>
              <a:t>Chat silently failed on Android Chrome — no error shown to user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5120640" y="176472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8A828"/>
                </a:solidFill>
                <a:latin typeface="Calibri"/>
                <a:ea typeface="Calibri"/>
              </a:rPr>
              <a:t>→ Fix: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5120640" y="19476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Built a diagnostic test page to isolate XHR vs fetch vs CORS preflight, found wrong model name (404) + fetch CORS failure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>
            <a:off x="320040" y="2505600"/>
            <a:ext cx="8503560" cy="7128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>
            <a:off x="320040" y="2505600"/>
            <a:ext cx="1279800" cy="712800"/>
          </a:xfrm>
          <a:prstGeom prst="rect">
            <a:avLst/>
          </a:prstGeom>
          <a:solidFill>
            <a:srgbClr val="C17A2E">
              <a:alpha val="80000"/>
            </a:srgbClr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365760" y="270648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TTS on Android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1691640" y="25603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892A4"/>
                </a:solidFill>
                <a:latin typeface="Calibri"/>
                <a:ea typeface="Calibri"/>
              </a:rPr>
              <a:t>Problem: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0"/>
          <p:cNvSpPr/>
          <p:nvPr/>
        </p:nvSpPr>
        <p:spPr>
          <a:xfrm>
            <a:off x="1691640" y="27432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FFFFFF"/>
                </a:solidFill>
                <a:latin typeface="Calibri"/>
                <a:ea typeface="Calibri"/>
              </a:rPr>
              <a:t>speechSynthesis.speak() called async after API response — silently ignored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5120640" y="256032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8A828"/>
                </a:solidFill>
                <a:latin typeface="Calibri"/>
                <a:ea typeface="Calibri"/>
              </a:rPr>
              <a:t>→ Fix: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22"/>
          <p:cNvSpPr/>
          <p:nvPr/>
        </p:nvSpPr>
        <p:spPr>
          <a:xfrm>
            <a:off x="5120640" y="27432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Primer utterance during user gesture; moved speakReply() after renderChat(); skipped inp.focus() in voiceMode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23"/>
          <p:cNvSpPr/>
          <p:nvPr/>
        </p:nvSpPr>
        <p:spPr>
          <a:xfrm>
            <a:off x="320040" y="3300840"/>
            <a:ext cx="8503560" cy="7128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320040" y="3300840"/>
            <a:ext cx="1279800" cy="712800"/>
          </a:xfrm>
          <a:prstGeom prst="rect">
            <a:avLst/>
          </a:prstGeom>
          <a:solidFill>
            <a:srgbClr val="C17A2E">
              <a:alpha val="80000"/>
            </a:srgbClr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365760" y="350208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Authenticity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1691640" y="33559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892A4"/>
                </a:solidFill>
                <a:latin typeface="Calibri"/>
                <a:ea typeface="Calibri"/>
              </a:rPr>
              <a:t>Problem: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1691640" y="35388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FFFFFF"/>
                </a:solidFill>
                <a:latin typeface="Calibri"/>
                <a:ea typeface="Calibri"/>
              </a:rPr>
              <a:t>Fabricated 'Konkani' was actually adapted Sanskrit — presented as a real language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8"/>
          <p:cNvSpPr/>
          <p:nvPr/>
        </p:nvSpPr>
        <p:spPr>
          <a:xfrm>
            <a:off x="5120640" y="335592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8A828"/>
                </a:solidFill>
                <a:latin typeface="Calibri"/>
                <a:ea typeface="Calibri"/>
              </a:rPr>
              <a:t>→ Fix: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9"/>
          <p:cNvSpPr/>
          <p:nvPr/>
        </p:nvSpPr>
        <p:spPr>
          <a:xfrm>
            <a:off x="5120640" y="35388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Removed content entirely rather than disguise it. Core principle: honesty over completeness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30"/>
          <p:cNvSpPr/>
          <p:nvPr/>
        </p:nvSpPr>
        <p:spPr>
          <a:xfrm>
            <a:off x="320040" y="4096440"/>
            <a:ext cx="8503560" cy="7128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31"/>
          <p:cNvSpPr/>
          <p:nvPr/>
        </p:nvSpPr>
        <p:spPr>
          <a:xfrm>
            <a:off x="320040" y="4096440"/>
            <a:ext cx="1279800" cy="712800"/>
          </a:xfrm>
          <a:prstGeom prst="rect">
            <a:avLst/>
          </a:prstGeom>
          <a:solidFill>
            <a:srgbClr val="C17A2E">
              <a:alpha val="80000"/>
            </a:srgbClr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2"/>
          <p:cNvSpPr/>
          <p:nvPr/>
        </p:nvSpPr>
        <p:spPr>
          <a:xfrm>
            <a:off x="365760" y="429768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OCR Garbling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33"/>
          <p:cNvSpPr/>
          <p:nvPr/>
        </p:nvSpPr>
        <p:spPr>
          <a:xfrm>
            <a:off x="1691640" y="41515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892A4"/>
                </a:solidFill>
                <a:latin typeface="Calibri"/>
                <a:ea typeface="Calibri"/>
              </a:rPr>
              <a:t>Problem: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34"/>
          <p:cNvSpPr/>
          <p:nvPr/>
        </p:nvSpPr>
        <p:spPr>
          <a:xfrm>
            <a:off x="1691640" y="433440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FFFFFF"/>
                </a:solidFill>
                <a:latin typeface="Calibri"/>
                <a:ea typeface="Calibri"/>
              </a:rPr>
              <a:t>Legacy Kannada font scan garbled Bannanje's parenthesized English glosses into unreadable byte sequences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35"/>
          <p:cNvSpPr/>
          <p:nvPr/>
        </p:nvSpPr>
        <p:spPr>
          <a:xfrm>
            <a:off x="5120640" y="415152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8A828"/>
                </a:solidFill>
                <a:latin typeface="Calibri"/>
                <a:ea typeface="Calibri"/>
              </a:rPr>
              <a:t>→ Fix: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6"/>
          <p:cNvSpPr/>
          <p:nvPr/>
        </p:nvSpPr>
        <p:spPr>
          <a:xfrm>
            <a:off x="5120640" y="43344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Vision-read all 476 source pages against bannanje_kn.js — zero body-text errors; ~265 garbled glosses fixed and propagated to all 4 languages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1A2744"/>
                </a:solidFill>
                <a:latin typeface="Georgia"/>
                <a:ea typeface="Georgia"/>
              </a:rPr>
              <a:t>Technology Stack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"/>
          <p:cNvSpPr/>
          <p:nvPr/>
        </p:nvSpPr>
        <p:spPr>
          <a:xfrm>
            <a:off x="365760" y="914400"/>
            <a:ext cx="26971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3"/>
          <p:cNvSpPr/>
          <p:nvPr/>
        </p:nvSpPr>
        <p:spPr>
          <a:xfrm>
            <a:off x="365760" y="914400"/>
            <a:ext cx="2697120" cy="411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365760" y="91440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A828"/>
                </a:solidFill>
                <a:latin typeface="Calibri"/>
                <a:ea typeface="Calibri"/>
              </a:rPr>
              <a:t>Frontend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438840" y="1353240"/>
            <a:ext cx="25783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HTML5 / CSS3 / Vanilla JavaScript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Cytoscape.js — force-directed knowledge graph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No framework, no npm, no build step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3273480" y="914400"/>
            <a:ext cx="26971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7"/>
          <p:cNvSpPr/>
          <p:nvPr/>
        </p:nvSpPr>
        <p:spPr>
          <a:xfrm>
            <a:off x="3273480" y="914400"/>
            <a:ext cx="2697120" cy="411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3273480" y="91440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A828"/>
                </a:solidFill>
                <a:latin typeface="Calibri"/>
                <a:ea typeface="Calibri"/>
              </a:rPr>
              <a:t>AI / API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3346560" y="1353240"/>
            <a:ext cx="25783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Anthropic Claude API (claude-sonnet-4-6)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XMLHttpRequest — direct browser calls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API key per-user in localStorage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0"/>
          <p:cNvSpPr/>
          <p:nvPr/>
        </p:nvSpPr>
        <p:spPr>
          <a:xfrm>
            <a:off x="6181200" y="914400"/>
            <a:ext cx="26971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6181200" y="914400"/>
            <a:ext cx="2697120" cy="411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6181200" y="91440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A828"/>
                </a:solidFill>
                <a:latin typeface="Calibri"/>
                <a:ea typeface="Calibri"/>
              </a:rPr>
              <a:t>Voice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6254640" y="1353240"/>
            <a:ext cx="25783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Web Speech API — SpeechRecognition (STT)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SpeechSynthesis (TTS) — chunked sentences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Screen Wake Lock API — screen stays 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4"/>
          <p:cNvSpPr/>
          <p:nvPr/>
        </p:nvSpPr>
        <p:spPr>
          <a:xfrm>
            <a:off x="365760" y="2834640"/>
            <a:ext cx="26971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5"/>
          <p:cNvSpPr/>
          <p:nvPr/>
        </p:nvSpPr>
        <p:spPr>
          <a:xfrm>
            <a:off x="365760" y="2834640"/>
            <a:ext cx="2697120" cy="411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365760" y="283464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A828"/>
                </a:solidFill>
                <a:latin typeface="Calibri"/>
                <a:ea typeface="Calibri"/>
              </a:rPr>
              <a:t>Data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7"/>
          <p:cNvSpPr/>
          <p:nvPr/>
        </p:nvSpPr>
        <p:spPr>
          <a:xfrm>
            <a:off x="438840" y="3273480"/>
            <a:ext cx="25783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47 concepts · 59 edges — inline JS objects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702 shlokas — vision-extracted from JPEG scans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4-language strings for every UI element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8"/>
          <p:cNvSpPr/>
          <p:nvPr/>
        </p:nvSpPr>
        <p:spPr>
          <a:xfrm>
            <a:off x="3273480" y="2834640"/>
            <a:ext cx="26971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9"/>
          <p:cNvSpPr/>
          <p:nvPr/>
        </p:nvSpPr>
        <p:spPr>
          <a:xfrm>
            <a:off x="3273480" y="2834640"/>
            <a:ext cx="2697120" cy="411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3273480" y="283464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A828"/>
                </a:solidFill>
                <a:latin typeface="Calibri"/>
                <a:ea typeface="Calibri"/>
              </a:rPr>
              <a:t>Delivery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1"/>
          <p:cNvSpPr/>
          <p:nvPr/>
        </p:nvSpPr>
        <p:spPr>
          <a:xfrm>
            <a:off x="3346560" y="3273480"/>
            <a:ext cx="25783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GitHub Pages — free, zero-config hosting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Single HTML file — email-able, offline-capable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viewer.html (single-file) + index.html (modular)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6181200" y="2834640"/>
            <a:ext cx="2697120" cy="178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6181200" y="2834640"/>
            <a:ext cx="2697120" cy="411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6181200" y="2834640"/>
            <a:ext cx="2697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A828"/>
                </a:solidFill>
                <a:latin typeface="Calibri"/>
                <a:ea typeface="Calibri"/>
              </a:rPr>
              <a:t>Tooling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5"/>
          <p:cNvSpPr/>
          <p:nvPr/>
        </p:nvSpPr>
        <p:spPr>
          <a:xfrm>
            <a:off x="6254640" y="3273480"/>
            <a:ext cx="257832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verify.py / verify.js — parse &amp; integrity checks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Playwright — visual QA across all 5 views × 4 languages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lang="en-US" sz="900" b="0" strike="noStrike" spc="-1">
                <a:solidFill>
                  <a:srgbClr val="1A2744"/>
                </a:solidFill>
                <a:latin typeface="Calibri"/>
                <a:ea typeface="Calibri"/>
              </a:rPr>
              <a:t>git — every fix tracked with descriptive commits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8A828"/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Georgia"/>
                <a:ea typeface="Georgia"/>
              </a:rPr>
              <a:t>What's Next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320040" y="960120"/>
            <a:ext cx="4160160" cy="11700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320040" y="1143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📖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4"/>
          <p:cNvSpPr/>
          <p:nvPr/>
        </p:nvSpPr>
        <p:spPr>
          <a:xfrm>
            <a:off x="1005840" y="1051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Resolve 11.52–11.55 Gap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1005840" y="135324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Pages 392–393 of the book contain all four verses; current placeholder notes in bannanje_kn.js are wrong and need correcting — a digitisation failure, not a genuine source gap.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6"/>
          <p:cNvSpPr/>
          <p:nvPr/>
        </p:nvSpPr>
        <p:spPr>
          <a:xfrm>
            <a:off x="4709160" y="960120"/>
            <a:ext cx="4160160" cy="11700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4709160" y="1143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🎵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5394960" y="105156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Sanskrit TTS Quality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5394960" y="135324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sa-IN not yet natively supported by browsers. Explore dedicated Sanskrit TTS APIs (Sanskrit Heritage Site, iTransliterate) for authentic pronunciation.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320040" y="2267640"/>
            <a:ext cx="4160160" cy="11700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320040" y="2450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🌐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1005840" y="23590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Offline PWA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1005840" y="26607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Convert to Progressive Web App so the knowledge graph works fully offline on mobile — especially useful during pārāyaṇa without internet.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4"/>
          <p:cNvSpPr/>
          <p:nvPr/>
        </p:nvSpPr>
        <p:spPr>
          <a:xfrm>
            <a:off x="4709160" y="2267640"/>
            <a:ext cx="4160160" cy="11700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4709160" y="2450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🔗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5394960" y="235908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Cross-reference Links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5394960" y="26607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Deep links between shlokas, concepts, and commentaries — tap a concept in a shloka and jump directly to its Focus view.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18"/>
          <p:cNvSpPr/>
          <p:nvPr/>
        </p:nvSpPr>
        <p:spPr>
          <a:xfrm>
            <a:off x="320040" y="3575160"/>
            <a:ext cx="4160160" cy="11700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9"/>
          <p:cNvSpPr/>
          <p:nvPr/>
        </p:nvSpPr>
        <p:spPr>
          <a:xfrm>
            <a:off x="320040" y="3758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📊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0"/>
          <p:cNvSpPr/>
          <p:nvPr/>
        </p:nvSpPr>
        <p:spPr>
          <a:xfrm>
            <a:off x="1005840" y="366660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Refresh Stale Docs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21"/>
          <p:cNvSpPr/>
          <p:nvPr/>
        </p:nvSpPr>
        <p:spPr>
          <a:xfrm>
            <a:off x="1005840" y="396864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README.md, PROJECT_STATUS.md, and _state.txt still cite the pre-rebuild 112-concept / 124-relation / 12-tier ontology — update to match the live 47 / 59 / 10 in data.js.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22"/>
          <p:cNvSpPr/>
          <p:nvPr/>
        </p:nvSpPr>
        <p:spPr>
          <a:xfrm>
            <a:off x="4709160" y="3575160"/>
            <a:ext cx="4160160" cy="1170000"/>
          </a:xfrm>
          <a:prstGeom prst="rect">
            <a:avLst/>
          </a:prstGeom>
          <a:solidFill>
            <a:srgbClr val="2C3F6E"/>
          </a:solidFill>
          <a:ln w="3810">
            <a:solidFill>
              <a:srgbClr val="8892A4"/>
            </a:solidFill>
            <a:round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23"/>
          <p:cNvSpPr/>
          <p:nvPr/>
        </p:nvSpPr>
        <p:spPr>
          <a:xfrm>
            <a:off x="4709160" y="3758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Calibri"/>
              </a:rPr>
              <a:t>🤝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24"/>
          <p:cNvSpPr/>
          <p:nvPr/>
        </p:nvSpPr>
        <p:spPr>
          <a:xfrm>
            <a:off x="5394960" y="3666600"/>
            <a:ext cx="3382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Community Contributions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25"/>
          <p:cNvSpPr/>
          <p:nvPr/>
        </p:nvSpPr>
        <p:spPr>
          <a:xfrm>
            <a:off x="5394960" y="396864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892A4"/>
                </a:solidFill>
                <a:latin typeface="Calibri"/>
                <a:ea typeface="Calibri"/>
              </a:rPr>
              <a:t>Open the public bundle for community additions — new concepts, relations, and commentary from scholars in the Madhva tradition.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8A828"/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E8A828"/>
          </a:solidFill>
          <a:ln w="12700">
            <a:solidFill>
              <a:srgbClr val="E8A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"/>
          <p:cNvSpPr/>
          <p:nvPr/>
        </p:nvSpPr>
        <p:spPr>
          <a:xfrm>
            <a:off x="-731520" y="914400"/>
            <a:ext cx="4114440" cy="4114440"/>
          </a:xfrm>
          <a:prstGeom prst="ellipse">
            <a:avLst/>
          </a:prstGeom>
          <a:solidFill>
            <a:srgbClr val="2C3F6E">
              <a:alpha val="40000"/>
            </a:srgbClr>
          </a:solidFill>
          <a:ln w="12700">
            <a:solidFill>
              <a:srgbClr val="2C3F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6858000" y="-457200"/>
            <a:ext cx="3657240" cy="3657240"/>
          </a:xfrm>
          <a:prstGeom prst="ellipse">
            <a:avLst/>
          </a:prstGeom>
          <a:solidFill>
            <a:srgbClr val="C17A2E">
              <a:alpha val="25000"/>
            </a:srgbClr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914400" y="9144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0" i="1" strike="noStrike" spc="-1">
                <a:solidFill>
                  <a:srgbClr val="E8A828"/>
                </a:solidFill>
                <a:latin typeface="Georgia"/>
                <a:cs typeface="Georgia"/>
              </a:rPr>
              <a:t>तत्त्व</a:t>
            </a:r>
            <a:r>
              <a:rPr lang="en-US" sz="1800" b="0" i="1" strike="noStrike" spc="-1">
                <a:solidFill>
                  <a:srgbClr val="E8A828"/>
                </a:solidFill>
                <a:latin typeface="Georgia"/>
                <a:ea typeface="Georgia"/>
              </a:rPr>
              <a:t>-</a:t>
            </a:r>
            <a:r>
              <a:rPr lang="hi-IN" sz="1800" b="0" i="1" strike="noStrike" spc="-1">
                <a:solidFill>
                  <a:srgbClr val="E8A828"/>
                </a:solidFill>
                <a:latin typeface="Georgia"/>
                <a:cs typeface="Georgia"/>
              </a:rPr>
              <a:t>जालम्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914400" y="146304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FFFFFF"/>
                </a:solidFill>
                <a:latin typeface="Georgia"/>
                <a:ea typeface="Georgia"/>
              </a:rPr>
              <a:t>Tatvam Jalam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914400" y="23317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8892A4"/>
                </a:solidFill>
                <a:latin typeface="Georgia"/>
                <a:ea typeface="Georgia"/>
              </a:rPr>
              <a:t>The Web of Tattvas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7"/>
          <p:cNvSpPr/>
          <p:nvPr/>
        </p:nvSpPr>
        <p:spPr>
          <a:xfrm>
            <a:off x="2743200" y="2926080"/>
            <a:ext cx="3657240" cy="2700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8"/>
          <p:cNvSpPr/>
          <p:nvPr/>
        </p:nvSpPr>
        <p:spPr>
          <a:xfrm>
            <a:off x="914400" y="310896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D6E4F7"/>
                </a:solidFill>
                <a:latin typeface="Calibri"/>
                <a:ea typeface="Calibri"/>
              </a:rPr>
              <a:t>🌐  kvinayakpai.github.io/Bhagavadgita/viewer.html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9"/>
          <p:cNvSpPr/>
          <p:nvPr/>
        </p:nvSpPr>
        <p:spPr>
          <a:xfrm>
            <a:off x="914400" y="36576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892A4"/>
                </a:solidFill>
                <a:latin typeface="Calibri"/>
                <a:ea typeface="Calibri"/>
              </a:rPr>
              <a:t>Built with · Anthropic Claude · Web Speech API · Cytoscape.js · GitHub Pages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0"/>
          <p:cNvSpPr/>
          <p:nvPr/>
        </p:nvSpPr>
        <p:spPr>
          <a:xfrm>
            <a:off x="914400" y="4069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8892A4"/>
                </a:solidFill>
                <a:latin typeface="Calibri"/>
                <a:ea typeface="Calibri"/>
              </a:rPr>
              <a:t>Madhva · Dvaita Vedānta · Bannanje Govindacharya Tradition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457200" y="1645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Phases 7–10 — From Features to Fidelity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365760" y="109728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713160" y="10515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Ontology Rebuild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713160" y="130752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112 → 47 concepts, 124 → 59 relations, 12 → 10 tiers — every node now anchored to one citable verse in Bannanje's commentary (June 12).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365760" y="205740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713160" y="20116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OCR Cleanup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713160" y="2267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~265 garbled English glosses fixed via page-by-page vision-reading of all 476 source pages; fixes propagated to en/hi/dev (June 11–18).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365760" y="301752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713160" y="29718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Book-Alignment Marathon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713160" y="322776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514+ verse boundary leaks removed; all 18 chapters individually re-verified against the printed book; homorganic nasal transliteration applied (June 18–21).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365760" y="3977640"/>
            <a:ext cx="255600" cy="255600"/>
          </a:xfrm>
          <a:prstGeom prst="ellipse">
            <a:avLst/>
          </a:prstGeom>
          <a:solidFill>
            <a:srgbClr val="C17A2E"/>
          </a:solidFill>
          <a:ln w="12700">
            <a:solidFill>
              <a:srgbClr val="C17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713160" y="3931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8A828"/>
                </a:solidFill>
                <a:latin typeface="Calibri"/>
                <a:ea typeface="Calibri"/>
              </a:rPr>
              <a:t>Concept Map Filtering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713160" y="41878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8892A4"/>
                </a:solidFill>
                <a:latin typeface="Calibri"/>
                <a:ea typeface="Calibri"/>
              </a:rPr>
              <a:t>New Adhyaya (chapter) and Shloka dropdowns filter the Map to one chapter or verse, auto-centering on the relevant concepts.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 flipH="1">
            <a:off x="6035040" y="1417320"/>
            <a:ext cx="91440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6949440" y="1417320"/>
            <a:ext cx="91440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 flipH="1">
            <a:off x="5760720" y="2286000"/>
            <a:ext cx="27432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7"/>
          <p:cNvSpPr/>
          <p:nvPr/>
        </p:nvSpPr>
        <p:spPr>
          <a:xfrm flipH="1">
            <a:off x="7223760" y="2286000"/>
            <a:ext cx="640080" cy="105156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7863840" y="2286000"/>
            <a:ext cx="457200" cy="86868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6035040" y="2286000"/>
            <a:ext cx="1828800" cy="360"/>
          </a:xfrm>
          <a:prstGeom prst="line">
            <a:avLst/>
          </a:prstGeom>
          <a:ln w="10160">
            <a:solidFill>
              <a:srgbClr val="8892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0"/>
          <p:cNvSpPr/>
          <p:nvPr/>
        </p:nvSpPr>
        <p:spPr>
          <a:xfrm>
            <a:off x="6510600" y="1188720"/>
            <a:ext cx="694440" cy="694440"/>
          </a:xfrm>
          <a:prstGeom prst="ellipse">
            <a:avLst/>
          </a:prstGeom>
          <a:solidFill>
            <a:srgbClr val="E8A828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6217920" y="19018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514+ leaks fixed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5687640" y="2057400"/>
            <a:ext cx="511560" cy="511560"/>
          </a:xfrm>
          <a:prstGeom prst="ellipse">
            <a:avLst/>
          </a:prstGeom>
          <a:solidFill>
            <a:srgbClr val="C17A2E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5303520" y="2587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476 pages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4"/>
          <p:cNvSpPr/>
          <p:nvPr/>
        </p:nvSpPr>
        <p:spPr>
          <a:xfrm>
            <a:off x="7516440" y="2057400"/>
            <a:ext cx="511560" cy="511560"/>
          </a:xfrm>
          <a:prstGeom prst="ellipse">
            <a:avLst/>
          </a:prstGeom>
          <a:solidFill>
            <a:srgbClr val="4A7C59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7132320" y="2587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265 garbles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26"/>
          <p:cNvSpPr/>
          <p:nvPr/>
        </p:nvSpPr>
        <p:spPr>
          <a:xfrm>
            <a:off x="5459040" y="2926080"/>
            <a:ext cx="420120" cy="420120"/>
          </a:xfrm>
          <a:prstGeom prst="ellipse">
            <a:avLst/>
          </a:prstGeom>
          <a:solidFill>
            <a:srgbClr val="2C3F6E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7"/>
          <p:cNvSpPr/>
          <p:nvPr/>
        </p:nvSpPr>
        <p:spPr>
          <a:xfrm>
            <a:off x="5029200" y="33649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18 chapters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28"/>
          <p:cNvSpPr/>
          <p:nvPr/>
        </p:nvSpPr>
        <p:spPr>
          <a:xfrm>
            <a:off x="6903720" y="3108960"/>
            <a:ext cx="456840" cy="456840"/>
          </a:xfrm>
          <a:prstGeom prst="ellipse">
            <a:avLst/>
          </a:prstGeom>
          <a:solidFill>
            <a:srgbClr val="2C3F6E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6492240" y="35845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39+ nodes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8019360" y="2926080"/>
            <a:ext cx="420120" cy="420120"/>
          </a:xfrm>
          <a:prstGeom prst="ellipse">
            <a:avLst/>
          </a:prstGeom>
          <a:solidFill>
            <a:srgbClr val="9B3A1A"/>
          </a:solidFill>
          <a:ln w="63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1"/>
          <p:cNvSpPr/>
          <p:nvPr/>
        </p:nvSpPr>
        <p:spPr>
          <a:xfrm>
            <a:off x="7589520" y="33649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92A4"/>
                </a:solidFill>
                <a:latin typeface="Calibri"/>
              </a:rPr>
              <a:t>701 shlokas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On-screen Show (16:9)</PresentationFormat>
  <Paragraphs>0</Paragraphs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Pai</cp:lastModifiedBy>
  <cp:revision>1</cp:revision>
  <dcterms:modified xsi:type="dcterms:W3CDTF">2026-05-28T04:33:49Z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2026-05-28T03:50:57Z</dcterms:created>
  <dc:creator>PptxGenJS</dc:creator>
  <dc:description/>
  <dc:language>en-US</dc:language>
  <cp:lastModifiedBy>PptxGenJS</cp:lastModifiedBy>
  <dcterms:modified xsi:type="dcterms:W3CDTF">2026-05-28T03:50:57Z</dcterms:modified>
  <cp:revision>1</cp:revision>
  <dc:subject>PptxGenJS Presentation</dc:subject>
  <dc:title>Tatvam Jalam — Technical Journey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