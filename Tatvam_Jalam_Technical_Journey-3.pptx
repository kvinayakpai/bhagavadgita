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ore0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officedocument/2006/relationships/metadata/core-properties" Target="docProps/core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move the slide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7D73BD2B-71AC-419A-9EB7-C0D315F6A79D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BC10F1E-25D2-417F-B1EB-856D1A19B8CC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265EF2D-6F56-4CFD-8A1A-14D51073B34A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8E954C-E129-4B6C-874F-3309CE000DDD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C0A3B69-B8F7-4EE1-8A4B-26B179D316CD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83CF9D-00BC-4839-937F-309C2D1B2690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FD5C9E-BCF4-4AE1-A3F8-BC952A61FAB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AD423C-469A-45E5-9988-920161B04F6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2CD29D-81D4-46C7-A800-54B01D8ADB6C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CBCB40-0A15-45EC-8681-9299CD248A6F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76461F-1C49-4A7B-8335-48B213F8FFAB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8251406-F318-4842-9722-3DFACD7CD130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A5D675-07CF-4FC0-B1F6-28B6F4CD3047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E8A828"/>
          </a:solidFill>
          <a:ln w="1270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6583680" y="457200"/>
            <a:ext cx="3200040" cy="3200040"/>
          </a:xfrm>
          <a:prstGeom prst="ellipse">
            <a:avLst/>
          </a:prstGeom>
          <a:solidFill>
            <a:srgbClr val="2C3F6E">
              <a:alpha val="60000"/>
            </a:srgbClr>
          </a:solidFill>
          <a:ln w="1270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6949440" y="822960"/>
            <a:ext cx="2468520" cy="2468520"/>
          </a:xfrm>
          <a:prstGeom prst="ellipse">
            <a:avLst/>
          </a:prstGeom>
          <a:solidFill>
            <a:srgbClr val="C17A2E">
              <a:alpha val="30000"/>
            </a:srgbClr>
          </a:solidFill>
          <a:ln w="635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548640" y="640080"/>
            <a:ext cx="64004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0" i="1" strike="noStrike" spc="-1">
                <a:solidFill>
                  <a:srgbClr val="E8A828"/>
                </a:solidFill>
                <a:latin typeface="Georgia"/>
                <a:cs typeface="Georgia"/>
              </a:rPr>
              <a:t>तत्त्व</a:t>
            </a:r>
            <a:r>
              <a:rPr lang="en-US" sz="1800" b="0" i="1" strike="noStrike" spc="-1">
                <a:solidFill>
                  <a:srgbClr val="E8A828"/>
                </a:solidFill>
                <a:latin typeface="Georgia"/>
                <a:ea typeface="Georgia"/>
              </a:rPr>
              <a:t>-</a:t>
            </a:r>
            <a:r>
              <a:rPr lang="hi-IN" sz="1800" b="0" i="1" strike="noStrike" spc="-1">
                <a:solidFill>
                  <a:srgbClr val="E8A828"/>
                </a:solidFill>
                <a:latin typeface="Georgia"/>
                <a:cs typeface="Georgia"/>
              </a:rPr>
              <a:t>जालम्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48640" y="1188720"/>
            <a:ext cx="685764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strike="noStrike" spc="-1">
                <a:solidFill>
                  <a:srgbClr val="FFFFFF"/>
                </a:solidFill>
                <a:latin typeface="Georgia"/>
                <a:ea typeface="Georgia"/>
              </a:rPr>
              <a:t>Tatvam Jalam</a:t>
            </a:r>
            <a:endParaRPr lang="en-US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548640" y="2148840"/>
            <a:ext cx="68576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solidFill>
                  <a:srgbClr val="D6E4F7"/>
                </a:solidFill>
                <a:latin typeface="Calibri"/>
                <a:ea typeface="Calibri"/>
              </a:rPr>
              <a:t>Bhagavad Gītā Knowledge Graph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548640" y="2834640"/>
            <a:ext cx="4114440" cy="27000"/>
          </a:xfrm>
          <a:prstGeom prst="rect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7640" rIns="90000" bIns="-1764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548640" y="29718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8892A4"/>
                </a:solidFill>
                <a:latin typeface="Calibri"/>
                <a:ea typeface="Calibri"/>
              </a:rPr>
              <a:t>Technical Journey — How It Was Built</a:t>
            </a:r>
            <a:endParaRPr lang="en-US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548640" y="3749040"/>
            <a:ext cx="2285640" cy="347040"/>
          </a:xfrm>
          <a:prstGeom prst="roundRect">
            <a:avLst>
              <a:gd name="adj" fmla="val 13158"/>
            </a:avLst>
          </a:prstGeom>
          <a:solidFill>
            <a:srgbClr val="2C3F6E"/>
          </a:solidFill>
          <a:ln w="635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548640" y="374904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E8A828"/>
                </a:solidFill>
                <a:latin typeface="Calibri"/>
              </a:rPr>
              <a:t>Knowledge Graph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3108960" y="3749040"/>
            <a:ext cx="2285640" cy="347040"/>
          </a:xfrm>
          <a:prstGeom prst="roundRect">
            <a:avLst>
              <a:gd name="adj" fmla="val 13158"/>
            </a:avLst>
          </a:prstGeom>
          <a:solidFill>
            <a:srgbClr val="2C3F6E"/>
          </a:solidFill>
          <a:ln w="635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3108960" y="374904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E8A828"/>
                </a:solidFill>
                <a:latin typeface="Calibri"/>
              </a:rPr>
              <a:t>Multilingual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5669280" y="3749040"/>
            <a:ext cx="2285640" cy="347040"/>
          </a:xfrm>
          <a:prstGeom prst="roundRect">
            <a:avLst>
              <a:gd name="adj" fmla="val 13158"/>
            </a:avLst>
          </a:prstGeom>
          <a:solidFill>
            <a:srgbClr val="2C3F6E"/>
          </a:solidFill>
          <a:ln w="635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5669280" y="374904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E8A828"/>
                </a:solidFill>
                <a:latin typeface="Calibri"/>
              </a:rPr>
              <a:t>Voice AI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548640" y="4251960"/>
            <a:ext cx="2285640" cy="347040"/>
          </a:xfrm>
          <a:prstGeom prst="roundRect">
            <a:avLst>
              <a:gd name="adj" fmla="val 13158"/>
            </a:avLst>
          </a:prstGeom>
          <a:solidFill>
            <a:srgbClr val="2C3F6E"/>
          </a:solidFill>
          <a:ln w="635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548640" y="425196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E8A828"/>
                </a:solidFill>
                <a:latin typeface="Calibri"/>
              </a:rPr>
              <a:t>Claude API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3108960" y="4251960"/>
            <a:ext cx="2285640" cy="347040"/>
          </a:xfrm>
          <a:prstGeom prst="roundRect">
            <a:avLst>
              <a:gd name="adj" fmla="val 13158"/>
            </a:avLst>
          </a:prstGeom>
          <a:solidFill>
            <a:srgbClr val="2C3F6E"/>
          </a:solidFill>
          <a:ln w="635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3108960" y="425196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E8A828"/>
                </a:solidFill>
                <a:latin typeface="Calibri"/>
              </a:rPr>
              <a:t>Single-File HTML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548640" y="4709160"/>
            <a:ext cx="82292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strike="noStrike" spc="-1">
                <a:solidFill>
                  <a:srgbClr val="8892A4"/>
                </a:solidFill>
                <a:latin typeface="Calibri"/>
              </a:rPr>
              <a:t>Madhva · Bannanje Govindacharya Tradition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457200" y="18288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1A2744"/>
                </a:solidFill>
                <a:latin typeface="Georgia"/>
                <a:ea typeface="Georgia"/>
              </a:rPr>
              <a:t>What Is Tatvam Jalam?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Shape 2"/>
          <p:cNvSpPr/>
          <p:nvPr/>
        </p:nvSpPr>
        <p:spPr>
          <a:xfrm>
            <a:off x="365760" y="914400"/>
            <a:ext cx="5120280" cy="347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548640" y="1051560"/>
            <a:ext cx="4754520" cy="3200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A2744"/>
                </a:solidFill>
                <a:latin typeface="Calibri"/>
                <a:ea typeface="Calibri"/>
              </a:rPr>
              <a:t>A self-contained interactive web app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1A2744"/>
                </a:solidFill>
                <a:latin typeface="Calibri"/>
                <a:ea typeface="Calibri"/>
              </a:rPr>
              <a:t>that maps the Bhagavad Gītā's philosophical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1A2744"/>
                </a:solidFill>
                <a:latin typeface="Calibri"/>
                <a:ea typeface="Calibri"/>
              </a:rPr>
              <a:t>concepts as a navigable knowledge graph —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1A2744"/>
                </a:solidFill>
                <a:latin typeface="Calibri"/>
                <a:ea typeface="Calibri"/>
              </a:rPr>
              <a:t>rooted in the Madhva Vedānta tradition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1A2744"/>
                </a:solidFill>
                <a:latin typeface="Calibri"/>
                <a:ea typeface="Calibri"/>
              </a:rPr>
              <a:t>and Bannanje Govindacharya's commentaries.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9B3A1A"/>
                </a:solidFill>
                <a:latin typeface="Calibri"/>
                <a:ea typeface="Calibri"/>
              </a:rPr>
              <a:t>Everything ships as a single HTML file.</a:t>
            </a:r>
            <a:endParaRPr lang="en-US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4"/>
          <p:cNvSpPr/>
          <p:nvPr/>
        </p:nvSpPr>
        <p:spPr>
          <a:xfrm>
            <a:off x="5760720" y="914400"/>
            <a:ext cx="1416960" cy="1051200"/>
          </a:xfrm>
          <a:prstGeom prst="rect">
            <a:avLst/>
          </a:prstGeom>
          <a:solidFill>
            <a:srgbClr val="1A2744"/>
          </a:solidFill>
          <a:ln w="6350">
            <a:solidFill>
              <a:srgbClr val="E8A828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5760720" y="102420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E8A828"/>
                </a:solidFill>
                <a:latin typeface="Georgia"/>
                <a:ea typeface="Georgia"/>
              </a:rPr>
              <a:t>117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6"/>
          <p:cNvSpPr/>
          <p:nvPr/>
        </p:nvSpPr>
        <p:spPr>
          <a:xfrm>
            <a:off x="5760720" y="150876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Concepts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7406640" y="914400"/>
            <a:ext cx="1416960" cy="1051200"/>
          </a:xfrm>
          <a:prstGeom prst="rect">
            <a:avLst/>
          </a:prstGeom>
          <a:solidFill>
            <a:srgbClr val="1A2744"/>
          </a:solidFill>
          <a:ln w="6350">
            <a:solidFill>
              <a:srgbClr val="E8A828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7406640" y="102420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E8A828"/>
                </a:solidFill>
                <a:latin typeface="Georgia"/>
                <a:ea typeface="Georgia"/>
              </a:rPr>
              <a:t>239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7406640" y="150876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Relations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5760720" y="2121480"/>
            <a:ext cx="1416960" cy="1051200"/>
          </a:xfrm>
          <a:prstGeom prst="rect">
            <a:avLst/>
          </a:prstGeom>
          <a:solidFill>
            <a:srgbClr val="1A2744"/>
          </a:solidFill>
          <a:ln w="6350">
            <a:solidFill>
              <a:srgbClr val="E8A828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1"/>
          <p:cNvSpPr/>
          <p:nvPr/>
        </p:nvSpPr>
        <p:spPr>
          <a:xfrm>
            <a:off x="5760720" y="223128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E8A828"/>
                </a:solidFill>
                <a:latin typeface="Georgia"/>
                <a:ea typeface="Georgia"/>
              </a:rPr>
              <a:t>701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5760720" y="271584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Shlokas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Shape 13"/>
          <p:cNvSpPr/>
          <p:nvPr/>
        </p:nvSpPr>
        <p:spPr>
          <a:xfrm>
            <a:off x="7406640" y="2121480"/>
            <a:ext cx="1416960" cy="1051200"/>
          </a:xfrm>
          <a:prstGeom prst="rect">
            <a:avLst/>
          </a:prstGeom>
          <a:solidFill>
            <a:srgbClr val="1A2744"/>
          </a:solidFill>
          <a:ln w="6350">
            <a:solidFill>
              <a:srgbClr val="E8A828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7406640" y="223128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E8A828"/>
                </a:solidFill>
                <a:latin typeface="Georgia"/>
                <a:ea typeface="Georgia"/>
              </a:rPr>
              <a:t>18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15"/>
          <p:cNvSpPr/>
          <p:nvPr/>
        </p:nvSpPr>
        <p:spPr>
          <a:xfrm>
            <a:off x="7406640" y="271584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Chapters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5760720" y="3328560"/>
            <a:ext cx="1416960" cy="1051200"/>
          </a:xfrm>
          <a:prstGeom prst="rect">
            <a:avLst/>
          </a:prstGeom>
          <a:solidFill>
            <a:srgbClr val="1A2744"/>
          </a:solidFill>
          <a:ln w="6350">
            <a:solidFill>
              <a:srgbClr val="E8A828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5760720" y="343800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E8A828"/>
                </a:solidFill>
                <a:latin typeface="Georgia"/>
                <a:ea typeface="Georgia"/>
              </a:rPr>
              <a:t>13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760720" y="392292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Tiers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19"/>
          <p:cNvSpPr/>
          <p:nvPr/>
        </p:nvSpPr>
        <p:spPr>
          <a:xfrm>
            <a:off x="7406640" y="3328560"/>
            <a:ext cx="1416960" cy="1051200"/>
          </a:xfrm>
          <a:prstGeom prst="rect">
            <a:avLst/>
          </a:prstGeom>
          <a:solidFill>
            <a:srgbClr val="1A2744"/>
          </a:solidFill>
          <a:ln w="6350">
            <a:solidFill>
              <a:srgbClr val="E8A828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20"/>
          <p:cNvSpPr/>
          <p:nvPr/>
        </p:nvSpPr>
        <p:spPr>
          <a:xfrm>
            <a:off x="7406640" y="343800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E8A828"/>
                </a:solidFill>
                <a:latin typeface="Georgia"/>
                <a:ea typeface="Georgia"/>
              </a:rPr>
              <a:t>4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21"/>
          <p:cNvSpPr/>
          <p:nvPr/>
        </p:nvSpPr>
        <p:spPr>
          <a:xfrm>
            <a:off x="7406640" y="3922920"/>
            <a:ext cx="1416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Languages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22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23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892A4"/>
                </a:solidFill>
                <a:latin typeface="Calibri"/>
              </a:rPr>
              <a:t>Madhva · Dvaita Vedānta · Bannanje Govindacharya Tradition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E8A828"/>
          </a:solidFill>
          <a:ln w="1270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457200" y="1645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FFFFFF"/>
                </a:solidFill>
                <a:latin typeface="Georgia"/>
                <a:ea typeface="Georgia"/>
              </a:rPr>
              <a:t>The Build Journey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457200" y="2788920"/>
            <a:ext cx="8229240" cy="45360"/>
          </a:xfrm>
          <a:prstGeom prst="rect">
            <a:avLst/>
          </a:prstGeom>
          <a:solidFill>
            <a:srgbClr val="8892A4">
              <a:alpha val="50000"/>
            </a:srgbClr>
          </a:solidFill>
          <a:ln w="1270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720" rIns="90000" bIns="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3"/>
          <p:cNvSpPr/>
          <p:nvPr/>
        </p:nvSpPr>
        <p:spPr>
          <a:xfrm>
            <a:off x="960120" y="2633400"/>
            <a:ext cx="310680" cy="310680"/>
          </a:xfrm>
          <a:prstGeom prst="ellipse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4"/>
          <p:cNvSpPr/>
          <p:nvPr/>
        </p:nvSpPr>
        <p:spPr>
          <a:xfrm>
            <a:off x="457200" y="960120"/>
            <a:ext cx="13255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C17A2E"/>
                </a:solidFill>
                <a:latin typeface="Calibri"/>
                <a:ea typeface="Calibri"/>
              </a:rPr>
              <a:t>01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5"/>
          <p:cNvSpPr/>
          <p:nvPr/>
        </p:nvSpPr>
        <p:spPr>
          <a:xfrm>
            <a:off x="457200" y="1234440"/>
            <a:ext cx="1325520" cy="1325520"/>
          </a:xfrm>
          <a:prstGeom prst="rect">
            <a:avLst/>
          </a:prstGeom>
          <a:solidFill>
            <a:srgbClr val="2C3F6E"/>
          </a:solidFill>
          <a:ln w="10160">
            <a:solidFill>
              <a:srgbClr val="C17A2E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6"/>
          <p:cNvSpPr/>
          <p:nvPr/>
        </p:nvSpPr>
        <p:spPr>
          <a:xfrm>
            <a:off x="457200" y="1298520"/>
            <a:ext cx="13255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Calibri"/>
                <a:ea typeface="Calibri"/>
              </a:rPr>
              <a:t>Ontology Graph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7"/>
          <p:cNvSpPr/>
          <p:nvPr/>
        </p:nvSpPr>
        <p:spPr>
          <a:xfrm>
            <a:off x="457200" y="1828800"/>
            <a:ext cx="1325520" cy="18000"/>
          </a:xfrm>
          <a:prstGeom prst="rect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8"/>
          <p:cNvSpPr/>
          <p:nvPr/>
        </p:nvSpPr>
        <p:spPr>
          <a:xfrm>
            <a:off x="457200" y="1847160"/>
            <a:ext cx="13255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Knowledge graph from scratch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9"/>
          <p:cNvSpPr/>
          <p:nvPr/>
        </p:nvSpPr>
        <p:spPr>
          <a:xfrm>
            <a:off x="457200" y="3017520"/>
            <a:ext cx="1325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Ontology Graph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10"/>
          <p:cNvSpPr/>
          <p:nvPr/>
        </p:nvSpPr>
        <p:spPr>
          <a:xfrm>
            <a:off x="2350080" y="2633400"/>
            <a:ext cx="310680" cy="310680"/>
          </a:xfrm>
          <a:prstGeom prst="ellipse">
            <a:avLst/>
          </a:prstGeom>
          <a:solidFill>
            <a:srgbClr val="4A7C59"/>
          </a:solidFill>
          <a:ln w="12700">
            <a:solidFill>
              <a:srgbClr val="4A7C5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11"/>
          <p:cNvSpPr/>
          <p:nvPr/>
        </p:nvSpPr>
        <p:spPr>
          <a:xfrm>
            <a:off x="1847160" y="960120"/>
            <a:ext cx="13255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4A7C59"/>
                </a:solidFill>
                <a:latin typeface="Calibri"/>
                <a:ea typeface="Calibri"/>
              </a:rPr>
              <a:t>02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12"/>
          <p:cNvSpPr/>
          <p:nvPr/>
        </p:nvSpPr>
        <p:spPr>
          <a:xfrm>
            <a:off x="1847160" y="1234440"/>
            <a:ext cx="1325520" cy="1325520"/>
          </a:xfrm>
          <a:prstGeom prst="rect">
            <a:avLst/>
          </a:prstGeom>
          <a:solidFill>
            <a:srgbClr val="2C3F6E"/>
          </a:solidFill>
          <a:ln w="10160">
            <a:solidFill>
              <a:srgbClr val="4A7C59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Text 13"/>
          <p:cNvSpPr/>
          <p:nvPr/>
        </p:nvSpPr>
        <p:spPr>
          <a:xfrm>
            <a:off x="1847160" y="1298520"/>
            <a:ext cx="13255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Calibri"/>
                <a:ea typeface="Calibri"/>
              </a:rPr>
              <a:t>Multilingual UI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4"/>
          <p:cNvSpPr/>
          <p:nvPr/>
        </p:nvSpPr>
        <p:spPr>
          <a:xfrm>
            <a:off x="1847160" y="1828800"/>
            <a:ext cx="1325520" cy="1800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5"/>
          <p:cNvSpPr/>
          <p:nvPr/>
        </p:nvSpPr>
        <p:spPr>
          <a:xfrm>
            <a:off x="1847160" y="1847160"/>
            <a:ext cx="13255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4 scripts, 1 app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16"/>
          <p:cNvSpPr/>
          <p:nvPr/>
        </p:nvSpPr>
        <p:spPr>
          <a:xfrm>
            <a:off x="1847160" y="3017520"/>
            <a:ext cx="1325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Multilingual UI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17"/>
          <p:cNvSpPr/>
          <p:nvPr/>
        </p:nvSpPr>
        <p:spPr>
          <a:xfrm>
            <a:off x="3740040" y="2633400"/>
            <a:ext cx="310680" cy="310680"/>
          </a:xfrm>
          <a:prstGeom prst="ellipse">
            <a:avLst/>
          </a:prstGeom>
          <a:solidFill>
            <a:srgbClr val="2C3F6E"/>
          </a:solidFill>
          <a:ln w="12700">
            <a:solidFill>
              <a:srgbClr val="2C3F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18"/>
          <p:cNvSpPr/>
          <p:nvPr/>
        </p:nvSpPr>
        <p:spPr>
          <a:xfrm>
            <a:off x="3237120" y="960120"/>
            <a:ext cx="13255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2C3F6E"/>
                </a:solidFill>
                <a:latin typeface="Calibri"/>
                <a:ea typeface="Calibri"/>
              </a:rPr>
              <a:t>03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19"/>
          <p:cNvSpPr/>
          <p:nvPr/>
        </p:nvSpPr>
        <p:spPr>
          <a:xfrm>
            <a:off x="3237120" y="1234440"/>
            <a:ext cx="1325520" cy="1325520"/>
          </a:xfrm>
          <a:prstGeom prst="rect">
            <a:avLst/>
          </a:prstGeom>
          <a:solidFill>
            <a:srgbClr val="2C3F6E"/>
          </a:solidFill>
          <a:ln w="10160">
            <a:solidFill>
              <a:srgbClr val="2C3F6E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 20"/>
          <p:cNvSpPr/>
          <p:nvPr/>
        </p:nvSpPr>
        <p:spPr>
          <a:xfrm>
            <a:off x="3237120" y="1298520"/>
            <a:ext cx="13255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Calibri"/>
                <a:ea typeface="Calibri"/>
              </a:rPr>
              <a:t>Shlokas &amp; Chapters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Shape 21"/>
          <p:cNvSpPr/>
          <p:nvPr/>
        </p:nvSpPr>
        <p:spPr>
          <a:xfrm>
            <a:off x="3237120" y="1828800"/>
            <a:ext cx="1325520" cy="18000"/>
          </a:xfrm>
          <a:prstGeom prst="rect">
            <a:avLst/>
          </a:prstGeom>
          <a:solidFill>
            <a:srgbClr val="2C3F6E"/>
          </a:solidFill>
          <a:ln w="12700">
            <a:solidFill>
              <a:srgbClr val="2C3F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22"/>
          <p:cNvSpPr/>
          <p:nvPr/>
        </p:nvSpPr>
        <p:spPr>
          <a:xfrm>
            <a:off x="3237120" y="1847160"/>
            <a:ext cx="13255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701 verses integrated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23"/>
          <p:cNvSpPr/>
          <p:nvPr/>
        </p:nvSpPr>
        <p:spPr>
          <a:xfrm>
            <a:off x="3237120" y="3017520"/>
            <a:ext cx="1325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Shlokas &amp; Chapters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24"/>
          <p:cNvSpPr/>
          <p:nvPr/>
        </p:nvSpPr>
        <p:spPr>
          <a:xfrm>
            <a:off x="5129640" y="2633400"/>
            <a:ext cx="310680" cy="310680"/>
          </a:xfrm>
          <a:prstGeom prst="ellipse">
            <a:avLst/>
          </a:prstGeom>
          <a:solidFill>
            <a:srgbClr val="9B3A1A"/>
          </a:solidFill>
          <a:ln w="12700">
            <a:solidFill>
              <a:srgbClr val="9B3A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25"/>
          <p:cNvSpPr/>
          <p:nvPr/>
        </p:nvSpPr>
        <p:spPr>
          <a:xfrm>
            <a:off x="4626720" y="960120"/>
            <a:ext cx="13255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9B3A1A"/>
                </a:solidFill>
                <a:latin typeface="Calibri"/>
                <a:ea typeface="Calibri"/>
              </a:rPr>
              <a:t>04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Shape 26"/>
          <p:cNvSpPr/>
          <p:nvPr/>
        </p:nvSpPr>
        <p:spPr>
          <a:xfrm>
            <a:off x="4626720" y="1234440"/>
            <a:ext cx="1325520" cy="1325520"/>
          </a:xfrm>
          <a:prstGeom prst="rect">
            <a:avLst/>
          </a:prstGeom>
          <a:solidFill>
            <a:srgbClr val="2C3F6E"/>
          </a:solidFill>
          <a:ln w="10160">
            <a:solidFill>
              <a:srgbClr val="9B3A1A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27"/>
          <p:cNvSpPr/>
          <p:nvPr/>
        </p:nvSpPr>
        <p:spPr>
          <a:xfrm>
            <a:off x="4626720" y="1298520"/>
            <a:ext cx="13255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Calibri"/>
                <a:ea typeface="Calibri"/>
              </a:rPr>
              <a:t>Chat — Claude API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Shape 28"/>
          <p:cNvSpPr/>
          <p:nvPr/>
        </p:nvSpPr>
        <p:spPr>
          <a:xfrm>
            <a:off x="4626720" y="1828800"/>
            <a:ext cx="1325520" cy="18000"/>
          </a:xfrm>
          <a:prstGeom prst="rect">
            <a:avLst/>
          </a:prstGeom>
          <a:solidFill>
            <a:srgbClr val="9B3A1A"/>
          </a:solidFill>
          <a:ln w="12700">
            <a:solidFill>
              <a:srgbClr val="9B3A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Text 29"/>
          <p:cNvSpPr/>
          <p:nvPr/>
        </p:nvSpPr>
        <p:spPr>
          <a:xfrm>
            <a:off x="4626720" y="1847160"/>
            <a:ext cx="13255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AI scholar in the app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30"/>
          <p:cNvSpPr/>
          <p:nvPr/>
        </p:nvSpPr>
        <p:spPr>
          <a:xfrm>
            <a:off x="4626720" y="3017520"/>
            <a:ext cx="1325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Chat — Claude API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31"/>
          <p:cNvSpPr/>
          <p:nvPr/>
        </p:nvSpPr>
        <p:spPr>
          <a:xfrm>
            <a:off x="6519600" y="2633400"/>
            <a:ext cx="310680" cy="310680"/>
          </a:xfrm>
          <a:prstGeom prst="ellipse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32"/>
          <p:cNvSpPr/>
          <p:nvPr/>
        </p:nvSpPr>
        <p:spPr>
          <a:xfrm>
            <a:off x="6016680" y="960120"/>
            <a:ext cx="13255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6B5EA8"/>
                </a:solidFill>
                <a:latin typeface="Calibri"/>
                <a:ea typeface="Calibri"/>
              </a:rPr>
              <a:t>05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Shape 33"/>
          <p:cNvSpPr/>
          <p:nvPr/>
        </p:nvSpPr>
        <p:spPr>
          <a:xfrm>
            <a:off x="6016680" y="1234440"/>
            <a:ext cx="1325520" cy="1325520"/>
          </a:xfrm>
          <a:prstGeom prst="rect">
            <a:avLst/>
          </a:prstGeom>
          <a:solidFill>
            <a:srgbClr val="2C3F6E"/>
          </a:solidFill>
          <a:ln w="10160">
            <a:solidFill>
              <a:srgbClr val="6B5EA8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34"/>
          <p:cNvSpPr/>
          <p:nvPr/>
        </p:nvSpPr>
        <p:spPr>
          <a:xfrm>
            <a:off x="6016680" y="1298520"/>
            <a:ext cx="13255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Calibri"/>
                <a:ea typeface="Calibri"/>
              </a:rPr>
              <a:t>Voice Interface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Shape 35"/>
          <p:cNvSpPr/>
          <p:nvPr/>
        </p:nvSpPr>
        <p:spPr>
          <a:xfrm>
            <a:off x="6016680" y="1828800"/>
            <a:ext cx="1325520" cy="18000"/>
          </a:xfrm>
          <a:prstGeom prst="rect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36"/>
          <p:cNvSpPr/>
          <p:nvPr/>
        </p:nvSpPr>
        <p:spPr>
          <a:xfrm>
            <a:off x="6016680" y="1847160"/>
            <a:ext cx="13255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Full spoken conversation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37"/>
          <p:cNvSpPr/>
          <p:nvPr/>
        </p:nvSpPr>
        <p:spPr>
          <a:xfrm>
            <a:off x="6016680" y="3017520"/>
            <a:ext cx="1325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Voice Interface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38"/>
          <p:cNvSpPr/>
          <p:nvPr/>
        </p:nvSpPr>
        <p:spPr>
          <a:xfrm>
            <a:off x="7909560" y="2633400"/>
            <a:ext cx="310680" cy="310680"/>
          </a:xfrm>
          <a:prstGeom prst="ellipse">
            <a:avLst/>
          </a:prstGeom>
          <a:solidFill>
            <a:srgbClr val="4A7C59"/>
          </a:solidFill>
          <a:ln w="12700">
            <a:solidFill>
              <a:srgbClr val="4A7C5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9"/>
          <p:cNvSpPr/>
          <p:nvPr/>
        </p:nvSpPr>
        <p:spPr>
          <a:xfrm>
            <a:off x="7406640" y="960120"/>
            <a:ext cx="13255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4A7C59"/>
                </a:solidFill>
                <a:latin typeface="Calibri"/>
                <a:ea typeface="Calibri"/>
              </a:rPr>
              <a:t>06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Shape 40"/>
          <p:cNvSpPr/>
          <p:nvPr/>
        </p:nvSpPr>
        <p:spPr>
          <a:xfrm>
            <a:off x="7406640" y="1234440"/>
            <a:ext cx="1325520" cy="1325520"/>
          </a:xfrm>
          <a:prstGeom prst="rect">
            <a:avLst/>
          </a:prstGeom>
          <a:solidFill>
            <a:srgbClr val="2C3F6E"/>
          </a:solidFill>
          <a:ln w="10160">
            <a:solidFill>
              <a:srgbClr val="4A7C59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41"/>
          <p:cNvSpPr/>
          <p:nvPr/>
        </p:nvSpPr>
        <p:spPr>
          <a:xfrm>
            <a:off x="7406640" y="1298520"/>
            <a:ext cx="132552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Calibri"/>
                <a:ea typeface="Calibri"/>
              </a:rPr>
              <a:t>Bundle &amp; Brand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Shape 42"/>
          <p:cNvSpPr/>
          <p:nvPr/>
        </p:nvSpPr>
        <p:spPr>
          <a:xfrm>
            <a:off x="7406640" y="1828800"/>
            <a:ext cx="1325520" cy="1800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26640" rIns="90000" bIns="-2664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3"/>
          <p:cNvSpPr/>
          <p:nvPr/>
        </p:nvSpPr>
        <p:spPr>
          <a:xfrm>
            <a:off x="7406640" y="1847160"/>
            <a:ext cx="132552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Tatvam Jalam, shareable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4"/>
          <p:cNvSpPr/>
          <p:nvPr/>
        </p:nvSpPr>
        <p:spPr>
          <a:xfrm>
            <a:off x="7406640" y="3017520"/>
            <a:ext cx="132552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Bundle &amp; Brand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45"/>
          <p:cNvSpPr/>
          <p:nvPr/>
        </p:nvSpPr>
        <p:spPr>
          <a:xfrm>
            <a:off x="457200" y="448056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strike="noStrike" spc="-1">
                <a:solidFill>
                  <a:srgbClr val="8892A4"/>
                </a:solidFill>
                <a:latin typeface="Calibri"/>
                <a:ea typeface="Calibri"/>
              </a:rPr>
              <a:t>Each phase shipped iteratively — visual QA on mobile, fix, push. ~25 git commits over the full build.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457200" y="1645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strike="noStrike" spc="-1">
                <a:solidFill>
                  <a:srgbClr val="1A2744"/>
                </a:solidFill>
                <a:latin typeface="Georgia"/>
                <a:ea typeface="Georgia"/>
              </a:rPr>
              <a:t>Architecture — One File, No Server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2"/>
          <p:cNvSpPr/>
          <p:nvPr/>
        </p:nvSpPr>
        <p:spPr>
          <a:xfrm>
            <a:off x="365760" y="1005840"/>
            <a:ext cx="228240" cy="594000"/>
          </a:xfrm>
          <a:prstGeom prst="rect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Shape 3"/>
          <p:cNvSpPr/>
          <p:nvPr/>
        </p:nvSpPr>
        <p:spPr>
          <a:xfrm>
            <a:off x="594360" y="1005840"/>
            <a:ext cx="81378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731520" y="107892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A2744"/>
                </a:solidFill>
                <a:latin typeface="Calibri"/>
                <a:ea typeface="Calibri"/>
              </a:rPr>
              <a:t>Presentation Layer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731520" y="130752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8892A4"/>
                </a:solidFill>
                <a:latin typeface="Calibri"/>
                <a:ea typeface="Calibri"/>
              </a:rPr>
              <a:t>HTML5 · CSS3 · Vanilla JS · Cytoscape.js graph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384120" y="1161360"/>
            <a:ext cx="182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FFFFFF"/>
                </a:solidFill>
                <a:latin typeface="Calibri"/>
              </a:rPr>
              <a:t>↑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7"/>
          <p:cNvSpPr/>
          <p:nvPr/>
        </p:nvSpPr>
        <p:spPr>
          <a:xfrm>
            <a:off x="365760" y="1764720"/>
            <a:ext cx="228240" cy="594000"/>
          </a:xfrm>
          <a:prstGeom prst="rect">
            <a:avLst/>
          </a:prstGeom>
          <a:solidFill>
            <a:srgbClr val="2C3F6E"/>
          </a:solidFill>
          <a:ln w="12700">
            <a:solidFill>
              <a:srgbClr val="2C3F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8"/>
          <p:cNvSpPr/>
          <p:nvPr/>
        </p:nvSpPr>
        <p:spPr>
          <a:xfrm>
            <a:off x="594360" y="1764720"/>
            <a:ext cx="81378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731520" y="18378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A2744"/>
                </a:solidFill>
                <a:latin typeface="Calibri"/>
                <a:ea typeface="Calibri"/>
              </a:rPr>
              <a:t>Data Layer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731520" y="206640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8892A4"/>
                </a:solidFill>
                <a:latin typeface="Calibri"/>
                <a:ea typeface="Calibri"/>
              </a:rPr>
              <a:t>47 concepts + 59 edges + 702 shlokas — all inline JS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384120" y="1920240"/>
            <a:ext cx="182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FFFFFF"/>
                </a:solidFill>
                <a:latin typeface="Calibri"/>
              </a:rPr>
              <a:t>↑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12"/>
          <p:cNvSpPr/>
          <p:nvPr/>
        </p:nvSpPr>
        <p:spPr>
          <a:xfrm>
            <a:off x="365760" y="2523600"/>
            <a:ext cx="228240" cy="594000"/>
          </a:xfrm>
          <a:prstGeom prst="rect">
            <a:avLst/>
          </a:prstGeom>
          <a:solidFill>
            <a:srgbClr val="9B3A1A"/>
          </a:solidFill>
          <a:ln w="12700">
            <a:solidFill>
              <a:srgbClr val="9B3A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13"/>
          <p:cNvSpPr/>
          <p:nvPr/>
        </p:nvSpPr>
        <p:spPr>
          <a:xfrm>
            <a:off x="594360" y="2523600"/>
            <a:ext cx="81378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731520" y="259704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A2744"/>
                </a:solidFill>
                <a:latin typeface="Calibri"/>
                <a:ea typeface="Calibri"/>
              </a:rPr>
              <a:t>AI Layer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15"/>
          <p:cNvSpPr/>
          <p:nvPr/>
        </p:nvSpPr>
        <p:spPr>
          <a:xfrm>
            <a:off x="731520" y="282564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8892A4"/>
                </a:solidFill>
                <a:latin typeface="Calibri"/>
                <a:ea typeface="Calibri"/>
              </a:rPr>
              <a:t>Anthropic Claude API (claude-sonnet-4-6) · XHR · localStorage key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6"/>
          <p:cNvSpPr/>
          <p:nvPr/>
        </p:nvSpPr>
        <p:spPr>
          <a:xfrm>
            <a:off x="384120" y="2679120"/>
            <a:ext cx="182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FFFFFF"/>
                </a:solidFill>
                <a:latin typeface="Calibri"/>
              </a:rPr>
              <a:t>↑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17"/>
          <p:cNvSpPr/>
          <p:nvPr/>
        </p:nvSpPr>
        <p:spPr>
          <a:xfrm>
            <a:off x="365760" y="3282840"/>
            <a:ext cx="228240" cy="594000"/>
          </a:xfrm>
          <a:prstGeom prst="rect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18"/>
          <p:cNvSpPr/>
          <p:nvPr/>
        </p:nvSpPr>
        <p:spPr>
          <a:xfrm>
            <a:off x="594360" y="3282840"/>
            <a:ext cx="81378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19"/>
          <p:cNvSpPr/>
          <p:nvPr/>
        </p:nvSpPr>
        <p:spPr>
          <a:xfrm>
            <a:off x="731520" y="335592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A2744"/>
                </a:solidFill>
                <a:latin typeface="Calibri"/>
                <a:ea typeface="Calibri"/>
              </a:rPr>
              <a:t>Voice Layer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20"/>
          <p:cNvSpPr/>
          <p:nvPr/>
        </p:nvSpPr>
        <p:spPr>
          <a:xfrm>
            <a:off x="731520" y="358452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8892A4"/>
                </a:solidFill>
                <a:latin typeface="Calibri"/>
                <a:ea typeface="Calibri"/>
              </a:rPr>
              <a:t>Web Speech API (STT) · SpeechSynthesis (TTS) · Wake Lock API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21"/>
          <p:cNvSpPr/>
          <p:nvPr/>
        </p:nvSpPr>
        <p:spPr>
          <a:xfrm>
            <a:off x="384120" y="3438000"/>
            <a:ext cx="182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FFFFFF"/>
                </a:solidFill>
                <a:latin typeface="Calibri"/>
              </a:rPr>
              <a:t>↑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22"/>
          <p:cNvSpPr/>
          <p:nvPr/>
        </p:nvSpPr>
        <p:spPr>
          <a:xfrm>
            <a:off x="365760" y="4041720"/>
            <a:ext cx="228240" cy="59400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Shape 23"/>
          <p:cNvSpPr/>
          <p:nvPr/>
        </p:nvSpPr>
        <p:spPr>
          <a:xfrm>
            <a:off x="594360" y="4041720"/>
            <a:ext cx="8137800" cy="59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24"/>
          <p:cNvSpPr/>
          <p:nvPr/>
        </p:nvSpPr>
        <p:spPr>
          <a:xfrm>
            <a:off x="731520" y="4114800"/>
            <a:ext cx="25599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1A2744"/>
                </a:solidFill>
                <a:latin typeface="Calibri"/>
                <a:ea typeface="Calibri"/>
              </a:rPr>
              <a:t>Delivery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25"/>
          <p:cNvSpPr/>
          <p:nvPr/>
        </p:nvSpPr>
        <p:spPr>
          <a:xfrm>
            <a:off x="731520" y="4343400"/>
            <a:ext cx="77720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8892A4"/>
                </a:solidFill>
                <a:latin typeface="Calibri"/>
                <a:ea typeface="Calibri"/>
              </a:rPr>
              <a:t>GitHub Pages · Single bundled HTML — zero build pipeline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26"/>
          <p:cNvSpPr/>
          <p:nvPr/>
        </p:nvSpPr>
        <p:spPr>
          <a:xfrm>
            <a:off x="384120" y="4197240"/>
            <a:ext cx="1825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FFFFFF"/>
                </a:solidFill>
                <a:latin typeface="Calibri"/>
              </a:rPr>
              <a:t>↑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27"/>
          <p:cNvSpPr/>
          <p:nvPr/>
        </p:nvSpPr>
        <p:spPr>
          <a:xfrm>
            <a:off x="0" y="4846320"/>
            <a:ext cx="9143640" cy="2970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28"/>
          <p:cNvSpPr/>
          <p:nvPr/>
        </p:nvSpPr>
        <p:spPr>
          <a:xfrm>
            <a:off x="182880" y="4846320"/>
            <a:ext cx="8777880" cy="29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Key decision: everything in one HTML file — deployable anywhere, no backend, no npm, no framework.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1"/>
          <p:cNvSpPr/>
          <p:nvPr/>
        </p:nvSpPr>
        <p:spPr>
          <a:xfrm>
            <a:off x="457200" y="1645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strike="noStrike" spc="-1">
                <a:solidFill>
                  <a:srgbClr val="FFFFFF"/>
                </a:solidFill>
                <a:latin typeface="Georgia"/>
                <a:ea typeface="Georgia"/>
              </a:rPr>
              <a:t>Phase 1 — The Knowledge Graph</a:t>
            </a:r>
            <a:endParaRPr lang="en-US" sz="2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2"/>
          <p:cNvSpPr/>
          <p:nvPr/>
        </p:nvSpPr>
        <p:spPr>
          <a:xfrm>
            <a:off x="365760" y="1097280"/>
            <a:ext cx="255600" cy="255600"/>
          </a:xfrm>
          <a:prstGeom prst="ellipse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3"/>
          <p:cNvSpPr/>
          <p:nvPr/>
        </p:nvSpPr>
        <p:spPr>
          <a:xfrm>
            <a:off x="713160" y="105156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Why a graph?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4"/>
          <p:cNvSpPr/>
          <p:nvPr/>
        </p:nvSpPr>
        <p:spPr>
          <a:xfrm>
            <a:off x="713160" y="130752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Gita's concepts form a web — not a list. Bhagavān → Jīva → Prakṛti → Karma are deeply interconnected. A graph makes those relationships navigable.</a:t>
            </a:r>
            <a:endParaRPr lang="en-US" sz="9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Shape 5"/>
          <p:cNvSpPr/>
          <p:nvPr/>
        </p:nvSpPr>
        <p:spPr>
          <a:xfrm>
            <a:off x="365760" y="2057400"/>
            <a:ext cx="255600" cy="255600"/>
          </a:xfrm>
          <a:prstGeom prst="ellipse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6"/>
          <p:cNvSpPr/>
          <p:nvPr/>
        </p:nvSpPr>
        <p:spPr>
          <a:xfrm>
            <a:off x="713160" y="201168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13-tier hierarchy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7"/>
          <p:cNvSpPr/>
          <p:nvPr/>
        </p:nvSpPr>
        <p:spPr>
          <a:xfrm>
            <a:off x="713160" y="226764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Madhva's tāratamya — a strict hierarchy from Paramātman down to tāmoyogyas. Each tier is color-coded so the rank is visible at a glance.</a:t>
            </a:r>
            <a:endParaRPr lang="en-US" sz="9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8"/>
          <p:cNvSpPr/>
          <p:nvPr/>
        </p:nvSpPr>
        <p:spPr>
          <a:xfrm>
            <a:off x="365760" y="3017520"/>
            <a:ext cx="255600" cy="255600"/>
          </a:xfrm>
          <a:prstGeom prst="ellipse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713160" y="297180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Cytoscape.js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0"/>
          <p:cNvSpPr/>
          <p:nvPr/>
        </p:nvSpPr>
        <p:spPr>
          <a:xfrm>
            <a:off x="713160" y="322776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Chosen for force-directed layout, node grouping, and responsive graph rendering — all in browser with no server dependency.</a:t>
            </a:r>
            <a:endParaRPr lang="en-US" sz="9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11"/>
          <p:cNvSpPr/>
          <p:nvPr/>
        </p:nvSpPr>
        <p:spPr>
          <a:xfrm>
            <a:off x="365760" y="3977640"/>
            <a:ext cx="255600" cy="255600"/>
          </a:xfrm>
          <a:prstGeom prst="ellipse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12"/>
          <p:cNvSpPr/>
          <p:nvPr/>
        </p:nvSpPr>
        <p:spPr>
          <a:xfrm>
            <a:off x="713160" y="3931920"/>
            <a:ext cx="4114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5 views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713160" y="418788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strike="noStrike" spc="-1">
                <a:solidFill>
                  <a:srgbClr val="8892A4"/>
                </a:solidFill>
                <a:latin typeface="Calibri"/>
                <a:ea typeface="Calibri"/>
              </a:rPr>
              <a:t>Browse (list by tier), Focus (concept deep-dive), Chapters (BG chapter → concepts → shlokas), Map (full graph), Chat.</a:t>
            </a:r>
            <a:endParaRPr lang="en-US" sz="9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14"/>
          <p:cNvSpPr/>
          <p:nvPr/>
        </p:nvSpPr>
        <p:spPr>
          <a:xfrm flipH="1">
            <a:off x="6035040" y="1417320"/>
            <a:ext cx="914400" cy="868680"/>
          </a:xfrm>
          <a:prstGeom prst="line">
            <a:avLst/>
          </a:prstGeom>
          <a:ln w="1016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15"/>
          <p:cNvSpPr/>
          <p:nvPr/>
        </p:nvSpPr>
        <p:spPr>
          <a:xfrm>
            <a:off x="6949440" y="1417320"/>
            <a:ext cx="914400" cy="868680"/>
          </a:xfrm>
          <a:prstGeom prst="line">
            <a:avLst/>
          </a:prstGeom>
          <a:ln w="1016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Shape 16"/>
          <p:cNvSpPr/>
          <p:nvPr/>
        </p:nvSpPr>
        <p:spPr>
          <a:xfrm flipH="1">
            <a:off x="5760720" y="2286000"/>
            <a:ext cx="274320" cy="868680"/>
          </a:xfrm>
          <a:prstGeom prst="line">
            <a:avLst/>
          </a:prstGeom>
          <a:ln w="1016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Shape 17"/>
          <p:cNvSpPr/>
          <p:nvPr/>
        </p:nvSpPr>
        <p:spPr>
          <a:xfrm flipH="1">
            <a:off x="7223760" y="2286000"/>
            <a:ext cx="640080" cy="1051560"/>
          </a:xfrm>
          <a:prstGeom prst="line">
            <a:avLst/>
          </a:prstGeom>
          <a:ln w="1016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18"/>
          <p:cNvSpPr/>
          <p:nvPr/>
        </p:nvSpPr>
        <p:spPr>
          <a:xfrm>
            <a:off x="7863840" y="2286000"/>
            <a:ext cx="457200" cy="868680"/>
          </a:xfrm>
          <a:prstGeom prst="line">
            <a:avLst/>
          </a:prstGeom>
          <a:ln w="1016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9"/>
          <p:cNvSpPr/>
          <p:nvPr/>
        </p:nvSpPr>
        <p:spPr>
          <a:xfrm>
            <a:off x="6035040" y="2286000"/>
            <a:ext cx="1828800" cy="360"/>
          </a:xfrm>
          <a:prstGeom prst="line">
            <a:avLst/>
          </a:prstGeom>
          <a:ln w="1016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20"/>
          <p:cNvSpPr/>
          <p:nvPr/>
        </p:nvSpPr>
        <p:spPr>
          <a:xfrm>
            <a:off x="6510600" y="1188720"/>
            <a:ext cx="694440" cy="694440"/>
          </a:xfrm>
          <a:prstGeom prst="ellipse">
            <a:avLst/>
          </a:prstGeom>
          <a:solidFill>
            <a:srgbClr val="E8A828"/>
          </a:solidFill>
          <a:ln w="63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21"/>
          <p:cNvSpPr/>
          <p:nvPr/>
        </p:nvSpPr>
        <p:spPr>
          <a:xfrm>
            <a:off x="6217920" y="190188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strike="noStrike" spc="-1">
                <a:solidFill>
                  <a:srgbClr val="8892A4"/>
                </a:solidFill>
                <a:latin typeface="Calibri"/>
              </a:rPr>
              <a:t>Bhagavān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22"/>
          <p:cNvSpPr/>
          <p:nvPr/>
        </p:nvSpPr>
        <p:spPr>
          <a:xfrm>
            <a:off x="5687640" y="2057400"/>
            <a:ext cx="511560" cy="511560"/>
          </a:xfrm>
          <a:prstGeom prst="ellipse">
            <a:avLst/>
          </a:prstGeom>
          <a:solidFill>
            <a:srgbClr val="C17A2E"/>
          </a:solidFill>
          <a:ln w="63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Text 23"/>
          <p:cNvSpPr/>
          <p:nvPr/>
        </p:nvSpPr>
        <p:spPr>
          <a:xfrm>
            <a:off x="5303520" y="258768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strike="noStrike" spc="-1">
                <a:solidFill>
                  <a:srgbClr val="8892A4"/>
                </a:solidFill>
                <a:latin typeface="Calibri"/>
              </a:rPr>
              <a:t>Lakṣmī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24"/>
          <p:cNvSpPr/>
          <p:nvPr/>
        </p:nvSpPr>
        <p:spPr>
          <a:xfrm>
            <a:off x="7516440" y="2057400"/>
            <a:ext cx="511560" cy="511560"/>
          </a:xfrm>
          <a:prstGeom prst="ellipse">
            <a:avLst/>
          </a:prstGeom>
          <a:solidFill>
            <a:srgbClr val="4A7C59"/>
          </a:solidFill>
          <a:ln w="63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25"/>
          <p:cNvSpPr/>
          <p:nvPr/>
        </p:nvSpPr>
        <p:spPr>
          <a:xfrm>
            <a:off x="7132320" y="258768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strike="noStrike" spc="-1">
                <a:solidFill>
                  <a:srgbClr val="8892A4"/>
                </a:solidFill>
                <a:latin typeface="Calibri"/>
              </a:rPr>
              <a:t>Jīva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Shape 26"/>
          <p:cNvSpPr/>
          <p:nvPr/>
        </p:nvSpPr>
        <p:spPr>
          <a:xfrm>
            <a:off x="5459040" y="2926080"/>
            <a:ext cx="420120" cy="420120"/>
          </a:xfrm>
          <a:prstGeom prst="ellipse">
            <a:avLst/>
          </a:prstGeom>
          <a:solidFill>
            <a:srgbClr val="2C3F6E"/>
          </a:solidFill>
          <a:ln w="63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27"/>
          <p:cNvSpPr/>
          <p:nvPr/>
        </p:nvSpPr>
        <p:spPr>
          <a:xfrm>
            <a:off x="5029200" y="336492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strike="noStrike" spc="-1">
                <a:solidFill>
                  <a:srgbClr val="8892A4"/>
                </a:solidFill>
                <a:latin typeface="Calibri"/>
              </a:rPr>
              <a:t>Karma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28"/>
          <p:cNvSpPr/>
          <p:nvPr/>
        </p:nvSpPr>
        <p:spPr>
          <a:xfrm>
            <a:off x="6903720" y="3108960"/>
            <a:ext cx="456840" cy="456840"/>
          </a:xfrm>
          <a:prstGeom prst="ellipse">
            <a:avLst/>
          </a:prstGeom>
          <a:solidFill>
            <a:srgbClr val="2C3F6E"/>
          </a:solidFill>
          <a:ln w="63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29"/>
          <p:cNvSpPr/>
          <p:nvPr/>
        </p:nvSpPr>
        <p:spPr>
          <a:xfrm>
            <a:off x="6492240" y="358452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strike="noStrike" spc="-1">
                <a:solidFill>
                  <a:srgbClr val="8892A4"/>
                </a:solidFill>
                <a:latin typeface="Calibri"/>
              </a:rPr>
              <a:t>Prakṛti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30"/>
          <p:cNvSpPr/>
          <p:nvPr/>
        </p:nvSpPr>
        <p:spPr>
          <a:xfrm>
            <a:off x="8019360" y="2926080"/>
            <a:ext cx="420120" cy="420120"/>
          </a:xfrm>
          <a:prstGeom prst="ellipse">
            <a:avLst/>
          </a:prstGeom>
          <a:solidFill>
            <a:srgbClr val="9B3A1A"/>
          </a:solidFill>
          <a:ln w="635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31"/>
          <p:cNvSpPr/>
          <p:nvPr/>
        </p:nvSpPr>
        <p:spPr>
          <a:xfrm>
            <a:off x="7589520" y="3364920"/>
            <a:ext cx="127980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strike="noStrike" spc="-1">
                <a:solidFill>
                  <a:srgbClr val="8892A4"/>
                </a:solidFill>
                <a:latin typeface="Calibri"/>
              </a:rPr>
              <a:t>Mokṣa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457200" y="1645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strike="noStrike" spc="-1">
                <a:solidFill>
                  <a:srgbClr val="1A2744"/>
                </a:solidFill>
                <a:latin typeface="Georgia"/>
                <a:ea typeface="Georgia"/>
              </a:rPr>
              <a:t>Phase 2 — Multilingual by Design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2"/>
          <p:cNvSpPr/>
          <p:nvPr/>
        </p:nvSpPr>
        <p:spPr>
          <a:xfrm>
            <a:off x="365760" y="960120"/>
            <a:ext cx="1965600" cy="320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3"/>
          <p:cNvSpPr/>
          <p:nvPr/>
        </p:nvSpPr>
        <p:spPr>
          <a:xfrm>
            <a:off x="365760" y="960120"/>
            <a:ext cx="1965600" cy="502560"/>
          </a:xfrm>
          <a:prstGeom prst="rect">
            <a:avLst/>
          </a:prstGeom>
          <a:solidFill>
            <a:srgbClr val="2C3F6E"/>
          </a:solidFill>
          <a:ln w="12700">
            <a:solidFill>
              <a:srgbClr val="2C3F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4"/>
          <p:cNvSpPr/>
          <p:nvPr/>
        </p:nvSpPr>
        <p:spPr>
          <a:xfrm>
            <a:off x="365760" y="960120"/>
            <a:ext cx="1965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FFFFFF"/>
                </a:solidFill>
                <a:latin typeface="Calibri"/>
              </a:rPr>
              <a:t>EN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5"/>
          <p:cNvSpPr/>
          <p:nvPr/>
        </p:nvSpPr>
        <p:spPr>
          <a:xfrm>
            <a:off x="365760" y="1508760"/>
            <a:ext cx="1965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A2744"/>
                </a:solidFill>
                <a:latin typeface="Calibri"/>
              </a:rPr>
              <a:t>English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6"/>
          <p:cNvSpPr/>
          <p:nvPr/>
        </p:nvSpPr>
        <p:spPr>
          <a:xfrm>
            <a:off x="457200" y="1920240"/>
            <a:ext cx="1782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8892A4"/>
                </a:solidFill>
                <a:latin typeface="Calibri"/>
                <a:ea typeface="Calibri"/>
              </a:rPr>
              <a:t>Concept Knowledge Graph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7"/>
          <p:cNvSpPr/>
          <p:nvPr/>
        </p:nvSpPr>
        <p:spPr>
          <a:xfrm>
            <a:off x="2514600" y="960120"/>
            <a:ext cx="1965600" cy="320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8"/>
          <p:cNvSpPr/>
          <p:nvPr/>
        </p:nvSpPr>
        <p:spPr>
          <a:xfrm>
            <a:off x="2514600" y="960120"/>
            <a:ext cx="1965600" cy="502560"/>
          </a:xfrm>
          <a:prstGeom prst="rect">
            <a:avLst/>
          </a:prstGeom>
          <a:solidFill>
            <a:srgbClr val="9B3A1A"/>
          </a:solidFill>
          <a:ln w="12700">
            <a:solidFill>
              <a:srgbClr val="9B3A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9"/>
          <p:cNvSpPr/>
          <p:nvPr/>
        </p:nvSpPr>
        <p:spPr>
          <a:xfrm>
            <a:off x="2514600" y="960120"/>
            <a:ext cx="1965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400" b="1" strike="noStrike" spc="-1">
                <a:solidFill>
                  <a:srgbClr val="FFFFFF"/>
                </a:solidFill>
                <a:latin typeface="Calibri"/>
              </a:rPr>
              <a:t>देव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10"/>
          <p:cNvSpPr/>
          <p:nvPr/>
        </p:nvSpPr>
        <p:spPr>
          <a:xfrm>
            <a:off x="2514600" y="1508760"/>
            <a:ext cx="1965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A2744"/>
                </a:solidFill>
                <a:latin typeface="Calibri"/>
              </a:rPr>
              <a:t>Sanskrit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11"/>
          <p:cNvSpPr/>
          <p:nvPr/>
        </p:nvSpPr>
        <p:spPr>
          <a:xfrm>
            <a:off x="2606040" y="1920240"/>
            <a:ext cx="1782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900" b="0" strike="noStrike" spc="-1">
                <a:solidFill>
                  <a:srgbClr val="8892A4"/>
                </a:solidFill>
                <a:latin typeface="Noto Sans Devanagari"/>
                <a:cs typeface="Noto Sans Devanagari"/>
              </a:rPr>
              <a:t>भगवद्गीता </a:t>
            </a:r>
            <a:r>
              <a:rPr lang="en-US" sz="900" b="0" strike="noStrike" spc="-1">
                <a:solidFill>
                  <a:srgbClr val="8892A4"/>
                </a:solidFill>
                <a:latin typeface="Noto Sans Devanagari"/>
                <a:ea typeface="Noto Sans Devanagari"/>
              </a:rPr>
              <a:t>· </a:t>
            </a:r>
            <a:r>
              <a:rPr lang="hi-IN" sz="900" b="0" strike="noStrike" spc="-1">
                <a:solidFill>
                  <a:srgbClr val="8892A4"/>
                </a:solidFill>
                <a:latin typeface="Noto Sans Devanagari"/>
                <a:cs typeface="Noto Sans Devanagari"/>
              </a:rPr>
              <a:t>तत्त्व</a:t>
            </a:r>
            <a:r>
              <a:rPr lang="en-US" sz="900" b="0" strike="noStrike" spc="-1">
                <a:solidFill>
                  <a:srgbClr val="8892A4"/>
                </a:solidFill>
                <a:latin typeface="Noto Sans Devanagari"/>
                <a:ea typeface="Noto Sans Devanagari"/>
              </a:rPr>
              <a:t>-</a:t>
            </a:r>
            <a:r>
              <a:rPr lang="hi-IN" sz="900" b="0" strike="noStrike" spc="-1">
                <a:solidFill>
                  <a:srgbClr val="8892A4"/>
                </a:solidFill>
                <a:latin typeface="Noto Sans Devanagari"/>
                <a:cs typeface="Noto Sans Devanagari"/>
              </a:rPr>
              <a:t>जालम्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12"/>
          <p:cNvSpPr/>
          <p:nvPr/>
        </p:nvSpPr>
        <p:spPr>
          <a:xfrm>
            <a:off x="4663440" y="960120"/>
            <a:ext cx="1965600" cy="320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13"/>
          <p:cNvSpPr/>
          <p:nvPr/>
        </p:nvSpPr>
        <p:spPr>
          <a:xfrm>
            <a:off x="4663440" y="960120"/>
            <a:ext cx="1965600" cy="502560"/>
          </a:xfrm>
          <a:prstGeom prst="rect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14"/>
          <p:cNvSpPr/>
          <p:nvPr/>
        </p:nvSpPr>
        <p:spPr>
          <a:xfrm>
            <a:off x="4663440" y="960120"/>
            <a:ext cx="1965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400" b="1" strike="noStrike" spc="-1">
                <a:solidFill>
                  <a:srgbClr val="FFFFFF"/>
                </a:solidFill>
                <a:latin typeface="Calibri"/>
              </a:rPr>
              <a:t>हिंदी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15"/>
          <p:cNvSpPr/>
          <p:nvPr/>
        </p:nvSpPr>
        <p:spPr>
          <a:xfrm>
            <a:off x="4663440" y="1508760"/>
            <a:ext cx="1965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A2744"/>
                </a:solidFill>
                <a:latin typeface="Calibri"/>
              </a:rPr>
              <a:t>Hindi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16"/>
          <p:cNvSpPr/>
          <p:nvPr/>
        </p:nvSpPr>
        <p:spPr>
          <a:xfrm>
            <a:off x="4754880" y="1920240"/>
            <a:ext cx="1782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900" b="0" strike="noStrike" spc="-1">
                <a:solidFill>
                  <a:srgbClr val="8892A4"/>
                </a:solidFill>
                <a:latin typeface="Noto Sans Devanagari"/>
                <a:cs typeface="Noto Sans Devanagari"/>
              </a:rPr>
              <a:t>भगवद् गीता </a:t>
            </a:r>
            <a:r>
              <a:rPr lang="en-US" sz="900" b="0" strike="noStrike" spc="-1">
                <a:solidFill>
                  <a:srgbClr val="8892A4"/>
                </a:solidFill>
                <a:latin typeface="Noto Sans Devanagari"/>
                <a:ea typeface="Noto Sans Devanagari"/>
              </a:rPr>
              <a:t>· </a:t>
            </a:r>
            <a:r>
              <a:rPr lang="hi-IN" sz="900" b="0" strike="noStrike" spc="-1">
                <a:solidFill>
                  <a:srgbClr val="8892A4"/>
                </a:solidFill>
                <a:latin typeface="Noto Sans Devanagari"/>
                <a:cs typeface="Noto Sans Devanagari"/>
              </a:rPr>
              <a:t>तत्त्व</a:t>
            </a:r>
            <a:r>
              <a:rPr lang="en-US" sz="900" b="0" strike="noStrike" spc="-1">
                <a:solidFill>
                  <a:srgbClr val="8892A4"/>
                </a:solidFill>
                <a:latin typeface="Noto Sans Devanagari"/>
                <a:ea typeface="Noto Sans Devanagari"/>
              </a:rPr>
              <a:t>-</a:t>
            </a:r>
            <a:r>
              <a:rPr lang="hi-IN" sz="900" b="0" strike="noStrike" spc="-1">
                <a:solidFill>
                  <a:srgbClr val="8892A4"/>
                </a:solidFill>
                <a:latin typeface="Noto Sans Devanagari"/>
                <a:cs typeface="Noto Sans Devanagari"/>
              </a:rPr>
              <a:t>जाल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17"/>
          <p:cNvSpPr/>
          <p:nvPr/>
        </p:nvSpPr>
        <p:spPr>
          <a:xfrm>
            <a:off x="6812280" y="960120"/>
            <a:ext cx="1965600" cy="320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18"/>
          <p:cNvSpPr/>
          <p:nvPr/>
        </p:nvSpPr>
        <p:spPr>
          <a:xfrm>
            <a:off x="6812280" y="960120"/>
            <a:ext cx="1965600" cy="50256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9"/>
          <p:cNvSpPr/>
          <p:nvPr/>
        </p:nvSpPr>
        <p:spPr>
          <a:xfrm>
            <a:off x="6812280" y="960120"/>
            <a:ext cx="1965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400" b="1" strike="noStrike" spc="-1">
                <a:solidFill>
                  <a:srgbClr val="FFFFFF"/>
                </a:solidFill>
                <a:latin typeface="Calibri"/>
              </a:rPr>
              <a:t>ಕನ್ನಡ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20"/>
          <p:cNvSpPr/>
          <p:nvPr/>
        </p:nvSpPr>
        <p:spPr>
          <a:xfrm>
            <a:off x="6812280" y="1508760"/>
            <a:ext cx="1965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1A2744"/>
                </a:solidFill>
                <a:latin typeface="Calibri"/>
              </a:rPr>
              <a:t>Kannada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21"/>
          <p:cNvSpPr/>
          <p:nvPr/>
        </p:nvSpPr>
        <p:spPr>
          <a:xfrm>
            <a:off x="6903720" y="1920240"/>
            <a:ext cx="178272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900" b="0" strike="noStrike" spc="-1">
                <a:solidFill>
                  <a:srgbClr val="8892A4"/>
                </a:solidFill>
                <a:latin typeface="Noto Sans Kannada"/>
                <a:cs typeface="Noto Sans Kannada"/>
              </a:rPr>
              <a:t>ಭಗವದ್ಗೀತಾ </a:t>
            </a:r>
            <a:r>
              <a:rPr lang="en-US" sz="900" b="0" strike="noStrike" spc="-1">
                <a:solidFill>
                  <a:srgbClr val="8892A4"/>
                </a:solidFill>
                <a:latin typeface="Noto Sans Kannada"/>
                <a:ea typeface="Noto Sans Kannada"/>
              </a:rPr>
              <a:t>· </a:t>
            </a:r>
            <a:r>
              <a:rPr lang="hi-IN" sz="900" b="0" strike="noStrike" spc="-1">
                <a:solidFill>
                  <a:srgbClr val="8892A4"/>
                </a:solidFill>
                <a:latin typeface="Noto Sans Kannada"/>
                <a:cs typeface="Noto Sans Kannada"/>
              </a:rPr>
              <a:t>ತತ್ತ್ವ</a:t>
            </a:r>
            <a:r>
              <a:rPr lang="en-US" sz="900" b="0" strike="noStrike" spc="-1">
                <a:solidFill>
                  <a:srgbClr val="8892A4"/>
                </a:solidFill>
                <a:latin typeface="Noto Sans Kannada"/>
                <a:ea typeface="Noto Sans Kannada"/>
              </a:rPr>
              <a:t>-</a:t>
            </a:r>
            <a:r>
              <a:rPr lang="hi-IN" sz="900" b="0" strike="noStrike" spc="-1">
                <a:solidFill>
                  <a:srgbClr val="8892A4"/>
                </a:solidFill>
                <a:latin typeface="Noto Sans Kannada"/>
                <a:cs typeface="Noto Sans Kannada"/>
              </a:rPr>
              <a:t>ಜಾಲ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22"/>
          <p:cNvSpPr/>
          <p:nvPr/>
        </p:nvSpPr>
        <p:spPr>
          <a:xfrm>
            <a:off x="365760" y="4251960"/>
            <a:ext cx="8412120" cy="5482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23"/>
          <p:cNvSpPr/>
          <p:nvPr/>
        </p:nvSpPr>
        <p:spPr>
          <a:xfrm>
            <a:off x="502920" y="425196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E8A828"/>
                </a:solidFill>
                <a:latin typeface="Calibri"/>
              </a:rPr>
              <a:t>Key principle: </a:t>
            </a:r>
            <a:r>
              <a:rPr lang="en-US" sz="1000" b="0" strike="noStrike" spc="-1">
                <a:solidFill>
                  <a:srgbClr val="8892A4"/>
                </a:solidFill>
                <a:latin typeface="Calibri"/>
              </a:rPr>
              <a:t>Claude refused to fabricate Konkani — content was removed rather than mislabeled. Authenticity over completeness.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24"/>
          <p:cNvSpPr/>
          <p:nvPr/>
        </p:nvSpPr>
        <p:spPr>
          <a:xfrm>
            <a:off x="365760" y="482796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strike="noStrike" spc="-1">
                <a:solidFill>
                  <a:srgbClr val="8892A4"/>
                </a:solidFill>
                <a:latin typeface="Calibri"/>
                <a:ea typeface="Calibri"/>
              </a:rPr>
              <a:t>Script-specific fonts (Tiro Devanagari, Tiro Kannada, Noto Sans) render each language with proper typographic fidelity.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9B3A1A"/>
          </a:solidFill>
          <a:ln w="12700">
            <a:solidFill>
              <a:srgbClr val="9B3A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"/>
          <p:cNvSpPr/>
          <p:nvPr/>
        </p:nvSpPr>
        <p:spPr>
          <a:xfrm>
            <a:off x="457200" y="1645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strike="noStrike" spc="-1">
                <a:solidFill>
                  <a:srgbClr val="FFFFFF"/>
                </a:solidFill>
                <a:latin typeface="Georgia"/>
                <a:ea typeface="Georgia"/>
              </a:rPr>
              <a:t>Phase 4 — AI Chat · Claude API</a:t>
            </a:r>
            <a:endParaRPr lang="en-US" sz="2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228600" y="914400"/>
            <a:ext cx="1554120" cy="914040"/>
          </a:xfrm>
          <a:prstGeom prst="roundRect">
            <a:avLst>
              <a:gd name="adj" fmla="val 8000"/>
            </a:avLst>
          </a:prstGeom>
          <a:solidFill>
            <a:srgbClr val="2C3F6E"/>
          </a:solidFill>
          <a:ln w="889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3"/>
          <p:cNvSpPr/>
          <p:nvPr/>
        </p:nvSpPr>
        <p:spPr>
          <a:xfrm>
            <a:off x="228600" y="914400"/>
            <a:ext cx="15541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  <a:ea typeface="Calibri"/>
              </a:rPr>
              <a:t>User types / speaks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4"/>
          <p:cNvSpPr/>
          <p:nvPr/>
        </p:nvSpPr>
        <p:spPr>
          <a:xfrm>
            <a:off x="1783080" y="1143000"/>
            <a:ext cx="182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E8A828"/>
                </a:solidFill>
                <a:latin typeface="Calibri"/>
              </a:rPr>
              <a:t>→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1947600" y="914400"/>
            <a:ext cx="1554120" cy="914040"/>
          </a:xfrm>
          <a:prstGeom prst="roundRect">
            <a:avLst>
              <a:gd name="adj" fmla="val 8000"/>
            </a:avLst>
          </a:prstGeom>
          <a:solidFill>
            <a:srgbClr val="2C3F6E"/>
          </a:solidFill>
          <a:ln w="889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6"/>
          <p:cNvSpPr/>
          <p:nvPr/>
        </p:nvSpPr>
        <p:spPr>
          <a:xfrm>
            <a:off x="1947600" y="914400"/>
            <a:ext cx="15541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  <a:ea typeface="Calibri"/>
              </a:rPr>
              <a:t>XMLHttpRequest →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  <a:ea typeface="Calibri"/>
              </a:rPr>
              <a:t>api.anthropic.com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7"/>
          <p:cNvSpPr/>
          <p:nvPr/>
        </p:nvSpPr>
        <p:spPr>
          <a:xfrm>
            <a:off x="3502080" y="1143000"/>
            <a:ext cx="182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E8A828"/>
                </a:solidFill>
                <a:latin typeface="Calibri"/>
              </a:rPr>
              <a:t>→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8"/>
          <p:cNvSpPr/>
          <p:nvPr/>
        </p:nvSpPr>
        <p:spPr>
          <a:xfrm>
            <a:off x="3666600" y="914400"/>
            <a:ext cx="1554120" cy="914040"/>
          </a:xfrm>
          <a:prstGeom prst="roundRect">
            <a:avLst>
              <a:gd name="adj" fmla="val 8000"/>
            </a:avLst>
          </a:prstGeom>
          <a:solidFill>
            <a:srgbClr val="2C3F6E"/>
          </a:solidFill>
          <a:ln w="889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9"/>
          <p:cNvSpPr/>
          <p:nvPr/>
        </p:nvSpPr>
        <p:spPr>
          <a:xfrm>
            <a:off x="3666600" y="914400"/>
            <a:ext cx="15541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  <a:ea typeface="Calibri"/>
              </a:rPr>
              <a:t>claude-sonnet-4-6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  <a:ea typeface="Calibri"/>
              </a:rPr>
              <a:t>+ system prompt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10"/>
          <p:cNvSpPr/>
          <p:nvPr/>
        </p:nvSpPr>
        <p:spPr>
          <a:xfrm>
            <a:off x="5221080" y="1143000"/>
            <a:ext cx="182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E8A828"/>
                </a:solidFill>
                <a:latin typeface="Calibri"/>
              </a:rPr>
              <a:t>→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11"/>
          <p:cNvSpPr/>
          <p:nvPr/>
        </p:nvSpPr>
        <p:spPr>
          <a:xfrm>
            <a:off x="5385960" y="914400"/>
            <a:ext cx="1554120" cy="914040"/>
          </a:xfrm>
          <a:prstGeom prst="roundRect">
            <a:avLst>
              <a:gd name="adj" fmla="val 8000"/>
            </a:avLst>
          </a:prstGeom>
          <a:solidFill>
            <a:srgbClr val="2C3F6E"/>
          </a:solidFill>
          <a:ln w="889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12"/>
          <p:cNvSpPr/>
          <p:nvPr/>
        </p:nvSpPr>
        <p:spPr>
          <a:xfrm>
            <a:off x="5385960" y="914400"/>
            <a:ext cx="15541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  <a:ea typeface="Calibri"/>
              </a:rPr>
              <a:t>Madhva KG context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  <a:ea typeface="Calibri"/>
              </a:rPr>
              <a:t>(embedded inline)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13"/>
          <p:cNvSpPr/>
          <p:nvPr/>
        </p:nvSpPr>
        <p:spPr>
          <a:xfrm>
            <a:off x="6940440" y="1143000"/>
            <a:ext cx="18252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>
                <a:solidFill>
                  <a:srgbClr val="E8A828"/>
                </a:solidFill>
                <a:latin typeface="Calibri"/>
              </a:rPr>
              <a:t>→</a:t>
            </a:r>
            <a:endParaRPr lang="en-US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14"/>
          <p:cNvSpPr/>
          <p:nvPr/>
        </p:nvSpPr>
        <p:spPr>
          <a:xfrm>
            <a:off x="7104960" y="914400"/>
            <a:ext cx="1554120" cy="914040"/>
          </a:xfrm>
          <a:prstGeom prst="roundRect">
            <a:avLst>
              <a:gd name="adj" fmla="val 8000"/>
            </a:avLst>
          </a:prstGeom>
          <a:solidFill>
            <a:srgbClr val="2C3F6E"/>
          </a:solidFill>
          <a:ln w="889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15"/>
          <p:cNvSpPr/>
          <p:nvPr/>
        </p:nvSpPr>
        <p:spPr>
          <a:xfrm>
            <a:off x="7104960" y="914400"/>
            <a:ext cx="15541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  <a:ea typeface="Calibri"/>
              </a:rPr>
              <a:t>Response rendered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strike="noStrike" spc="-1">
                <a:solidFill>
                  <a:srgbClr val="FFFFFF"/>
                </a:solidFill>
                <a:latin typeface="Calibri"/>
                <a:ea typeface="Calibri"/>
              </a:rPr>
              <a:t>+ spoken aloud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16"/>
          <p:cNvSpPr/>
          <p:nvPr/>
        </p:nvSpPr>
        <p:spPr>
          <a:xfrm>
            <a:off x="365760" y="2057400"/>
            <a:ext cx="4114440" cy="959760"/>
          </a:xfrm>
          <a:prstGeom prst="rect">
            <a:avLst/>
          </a:prstGeom>
          <a:solidFill>
            <a:srgbClr val="2C3F6E"/>
          </a:solidFill>
          <a:ln w="6350">
            <a:solidFill>
              <a:srgbClr val="9B3A1A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Shape 17"/>
          <p:cNvSpPr/>
          <p:nvPr/>
        </p:nvSpPr>
        <p:spPr>
          <a:xfrm>
            <a:off x="365760" y="2057400"/>
            <a:ext cx="164160" cy="959760"/>
          </a:xfrm>
          <a:prstGeom prst="rect">
            <a:avLst/>
          </a:prstGeom>
          <a:solidFill>
            <a:srgbClr val="9B3A1A"/>
          </a:solidFill>
          <a:ln w="12700">
            <a:solidFill>
              <a:srgbClr val="9B3A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 18"/>
          <p:cNvSpPr/>
          <p:nvPr/>
        </p:nvSpPr>
        <p:spPr>
          <a:xfrm>
            <a:off x="621720" y="212148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E8A828"/>
                </a:solidFill>
                <a:latin typeface="Calibri"/>
                <a:ea typeface="Calibri"/>
              </a:rPr>
              <a:t>Why direct browser calls?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19"/>
          <p:cNvSpPr/>
          <p:nvPr/>
        </p:nvSpPr>
        <p:spPr>
          <a:xfrm>
            <a:off x="621720" y="2395800"/>
            <a:ext cx="3748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No proxy server means zero infra cost and zero latency overhead. Anthropic's API supports browser CORS with the right header.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Shape 20"/>
          <p:cNvSpPr/>
          <p:nvPr/>
        </p:nvSpPr>
        <p:spPr>
          <a:xfrm>
            <a:off x="4754880" y="2057400"/>
            <a:ext cx="4114440" cy="959760"/>
          </a:xfrm>
          <a:prstGeom prst="rect">
            <a:avLst/>
          </a:prstGeom>
          <a:solidFill>
            <a:srgbClr val="2C3F6E"/>
          </a:solidFill>
          <a:ln w="6350">
            <a:solidFill>
              <a:srgbClr val="9B3A1A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21"/>
          <p:cNvSpPr/>
          <p:nvPr/>
        </p:nvSpPr>
        <p:spPr>
          <a:xfrm>
            <a:off x="4754880" y="2057400"/>
            <a:ext cx="164160" cy="959760"/>
          </a:xfrm>
          <a:prstGeom prst="rect">
            <a:avLst/>
          </a:prstGeom>
          <a:solidFill>
            <a:srgbClr val="9B3A1A"/>
          </a:solidFill>
          <a:ln w="12700">
            <a:solidFill>
              <a:srgbClr val="9B3A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22"/>
          <p:cNvSpPr/>
          <p:nvPr/>
        </p:nvSpPr>
        <p:spPr>
          <a:xfrm>
            <a:off x="5010840" y="212148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E8A828"/>
                </a:solidFill>
                <a:latin typeface="Calibri"/>
                <a:ea typeface="Calibri"/>
              </a:rPr>
              <a:t>Why XMLHttpRequest over fetch?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23"/>
          <p:cNvSpPr/>
          <p:nvPr/>
        </p:nvSpPr>
        <p:spPr>
          <a:xfrm>
            <a:off x="5010840" y="2395800"/>
            <a:ext cx="3748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Android Chrome has silent CORS failures with fetch() + custom headers. XHR handles them reliably across Android versions.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24"/>
          <p:cNvSpPr/>
          <p:nvPr/>
        </p:nvSpPr>
        <p:spPr>
          <a:xfrm>
            <a:off x="365760" y="3154680"/>
            <a:ext cx="4114440" cy="959760"/>
          </a:xfrm>
          <a:prstGeom prst="rect">
            <a:avLst/>
          </a:prstGeom>
          <a:solidFill>
            <a:srgbClr val="2C3F6E"/>
          </a:solidFill>
          <a:ln w="6350">
            <a:solidFill>
              <a:srgbClr val="9B3A1A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25"/>
          <p:cNvSpPr/>
          <p:nvPr/>
        </p:nvSpPr>
        <p:spPr>
          <a:xfrm>
            <a:off x="365760" y="3154680"/>
            <a:ext cx="164160" cy="959760"/>
          </a:xfrm>
          <a:prstGeom prst="rect">
            <a:avLst/>
          </a:prstGeom>
          <a:solidFill>
            <a:srgbClr val="9B3A1A"/>
          </a:solidFill>
          <a:ln w="12700">
            <a:solidFill>
              <a:srgbClr val="9B3A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26"/>
          <p:cNvSpPr/>
          <p:nvPr/>
        </p:nvSpPr>
        <p:spPr>
          <a:xfrm>
            <a:off x="621720" y="321876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E8A828"/>
                </a:solidFill>
                <a:latin typeface="Calibri"/>
                <a:ea typeface="Calibri"/>
              </a:rPr>
              <a:t>Why localStorage for API key?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27"/>
          <p:cNvSpPr/>
          <p:nvPr/>
        </p:nvSpPr>
        <p:spPr>
          <a:xfrm>
            <a:off x="621720" y="3493080"/>
            <a:ext cx="3748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Each user holds their own key — no server, no shared key risk, no cost to the app owner. ⚙️ button to enter/change.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28"/>
          <p:cNvSpPr/>
          <p:nvPr/>
        </p:nvSpPr>
        <p:spPr>
          <a:xfrm>
            <a:off x="4754880" y="3154680"/>
            <a:ext cx="4114440" cy="959760"/>
          </a:xfrm>
          <a:prstGeom prst="rect">
            <a:avLst/>
          </a:prstGeom>
          <a:solidFill>
            <a:srgbClr val="2C3F6E"/>
          </a:solidFill>
          <a:ln w="6350">
            <a:solidFill>
              <a:srgbClr val="9B3A1A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29"/>
          <p:cNvSpPr/>
          <p:nvPr/>
        </p:nvSpPr>
        <p:spPr>
          <a:xfrm>
            <a:off x="4754880" y="3154680"/>
            <a:ext cx="164160" cy="959760"/>
          </a:xfrm>
          <a:prstGeom prst="rect">
            <a:avLst/>
          </a:prstGeom>
          <a:solidFill>
            <a:srgbClr val="9B3A1A"/>
          </a:solidFill>
          <a:ln w="12700">
            <a:solidFill>
              <a:srgbClr val="9B3A1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30"/>
          <p:cNvSpPr/>
          <p:nvPr/>
        </p:nvSpPr>
        <p:spPr>
          <a:xfrm>
            <a:off x="5010840" y="3218760"/>
            <a:ext cx="37486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E8A828"/>
                </a:solidFill>
                <a:latin typeface="Calibri"/>
                <a:ea typeface="Calibri"/>
              </a:rPr>
              <a:t>The duplicate function bug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31"/>
          <p:cNvSpPr/>
          <p:nvPr/>
        </p:nvSpPr>
        <p:spPr>
          <a:xfrm>
            <a:off x="5010840" y="3493080"/>
            <a:ext cx="3748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Two chatSend() functions existed in the file — JS uses the last one. The wrong model name (404) and old fetch() were both silently breaking chat.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457200" y="1645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strike="noStrike" spc="-1">
                <a:solidFill>
                  <a:srgbClr val="1A2744"/>
                </a:solidFill>
                <a:latin typeface="Georgia"/>
                <a:ea typeface="Georgia"/>
              </a:rPr>
              <a:t>Phase 5 — Voice Conversational Interface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"/>
          <p:cNvSpPr/>
          <p:nvPr/>
        </p:nvSpPr>
        <p:spPr>
          <a:xfrm>
            <a:off x="777240" y="914400"/>
            <a:ext cx="822600" cy="822600"/>
          </a:xfrm>
          <a:prstGeom prst="ellipse">
            <a:avLst/>
          </a:prstGeom>
          <a:solidFill>
            <a:srgbClr val="6B5EA8"/>
          </a:solidFill>
          <a:ln w="381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777240" y="91440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🎙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4"/>
          <p:cNvSpPr/>
          <p:nvPr/>
        </p:nvSpPr>
        <p:spPr>
          <a:xfrm>
            <a:off x="457200" y="1783080"/>
            <a:ext cx="1462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Tap mic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(user gesture)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5"/>
          <p:cNvSpPr/>
          <p:nvPr/>
        </p:nvSpPr>
        <p:spPr>
          <a:xfrm>
            <a:off x="1600200" y="1298160"/>
            <a:ext cx="530280" cy="360"/>
          </a:xfrm>
          <a:prstGeom prst="line">
            <a:avLst/>
          </a:prstGeom>
          <a:ln w="1524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6"/>
          <p:cNvSpPr/>
          <p:nvPr/>
        </p:nvSpPr>
        <p:spPr>
          <a:xfrm>
            <a:off x="2441520" y="914400"/>
            <a:ext cx="822600" cy="822600"/>
          </a:xfrm>
          <a:prstGeom prst="ellipse">
            <a:avLst/>
          </a:prstGeom>
          <a:solidFill>
            <a:srgbClr val="6B5EA8"/>
          </a:solidFill>
          <a:ln w="381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7"/>
          <p:cNvSpPr/>
          <p:nvPr/>
        </p:nvSpPr>
        <p:spPr>
          <a:xfrm>
            <a:off x="2441520" y="91440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👂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8"/>
          <p:cNvSpPr/>
          <p:nvPr/>
        </p:nvSpPr>
        <p:spPr>
          <a:xfrm>
            <a:off x="2121480" y="1783080"/>
            <a:ext cx="1462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STT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Web Speech API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9"/>
          <p:cNvSpPr/>
          <p:nvPr/>
        </p:nvSpPr>
        <p:spPr>
          <a:xfrm>
            <a:off x="3264120" y="1298160"/>
            <a:ext cx="530640" cy="360"/>
          </a:xfrm>
          <a:prstGeom prst="line">
            <a:avLst/>
          </a:prstGeom>
          <a:ln w="1524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4105800" y="914400"/>
            <a:ext cx="822600" cy="822600"/>
          </a:xfrm>
          <a:prstGeom prst="ellipse">
            <a:avLst/>
          </a:prstGeom>
          <a:solidFill>
            <a:srgbClr val="6B5EA8"/>
          </a:solidFill>
          <a:ln w="381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11"/>
          <p:cNvSpPr/>
          <p:nvPr/>
        </p:nvSpPr>
        <p:spPr>
          <a:xfrm>
            <a:off x="4105800" y="91440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🧠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12"/>
          <p:cNvSpPr/>
          <p:nvPr/>
        </p:nvSpPr>
        <p:spPr>
          <a:xfrm>
            <a:off x="3785760" y="1783080"/>
            <a:ext cx="1462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Claude API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(voiceMode)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13"/>
          <p:cNvSpPr/>
          <p:nvPr/>
        </p:nvSpPr>
        <p:spPr>
          <a:xfrm>
            <a:off x="4928400" y="1298160"/>
            <a:ext cx="530280" cy="360"/>
          </a:xfrm>
          <a:prstGeom prst="line">
            <a:avLst/>
          </a:prstGeom>
          <a:ln w="1524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14"/>
          <p:cNvSpPr/>
          <p:nvPr/>
        </p:nvSpPr>
        <p:spPr>
          <a:xfrm>
            <a:off x="5769720" y="914400"/>
            <a:ext cx="822600" cy="822600"/>
          </a:xfrm>
          <a:prstGeom prst="ellipse">
            <a:avLst/>
          </a:prstGeom>
          <a:solidFill>
            <a:srgbClr val="6B5EA8"/>
          </a:solidFill>
          <a:ln w="381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15"/>
          <p:cNvSpPr/>
          <p:nvPr/>
        </p:nvSpPr>
        <p:spPr>
          <a:xfrm>
            <a:off x="5769720" y="91440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🔊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16"/>
          <p:cNvSpPr/>
          <p:nvPr/>
        </p:nvSpPr>
        <p:spPr>
          <a:xfrm>
            <a:off x="5449680" y="1783080"/>
            <a:ext cx="1462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TTS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SpeechSynthesis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17"/>
          <p:cNvSpPr/>
          <p:nvPr/>
        </p:nvSpPr>
        <p:spPr>
          <a:xfrm>
            <a:off x="6592680" y="1298160"/>
            <a:ext cx="530280" cy="360"/>
          </a:xfrm>
          <a:prstGeom prst="line">
            <a:avLst/>
          </a:prstGeom>
          <a:ln w="1524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8"/>
          <p:cNvSpPr/>
          <p:nvPr/>
        </p:nvSpPr>
        <p:spPr>
          <a:xfrm>
            <a:off x="7434000" y="914400"/>
            <a:ext cx="822600" cy="822600"/>
          </a:xfrm>
          <a:prstGeom prst="ellipse">
            <a:avLst/>
          </a:prstGeom>
          <a:solidFill>
            <a:srgbClr val="6B5EA8"/>
          </a:solidFill>
          <a:ln w="381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19"/>
          <p:cNvSpPr/>
          <p:nvPr/>
        </p:nvSpPr>
        <p:spPr>
          <a:xfrm>
            <a:off x="7434000" y="91440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🎙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20"/>
          <p:cNvSpPr/>
          <p:nvPr/>
        </p:nvSpPr>
        <p:spPr>
          <a:xfrm>
            <a:off x="7113960" y="1783080"/>
            <a:ext cx="14626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Auto-listen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Loop continues</a:t>
            </a:r>
            <a:endParaRPr lang="en-US" sz="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21"/>
          <p:cNvSpPr/>
          <p:nvPr/>
        </p:nvSpPr>
        <p:spPr>
          <a:xfrm>
            <a:off x="320040" y="2468880"/>
            <a:ext cx="416016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22"/>
          <p:cNvSpPr/>
          <p:nvPr/>
        </p:nvSpPr>
        <p:spPr>
          <a:xfrm>
            <a:off x="320040" y="2468880"/>
            <a:ext cx="136800" cy="712800"/>
          </a:xfrm>
          <a:prstGeom prst="rect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Text 23"/>
          <p:cNvSpPr/>
          <p:nvPr/>
        </p:nvSpPr>
        <p:spPr>
          <a:xfrm>
            <a:off x="521280" y="251460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strike="noStrike" spc="-1">
                <a:solidFill>
                  <a:srgbClr val="1A2744"/>
                </a:solidFill>
                <a:latin typeface="Calibri"/>
                <a:ea typeface="Calibri"/>
              </a:rPr>
              <a:t>⚠ Android TTS silent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24"/>
          <p:cNvSpPr/>
          <p:nvPr/>
        </p:nvSpPr>
        <p:spPr>
          <a:xfrm>
            <a:off x="521280" y="2743200"/>
            <a:ext cx="38401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8892A4"/>
                </a:solidFill>
                <a:latin typeface="Calibri"/>
                <a:ea typeface="Calibri"/>
              </a:rPr>
              <a:t>Browser blocks speechSynthesis.speak() async. Fix: speak silent primer (volume 0) during mic tap (user gesture) to unlock synthesis for the session.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25"/>
          <p:cNvSpPr/>
          <p:nvPr/>
        </p:nvSpPr>
        <p:spPr>
          <a:xfrm>
            <a:off x="4709160" y="2468880"/>
            <a:ext cx="416016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26"/>
          <p:cNvSpPr/>
          <p:nvPr/>
        </p:nvSpPr>
        <p:spPr>
          <a:xfrm>
            <a:off x="4709160" y="2468880"/>
            <a:ext cx="136800" cy="712800"/>
          </a:xfrm>
          <a:prstGeom prst="rect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27"/>
          <p:cNvSpPr/>
          <p:nvPr/>
        </p:nvSpPr>
        <p:spPr>
          <a:xfrm>
            <a:off x="4910400" y="251460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strike="noStrike" spc="-1">
                <a:solidFill>
                  <a:srgbClr val="1A2744"/>
                </a:solidFill>
                <a:latin typeface="Calibri"/>
                <a:ea typeface="Calibri"/>
              </a:rPr>
              <a:t>⚠ Screen sleeps mid-convo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28"/>
          <p:cNvSpPr/>
          <p:nvPr/>
        </p:nvSpPr>
        <p:spPr>
          <a:xfrm>
            <a:off x="4910400" y="2743200"/>
            <a:ext cx="38401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8892A4"/>
                </a:solidFill>
                <a:latin typeface="Calibri"/>
                <a:ea typeface="Calibri"/>
              </a:rPr>
              <a:t>Android screen locks during listening loop. Fix: Screen Wake Lock API — acquired on mic tap, held through the entire listen→think→speak cycle.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29"/>
          <p:cNvSpPr/>
          <p:nvPr/>
        </p:nvSpPr>
        <p:spPr>
          <a:xfrm>
            <a:off x="320040" y="2468880"/>
            <a:ext cx="416016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30"/>
          <p:cNvSpPr/>
          <p:nvPr/>
        </p:nvSpPr>
        <p:spPr>
          <a:xfrm>
            <a:off x="320040" y="2468880"/>
            <a:ext cx="136800" cy="712800"/>
          </a:xfrm>
          <a:prstGeom prst="rect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31"/>
          <p:cNvSpPr/>
          <p:nvPr/>
        </p:nvSpPr>
        <p:spPr>
          <a:xfrm>
            <a:off x="521280" y="251460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strike="noStrike" spc="-1">
                <a:solidFill>
                  <a:srgbClr val="1A2744"/>
                </a:solidFill>
                <a:latin typeface="Calibri"/>
                <a:ea typeface="Calibri"/>
              </a:rPr>
              <a:t>⚠ Markdown read aloud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 32"/>
          <p:cNvSpPr/>
          <p:nvPr/>
        </p:nvSpPr>
        <p:spPr>
          <a:xfrm>
            <a:off x="521280" y="2743200"/>
            <a:ext cx="38401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8892A4"/>
                </a:solidFill>
                <a:latin typeface="Calibri"/>
                <a:ea typeface="Calibri"/>
              </a:rPr>
              <a:t>TTS reads '## heading' as 'hash hash'. Fix: stripForSpeech() strips all markdown before synthesising. Claude also gets a VOICE MODE system prompt.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33"/>
          <p:cNvSpPr/>
          <p:nvPr/>
        </p:nvSpPr>
        <p:spPr>
          <a:xfrm>
            <a:off x="4709160" y="3264480"/>
            <a:ext cx="416016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34"/>
          <p:cNvSpPr/>
          <p:nvPr/>
        </p:nvSpPr>
        <p:spPr>
          <a:xfrm>
            <a:off x="4709160" y="3264480"/>
            <a:ext cx="136800" cy="712800"/>
          </a:xfrm>
          <a:prstGeom prst="rect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35"/>
          <p:cNvSpPr/>
          <p:nvPr/>
        </p:nvSpPr>
        <p:spPr>
          <a:xfrm>
            <a:off x="4910400" y="331020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strike="noStrike" spc="-1">
                <a:solidFill>
                  <a:srgbClr val="1A2744"/>
                </a:solidFill>
                <a:latin typeface="Calibri"/>
                <a:ea typeface="Calibri"/>
              </a:rPr>
              <a:t>⚠ voiceMode reset bug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 36"/>
          <p:cNvSpPr/>
          <p:nvPr/>
        </p:nvSpPr>
        <p:spPr>
          <a:xfrm>
            <a:off x="4910400" y="3538800"/>
            <a:ext cx="38401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8892A4"/>
                </a:solidFill>
                <a:latin typeface="Calibri"/>
                <a:ea typeface="Calibri"/>
              </a:rPr>
              <a:t>chatSend() called with no arg → if(!text) reset voiceMode=false. speakReply never called. Fix: only reset voiceMode when user types, not on every send.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37"/>
          <p:cNvSpPr/>
          <p:nvPr/>
        </p:nvSpPr>
        <p:spPr>
          <a:xfrm>
            <a:off x="320040" y="3264480"/>
            <a:ext cx="416016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38"/>
          <p:cNvSpPr/>
          <p:nvPr/>
        </p:nvSpPr>
        <p:spPr>
          <a:xfrm>
            <a:off x="320040" y="3264480"/>
            <a:ext cx="136800" cy="712800"/>
          </a:xfrm>
          <a:prstGeom prst="rect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39"/>
          <p:cNvSpPr/>
          <p:nvPr/>
        </p:nvSpPr>
        <p:spPr>
          <a:xfrm>
            <a:off x="521280" y="331020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strike="noStrike" spc="-1">
                <a:solidFill>
                  <a:srgbClr val="1A2744"/>
                </a:solidFill>
                <a:latin typeface="Calibri"/>
                <a:ea typeface="Calibri"/>
              </a:rPr>
              <a:t>⚠ Long utterance cutoff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 40"/>
          <p:cNvSpPr/>
          <p:nvPr/>
        </p:nvSpPr>
        <p:spPr>
          <a:xfrm>
            <a:off x="521280" y="3538800"/>
            <a:ext cx="38401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8892A4"/>
                </a:solidFill>
                <a:latin typeface="Calibri"/>
                <a:ea typeface="Calibri"/>
              </a:rPr>
              <a:t>Android silently cuts off utterances over ~200 chars. Fix: split reply into sentence chunks, speak each in sequence with onend chaining.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41"/>
          <p:cNvSpPr/>
          <p:nvPr/>
        </p:nvSpPr>
        <p:spPr>
          <a:xfrm>
            <a:off x="4709160" y="3264480"/>
            <a:ext cx="4160160" cy="7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42"/>
          <p:cNvSpPr/>
          <p:nvPr/>
        </p:nvSpPr>
        <p:spPr>
          <a:xfrm>
            <a:off x="4709160" y="3264480"/>
            <a:ext cx="136800" cy="712800"/>
          </a:xfrm>
          <a:prstGeom prst="rect">
            <a:avLst/>
          </a:prstGeom>
          <a:solidFill>
            <a:srgbClr val="6B5EA8"/>
          </a:solidFill>
          <a:ln w="12700">
            <a:solidFill>
              <a:srgbClr val="6B5EA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43"/>
          <p:cNvSpPr/>
          <p:nvPr/>
        </p:nvSpPr>
        <p:spPr>
          <a:xfrm>
            <a:off x="4910400" y="331020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strike="noStrike" spc="-1">
                <a:solidFill>
                  <a:srgbClr val="1A2744"/>
                </a:solidFill>
                <a:latin typeface="Calibri"/>
                <a:ea typeface="Calibri"/>
              </a:rPr>
              <a:t>⚠ DOM rebuild kills TTS</a:t>
            </a:r>
            <a:endParaRPr lang="en-US" sz="9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 44"/>
          <p:cNvSpPr/>
          <p:nvPr/>
        </p:nvSpPr>
        <p:spPr>
          <a:xfrm>
            <a:off x="4910400" y="3538800"/>
            <a:ext cx="384012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strike="noStrike" spc="-1">
                <a:solidFill>
                  <a:srgbClr val="8892A4"/>
                </a:solidFill>
                <a:latin typeface="Calibri"/>
                <a:ea typeface="Calibri"/>
              </a:rPr>
              <a:t>renderChat() rebuilds DOM; inp.focus() fires 50ms later → kills synthesis. Fix: speakReply called 300ms after render; skip focus() in voiceMode.</a:t>
            </a:r>
            <a:endParaRPr lang="en-US" sz="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E8A828"/>
          </a:solidFill>
          <a:ln w="1270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1"/>
          <p:cNvSpPr/>
          <p:nvPr/>
        </p:nvSpPr>
        <p:spPr>
          <a:xfrm>
            <a:off x="457200" y="1645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strike="noStrike" spc="-1">
                <a:solidFill>
                  <a:srgbClr val="FFFFFF"/>
                </a:solidFill>
                <a:latin typeface="Georgia"/>
                <a:ea typeface="Georgia"/>
              </a:rPr>
              <a:t>Hard Problems &amp; How They Were Solved</a:t>
            </a:r>
            <a:endParaRPr lang="en-US" sz="2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Shape 2"/>
          <p:cNvSpPr/>
          <p:nvPr/>
        </p:nvSpPr>
        <p:spPr>
          <a:xfrm>
            <a:off x="320040" y="914400"/>
            <a:ext cx="8503560" cy="7128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Shape 3"/>
          <p:cNvSpPr/>
          <p:nvPr/>
        </p:nvSpPr>
        <p:spPr>
          <a:xfrm>
            <a:off x="320040" y="914400"/>
            <a:ext cx="1279800" cy="712800"/>
          </a:xfrm>
          <a:prstGeom prst="rect">
            <a:avLst/>
          </a:prstGeom>
          <a:solidFill>
            <a:srgbClr val="C17A2E">
              <a:alpha val="80000"/>
            </a:srgbClr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4"/>
          <p:cNvSpPr/>
          <p:nvPr/>
        </p:nvSpPr>
        <p:spPr>
          <a:xfrm>
            <a:off x="365760" y="111564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Calibri"/>
                <a:ea typeface="Calibri"/>
              </a:rPr>
              <a:t>Data Sourcing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1691640" y="96912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8892A4"/>
                </a:solidFill>
                <a:latin typeface="Calibri"/>
                <a:ea typeface="Calibri"/>
              </a:rPr>
              <a:t>Problem: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>
            <a:off x="1691640" y="115200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FFFFFF"/>
                </a:solidFill>
                <a:latin typeface="Calibri"/>
                <a:ea typeface="Calibri"/>
              </a:rPr>
              <a:t>Source shlokas were 61 JPEG images in Kannada script — no text layer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7"/>
          <p:cNvSpPr/>
          <p:nvPr/>
        </p:nvSpPr>
        <p:spPr>
          <a:xfrm>
            <a:off x="5120640" y="969120"/>
            <a:ext cx="594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E8A828"/>
                </a:solidFill>
                <a:latin typeface="Calibri"/>
                <a:ea typeface="Calibri"/>
              </a:rPr>
              <a:t>→ Fix: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8"/>
          <p:cNvSpPr/>
          <p:nvPr/>
        </p:nvSpPr>
        <p:spPr>
          <a:xfrm>
            <a:off x="5120640" y="115200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Vision-based extraction: fed images to Claude's vision model to transcribe Kannada script page by page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Shape 9"/>
          <p:cNvSpPr/>
          <p:nvPr/>
        </p:nvSpPr>
        <p:spPr>
          <a:xfrm>
            <a:off x="320040" y="1710000"/>
            <a:ext cx="8503560" cy="7128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Shape 10"/>
          <p:cNvSpPr/>
          <p:nvPr/>
        </p:nvSpPr>
        <p:spPr>
          <a:xfrm>
            <a:off x="320040" y="1710000"/>
            <a:ext cx="1279800" cy="712800"/>
          </a:xfrm>
          <a:prstGeom prst="rect">
            <a:avLst/>
          </a:prstGeom>
          <a:solidFill>
            <a:srgbClr val="C17A2E">
              <a:alpha val="80000"/>
            </a:srgbClr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11"/>
          <p:cNvSpPr/>
          <p:nvPr/>
        </p:nvSpPr>
        <p:spPr>
          <a:xfrm>
            <a:off x="365760" y="191124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Calibri"/>
                <a:ea typeface="Calibri"/>
              </a:rPr>
              <a:t>Android CORS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12"/>
          <p:cNvSpPr/>
          <p:nvPr/>
        </p:nvSpPr>
        <p:spPr>
          <a:xfrm>
            <a:off x="1691640" y="176472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8892A4"/>
                </a:solidFill>
                <a:latin typeface="Calibri"/>
                <a:ea typeface="Calibri"/>
              </a:rPr>
              <a:t>Problem: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13"/>
          <p:cNvSpPr/>
          <p:nvPr/>
        </p:nvSpPr>
        <p:spPr>
          <a:xfrm>
            <a:off x="1691640" y="194760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FFFFFF"/>
                </a:solidFill>
                <a:latin typeface="Calibri"/>
                <a:ea typeface="Calibri"/>
              </a:rPr>
              <a:t>Chat silently failed on Android Chrome — no error shown to user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14"/>
          <p:cNvSpPr/>
          <p:nvPr/>
        </p:nvSpPr>
        <p:spPr>
          <a:xfrm>
            <a:off x="5120640" y="1764720"/>
            <a:ext cx="594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E8A828"/>
                </a:solidFill>
                <a:latin typeface="Calibri"/>
                <a:ea typeface="Calibri"/>
              </a:rPr>
              <a:t>→ Fix: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15"/>
          <p:cNvSpPr/>
          <p:nvPr/>
        </p:nvSpPr>
        <p:spPr>
          <a:xfrm>
            <a:off x="5120640" y="194760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Built a diagnostic test page to isolate XHR vs fetch vs CORS preflight, found wrong model name (404) + fetch CORS failure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Shape 16"/>
          <p:cNvSpPr/>
          <p:nvPr/>
        </p:nvSpPr>
        <p:spPr>
          <a:xfrm>
            <a:off x="320040" y="2505600"/>
            <a:ext cx="8503560" cy="7128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17"/>
          <p:cNvSpPr/>
          <p:nvPr/>
        </p:nvSpPr>
        <p:spPr>
          <a:xfrm>
            <a:off x="320040" y="2505600"/>
            <a:ext cx="1279800" cy="712800"/>
          </a:xfrm>
          <a:prstGeom prst="rect">
            <a:avLst/>
          </a:prstGeom>
          <a:solidFill>
            <a:srgbClr val="C17A2E">
              <a:alpha val="80000"/>
            </a:srgbClr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18"/>
          <p:cNvSpPr/>
          <p:nvPr/>
        </p:nvSpPr>
        <p:spPr>
          <a:xfrm>
            <a:off x="365760" y="270648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Calibri"/>
                <a:ea typeface="Calibri"/>
              </a:rPr>
              <a:t>TTS on Android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19"/>
          <p:cNvSpPr/>
          <p:nvPr/>
        </p:nvSpPr>
        <p:spPr>
          <a:xfrm>
            <a:off x="1691640" y="256032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8892A4"/>
                </a:solidFill>
                <a:latin typeface="Calibri"/>
                <a:ea typeface="Calibri"/>
              </a:rPr>
              <a:t>Problem: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20"/>
          <p:cNvSpPr/>
          <p:nvPr/>
        </p:nvSpPr>
        <p:spPr>
          <a:xfrm>
            <a:off x="1691640" y="274320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FFFFFF"/>
                </a:solidFill>
                <a:latin typeface="Calibri"/>
                <a:ea typeface="Calibri"/>
              </a:rPr>
              <a:t>speechSynthesis.speak() called async after API response — silently ignored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 21"/>
          <p:cNvSpPr/>
          <p:nvPr/>
        </p:nvSpPr>
        <p:spPr>
          <a:xfrm>
            <a:off x="5120640" y="2560320"/>
            <a:ext cx="594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E8A828"/>
                </a:solidFill>
                <a:latin typeface="Calibri"/>
                <a:ea typeface="Calibri"/>
              </a:rPr>
              <a:t>→ Fix: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22"/>
          <p:cNvSpPr/>
          <p:nvPr/>
        </p:nvSpPr>
        <p:spPr>
          <a:xfrm>
            <a:off x="5120640" y="274320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Primer utterance during user gesture; moved speakReply() after renderChat(); skipped inp.focus() in voiceMode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Shape 23"/>
          <p:cNvSpPr/>
          <p:nvPr/>
        </p:nvSpPr>
        <p:spPr>
          <a:xfrm>
            <a:off x="320040" y="3300840"/>
            <a:ext cx="8503560" cy="7128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24"/>
          <p:cNvSpPr/>
          <p:nvPr/>
        </p:nvSpPr>
        <p:spPr>
          <a:xfrm>
            <a:off x="320040" y="3300840"/>
            <a:ext cx="1279800" cy="712800"/>
          </a:xfrm>
          <a:prstGeom prst="rect">
            <a:avLst/>
          </a:prstGeom>
          <a:solidFill>
            <a:srgbClr val="C17A2E">
              <a:alpha val="80000"/>
            </a:srgbClr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25"/>
          <p:cNvSpPr/>
          <p:nvPr/>
        </p:nvSpPr>
        <p:spPr>
          <a:xfrm>
            <a:off x="365760" y="350208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Calibri"/>
                <a:ea typeface="Calibri"/>
              </a:rPr>
              <a:t>Authenticity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26"/>
          <p:cNvSpPr/>
          <p:nvPr/>
        </p:nvSpPr>
        <p:spPr>
          <a:xfrm>
            <a:off x="1691640" y="335592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8892A4"/>
                </a:solidFill>
                <a:latin typeface="Calibri"/>
                <a:ea typeface="Calibri"/>
              </a:rPr>
              <a:t>Problem: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27"/>
          <p:cNvSpPr/>
          <p:nvPr/>
        </p:nvSpPr>
        <p:spPr>
          <a:xfrm>
            <a:off x="1691640" y="353880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FFFFFF"/>
                </a:solidFill>
                <a:latin typeface="Calibri"/>
                <a:ea typeface="Calibri"/>
              </a:rPr>
              <a:t>Fabricated 'Konkani' was actually adapted Sanskrit — presented as a real language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28"/>
          <p:cNvSpPr/>
          <p:nvPr/>
        </p:nvSpPr>
        <p:spPr>
          <a:xfrm>
            <a:off x="5120640" y="3355920"/>
            <a:ext cx="594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E8A828"/>
                </a:solidFill>
                <a:latin typeface="Calibri"/>
                <a:ea typeface="Calibri"/>
              </a:rPr>
              <a:t>→ Fix: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29"/>
          <p:cNvSpPr/>
          <p:nvPr/>
        </p:nvSpPr>
        <p:spPr>
          <a:xfrm>
            <a:off x="5120640" y="353880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Removed content entirely rather than disguise it. Core principle: honesty over completeness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Shape 30"/>
          <p:cNvSpPr/>
          <p:nvPr/>
        </p:nvSpPr>
        <p:spPr>
          <a:xfrm>
            <a:off x="320040" y="4096440"/>
            <a:ext cx="8503560" cy="7128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Shape 31"/>
          <p:cNvSpPr/>
          <p:nvPr/>
        </p:nvSpPr>
        <p:spPr>
          <a:xfrm>
            <a:off x="320040" y="4096440"/>
            <a:ext cx="1279800" cy="712800"/>
          </a:xfrm>
          <a:prstGeom prst="rect">
            <a:avLst/>
          </a:prstGeom>
          <a:solidFill>
            <a:srgbClr val="C17A2E">
              <a:alpha val="80000"/>
            </a:srgbClr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32"/>
          <p:cNvSpPr/>
          <p:nvPr/>
        </p:nvSpPr>
        <p:spPr>
          <a:xfrm>
            <a:off x="365760" y="4297680"/>
            <a:ext cx="11883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FFFFFF"/>
                </a:solidFill>
                <a:latin typeface="Calibri"/>
                <a:ea typeface="Calibri"/>
              </a:rPr>
              <a:t>File Architecture</a:t>
            </a:r>
            <a:endParaRPr lang="en-US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33"/>
          <p:cNvSpPr/>
          <p:nvPr/>
        </p:nvSpPr>
        <p:spPr>
          <a:xfrm>
            <a:off x="1691640" y="4151520"/>
            <a:ext cx="639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8892A4"/>
                </a:solidFill>
                <a:latin typeface="Calibri"/>
                <a:ea typeface="Calibri"/>
              </a:rPr>
              <a:t>Problem: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34"/>
          <p:cNvSpPr/>
          <p:nvPr/>
        </p:nvSpPr>
        <p:spPr>
          <a:xfrm>
            <a:off x="1691640" y="4334400"/>
            <a:ext cx="32914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FFFFFF"/>
                </a:solidFill>
                <a:latin typeface="Calibri"/>
                <a:ea typeface="Calibri"/>
              </a:rPr>
              <a:t>Single-file constraint meant all data + logic + UI in one HTML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35"/>
          <p:cNvSpPr/>
          <p:nvPr/>
        </p:nvSpPr>
        <p:spPr>
          <a:xfrm>
            <a:off x="5120640" y="4151520"/>
            <a:ext cx="5940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strike="noStrike" spc="-1">
                <a:solidFill>
                  <a:srgbClr val="E8A828"/>
                </a:solidFill>
                <a:latin typeface="Calibri"/>
                <a:ea typeface="Calibri"/>
              </a:rPr>
              <a:t>→ Fix:</a:t>
            </a:r>
            <a:endParaRPr lang="en-US" sz="7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36"/>
          <p:cNvSpPr/>
          <p:nvPr/>
        </p:nvSpPr>
        <p:spPr>
          <a:xfrm>
            <a:off x="5120640" y="433440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Inline JS data objects; no bundler; iterative patching with Python/sed for surgical edits; node syntax-check after each patch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2C3F6E"/>
          </a:solidFill>
          <a:ln w="12700">
            <a:solidFill>
              <a:srgbClr val="2C3F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457200" y="1645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strike="noStrike" spc="-1">
                <a:solidFill>
                  <a:srgbClr val="1A2744"/>
                </a:solidFill>
                <a:latin typeface="Georgia"/>
                <a:ea typeface="Georgia"/>
              </a:rPr>
              <a:t>Technology Stack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2"/>
          <p:cNvSpPr/>
          <p:nvPr/>
        </p:nvSpPr>
        <p:spPr>
          <a:xfrm>
            <a:off x="365760" y="914400"/>
            <a:ext cx="269712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3"/>
          <p:cNvSpPr/>
          <p:nvPr/>
        </p:nvSpPr>
        <p:spPr>
          <a:xfrm>
            <a:off x="365760" y="914400"/>
            <a:ext cx="2697120" cy="411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4"/>
          <p:cNvSpPr/>
          <p:nvPr/>
        </p:nvSpPr>
        <p:spPr>
          <a:xfrm>
            <a:off x="365760" y="914400"/>
            <a:ext cx="2697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E8A828"/>
                </a:solidFill>
                <a:latin typeface="Calibri"/>
                <a:ea typeface="Calibri"/>
              </a:rPr>
              <a:t>Frontend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5"/>
          <p:cNvSpPr/>
          <p:nvPr/>
        </p:nvSpPr>
        <p:spPr>
          <a:xfrm>
            <a:off x="438840" y="1353240"/>
            <a:ext cx="2578320" cy="12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HTML5 / CSS3 / Vanilla JavaScript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Cytoscape.js — force-directed knowledge graph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No framework, no npm, no build step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6"/>
          <p:cNvSpPr/>
          <p:nvPr/>
        </p:nvSpPr>
        <p:spPr>
          <a:xfrm>
            <a:off x="3273480" y="914400"/>
            <a:ext cx="269712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7"/>
          <p:cNvSpPr/>
          <p:nvPr/>
        </p:nvSpPr>
        <p:spPr>
          <a:xfrm>
            <a:off x="3273480" y="914400"/>
            <a:ext cx="2697120" cy="411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8"/>
          <p:cNvSpPr/>
          <p:nvPr/>
        </p:nvSpPr>
        <p:spPr>
          <a:xfrm>
            <a:off x="3273480" y="914400"/>
            <a:ext cx="2697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E8A828"/>
                </a:solidFill>
                <a:latin typeface="Calibri"/>
                <a:ea typeface="Calibri"/>
              </a:rPr>
              <a:t>AI / API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9"/>
          <p:cNvSpPr/>
          <p:nvPr/>
        </p:nvSpPr>
        <p:spPr>
          <a:xfrm>
            <a:off x="3346560" y="1353240"/>
            <a:ext cx="2578320" cy="12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Anthropic Claude API (claude-sonnet-4-6)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XMLHttpRequest — direct browser calls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API key per-user in localStorage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10"/>
          <p:cNvSpPr/>
          <p:nvPr/>
        </p:nvSpPr>
        <p:spPr>
          <a:xfrm>
            <a:off x="6181200" y="914400"/>
            <a:ext cx="269712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11"/>
          <p:cNvSpPr/>
          <p:nvPr/>
        </p:nvSpPr>
        <p:spPr>
          <a:xfrm>
            <a:off x="6181200" y="914400"/>
            <a:ext cx="2697120" cy="411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 12"/>
          <p:cNvSpPr/>
          <p:nvPr/>
        </p:nvSpPr>
        <p:spPr>
          <a:xfrm>
            <a:off x="6181200" y="914400"/>
            <a:ext cx="2697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E8A828"/>
                </a:solidFill>
                <a:latin typeface="Calibri"/>
                <a:ea typeface="Calibri"/>
              </a:rPr>
              <a:t>Voice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 13"/>
          <p:cNvSpPr/>
          <p:nvPr/>
        </p:nvSpPr>
        <p:spPr>
          <a:xfrm>
            <a:off x="6254640" y="1353240"/>
            <a:ext cx="2578320" cy="12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Web Speech API — SpeechRecognition (STT)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SpeechSynthesis (TTS) — chunked sentences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Screen Wake Lock API — screen stays on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4"/>
          <p:cNvSpPr/>
          <p:nvPr/>
        </p:nvSpPr>
        <p:spPr>
          <a:xfrm>
            <a:off x="365760" y="2834640"/>
            <a:ext cx="269712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15"/>
          <p:cNvSpPr/>
          <p:nvPr/>
        </p:nvSpPr>
        <p:spPr>
          <a:xfrm>
            <a:off x="365760" y="2834640"/>
            <a:ext cx="2697120" cy="411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16"/>
          <p:cNvSpPr/>
          <p:nvPr/>
        </p:nvSpPr>
        <p:spPr>
          <a:xfrm>
            <a:off x="365760" y="2834640"/>
            <a:ext cx="2697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E8A828"/>
                </a:solidFill>
                <a:latin typeface="Calibri"/>
                <a:ea typeface="Calibri"/>
              </a:rPr>
              <a:t>Data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 17"/>
          <p:cNvSpPr/>
          <p:nvPr/>
        </p:nvSpPr>
        <p:spPr>
          <a:xfrm>
            <a:off x="438840" y="3273480"/>
            <a:ext cx="2578320" cy="12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47 concepts · 59 edges — inline JS objects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702 shlokas — vision-extracted from JPEG scans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4-language strings for every UI element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18"/>
          <p:cNvSpPr/>
          <p:nvPr/>
        </p:nvSpPr>
        <p:spPr>
          <a:xfrm>
            <a:off x="3273480" y="2834640"/>
            <a:ext cx="269712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9"/>
          <p:cNvSpPr/>
          <p:nvPr/>
        </p:nvSpPr>
        <p:spPr>
          <a:xfrm>
            <a:off x="3273480" y="2834640"/>
            <a:ext cx="2697120" cy="411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 20"/>
          <p:cNvSpPr/>
          <p:nvPr/>
        </p:nvSpPr>
        <p:spPr>
          <a:xfrm>
            <a:off x="3273480" y="2834640"/>
            <a:ext cx="2697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E8A828"/>
                </a:solidFill>
                <a:latin typeface="Calibri"/>
                <a:ea typeface="Calibri"/>
              </a:rPr>
              <a:t>Delivery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21"/>
          <p:cNvSpPr/>
          <p:nvPr/>
        </p:nvSpPr>
        <p:spPr>
          <a:xfrm>
            <a:off x="3346560" y="3273480"/>
            <a:ext cx="2578320" cy="12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GitHub Pages — free, zero-config hosting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Single HTML file — email-able, offline-capable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Public + private bundle strategy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22"/>
          <p:cNvSpPr/>
          <p:nvPr/>
        </p:nvSpPr>
        <p:spPr>
          <a:xfrm>
            <a:off x="6181200" y="2834640"/>
            <a:ext cx="2697120" cy="1782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5C0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23"/>
          <p:cNvSpPr/>
          <p:nvPr/>
        </p:nvSpPr>
        <p:spPr>
          <a:xfrm>
            <a:off x="6181200" y="2834640"/>
            <a:ext cx="2697120" cy="41112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24"/>
          <p:cNvSpPr/>
          <p:nvPr/>
        </p:nvSpPr>
        <p:spPr>
          <a:xfrm>
            <a:off x="6181200" y="2834640"/>
            <a:ext cx="26971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strike="noStrike" spc="-1">
                <a:solidFill>
                  <a:srgbClr val="E8A828"/>
                </a:solidFill>
                <a:latin typeface="Calibri"/>
                <a:ea typeface="Calibri"/>
              </a:rPr>
              <a:t>Tooling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25"/>
          <p:cNvSpPr/>
          <p:nvPr/>
        </p:nvSpPr>
        <p:spPr>
          <a:xfrm>
            <a:off x="6254640" y="3273480"/>
            <a:ext cx="2578320" cy="12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Python / sed — surgical file patching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Node.js — syntax validation after each patch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A2744"/>
              </a:buClr>
              <a:buFont typeface="Symbol" charset="2"/>
              <a:buChar char=""/>
            </a:pPr>
            <a:r>
              <a:rPr lang="en-US" sz="900" b="0" strike="noStrike" spc="-1">
                <a:solidFill>
                  <a:srgbClr val="1A2744"/>
                </a:solidFill>
                <a:latin typeface="Calibri"/>
                <a:ea typeface="Calibri"/>
              </a:rPr>
              <a:t>git — every fix tracked with descriptive commits</a:t>
            </a:r>
            <a:endParaRPr lang="en-US" sz="9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0" y="0"/>
            <a:ext cx="9143640" cy="54360"/>
          </a:xfrm>
          <a:prstGeom prst="rect">
            <a:avLst/>
          </a:prstGeom>
          <a:solidFill>
            <a:srgbClr val="E8A828"/>
          </a:solidFill>
          <a:ln w="1270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 1"/>
          <p:cNvSpPr/>
          <p:nvPr/>
        </p:nvSpPr>
        <p:spPr>
          <a:xfrm>
            <a:off x="457200" y="16452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FFFFFF"/>
                </a:solidFill>
                <a:latin typeface="Georgia"/>
                <a:ea typeface="Georgia"/>
              </a:rPr>
              <a:t>What's Next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Shape 2"/>
          <p:cNvSpPr/>
          <p:nvPr/>
        </p:nvSpPr>
        <p:spPr>
          <a:xfrm>
            <a:off x="320040" y="960120"/>
            <a:ext cx="4160160" cy="11700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3"/>
          <p:cNvSpPr/>
          <p:nvPr/>
        </p:nvSpPr>
        <p:spPr>
          <a:xfrm>
            <a:off x="320040" y="114300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Calibri"/>
              </a:rPr>
              <a:t>📖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Text 4"/>
          <p:cNvSpPr/>
          <p:nvPr/>
        </p:nvSpPr>
        <p:spPr>
          <a:xfrm>
            <a:off x="1005840" y="105156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Complete Shloka Extraction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5"/>
          <p:cNvSpPr/>
          <p:nvPr/>
        </p:nvSpPr>
        <p:spPr>
          <a:xfrm>
            <a:off x="1005840" y="135324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All 702 shlokas extracted and verified across all 18 chapters.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Shape 6"/>
          <p:cNvSpPr/>
          <p:nvPr/>
        </p:nvSpPr>
        <p:spPr>
          <a:xfrm>
            <a:off x="4709160" y="960120"/>
            <a:ext cx="4160160" cy="11700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7"/>
          <p:cNvSpPr/>
          <p:nvPr/>
        </p:nvSpPr>
        <p:spPr>
          <a:xfrm>
            <a:off x="4709160" y="114300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Calibri"/>
              </a:rPr>
              <a:t>🎵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8"/>
          <p:cNvSpPr/>
          <p:nvPr/>
        </p:nvSpPr>
        <p:spPr>
          <a:xfrm>
            <a:off x="5394960" y="105156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Sanskrit TTS Quality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9"/>
          <p:cNvSpPr/>
          <p:nvPr/>
        </p:nvSpPr>
        <p:spPr>
          <a:xfrm>
            <a:off x="5394960" y="135324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sa-IN not yet natively supported by browsers. Explore dedicated Sanskrit TTS APIs (Sanskrit Heritage Site, iTransliterate) for authentic pronunciation.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Shape 10"/>
          <p:cNvSpPr/>
          <p:nvPr/>
        </p:nvSpPr>
        <p:spPr>
          <a:xfrm>
            <a:off x="320040" y="2267640"/>
            <a:ext cx="4160160" cy="11700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11"/>
          <p:cNvSpPr/>
          <p:nvPr/>
        </p:nvSpPr>
        <p:spPr>
          <a:xfrm>
            <a:off x="320040" y="245052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Calibri"/>
              </a:rPr>
              <a:t>🌐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12"/>
          <p:cNvSpPr/>
          <p:nvPr/>
        </p:nvSpPr>
        <p:spPr>
          <a:xfrm>
            <a:off x="1005840" y="235908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Offline PWA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13"/>
          <p:cNvSpPr/>
          <p:nvPr/>
        </p:nvSpPr>
        <p:spPr>
          <a:xfrm>
            <a:off x="1005840" y="266076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Convert to Progressive Web App so the knowledge graph works fully offline on mobile — especially useful during pārāyaṇa without internet.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Shape 14"/>
          <p:cNvSpPr/>
          <p:nvPr/>
        </p:nvSpPr>
        <p:spPr>
          <a:xfrm>
            <a:off x="4709160" y="2267640"/>
            <a:ext cx="4160160" cy="11700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 15"/>
          <p:cNvSpPr/>
          <p:nvPr/>
        </p:nvSpPr>
        <p:spPr>
          <a:xfrm>
            <a:off x="4709160" y="245052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Calibri"/>
              </a:rPr>
              <a:t>🔗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16"/>
          <p:cNvSpPr/>
          <p:nvPr/>
        </p:nvSpPr>
        <p:spPr>
          <a:xfrm>
            <a:off x="5394960" y="235908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Cross-reference Links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17"/>
          <p:cNvSpPr/>
          <p:nvPr/>
        </p:nvSpPr>
        <p:spPr>
          <a:xfrm>
            <a:off x="5394960" y="266076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Deep links between shlokas, concepts, and commentaries — tap a concept in a shloka and jump directly to its Focus view.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Shape 18"/>
          <p:cNvSpPr/>
          <p:nvPr/>
        </p:nvSpPr>
        <p:spPr>
          <a:xfrm>
            <a:off x="320040" y="3575160"/>
            <a:ext cx="4160160" cy="11700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19"/>
          <p:cNvSpPr/>
          <p:nvPr/>
        </p:nvSpPr>
        <p:spPr>
          <a:xfrm>
            <a:off x="320040" y="37580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Calibri"/>
              </a:rPr>
              <a:t>📊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 20"/>
          <p:cNvSpPr/>
          <p:nvPr/>
        </p:nvSpPr>
        <p:spPr>
          <a:xfrm>
            <a:off x="1005840" y="366660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Usage Analytics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21"/>
          <p:cNvSpPr/>
          <p:nvPr/>
        </p:nvSpPr>
        <p:spPr>
          <a:xfrm>
            <a:off x="1005840" y="396864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Understand which concepts and chapters are most explored to guide further commentary depth and data enrichment.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Shape 22"/>
          <p:cNvSpPr/>
          <p:nvPr/>
        </p:nvSpPr>
        <p:spPr>
          <a:xfrm>
            <a:off x="4709160" y="3575160"/>
            <a:ext cx="4160160" cy="1170000"/>
          </a:xfrm>
          <a:prstGeom prst="rect">
            <a:avLst/>
          </a:prstGeom>
          <a:solidFill>
            <a:srgbClr val="2C3F6E"/>
          </a:solidFill>
          <a:ln w="3810">
            <a:solidFill>
              <a:srgbClr val="8892A4"/>
            </a:solidFill>
            <a:round/>
          </a:ln>
          <a:effectLst>
            <a:outerShdw blurRad="101520" dist="37674" dir="8100000" algn="bl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Text 23"/>
          <p:cNvSpPr/>
          <p:nvPr/>
        </p:nvSpPr>
        <p:spPr>
          <a:xfrm>
            <a:off x="4709160" y="3758040"/>
            <a:ext cx="7311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strike="noStrike" spc="-1">
                <a:solidFill>
                  <a:srgbClr val="000000"/>
                </a:solidFill>
                <a:latin typeface="Calibri"/>
              </a:rPr>
              <a:t>🤝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 24"/>
          <p:cNvSpPr/>
          <p:nvPr/>
        </p:nvSpPr>
        <p:spPr>
          <a:xfrm>
            <a:off x="5394960" y="3666600"/>
            <a:ext cx="33829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E8A828"/>
                </a:solidFill>
                <a:latin typeface="Calibri"/>
                <a:ea typeface="Calibri"/>
              </a:rPr>
              <a:t>Community Contributions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25"/>
          <p:cNvSpPr/>
          <p:nvPr/>
        </p:nvSpPr>
        <p:spPr>
          <a:xfrm>
            <a:off x="5394960" y="3968640"/>
            <a:ext cx="3382920" cy="712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strike="noStrike" spc="-1">
                <a:solidFill>
                  <a:srgbClr val="8892A4"/>
                </a:solidFill>
                <a:latin typeface="Calibri"/>
                <a:ea typeface="Calibri"/>
              </a:rPr>
              <a:t>Open the public bundle for community additions — new concepts, relations, and commentary from scholars in the Madhva tradition.</a:t>
            </a:r>
            <a:endParaRPr lang="en-US" sz="8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E8A828"/>
          </a:solidFill>
          <a:ln w="1270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1"/>
          <p:cNvSpPr/>
          <p:nvPr/>
        </p:nvSpPr>
        <p:spPr>
          <a:xfrm>
            <a:off x="0" y="5070240"/>
            <a:ext cx="9143640" cy="72720"/>
          </a:xfrm>
          <a:prstGeom prst="rect">
            <a:avLst/>
          </a:prstGeom>
          <a:solidFill>
            <a:srgbClr val="E8A828"/>
          </a:solidFill>
          <a:ln w="12700">
            <a:solidFill>
              <a:srgbClr val="E8A82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2"/>
          <p:cNvSpPr/>
          <p:nvPr/>
        </p:nvSpPr>
        <p:spPr>
          <a:xfrm>
            <a:off x="-731520" y="914400"/>
            <a:ext cx="4114440" cy="4114440"/>
          </a:xfrm>
          <a:prstGeom prst="ellipse">
            <a:avLst/>
          </a:prstGeom>
          <a:solidFill>
            <a:srgbClr val="2C3F6E">
              <a:alpha val="40000"/>
            </a:srgbClr>
          </a:solidFill>
          <a:ln w="12700">
            <a:solidFill>
              <a:srgbClr val="2C3F6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Shape 3"/>
          <p:cNvSpPr/>
          <p:nvPr/>
        </p:nvSpPr>
        <p:spPr>
          <a:xfrm>
            <a:off x="6858000" y="-457200"/>
            <a:ext cx="3657240" cy="3657240"/>
          </a:xfrm>
          <a:prstGeom prst="ellipse">
            <a:avLst/>
          </a:prstGeom>
          <a:solidFill>
            <a:srgbClr val="C17A2E">
              <a:alpha val="25000"/>
            </a:srgbClr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4"/>
          <p:cNvSpPr/>
          <p:nvPr/>
        </p:nvSpPr>
        <p:spPr>
          <a:xfrm>
            <a:off x="914400" y="914400"/>
            <a:ext cx="73148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hi-IN" sz="1800" b="0" i="1" strike="noStrike" spc="-1">
                <a:solidFill>
                  <a:srgbClr val="E8A828"/>
                </a:solidFill>
                <a:latin typeface="Georgia"/>
                <a:cs typeface="Georgia"/>
              </a:rPr>
              <a:t>तत्त्व</a:t>
            </a:r>
            <a:r>
              <a:rPr lang="en-US" sz="1800" b="0" i="1" strike="noStrike" spc="-1">
                <a:solidFill>
                  <a:srgbClr val="E8A828"/>
                </a:solidFill>
                <a:latin typeface="Georgia"/>
                <a:ea typeface="Georgia"/>
              </a:rPr>
              <a:t>-</a:t>
            </a:r>
            <a:r>
              <a:rPr lang="hi-IN" sz="1800" b="0" i="1" strike="noStrike" spc="-1">
                <a:solidFill>
                  <a:srgbClr val="E8A828"/>
                </a:solidFill>
                <a:latin typeface="Georgia"/>
                <a:cs typeface="Georgia"/>
              </a:rPr>
              <a:t>जालम्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5"/>
          <p:cNvSpPr/>
          <p:nvPr/>
        </p:nvSpPr>
        <p:spPr>
          <a:xfrm>
            <a:off x="914400" y="1463040"/>
            <a:ext cx="7314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strike="noStrike" spc="-1">
                <a:solidFill>
                  <a:srgbClr val="FFFFFF"/>
                </a:solidFill>
                <a:latin typeface="Georgia"/>
                <a:ea typeface="Georgia"/>
              </a:rPr>
              <a:t>Tatvam Jalam</a:t>
            </a:r>
            <a:endParaRPr lang="en-US" sz="4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Text 6"/>
          <p:cNvSpPr/>
          <p:nvPr/>
        </p:nvSpPr>
        <p:spPr>
          <a:xfrm>
            <a:off x="914400" y="2331720"/>
            <a:ext cx="7314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strike="noStrike" spc="-1">
                <a:solidFill>
                  <a:srgbClr val="8892A4"/>
                </a:solidFill>
                <a:latin typeface="Georgia"/>
                <a:ea typeface="Georgia"/>
              </a:rPr>
              <a:t>The Web of Tattvas</a:t>
            </a:r>
            <a:endParaRPr lang="en-US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Shape 7"/>
          <p:cNvSpPr/>
          <p:nvPr/>
        </p:nvSpPr>
        <p:spPr>
          <a:xfrm>
            <a:off x="2743200" y="2926080"/>
            <a:ext cx="3657240" cy="27000"/>
          </a:xfrm>
          <a:prstGeom prst="rect">
            <a:avLst/>
          </a:prstGeom>
          <a:solidFill>
            <a:srgbClr val="C17A2E"/>
          </a:solidFill>
          <a:ln w="12700">
            <a:solidFill>
              <a:srgbClr val="C17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17640" rIns="90000" bIns="-1764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Text 8"/>
          <p:cNvSpPr/>
          <p:nvPr/>
        </p:nvSpPr>
        <p:spPr>
          <a:xfrm>
            <a:off x="914400" y="3108960"/>
            <a:ext cx="731484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D6E4F7"/>
                </a:solidFill>
                <a:latin typeface="Calibri"/>
                <a:ea typeface="Calibri"/>
              </a:rPr>
              <a:t>🌐  kvinayakpai.github.io/Bhagavadgita/viewer-bundled.html</a:t>
            </a:r>
            <a:endParaRPr lang="en-US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Text 9"/>
          <p:cNvSpPr/>
          <p:nvPr/>
        </p:nvSpPr>
        <p:spPr>
          <a:xfrm>
            <a:off x="914400" y="365760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strike="noStrike" spc="-1">
                <a:solidFill>
                  <a:srgbClr val="8892A4"/>
                </a:solidFill>
                <a:latin typeface="Calibri"/>
                <a:ea typeface="Calibri"/>
              </a:rPr>
              <a:t>Built with · Anthropic Claude · Web Speech API · Cytoscape.js · GitHub Pages</a:t>
            </a:r>
            <a:endParaRPr lang="en-US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 10"/>
          <p:cNvSpPr/>
          <p:nvPr/>
        </p:nvSpPr>
        <p:spPr>
          <a:xfrm>
            <a:off x="914400" y="40690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i="1" strike="noStrike" spc="-1">
                <a:solidFill>
                  <a:srgbClr val="8892A4"/>
                </a:solidFill>
                <a:latin typeface="Calibri"/>
                <a:ea typeface="Calibri"/>
              </a:rPr>
              <a:t>Madhva · Dvaita Vedānta · Bannanje Govindacharya Tradition</a:t>
            </a:r>
            <a:endParaRPr lang="en-US" sz="9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On-screen Show (16:9)</PresentationFormat>
  <Paragraphs>0</Paragraphs>
  <Slides>12</Slides>
  <Notes>12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Vinayak Pai</cp:lastModifiedBy>
  <cp:revision>1</cp:revision>
  <dcterms:modified xsi:type="dcterms:W3CDTF">2026-05-28T04:33:49Z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2026-05-28T03:50:57Z</dcterms:created>
  <dc:creator>PptxGenJS</dc:creator>
  <dc:description/>
  <dc:language>en-US</dc:language>
  <cp:lastModifiedBy>PptxGenJS</cp:lastModifiedBy>
  <dcterms:modified xsi:type="dcterms:W3CDTF">2026-05-28T03:50:57Z</dcterms:modified>
  <cp:revision>1</cp:revision>
  <dc:subject>PptxGenJS Presentation</dc:subject>
  <dc:title>Tatvam Jalam — Technical Journey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On-screen Show (16:9)</vt:lpwstr>
  </property>
  <property fmtid="{D5CDD505-2E9C-101B-9397-08002B2CF9AE}" pid="4" name="Slides">
    <vt:r8>12</vt:r8>
  </property>
</Properties>
</file>