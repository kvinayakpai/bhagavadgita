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A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17920" y="274320"/>
            <a:ext cx="3657600" cy="3657600"/>
          </a:xfrm>
          <a:prstGeom prst="ellipse">
            <a:avLst/>
          </a:prstGeom>
          <a:solidFill>
            <a:srgbClr val="2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0" y="731520"/>
            <a:ext cx="2743200" cy="2743200"/>
          </a:xfrm>
          <a:prstGeom prst="ellipse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8A828"/>
                </a:solidFill>
                <a:latin typeface="Georgia"/>
              </a:rPr>
              <a:t>तत्त्व-जालम्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Tatvam Jalam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84831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6E4F7"/>
                </a:solidFill>
                <a:latin typeface="Calibri"/>
              </a:rPr>
              <a:t>Your Guide to the Bhagavad Gītā Knowledge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24912"/>
            <a:ext cx="4114800" cy="27432"/>
          </a:xfrm>
          <a:prstGeom prst="rect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346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66"/>
                </a:solidFill>
                <a:latin typeface="Calibri"/>
              </a:rPr>
              <a:t>Explore  ·  Read  ·  Ask  ·  Converse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37560"/>
            <a:ext cx="2606040" cy="384048"/>
          </a:xfrm>
          <a:prstGeom prst="rect">
            <a:avLst/>
          </a:prstGeom>
          <a:solidFill>
            <a:srgbClr val="2C3F6E"/>
          </a:solidFill>
          <a:ln w="6350">
            <a:solidFill>
              <a:srgbClr val="E8A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375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A828"/>
                </a:solidFill>
                <a:latin typeface="Calibri"/>
              </a:rPr>
              <a:t>Browse Concepts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337560"/>
            <a:ext cx="2606040" cy="384048"/>
          </a:xfrm>
          <a:prstGeom prst="rect">
            <a:avLst/>
          </a:prstGeom>
          <a:solidFill>
            <a:srgbClr val="2C3F6E"/>
          </a:solidFill>
          <a:ln w="6350">
            <a:solidFill>
              <a:srgbClr val="E8A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3375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A828"/>
                </a:solidFill>
                <a:latin typeface="Calibri"/>
              </a:rPr>
              <a:t>Read Shlokas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13048"/>
            <a:ext cx="2606040" cy="384048"/>
          </a:xfrm>
          <a:prstGeom prst="rect">
            <a:avLst/>
          </a:prstGeom>
          <a:solidFill>
            <a:srgbClr val="2C3F6E"/>
          </a:solidFill>
          <a:ln w="6350">
            <a:solidFill>
              <a:srgbClr val="E8A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130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A828"/>
                </a:solidFill>
                <a:latin typeface="Calibri"/>
              </a:rPr>
              <a:t>Chat with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813048"/>
            <a:ext cx="2606040" cy="384048"/>
          </a:xfrm>
          <a:prstGeom prst="rect">
            <a:avLst/>
          </a:prstGeom>
          <a:solidFill>
            <a:srgbClr val="2C3F6E"/>
          </a:solidFill>
          <a:ln w="6350">
            <a:solidFill>
              <a:srgbClr val="E8A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8130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A828"/>
                </a:solidFill>
                <a:latin typeface="Calibri"/>
              </a:rPr>
              <a:t>Speak &amp; Listen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  <a:latin typeface="Calibri"/>
              </a:rPr>
              <a:t>Madhva · Bannanje Govindacharya Tradition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44"/>
                </a:solidFill>
                <a:latin typeface="Georgia"/>
              </a:rPr>
              <a:t>What Is Tatvam Jalam?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96112"/>
            <a:ext cx="8412480" cy="914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Georgia"/>
              </a:rPr>
              <a:t>An interactive map of the Bhagavad Gita — open in any browser, on any device, completely free.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38528"/>
            <a:ext cx="2697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20299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2744"/>
                </a:solidFill>
                <a:latin typeface="Calibri"/>
              </a:rPr>
              <a:t>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299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Browse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22576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Explore 47 philosophical concepts as an interactive visual map — filterable by chapter or verse.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938528"/>
            <a:ext cx="2697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0299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2744"/>
                </a:solidFill>
                <a:latin typeface="Calibri"/>
              </a:rP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0299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Read Shlokas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322576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All 701 verses from 18 chapters with meanings and connections.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59" y="1938528"/>
            <a:ext cx="2697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199" y="20299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2744"/>
                </a:solidFill>
                <a:latin typeface="Calibri"/>
              </a:rP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20299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4 Languages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2322576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Switch between English, Sanskrit, Hindi and Kannada instantly.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18688"/>
            <a:ext cx="2697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3101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2744"/>
                </a:solidFill>
                <a:latin typeface="Calibri"/>
              </a:rP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101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AI 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602736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Ask any question. Get answers rooted in Madhva tradition. Needs API key.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218688"/>
            <a:ext cx="2697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33101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2744"/>
                </a:solidFill>
                <a:latin typeface="Calibri"/>
              </a:rPr>
              <a:t>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3101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Voice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602736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Speak your question, hear the answer. Fully hands-free.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59" y="3218688"/>
            <a:ext cx="2697480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199" y="331012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2744"/>
                </a:solidFill>
                <a:latin typeface="Calibri"/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33101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No Install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3602736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Just open the link. Works on phone or computer. No login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The 5 Tabs — How to Navigate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66"/>
                </a:solidFill>
                <a:latin typeface="Calibri"/>
              </a:rPr>
              <a:t>All navigation lives in the tab bar at the top. Tap any tab to switch views.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2697480" cy="1737360"/>
          </a:xfrm>
          <a:prstGeom prst="rect">
            <a:avLst/>
          </a:prstGeom>
          <a:solidFill>
            <a:srgbClr val="2C3F6E"/>
          </a:solidFill>
          <a:ln w="10160">
            <a:solidFill>
              <a:srgbClr val="C17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2697480" cy="384048"/>
          </a:xfrm>
          <a:prstGeom prst="rect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Browse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1368" y="1261872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सूची / ಸೂಚಿ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682495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A list of all 47 concepts grouped by their rank in Madhva's hierarchy (from Parabrahma at the top to Phala at the bottom).</a:t>
            </a:r>
          </a:p>
        </p:txBody>
      </p:sp>
      <p:sp>
        <p:nvSpPr>
          <p:cNvPr id="10" name="Oval 9"/>
          <p:cNvSpPr/>
          <p:nvPr/>
        </p:nvSpPr>
        <p:spPr>
          <a:xfrm>
            <a:off x="411479" y="2194560"/>
            <a:ext cx="146304" cy="146304"/>
          </a:xfrm>
          <a:prstGeom prst="ellipse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157984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Scroll to find any concept</a:t>
            </a:r>
          </a:p>
        </p:txBody>
      </p:sp>
      <p:sp>
        <p:nvSpPr>
          <p:cNvPr id="12" name="Oval 11"/>
          <p:cNvSpPr/>
          <p:nvPr/>
        </p:nvSpPr>
        <p:spPr>
          <a:xfrm>
            <a:off x="411479" y="2441448"/>
            <a:ext cx="146304" cy="146304"/>
          </a:xfrm>
          <a:prstGeom prst="ellipse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" y="2404872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Tap a concept to open its full detail</a:t>
            </a:r>
          </a:p>
        </p:txBody>
      </p:sp>
      <p:sp>
        <p:nvSpPr>
          <p:cNvPr id="14" name="Oval 13"/>
          <p:cNvSpPr/>
          <p:nvPr/>
        </p:nvSpPr>
        <p:spPr>
          <a:xfrm>
            <a:off x="411479" y="2688336"/>
            <a:ext cx="146304" cy="146304"/>
          </a:xfrm>
          <a:prstGeom prst="ellipse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" y="2651760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Coloured circles show which tier it belongs 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261872"/>
            <a:ext cx="2697480" cy="1737360"/>
          </a:xfrm>
          <a:prstGeom prst="rect">
            <a:avLst/>
          </a:prstGeom>
          <a:solidFill>
            <a:srgbClr val="3A150A"/>
          </a:solidFill>
          <a:ln w="10160">
            <a:solidFill>
              <a:srgbClr val="9B3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261872"/>
            <a:ext cx="2697480" cy="384048"/>
          </a:xfrm>
          <a:prstGeom prst="rect">
            <a:avLst/>
          </a:prstGeom>
          <a:solidFill>
            <a:srgbClr val="9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126187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Focus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1261872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विवरणम् / ವಿವರಣೆ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3552" y="1682495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The deep-dive view for a single concept. Opens when you tap anything in Browse, Chapters or the Map.</a:t>
            </a:r>
          </a:p>
        </p:txBody>
      </p:sp>
      <p:sp>
        <p:nvSpPr>
          <p:cNvPr id="21" name="Oval 20"/>
          <p:cNvSpPr/>
          <p:nvPr/>
        </p:nvSpPr>
        <p:spPr>
          <a:xfrm>
            <a:off x="3291840" y="2194560"/>
            <a:ext cx="146304" cy="146304"/>
          </a:xfrm>
          <a:prstGeom prst="ellipse">
            <a:avLst/>
          </a:prstGeom>
          <a:solidFill>
            <a:srgbClr val="9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1296" y="2157984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Read the concept's full meaning</a:t>
            </a:r>
          </a:p>
        </p:txBody>
      </p:sp>
      <p:sp>
        <p:nvSpPr>
          <p:cNvPr id="23" name="Oval 22"/>
          <p:cNvSpPr/>
          <p:nvPr/>
        </p:nvSpPr>
        <p:spPr>
          <a:xfrm>
            <a:off x="3291840" y="2441448"/>
            <a:ext cx="146304" cy="146304"/>
          </a:xfrm>
          <a:prstGeom prst="ellipse">
            <a:avLst/>
          </a:prstGeom>
          <a:solidFill>
            <a:srgbClr val="9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11296" y="2404872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See related shlokas</a:t>
            </a:r>
          </a:p>
        </p:txBody>
      </p:sp>
      <p:sp>
        <p:nvSpPr>
          <p:cNvPr id="25" name="Oval 24"/>
          <p:cNvSpPr/>
          <p:nvPr/>
        </p:nvSpPr>
        <p:spPr>
          <a:xfrm>
            <a:off x="3291840" y="2688336"/>
            <a:ext cx="146304" cy="146304"/>
          </a:xfrm>
          <a:prstGeom prst="ellipse">
            <a:avLst/>
          </a:prstGeom>
          <a:solidFill>
            <a:srgbClr val="9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11296" y="2651760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Tap any connected concept to jump to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59" y="1261872"/>
            <a:ext cx="2697480" cy="1737360"/>
          </a:xfrm>
          <a:prstGeom prst="rect">
            <a:avLst/>
          </a:prstGeom>
          <a:solidFill>
            <a:srgbClr val="0F2A1A"/>
          </a:solidFill>
          <a:ln w="10160">
            <a:solidFill>
              <a:srgbClr val="2E6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59" y="1261872"/>
            <a:ext cx="2697480" cy="384048"/>
          </a:xfrm>
          <a:prstGeom prst="rect">
            <a:avLst/>
          </a:prstGeom>
          <a:solidFill>
            <a:srgbClr val="2E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59" y="126187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Chapters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2088" y="1261872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अध्यायाः / ಅಧ್ಯಾಯಗಳು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3912" y="1682495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Browse all 18 chapters of the Gītā. Each chapter shows its key concepts followed by all shlokas from that chapter.</a:t>
            </a:r>
          </a:p>
        </p:txBody>
      </p:sp>
      <p:sp>
        <p:nvSpPr>
          <p:cNvPr id="32" name="Oval 31"/>
          <p:cNvSpPr/>
          <p:nvPr/>
        </p:nvSpPr>
        <p:spPr>
          <a:xfrm>
            <a:off x="6172199" y="2194560"/>
            <a:ext cx="146304" cy="146304"/>
          </a:xfrm>
          <a:prstGeom prst="ellipse">
            <a:avLst/>
          </a:prstGeom>
          <a:solidFill>
            <a:srgbClr val="2E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5" y="2157984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Tap a chapter number to expand it</a:t>
            </a:r>
          </a:p>
        </p:txBody>
      </p:sp>
      <p:sp>
        <p:nvSpPr>
          <p:cNvPr id="34" name="Oval 33"/>
          <p:cNvSpPr/>
          <p:nvPr/>
        </p:nvSpPr>
        <p:spPr>
          <a:xfrm>
            <a:off x="6172199" y="2441448"/>
            <a:ext cx="146304" cy="146304"/>
          </a:xfrm>
          <a:prstGeom prst="ellipse">
            <a:avLst/>
          </a:prstGeom>
          <a:solidFill>
            <a:srgbClr val="2E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1655" y="2404872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Tap a concept chip to open its Focus view</a:t>
            </a:r>
          </a:p>
        </p:txBody>
      </p:sp>
      <p:sp>
        <p:nvSpPr>
          <p:cNvPr id="36" name="Oval 35"/>
          <p:cNvSpPr/>
          <p:nvPr/>
        </p:nvSpPr>
        <p:spPr>
          <a:xfrm>
            <a:off x="6172199" y="2688336"/>
            <a:ext cx="146304" cy="146304"/>
          </a:xfrm>
          <a:prstGeom prst="ellipse">
            <a:avLst/>
          </a:prstGeom>
          <a:solidFill>
            <a:srgbClr val="2E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91655" y="2651760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Scroll down to read all shlokas in order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136391"/>
            <a:ext cx="2697480" cy="1737360"/>
          </a:xfrm>
          <a:prstGeom prst="rect">
            <a:avLst/>
          </a:prstGeom>
          <a:solidFill>
            <a:srgbClr val="1E1540"/>
          </a:solidFill>
          <a:ln w="10160">
            <a:solidFill>
              <a:srgbClr val="5D4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3136391"/>
            <a:ext cx="2697480" cy="384048"/>
          </a:xfrm>
          <a:prstGeom prst="rect">
            <a:avLst/>
          </a:prstGeom>
          <a:solidFill>
            <a:srgbClr val="5D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3136391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01368" y="3136391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मानचित्रम् / ನಕ್ಷೆ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" y="3557015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An interactive visual graph showing all 47 concepts and how they connect. Filter it to one chapter or verse with the dropdowns above the graph.</a:t>
            </a:r>
          </a:p>
        </p:txBody>
      </p:sp>
      <p:sp>
        <p:nvSpPr>
          <p:cNvPr id="43" name="Oval 42"/>
          <p:cNvSpPr/>
          <p:nvPr/>
        </p:nvSpPr>
        <p:spPr>
          <a:xfrm>
            <a:off x="411479" y="4069079"/>
            <a:ext cx="146304" cy="146304"/>
          </a:xfrm>
          <a:prstGeom prst="ellipse">
            <a:avLst/>
          </a:prstGeom>
          <a:solidFill>
            <a:srgbClr val="5D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" y="4032504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Pinch to zoom in or out</a:t>
            </a:r>
          </a:p>
        </p:txBody>
      </p:sp>
      <p:sp>
        <p:nvSpPr>
          <p:cNvPr id="45" name="Oval 44"/>
          <p:cNvSpPr/>
          <p:nvPr/>
        </p:nvSpPr>
        <p:spPr>
          <a:xfrm>
            <a:off x="411479" y="4315967"/>
            <a:ext cx="146304" cy="146304"/>
          </a:xfrm>
          <a:prstGeom prst="ellipse">
            <a:avLst/>
          </a:prstGeom>
          <a:solidFill>
            <a:srgbClr val="5D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" y="4279392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Drag to pan around the graph</a:t>
            </a:r>
          </a:p>
        </p:txBody>
      </p:sp>
      <p:sp>
        <p:nvSpPr>
          <p:cNvPr id="47" name="Oval 46"/>
          <p:cNvSpPr/>
          <p:nvPr/>
        </p:nvSpPr>
        <p:spPr>
          <a:xfrm>
            <a:off x="411479" y="4562855"/>
            <a:ext cx="146304" cy="146304"/>
          </a:xfrm>
          <a:prstGeom prst="ellipse">
            <a:avLst/>
          </a:prstGeom>
          <a:solidFill>
            <a:srgbClr val="5D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" y="4526280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Tap any node to open its Focus view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3136391"/>
            <a:ext cx="2697480" cy="1737360"/>
          </a:xfrm>
          <a:prstGeom prst="rect">
            <a:avLst/>
          </a:prstGeom>
          <a:solidFill>
            <a:srgbClr val="052212"/>
          </a:solidFill>
          <a:ln w="10160">
            <a:solidFill>
              <a:srgbClr val="1A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0" y="3136391"/>
            <a:ext cx="2697480" cy="384048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0" y="3136391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81728" y="3136391"/>
            <a:ext cx="1216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संवादः / ಸಂವಾದ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73552" y="3557015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Ask questions about the Gītā in any language. The AI answers from the Madhva / Bannanje tradition. Requires an API key (see next slide).</a:t>
            </a:r>
          </a:p>
        </p:txBody>
      </p:sp>
      <p:sp>
        <p:nvSpPr>
          <p:cNvPr id="54" name="Oval 53"/>
          <p:cNvSpPr/>
          <p:nvPr/>
        </p:nvSpPr>
        <p:spPr>
          <a:xfrm>
            <a:off x="3291840" y="4069079"/>
            <a:ext cx="146304" cy="146304"/>
          </a:xfrm>
          <a:prstGeom prst="ellipse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11296" y="4032504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Type or speak your question</a:t>
            </a:r>
          </a:p>
        </p:txBody>
      </p:sp>
      <p:sp>
        <p:nvSpPr>
          <p:cNvPr id="56" name="Oval 55"/>
          <p:cNvSpPr/>
          <p:nvPr/>
        </p:nvSpPr>
        <p:spPr>
          <a:xfrm>
            <a:off x="3291840" y="4315967"/>
            <a:ext cx="146304" cy="146304"/>
          </a:xfrm>
          <a:prstGeom prst="ellipse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11296" y="4279392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Tap 🎙 for voice input</a:t>
            </a:r>
          </a:p>
        </p:txBody>
      </p:sp>
      <p:sp>
        <p:nvSpPr>
          <p:cNvPr id="58" name="Oval 57"/>
          <p:cNvSpPr/>
          <p:nvPr/>
        </p:nvSpPr>
        <p:spPr>
          <a:xfrm>
            <a:off x="3291840" y="4562855"/>
            <a:ext cx="146304" cy="146304"/>
          </a:xfrm>
          <a:prstGeom prst="ellipse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11296" y="4526280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Tap ↺ to start a new conversation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0" y="4736592"/>
            <a:ext cx="4572000" cy="406908"/>
          </a:xfrm>
          <a:prstGeom prst="rect">
            <a:avLst/>
          </a:prstGeom>
          <a:solidFill>
            <a:srgbClr val="1E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72000" y="4736592"/>
            <a:ext cx="4572000" cy="406908"/>
          </a:xfrm>
          <a:prstGeom prst="rect">
            <a:avLst/>
          </a:prstGeom>
          <a:solidFill>
            <a:srgbClr val="5C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7160" y="4736592"/>
            <a:ext cx="438912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✅  Browse · Focus · Chapters · Map — 100% FREE, always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63440" y="4736592"/>
            <a:ext cx="438912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🔑  Chat — your own API key, billed by Anthropic, nothing to 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What's Free and What Costs Money?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Here is a clear breakdown before you get started.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4160520" cy="3401568"/>
          </a:xfrm>
          <a:prstGeom prst="rect">
            <a:avLst/>
          </a:prstGeom>
          <a:solidFill>
            <a:srgbClr val="0D2B18"/>
          </a:solidFill>
          <a:ln w="19050">
            <a:solidFill>
              <a:srgbClr val="1E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4160520" cy="502920"/>
          </a:xfrm>
          <a:prstGeom prst="rect">
            <a:avLst/>
          </a:prstGeom>
          <a:solidFill>
            <a:srgbClr val="1E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61872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✅  FREE — Always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7A3E"/>
                </a:solidFill>
                <a:latin typeface="Calibri"/>
              </a:rPr>
              <a:t>Browse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3055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All 47 concepts, fully navigable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7A3E"/>
                </a:solidFill>
                <a:latin typeface="Calibri"/>
              </a:rPr>
              <a:t>Focus 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Deep-dive into any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529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7A3E"/>
                </a:solidFill>
                <a:latin typeface="Calibri"/>
              </a:rPr>
              <a:t>Chapters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81528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All 18 chapters, all 702 shlokas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2841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7A3E"/>
                </a:solidFill>
                <a:latin typeface="Calibri"/>
              </a:rPr>
              <a:t>Map tab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57016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Interactive knowledge graph, filterable by chapter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039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7A3E"/>
                </a:solidFill>
                <a:latin typeface="Calibri"/>
              </a:rPr>
              <a:t>Language switch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32504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EN / Sanskrit / Hindi / Kannada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793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7A3E"/>
                </a:solidFill>
                <a:latin typeface="Calibri"/>
              </a:rPr>
              <a:t>The app itself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0799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No download, no login, no subscription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261872"/>
            <a:ext cx="4160520" cy="3401568"/>
          </a:xfrm>
          <a:prstGeom prst="rect">
            <a:avLst/>
          </a:prstGeom>
          <a:solidFill>
            <a:srgbClr val="2A1008"/>
          </a:solidFill>
          <a:ln w="19050">
            <a:solidFill>
              <a:srgbClr val="C17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1261872"/>
            <a:ext cx="4160520" cy="502920"/>
          </a:xfrm>
          <a:prstGeom prst="rect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261872"/>
            <a:ext cx="4160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🔑  Chat Tab — Your API Key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190195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828"/>
                </a:solidFill>
                <a:latin typeface="Calibri"/>
              </a:rPr>
              <a:t>You pay Anthropic directly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14884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Billed to your own account at console.anthropic.com. We never see your payment.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2615184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828"/>
                </a:solidFill>
                <a:latin typeface="Calibri"/>
              </a:rPr>
              <a:t>~₹2–5 per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286207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₹480 starter credit lasts months. (1 USD ≈ ₹94.5, June 2026)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33284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828"/>
                </a:solidFill>
                <a:latin typeface="Calibri"/>
              </a:rPr>
              <a:t>Nothing comes to 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2" y="357530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The Tatvam Jalam team receives zero rupees from your API usage. Ever.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404164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A828"/>
                </a:solidFill>
                <a:latin typeface="Calibri"/>
              </a:rPr>
              <a:t>Your key, your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28853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Your API key is stored only on your device. Your questions go directly to Anthropic — not through us.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F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D6E4F7"/>
                </a:solidFill>
                <a:latin typeface="Calibri"/>
              </a:rPr>
              <a:t>The app is built and maintained voluntarily. There is no monetisation, no ads, no data collection. Chat costs go directly to Anthropic for the AI service you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44"/>
                </a:solidFill>
                <a:latin typeface="Georgia"/>
              </a:rPr>
              <a:t>Enabling Chat —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50392"/>
            <a:ext cx="8412480" cy="594360"/>
          </a:xfrm>
          <a:prstGeom prst="rect">
            <a:avLst/>
          </a:prstGeom>
          <a:solidFill>
            <a:srgbClr val="FFF3CD"/>
          </a:solidFill>
          <a:ln w="10160">
            <a:solidFill>
              <a:srgbClr val="E8A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503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D5A00"/>
                </a:solidFill>
                <a:latin typeface="Calibri"/>
              </a:rPr>
              <a:t>⚠  Chat needs a free Anthropic API key. Takes 5 minutes. You pay only for what you use — about ₹2–5 per question (1 USD ≈ ₹94.5, June 2026).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841248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1719072"/>
            <a:ext cx="365760" cy="365760"/>
          </a:xfrm>
          <a:prstGeom prst="ellipse">
            <a:avLst/>
          </a:prstGeom>
          <a:solidFill>
            <a:srgbClr val="9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6642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Go to console.anthropic.com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20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Open this in your browser and create a free account.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58568"/>
            <a:ext cx="8412480" cy="594360"/>
          </a:xfrm>
          <a:prstGeom prst="rect">
            <a:avLst/>
          </a:prstGeom>
          <a:solidFill>
            <a:srgbClr val="FFF8EE"/>
          </a:solidFill>
          <a:ln w="5080">
            <a:solidFill>
              <a:srgbClr val="D475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" y="2377439"/>
            <a:ext cx="365760" cy="365760"/>
          </a:xfrm>
          <a:prstGeom prst="ellipse">
            <a:avLst/>
          </a:prstGeom>
          <a:solidFill>
            <a:srgbClr val="9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774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2322575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Create an 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57860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Click API Keys → Create Key → Give it a name → Click Create.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350008"/>
            <a:ext cx="2651760" cy="411480"/>
          </a:xfrm>
          <a:prstGeom prst="rect">
            <a:avLst/>
          </a:prstGeom>
          <a:solidFill>
            <a:srgbClr val="1E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23500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  Copy it immediately — it won't show again!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16936"/>
            <a:ext cx="841248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7200" y="3035808"/>
            <a:ext cx="365760" cy="365760"/>
          </a:xfrm>
          <a:prstGeom prst="ellipse">
            <a:avLst/>
          </a:prstGeom>
          <a:solidFill>
            <a:srgbClr val="9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358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298094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Open the app, go to Chat tab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323697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Tap the Chat tab at the top of the Tatvam Jalam app.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75304"/>
            <a:ext cx="841248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200" y="3694176"/>
            <a:ext cx="365760" cy="365760"/>
          </a:xfrm>
          <a:prstGeom prst="ellipse">
            <a:avLst/>
          </a:prstGeom>
          <a:solidFill>
            <a:srgbClr val="9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6941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6393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Tap the ⚙️ icon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389534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Look for the gear icon in the top-right of the Chat screen.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33672"/>
            <a:ext cx="8412480" cy="594360"/>
          </a:xfrm>
          <a:prstGeom prst="rect">
            <a:avLst/>
          </a:prstGeom>
          <a:solidFill>
            <a:srgbClr val="FFF8EE"/>
          </a:solidFill>
          <a:ln w="5080">
            <a:solidFill>
              <a:srgbClr val="D475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7200" y="4352544"/>
            <a:ext cx="365760" cy="365760"/>
          </a:xfrm>
          <a:prstGeom prst="ellipse">
            <a:avLst/>
          </a:prstGeom>
          <a:solidFill>
            <a:srgbClr val="9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3525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42976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Paste your key and tap Save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" y="455371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Paste the key you copied. It is saved on your device only.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4325112"/>
            <a:ext cx="2651760" cy="411480"/>
          </a:xfrm>
          <a:prstGeom prst="rect">
            <a:avLst/>
          </a:prstGeom>
          <a:solidFill>
            <a:srgbClr val="1E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89320" y="43251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  Done! Start asking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Getting Your API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96112"/>
            <a:ext cx="8229600" cy="475488"/>
          </a:xfrm>
          <a:prstGeom prst="rect">
            <a:avLst/>
          </a:prstGeom>
          <a:solidFill>
            <a:srgbClr val="2C3F6E"/>
          </a:solidFill>
          <a:ln w="10160">
            <a:solidFill>
              <a:srgbClr val="E8A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28"/>
                </a:solidFill>
                <a:latin typeface="Calibri"/>
              </a:rPr>
              <a:t>🌐  console.anthropic.com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4160520" cy="1051560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91639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A828"/>
                </a:solidFill>
                <a:latin typeface="Calibri"/>
              </a:rPr>
              <a:t>1. Sign Up / Log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892807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Create a free account with your email. No credit card needed to sign 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508760"/>
            <a:ext cx="4160520" cy="1051560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691639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1600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A828"/>
                </a:solidFill>
                <a:latin typeface="Calibri"/>
              </a:rPr>
              <a:t>2. Go to API 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892807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In the left menu, click 'API Keys', then '+ Create Key'.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79191"/>
            <a:ext cx="4160520" cy="1051560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8620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706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A828"/>
                </a:solidFill>
                <a:latin typeface="Calibri"/>
              </a:rPr>
              <a:t>3. Name &amp; Create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6323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Type any name (e.g. Tatvam Jalam) and click Create Key.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679191"/>
            <a:ext cx="4160520" cy="1051560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862072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27706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A828"/>
                </a:solidFill>
                <a:latin typeface="Calibri"/>
              </a:rPr>
              <a:t>4. Copy Immediately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3063239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Click the copy icon. You MUST do this now — the key won't show again.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49624"/>
            <a:ext cx="4160520" cy="1051560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032504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941063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A828"/>
                </a:solidFill>
                <a:latin typeface="Calibri"/>
              </a:rPr>
              <a:t>5. Add ₹480 Credit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2336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Go to Billing → Add Credit. ₹480 (≈ 1 USD = ₹94.5) is enough for months of use.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3849624"/>
            <a:ext cx="4160520" cy="1051560"/>
          </a:xfrm>
          <a:prstGeom prst="rect">
            <a:avLst/>
          </a:prstGeom>
          <a:solidFill>
            <a:srgbClr val="2E6B44"/>
          </a:solidFill>
          <a:ln w="38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4032504"/>
            <a:ext cx="685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3941063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6. Paste in the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42336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alibri"/>
              </a:rPr>
              <a:t>Chat → ⚙️ → Paste the key → Save. You're ready to chat!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E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44"/>
                </a:solidFill>
                <a:latin typeface="Georgia"/>
              </a:rPr>
              <a:t>Using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How to ask a question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1435608"/>
            <a:ext cx="256032" cy="256032"/>
          </a:xfrm>
          <a:prstGeom prst="ellipse">
            <a:avLst/>
          </a:prstGeom>
          <a:solidFill>
            <a:srgbClr val="2E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4416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Tap the Chat tab at the top of the app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956816"/>
            <a:ext cx="256032" cy="256032"/>
          </a:xfrm>
          <a:prstGeom prst="ellipse">
            <a:avLst/>
          </a:prstGeom>
          <a:solidFill>
            <a:srgbClr val="2E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6537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Type your question in the box at the bottom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2478024"/>
            <a:ext cx="256032" cy="256032"/>
          </a:xfrm>
          <a:prstGeom prst="ellipse">
            <a:avLst/>
          </a:prstGeom>
          <a:solidFill>
            <a:srgbClr val="2E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8658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Tap the → button to send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2999232"/>
            <a:ext cx="256032" cy="256032"/>
          </a:xfrm>
          <a:prstGeom prst="ellipse">
            <a:avLst/>
          </a:prstGeom>
          <a:solidFill>
            <a:srgbClr val="2E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07791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Or tap 🎙 to speak instead of typing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3520440"/>
            <a:ext cx="256032" cy="256032"/>
          </a:xfrm>
          <a:prstGeom prst="ellipse">
            <a:avLst/>
          </a:prstGeom>
          <a:solidFill>
            <a:srgbClr val="2E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The AI replies in the same language you used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" y="4041647"/>
            <a:ext cx="256032" cy="256032"/>
          </a:xfrm>
          <a:prstGeom prst="ellipse">
            <a:avLst/>
          </a:prstGeom>
          <a:solidFill>
            <a:srgbClr val="2E6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50207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Tap ↺ New conversation to start fresh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868680"/>
            <a:ext cx="4114800" cy="3977639"/>
          </a:xfrm>
          <a:prstGeom prst="rect">
            <a:avLst/>
          </a:prstGeom>
          <a:solidFill>
            <a:srgbClr val="1A2744"/>
          </a:solidFill>
          <a:ln w="6350">
            <a:solidFill>
              <a:srgbClr val="E8A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A828"/>
                </a:solidFill>
                <a:latin typeface="Calibri"/>
              </a:rPr>
              <a:t>💬  Example questions you can ask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1417320"/>
            <a:ext cx="3840480" cy="475488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1417320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A828"/>
                </a:solidFill>
                <a:latin typeface="Calibri"/>
              </a:rPr>
              <a:t>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42432" y="1417320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"What does the Gita say about karma?"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1965960"/>
            <a:ext cx="3840480" cy="475488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1965960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A828"/>
                </a:solidFill>
                <a:latin typeface="Calibri"/>
              </a:rPr>
              <a:t>हिंदी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42432" y="1965960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"अर्जुन की दुविधा क्या थी?"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2514600"/>
            <a:ext cx="3840480" cy="475488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514600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A828"/>
                </a:solidFill>
                <a:latin typeface="Calibri"/>
              </a:rPr>
              <a:t>Sanskrit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2514600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"भक्तियोगः कः?"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3063239"/>
            <a:ext cx="3840480" cy="475488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3063239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A828"/>
                </a:solidFill>
                <a:latin typeface="Calibri"/>
              </a:rPr>
              <a:t>ಕನ್ನಡ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42432" y="3063239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"ಮೋಕ್ಷ ಎಂದರೇನು?"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3611880"/>
            <a:ext cx="3840480" cy="475488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3611880"/>
            <a:ext cx="914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8A828"/>
                </a:solidFill>
                <a:latin typeface="Calibri"/>
              </a:rPr>
              <a:t>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42432" y="3611880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  <a:latin typeface="Calibri"/>
              </a:rPr>
              <a:t>"Explain Vishwaroopa simply"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553712"/>
            <a:ext cx="8412480" cy="329184"/>
          </a:xfrm>
          <a:prstGeom prst="rect">
            <a:avLst/>
          </a:prstGeom>
          <a:solidFill>
            <a:srgbClr val="E8F4EC"/>
          </a:solidFill>
          <a:ln w="6350">
            <a:solidFill>
              <a:srgbClr val="2E6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553712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B44"/>
                </a:solidFill>
                <a:latin typeface="Calibri"/>
              </a:rPr>
              <a:t>💡  Cost: ~₹2–5 per question. ₹480 starter credit lasts months. (1 USD ≈ ₹94.5, June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Voice — Speak &amp; Listen</a:t>
            </a:r>
          </a:p>
        </p:txBody>
      </p:sp>
      <p:sp>
        <p:nvSpPr>
          <p:cNvPr id="4" name="Oval 3"/>
          <p:cNvSpPr/>
          <p:nvPr/>
        </p:nvSpPr>
        <p:spPr>
          <a:xfrm>
            <a:off x="804672" y="914400"/>
            <a:ext cx="777240" cy="777240"/>
          </a:xfrm>
          <a:prstGeom prst="ellipse">
            <a:avLst/>
          </a:prstGeom>
          <a:solidFill>
            <a:srgbClr val="2C3F6E"/>
          </a:solidFill>
          <a:ln>
            <a:solidFill>
              <a:srgbClr val="E8A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9144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56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  <a:latin typeface="Calibri"/>
              </a:rPr>
              <a:t>Tap 🎙
in Chat</a:t>
            </a:r>
          </a:p>
        </p:txBody>
      </p:sp>
      <p:sp>
        <p:nvSpPr>
          <p:cNvPr id="7" name="Oval 6"/>
          <p:cNvSpPr/>
          <p:nvPr/>
        </p:nvSpPr>
        <p:spPr>
          <a:xfrm>
            <a:off x="2468880" y="914400"/>
            <a:ext cx="777240" cy="777240"/>
          </a:xfrm>
          <a:prstGeom prst="ellipse">
            <a:avLst/>
          </a:prstGeom>
          <a:solidFill>
            <a:srgbClr val="2C3F6E"/>
          </a:solidFill>
          <a:ln>
            <a:solidFill>
              <a:srgbClr val="E8A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9144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17556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  <a:latin typeface="Calibri"/>
              </a:rPr>
              <a:t>Speak
your question</a:t>
            </a:r>
          </a:p>
        </p:txBody>
      </p:sp>
      <p:sp>
        <p:nvSpPr>
          <p:cNvPr id="10" name="Oval 9"/>
          <p:cNvSpPr/>
          <p:nvPr/>
        </p:nvSpPr>
        <p:spPr>
          <a:xfrm>
            <a:off x="4133088" y="914400"/>
            <a:ext cx="777240" cy="777240"/>
          </a:xfrm>
          <a:prstGeom prst="ellipse">
            <a:avLst/>
          </a:prstGeom>
          <a:solidFill>
            <a:srgbClr val="2C3F6E"/>
          </a:solidFill>
          <a:ln>
            <a:solidFill>
              <a:srgbClr val="E8A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088" y="9144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6" y="17556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  <a:latin typeface="Calibri"/>
              </a:rPr>
              <a:t>AI
thinks</a:t>
            </a:r>
          </a:p>
        </p:txBody>
      </p:sp>
      <p:sp>
        <p:nvSpPr>
          <p:cNvPr id="13" name="Oval 12"/>
          <p:cNvSpPr/>
          <p:nvPr/>
        </p:nvSpPr>
        <p:spPr>
          <a:xfrm>
            <a:off x="5797296" y="914400"/>
            <a:ext cx="777240" cy="777240"/>
          </a:xfrm>
          <a:prstGeom prst="ellipse">
            <a:avLst/>
          </a:prstGeom>
          <a:solidFill>
            <a:srgbClr val="2C3F6E"/>
          </a:solidFill>
          <a:ln>
            <a:solidFill>
              <a:srgbClr val="E8A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97296" y="9144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9824" y="17556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  <a:latin typeface="Calibri"/>
              </a:rPr>
              <a:t>Hear
the answer</a:t>
            </a:r>
          </a:p>
        </p:txBody>
      </p:sp>
      <p:sp>
        <p:nvSpPr>
          <p:cNvPr id="16" name="Oval 15"/>
          <p:cNvSpPr/>
          <p:nvPr/>
        </p:nvSpPr>
        <p:spPr>
          <a:xfrm>
            <a:off x="7461504" y="914400"/>
            <a:ext cx="777240" cy="777240"/>
          </a:xfrm>
          <a:prstGeom prst="ellipse">
            <a:avLst/>
          </a:prstGeom>
          <a:solidFill>
            <a:srgbClr val="2C3F6E"/>
          </a:solidFill>
          <a:ln>
            <a:solidFill>
              <a:srgbClr val="E8A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61504" y="91440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1755648"/>
            <a:ext cx="14813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6666"/>
                </a:solidFill>
                <a:latin typeface="Calibri"/>
              </a:rPr>
              <a:t>Auto-
listens again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37744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828"/>
                </a:solidFill>
                <a:latin typeface="Calibri"/>
              </a:rPr>
              <a:t>Tips for best results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52928"/>
            <a:ext cx="4160520" cy="594360"/>
          </a:xfrm>
          <a:prstGeom prst="rect">
            <a:avLst/>
          </a:prstGeom>
          <a:solidFill>
            <a:srgbClr val="2C3F6E"/>
          </a:solidFill>
          <a:ln w="50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52928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✅  Use Chrome on Android or desktop — best support for Indian language voice recognition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852928"/>
            <a:ext cx="4160520" cy="594360"/>
          </a:xfrm>
          <a:prstGeom prst="rect">
            <a:avLst/>
          </a:prstGeom>
          <a:solidFill>
            <a:srgbClr val="2C3F6E"/>
          </a:solidFill>
          <a:ln w="50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2852928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✅  Switch language tab (EN / देव / हिंदी / ಕನ್ನಡ) before tapping the mic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38728"/>
            <a:ext cx="4160520" cy="594360"/>
          </a:xfrm>
          <a:prstGeom prst="rect">
            <a:avLst/>
          </a:prstGeom>
          <a:solidFill>
            <a:srgbClr val="2C3F6E"/>
          </a:solidFill>
          <a:ln w="50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538728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✅  Speak clearly and pause at the end — it auto-sends when you stop speaking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3538728"/>
            <a:ext cx="4160520" cy="594360"/>
          </a:xfrm>
          <a:prstGeom prst="rect">
            <a:avLst/>
          </a:prstGeom>
          <a:solidFill>
            <a:srgbClr val="2C3F6E"/>
          </a:solidFill>
          <a:ln w="50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3538728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✅  Tap 🔊 while it speaks to stop it and ask another question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224528"/>
            <a:ext cx="4160520" cy="594360"/>
          </a:xfrm>
          <a:prstGeom prst="rect">
            <a:avLst/>
          </a:prstGeom>
          <a:solidFill>
            <a:srgbClr val="3A2010"/>
          </a:solidFill>
          <a:ln w="5080">
            <a:solidFill>
              <a:srgbClr val="D475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224528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750A"/>
                </a:solidFill>
                <a:latin typeface="Calibri"/>
              </a:rPr>
              <a:t>⚠️  Voice requires Chat to be set up first with an API key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54880" y="4224528"/>
            <a:ext cx="4160520" cy="594360"/>
          </a:xfrm>
          <a:prstGeom prst="rect">
            <a:avLst/>
          </a:prstGeom>
          <a:solidFill>
            <a:srgbClr val="3A2010"/>
          </a:solidFill>
          <a:ln w="5080">
            <a:solidFill>
              <a:srgbClr val="D475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4224528"/>
            <a:ext cx="3977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750A"/>
                </a:solidFill>
                <a:latin typeface="Calibri"/>
              </a:rPr>
              <a:t>⚠️  Voice does not work in Safari (iPhone/iPad) — use Chrome instead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44"/>
                </a:solidFill>
                <a:latin typeface="Georgia"/>
              </a:rPr>
              <a:t>Switching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Tap any language button at the top right — everything updates instantly.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841248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1005840" cy="79552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98448"/>
            <a:ext cx="10058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28"/>
                </a:solidFill>
                <a:latin typeface="Calibri"/>
              </a:rPr>
              <a:t>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Calibri"/>
              </a:rPr>
              <a:t>English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68249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Tabs: Browse · Focus · Chapters · Map · Chat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1463039"/>
            <a:ext cx="1920240" cy="457200"/>
          </a:xfrm>
          <a:prstGeom prst="rect">
            <a:avLst/>
          </a:prstGeom>
          <a:solidFill>
            <a:srgbClr val="EEF3FA"/>
          </a:solidFill>
          <a:ln w="6350">
            <a:solidFill>
              <a:srgbClr val="C0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463039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F6E"/>
                </a:solidFill>
                <a:latin typeface="Calibri"/>
              </a:rPr>
              <a:t>Shlokas in IAST (Roman) transliteration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85415"/>
            <a:ext cx="841248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85415"/>
            <a:ext cx="1005840" cy="79552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85415"/>
            <a:ext cx="10058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28"/>
                </a:solidFill>
                <a:latin typeface="Calibri"/>
              </a:rPr>
              <a:t>देव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258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Calibri"/>
              </a:rPr>
              <a:t>Sanskrit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56946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Tabs: सूची · विवरणम् · अध्यायाः · मानचित्रम् · संवादः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2350008"/>
            <a:ext cx="1920240" cy="457200"/>
          </a:xfrm>
          <a:prstGeom prst="rect">
            <a:avLst/>
          </a:prstGeom>
          <a:solidFill>
            <a:srgbClr val="EEF3FA"/>
          </a:solidFill>
          <a:ln w="6350">
            <a:solidFill>
              <a:srgbClr val="C0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35000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F6E"/>
                </a:solidFill>
                <a:latin typeface="Calibri"/>
              </a:rPr>
              <a:t>Full Devanagari throughout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72384"/>
            <a:ext cx="841248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072384"/>
            <a:ext cx="1005840" cy="79552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072384"/>
            <a:ext cx="10058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28"/>
                </a:solidFill>
                <a:latin typeface="Calibri"/>
              </a:rPr>
              <a:t>हिंदी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3145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Calibri"/>
              </a:rPr>
              <a:t>Hindi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3456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Tabs: सूची · विवरण · अध्याय · नक्शा · संवाद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9400" y="3236976"/>
            <a:ext cx="1920240" cy="457200"/>
          </a:xfrm>
          <a:prstGeom prst="rect">
            <a:avLst/>
          </a:prstGeom>
          <a:solidFill>
            <a:srgbClr val="EEF3FA"/>
          </a:solidFill>
          <a:ln w="6350">
            <a:solidFill>
              <a:srgbClr val="C0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323697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F6E"/>
                </a:solidFill>
                <a:latin typeface="Calibri"/>
              </a:rPr>
              <a:t>Hindi UI, Devanagari shlokas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59352"/>
            <a:ext cx="8412480" cy="795528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959352"/>
            <a:ext cx="1005840" cy="795528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959352"/>
            <a:ext cx="100584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828"/>
                </a:solidFill>
                <a:latin typeface="Calibri"/>
              </a:rPr>
              <a:t>ಕನ್ನಡ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0325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744"/>
                </a:solidFill>
                <a:latin typeface="Calibri"/>
              </a:rPr>
              <a:t>Kannada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343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Calibri"/>
              </a:rPr>
              <a:t>Tabs: ಸೂಚಿ · ವಿವರಣೆ · ಅಧ್ಯಾಯಗಳು · ನಕ್ಷೆ · ಸಂವಾದ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4123944"/>
            <a:ext cx="1920240" cy="457200"/>
          </a:xfrm>
          <a:prstGeom prst="rect">
            <a:avLst/>
          </a:prstGeom>
          <a:solidFill>
            <a:srgbClr val="EEF3FA"/>
          </a:solidFill>
          <a:ln w="6350">
            <a:solidFill>
              <a:srgbClr val="C0D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12394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2C3F6E"/>
                </a:solidFill>
                <a:latin typeface="Calibri"/>
              </a:rPr>
              <a:t>Full Kannada script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8A828"/>
                </a:solidFill>
                <a:latin typeface="Calibri"/>
              </a:rPr>
              <a:t>The Chat AI always replies in the language you speak or type 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A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Common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4160520" cy="1188720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4160520" cy="347472"/>
          </a:xfrm>
          <a:prstGeom prst="rect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6012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Q: Is it free?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344168"/>
            <a:ext cx="39776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Yes — the app is free. Chat uses your own API key, billed by Anthropic at ~₹2–5 per question. ₹480 starter credit lasts months.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59" y="960120"/>
            <a:ext cx="4160520" cy="1188720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59" y="960120"/>
            <a:ext cx="4160520" cy="347472"/>
          </a:xfrm>
          <a:prstGeom prst="rect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599" y="96012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Q: Do I need an account?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599" y="1344168"/>
            <a:ext cx="39776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No account needed to Browse, read Shlokas or use the Map. Only Chat needs an Anthropic API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960120"/>
            <a:ext cx="4160520" cy="1188720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960120"/>
            <a:ext cx="4160520" cy="347472"/>
          </a:xfrm>
          <a:prstGeom prst="rect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96012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Q: Is my API key safe?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1344168"/>
            <a:ext cx="39776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Yes — it is stored only in your browser, never sent to anyone except Anthropic when you ask a question.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59" y="2286000"/>
            <a:ext cx="4160520" cy="1188720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59" y="2286000"/>
            <a:ext cx="4160520" cy="347472"/>
          </a:xfrm>
          <a:prstGeom prst="rect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599" y="228600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Q: Does it work offline?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599" y="2670048"/>
            <a:ext cx="39776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Browse, Focus, Chapters and Map work offline once loaded. Chat and Voice need internet.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286000"/>
            <a:ext cx="4160520" cy="1188720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286000"/>
            <a:ext cx="4160520" cy="347472"/>
          </a:xfrm>
          <a:prstGeom prst="rect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228600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Q: Which browser is best?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2670048"/>
            <a:ext cx="39776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Chrome on Android or desktop. Firefox and Edge work for text. Safari does not support Voice.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59" y="2286000"/>
            <a:ext cx="4160520" cy="1188720"/>
          </a:xfrm>
          <a:prstGeom prst="rect">
            <a:avLst/>
          </a:prstGeom>
          <a:solidFill>
            <a:srgbClr val="2C3F6E"/>
          </a:solidFill>
          <a:ln w="381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09159" y="2286000"/>
            <a:ext cx="4160520" cy="347472"/>
          </a:xfrm>
          <a:prstGeom prst="rect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599" y="2286000"/>
            <a:ext cx="39776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Q: Voice not speaking — help?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599" y="2670048"/>
            <a:ext cx="39776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Tap the mic first (unlocks audio), confirm Chat is set up, check volume, use Chrome not Safari.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744"/>
                </a:solidFill>
                <a:latin typeface="Georgia"/>
              </a:rPr>
              <a:t>Quick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6012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2697480" cy="457200"/>
          </a:xfrm>
          <a:prstGeom prst="rect">
            <a:avLst/>
          </a:prstGeom>
          <a:solidFill>
            <a:srgbClr val="2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 5 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087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📋 Browse — list concepts by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0574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🔍 Focus — deep-dive one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606039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📖 Chapters — chapter by chapter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154679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🗺 Map — visual interactive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7033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💬 Chat — ask questions (needs key)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96012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960120"/>
            <a:ext cx="2697480" cy="457200"/>
          </a:xfrm>
          <a:prstGeom prst="rect">
            <a:avLst/>
          </a:prstGeom>
          <a:solidFill>
            <a:srgbClr val="9B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9601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Chat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5087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1. console.anthropic.com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0574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2. Sign up (free)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2606039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3. API Keys → Create → Copy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3154679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4. Chat tab → ⚙️ → Paste → 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37033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5. Start chatting!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59" y="96012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0D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59" y="960120"/>
            <a:ext cx="2697480" cy="457200"/>
          </a:xfrm>
          <a:prstGeom prst="rect">
            <a:avLst/>
          </a:prstGeom>
          <a:solidFill>
            <a:srgbClr val="5D4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59" y="9601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Voice Tips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0488" y="15087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🎙 Tap mic to 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20574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🔊 Tap to stop playback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2606039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Set language tab 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3154679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✅ Use Chrome on Android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370332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⚠️ Not supported on Safari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498848"/>
            <a:ext cx="8412480" cy="457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4988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A828"/>
                </a:solidFill>
                <a:latin typeface="Calibri"/>
              </a:rPr>
              <a:t>🔗  kvinayakpai.github.io/Bhagavadgita/viewer.html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A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731520"/>
            <a:ext cx="4114800" cy="4114800"/>
          </a:xfrm>
          <a:prstGeom prst="ellipse">
            <a:avLst/>
          </a:prstGeom>
          <a:solidFill>
            <a:srgbClr val="2C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772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8A828"/>
                </a:solidFill>
                <a:latin typeface="Georgia"/>
              </a:rPr>
              <a:t>तत्त्व-जालम्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Georgia"/>
              </a:rPr>
              <a:t>Tatvam Jalam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7315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666666"/>
                </a:solidFill>
                <a:latin typeface="Georgia"/>
              </a:rPr>
              <a:t>The Bhagavad Gita — at your fingertips, in your voice, in your language.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816352"/>
            <a:ext cx="3657600" cy="27432"/>
          </a:xfrm>
          <a:prstGeom prst="rect">
            <a:avLst/>
          </a:prstGeom>
          <a:solidFill>
            <a:srgbClr val="C17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443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Open the app: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1868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A828"/>
                </a:solidFill>
                <a:latin typeface="Calibri"/>
              </a:rPr>
              <a:t>kvinayakpai.github.io/Bhagavadgita/viewer.html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75887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Calibri"/>
              </a:rPr>
              <a:t>Enable Chat: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4F7"/>
                </a:solidFill>
                <a:latin typeface="Calibri"/>
              </a:rPr>
              <a:t>console.anthropic.com  →  Create API Key  →  Chat  →  ⚙️  →  Paste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